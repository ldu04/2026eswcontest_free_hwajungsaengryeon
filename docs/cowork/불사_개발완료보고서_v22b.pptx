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76" r:id="rId27"/>
    <p:sldId id="270" r:id="rId16"/>
    <p:sldId id="271" r:id="rId17"/>
    <p:sldId id="277" r:id="rId18"/>
    <p:sldId id="278" r:id="rId15"/>
    <p:sldId id="279" r:id="rId14"/>
    <p:sldId id="280" r:id="rId13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7.xml"/><Relationship Id="rId14" Type="http://schemas.openxmlformats.org/officeDocument/2006/relationships/slide" Target="slides/slide16.xml"/><Relationship Id="rId15" Type="http://schemas.openxmlformats.org/officeDocument/2006/relationships/slide" Target="slides/slide15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134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7916418" y="151218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8679942" y="1498473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79942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1190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1190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10280142" y="1539621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16418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16418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V="1">
            <a:off x="8684514" y="2277999"/>
            <a:ext cx="845820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8675370" y="231000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0334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9516618" y="227799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80142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5562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920990" y="3039237"/>
            <a:ext cx="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675370" y="3034665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75370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16618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516618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275570" y="307581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20990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689086" y="3805047"/>
            <a:ext cx="836676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525762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52410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602218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43466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11562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38694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6790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452610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202418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47838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97646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438894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206990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43266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11362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48038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0197846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940003" y="3611880"/>
            <a:ext cx="2119579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00" b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화중생련  火中生蓮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 네트워크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7665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11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· 시연영상 링크는 제출본에 삽입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재난에서 센서는 반드시 죽는다 — 우리는 그 죽음을 버리지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파괴된다. 기존 시스템은 그 죽음을 손실로 처리하고 정보를 버린다. 불사는 죽은 노드의 시각과 좌표에서 불의 방향·속도·도달시각을 읽는다.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독창성은 응용(산불)이 아니라 아키텍처에 있다 — 고장을 데이터로, 그리고 자가치유로.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8640" y="2395728"/>
          <a:ext cx="11091672" cy="2788919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00200"/>
                <a:gridCol w="9491472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작품명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불사(不死) — 고장을 데이터로 바꾸는 자가치유 산불 감시 메시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개발 배경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재난 현장에서 센서 노드의 파괴는 예외가 아니라 필연이다. 기존 메시는 죽은 노드를 우회할 뿐, 그 죽음에 담긴 정보를 버린다.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동기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대형 산불 대응 현장에서 지상의 실시간 화선 정보가 없어 판단이 늦어지는 국면을 보았다. 위성은 광역 개요만, 드론은 상공·간헐적이라 연기와 수목 아래 지표 화선의 초 단위 변화를 놓친다.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① 교차검증된 ‘죽음’을 확정 신호로 모아, 죽은 노드의 좌표와 시각에서 화선의 방향·속도·도달시각을 추정한다.</a:t>
                      </a:r>
                      <a:br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② 경로가 끊겨도 남은 노드가 우회로를 다시 짜 관측을 지속한다.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필요성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지상에서 화선을 실측하는 저가 레이어가 없다. 노드 1대 부품비가 1.2만 원(데모 구성 기준)이라, 타 죽는 것을 전제로 촘촘히 깔 수 있다.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소스코드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시연 동영상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상공은 지표 화선을 못 본다 — 그 공백이 판단을 늦춘다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2148840"/>
            <a:ext cx="429768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화선의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위치·방향·속도. 위성은 광역 개요만, 드론은 상공·간헐적이라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76872" y="2148840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지상 관측 레이어가 없나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43000" y="4224528"/>
            <a:ext cx="1037844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위성은 재방문 주기가 있어 초 단위 변화를 못 본다.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드론은 체공 시간이 제한되고 야간·짙은 연기에서 관측이 어렵다.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지상 고정 센서는 불에 타면 끝이라, 화선이 지나가는 구간에는 배치하지 않는다.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정작 화선이 지나가는 그 자리에 관측이 비어 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시각이 곧 불이 도착한 시각이다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78328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62681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62681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2681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92369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76722" y="1737360"/>
            <a:ext cx="3045134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76722" y="1952244"/>
            <a:ext cx="3045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76722" y="2281428"/>
            <a:ext cx="3045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신뢰도 등급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90469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9332" y="3310128"/>
            <a:ext cx="5029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70772" y="37490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373692" y="3749040"/>
            <a:ext cx="4343285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4738" y="3886200"/>
            <a:ext cx="515827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좌표와 죽은 시각에서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9069" y="3108960"/>
            <a:ext cx="548124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89761" y="3310128"/>
            <a:ext cx="5019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81201" y="37490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984121" y="3749040"/>
            <a:ext cx="4334058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89761" y="3886200"/>
            <a:ext cx="50198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1073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25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· 기능 설계도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17대(노드 16 + 브리지 1)와 라즈베리파이 1대로 이뤄진다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2148840"/>
            <a:ext cx="43434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메시 브리지: ESP32 × 1 (id 99) — 메시↔USB 시리얼 중계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 (9비트 고속 모드)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 시각화)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4 — 시리얼 수신 · 추정 · 대시보드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USB 5V 급전 (데모) — 배터리 급전은 향후 과제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57600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76872" y="2148840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메시 자동 구성·우회 + 메시 시각 동기 제공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브리지도 같은 펌웨어를 쓴다(인덱스만 99) — 단일 코드베이스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판정 일원화: 화재/비화재 판별을 단일 함수로 — 시뮬과 실물이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같은 코드를 호출한다(시뮬 결과가 실물의 근거가 되도록).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 네 개의 핵심 모듈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모듈이 죽음을 데이터로 바꾼다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순정 painlessMesh가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도착시각장(場)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좌표와 시각에서 최소제곱으로 방향·속도·ETA와 신뢰도를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점들에 면을 씌우면 그 기울기가 불의 방향이다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7" name="Shape 3"/>
          <p:cNvSpPr/>
          <p:nvPr/>
        </p:nvSpPr>
        <p:spPr>
          <a:xfrm>
            <a:off x="548640" y="1508760"/>
            <a:ext cx="11091672" cy="95097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682496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타 죽은 시각 = 불이 그 지점에 도착한 시각. 흩어진 (x, y, 죽은시각)에 면을 맞추면 그 기울기가 곧 화선이다.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구현은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노드마다 국소 적합을 돌리고, 그 결과들을 신뢰도로 가중해 합친다.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지형도에서 등고선이 촘촘한 쪽이 급경사인 것과 같다 — 도착시각의 등고선이 화선이고, 가장 빨리 변하는 방향이 불이 가는 방향이다.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· 국소 평면 적합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374136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371600" y="3374136"/>
            <a:ext cx="22860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j마다 독립적으로: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무선 이웃 ∩ 창 안의 사망들을 모아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최소제곱으로 평면을 맞추고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기울기 ∇T_j 를 얻는다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노드 수만큼 N개의 추정치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· 집계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00016" y="3374136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202936" y="3374136"/>
            <a:ext cx="22860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N개를 하나로 합친다: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방향 — 신뢰도 가중 벡터합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— 중앙값(강건 통계)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— 유효표본수 n_eff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출력이 다른 집계를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531352" y="3374136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34272" y="3374136"/>
            <a:ext cx="22860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방향  n̂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속도  s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지점별 도착예상시각 ETA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등급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부족하면 값을 내지 않고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INSUFFICIENT를 반환한다.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72984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5343753"/>
            <a:ext cx="11091672" cy="820216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415075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∇T = n̂ / s  →  방향 n̂ = ∇T/|∇T| ,  속도 s = 1/|∇T|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655564"/>
            <a:ext cx="10762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똑같이 걸리는 센서 지연은 평면의 절편에만 흡수되어 기울기에서 상쇄된다 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방향·속도가 센서 지연에 원리적으로 면역인 이유(수식 증명).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03027" y="6464807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498455" y="6464807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0642473" y="6501383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3" name="Shape 31"/>
          <p:cNvSpPr/>
          <p:nvPr/>
        </p:nvSpPr>
        <p:spPr>
          <a:xfrm>
            <a:off x="10498455" y="6652259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5303" y="638708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69321" y="642365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64749" y="662025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Rounded Rectangle 45"/>
          <p:cNvSpPr/>
          <p:nvPr/>
        </p:nvSpPr>
        <p:spPr>
          <a:xfrm>
            <a:off x="8558784" y="5416905"/>
            <a:ext cx="2852928" cy="402336"/>
          </a:xfrm>
          <a:prstGeom prst="roundRect">
            <a:avLst>
              <a:gd name="adj" fmla="val 28000"/>
            </a:avLst>
          </a:prstGeom>
          <a:solidFill>
            <a:srgbClr val="FBEFE2"/>
          </a:solidFill>
          <a:ln w="9525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950" b="1">
                <a:solidFill>
                  <a:srgbClr val="44483F"/>
                </a:solidFill>
                <a:latin typeface="맑은 고딕"/>
              </a:rPr>
              <a:t>학습 없이 · 라즈베리파이에서 즉시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/>
          <p:cNvSpPr/>
          <p:nvPr/>
        </p:nvSpPr>
        <p:spPr>
          <a:xfrm>
            <a:off x="8028431" y="2386584"/>
            <a:ext cx="3785615" cy="1874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통신두절과 진짜 파괴를 가르는 판정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것(통신두절)이나 불이 아닌 죽음(배터리·고장)을 화재로 오판하면 가짜 화선이 그려진다.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91672" cy="969264"/>
          </a:xfrm>
          <a:prstGeom prst="roundRect">
            <a:avLst>
              <a:gd name="adj" fmla="val 387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882896"/>
            <a:ext cx="10607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임종신호는 있으면 증거이고, 없어도 기각 근거가 아니다 — 전소로 신호조차 못 보낸 노드가 바로 진짜 화재이기 때문이다.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5838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900" dirty="0" b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판별은 말단이 아니라 이웃 정보가 모두 모이는 게이트웨이에서 한다.   ·   [시뮬] 오탐률 0% · 비화재 COOL 누수 86.4% → 0%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Rounded Rectangle 41"/>
          <p:cNvSpPr/>
          <p:nvPr/>
        </p:nvSpPr>
        <p:spPr>
          <a:xfrm>
            <a:off x="1097280" y="1874519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0">
                <a:solidFill>
                  <a:srgbClr val="1F2421"/>
                </a:solidFill>
                <a:latin typeface="맑은 고딕"/>
              </a:rPr>
              <a:t>노드가 조용해졌다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624328" y="2313432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7280" y="2551176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1F2421"/>
                </a:solidFill>
                <a:latin typeface="맑은 고딕"/>
              </a:rPr>
              <a:t>임종신호가 왔는가?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498848" y="2679192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24688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10912" y="2551176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   [본편 15건]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322783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이웃 3대가 끊김을 확인했고</a:t>
            </a:r>
          </a:p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온도가 올랐는가?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498848" y="3429000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3218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912" y="3300984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624328" y="2990088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2990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2624328" y="3831336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383133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4069080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6B6E6A"/>
                </a:solidFill>
                <a:latin typeface="맑은 고딕"/>
              </a:rPr>
              <a:t>증거 부족 — 추정에서 제외   [본편 1건]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255117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임종신호 = 죽기 직전 노드가 스스로 쏘는 마지막 패킷. 본인이 낸 증거라 가장 강하다.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3227832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이웃 확인 = 한 대가 침묵해도 즉시 죽음으로 보지 않는다. 독립된 3대가 확인해야 후보가 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387705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온도 = 화선에 의한 죽음이면 온도 상승이 선행한다.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죽어도 경로는 살아난다 — 15.9초 만에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029968"/>
            <a:ext cx="5440680" cy="30175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2578608"/>
            <a:ext cx="429768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53912" y="2029968"/>
            <a:ext cx="5477256" cy="301752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76872" y="2578608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706624"/>
            <a:ext cx="502005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7550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자가치유가 관측을 잇고, 임종신호가 죽은 시각을 확정한다 — 죽는 노드가 살아있는 정보가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노드는 게이트웨이까지 가는 길을 하나씩 갖고 있다.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있는 노드가 죽으면, 그 길을 쓰던 노드들이 한꺼번에 길을 잃는다.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706624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게이트웨이까지 11대가 지나가던 중계 노드 한 대의 전원을 뽑자, 보이던 노드 수가 15 → 3 으로 무너졌다.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15.9초 뒤 14 로 회복됐다. 9대가 다른 길을 찾아 붙었고, 게이트웨이 바로 아래 노드까지 바뀌었다.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재부팅·브라운아웃·파싱 실패 0건. 다시 켜서 복구된 것이 아니다.</a:t>
            </a:r>
            <a:endParaRPr lang="en-US" sz="1200" dirty="0"/>
          </a:p>
        </p:txBody>
      </p:sp>
      <p:cxnSp>
        <p:nvCxnSpPr>
          <p:cNvPr id="55" name="Connector 54"/>
          <p:cNvCxnSpPr/>
          <p:nvPr/>
        </p:nvCxnSpPr>
        <p:spPr>
          <a:xfrm>
            <a:off x="1988819" y="42336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458467" y="4462272"/>
            <a:ext cx="530352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723643" y="4462272"/>
            <a:ext cx="265176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88819" y="44622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88819" y="4462272"/>
            <a:ext cx="265177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88819" y="4462272"/>
            <a:ext cx="530353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924812" y="4398264"/>
            <a:ext cx="128016" cy="128016"/>
          </a:xfrm>
          <a:prstGeom prst="ellipse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915667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415033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80209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9453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1056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47573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제거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D35400"/>
                </a:solidFill>
                <a:latin typeface="맑은 고딕"/>
              </a:rPr>
              <a:t>그 아래 11대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3899916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165092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30268" y="4233672"/>
            <a:ext cx="0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430268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430268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70832" y="440283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9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357116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85648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12165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386834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652010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171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0128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재구성 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10128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C5F2D"/>
                </a:solidFill>
                <a:latin typeface="맑은 고딕"/>
              </a:rPr>
              <a:t>다른 길로 다시 붙음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나빠도 파라미터를 고치지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11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2148840"/>
            <a:ext cx="43434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시뮬레이터 · 추정기(estimator) · 집계(aggregate)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 · DECISIONS · 알고리즘 명세)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로그(D-001~)를 남겨 '왜 그렇게 정했는가'를 전부 추적 가능하게.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게이트웨이가 시뮬레이터의 추정기 코드를 그대로 재사용한다.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화재/비화재 판별도 단일 함수 — 시뮬과 실물이 같은 판정을 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11880"/>
          </a:xfrm>
          <a:prstGeom prst="roundRect">
            <a:avLst>
              <a:gd name="adj" fmla="val 1714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 동결 + 버전 분기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76872" y="2148840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추정기 파일을 동결(frozen) — 모든 개선은 버전 분기로만.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어떤 실험도 과거 결과를 훼손할 수 없다.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회귀가 매번 비트 단위 동일함을 확인(최대차 0.000e+00).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테스트 54건 상시 통과.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데모에만 맞춘 과적합을 피한다.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버그는 고친다. 파라미터는 만지지 않는다 — 둘을 구분한다.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예측을 미리 등록하고 맞든 틀리든 기록한다. 기각된 예측 5건이 문서에 남아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값을 정하기 전에 먼저 재고, 잰 값에서 파라미터를 유도한다.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추정기가 두 번 틀렸고, 두 번 다 원인은 알고리즘이 아니었다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 모르는데 아무 값이나 내면 대원이 화선 쪽으로 간다.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우리는 두 가지를 고쳤다 — 틀린 답을 내던 것과, 답을 못 내던 것.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5440680" cy="2788920"/>
          </a:xfrm>
          <a:prstGeom prst="roundRect">
            <a:avLst>
              <a:gd name="adj" fmla="val 29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틀린 답 — 82° → 0.03°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371600" y="2578608"/>
            <a:ext cx="4453128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706624"/>
            <a:ext cx="51389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타원 화선 측면에서 방향 오차가 82~86° 였다. 90°가 무작위 추측의 한계다.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곡률·채점·표본을 차례로 의심해 전부 측정으로 기각한 뒤 집계에 닿았다.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 노드가 가중치의 86.4%를 독식했고 그 노드의 오차가 85.21°, 나머지 노드의 오차 중앙값은 1.35°였다.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가중치를 거꾸로 주고 있었다 — 불확실한 노드일수록 크게. 오차 전파식에서 다시 유도해 w = 1/|∇T| 를 w = |∇T|² 로 바로잡았다.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파라미터를 유리하게 조정한 것이 아니다. 식에서 나온 값이다.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2029968"/>
            <a:ext cx="5477256" cy="2788920"/>
          </a:xfrm>
          <a:prstGeom prst="roundRect">
            <a:avLst>
              <a:gd name="adj" fmla="val 292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못 내던 답 — 정보 부족인가, 우리 상수인가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73952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976872" y="2578608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2706624"/>
            <a:ext cx="50200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실물로 옮기자 16노드가 전부 값을 내지 못했다. 기능이 작동한 것인지, 우리가 정한 값이 틀린 것인지 갈라야 했다.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창(window)이란 「얼마나 오래된 죽음까지 한 계산에 넣을 것인가」다. 창이 좁으면 이웃의 죽음이 창에 못 들어와 노드가 자기 하나만 보고 계산한다.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창을 넓히니 산출 성공이 2 → 12 → 15 → 16 으로 올랐다. 상수가 좁았던 것이다.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값을 새로 고르는 대신 구조를 바꿨다 — 창 = 통신반경 ÷ 화선속도. 본편 런에서 이 식이 622.3초를 내놓았고, 증거가 확보된 15건의 죽음에서 방향 오차 2.85도를 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9834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알고리즘이 아니라 우리가 정한 값이 원인이었고, 두 번 다 식에서 다시 유도해 고쳤다.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하드웨어 괴리 선점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실물에서만 터지는 위험 셋을 터지기 전에 잡았다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 동기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2103120"/>
            <a:ext cx="22860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노드의 사망 시각을 빼서 기울기를 만드는 알고리즘이므로 시간축이 같아야 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펌웨어는 보드 부팅 기준 시계를 썼다 — 보드마다 원점이 달라 뺄셈 자체가 무의미해지는 원리적 파탄.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메시 동기 시각으로 교체. 사망 시각도 '루트의 확정 시각'에서 '당사자 노드가 각인한 시각'으로 (확정 시각엔 감지·투표 지연이 섞여 있었다).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센서 열관성 τ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0016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202936" y="2103120"/>
            <a:ext cx="22860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센서는 공기가 뜨거워진 순간을 바로 느끼지 못하고 조금 늦게 반응한다. 이 지연이 그대로 「죽은 시각」의 오차가 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시뮬에서 시험한 범위는 0~10초였는데, 실물에서 재보니 11~92초였다. 검증했다고 믿은 범위 밖에 실제가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그러나 우리는 죽은 시각의 절대값이 아니라 노드 사이의 시간 차이로 방향을 구한다. 모든 시계가 똑같이 늦으면, 시계 사이의 차이는 그대로다 — 수식으로 증명했다.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실물 파이프라인 공백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531352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4272" y="2103120"/>
            <a:ext cx="228600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시뮬에는 화재/비화재 판별이 있는데 실물 경로에는 없었다 — 게이트웨이가 판별기를 아예 호출하지 않고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로직을 한 함수로 통합해 시뮬과 실물이 같은 코드를 호출하도록 교정.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놓쳤으면 시뮬에서 검증한 방어가 실물에서 통째로 빠진 채 데모를 했을 것이다.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 터지기 전에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발견했다. ①은 코드 검토로, ②는 실측으로, ③은 실물 이식 준비 중에 — 각각 다른 방법이 필요했다는 것이 이 문제들의 성격을 보여준다.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감지는 그들이, 추적은 우리가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</a:t>
                      </a:r>
                      <a:br/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화선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순정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순정 painlessMesh가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②  실증 ① 실험 조건과 가정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③  실증 ② 죽음만으로 화선을 그렸다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④  실증 ③ 증거가 없으면 단정하지 않는다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⑤  규모가 달라도 성립하는 이유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지휘부는 배치를, 대원은 대피 시각을 얻는다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2148840"/>
            <a:ext cx="429768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76872" y="2148840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화선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371600" y="4343400"/>
            <a:ext cx="429768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73952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76872" y="4343400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죽는 것을 전제로 하면 경제 논리가 뒤집힌다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371600" y="2148840"/>
            <a:ext cx="4297680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 속에 들어가는 역할엔 내구성을 '살' 수 없다 → 저가 소모형이 유일하게 합리적.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1대 부품비 1.2만 원 [데모 기준 — 케이스·야외전원·거치 제외].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조달 총액 ≈ 45만 원 (예비 보드·공구·라즈베리파이 포함, 부가세 포함).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76872" y="2148840"/>
            <a:ext cx="4334256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18504" y="2286000"/>
            <a:ext cx="5148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전력: 상시 메시 구조상 노드당 90~130 mA [추정 — 데이터시트 기준].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저전력 모드(평시 deep sleep · 화재 시 메시 기동)는 향후 과제.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1인이 네 영역을 병렬로 — 규율과 도구로 범위를 통제했다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시뮬레이터 · 도착시각 추정 · 스트레스 시험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알고리즘 정밀화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결함 교정 · 자기 차단 도입 · 명세 대조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실측·실물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열관성 실측 · 펌웨어 포팅 · 메시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4노드 메시 · 중계 이탈/복귀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조립·교정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조립 · 감지부 좌표 · 열원 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리허설·촬영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말~9월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본편 촬영 ·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문서·제출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편집 · 보고서 완성 · GitHub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459028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50292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371600" y="5029200"/>
            <a:ext cx="9948672" cy="0"/>
          </a:xfrm>
          <a:prstGeom prst="line">
            <a:avLst/>
          </a:prstGeom>
          <a:noFill/>
          <a:ln w="254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663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조립·데모·계측) · 문서/발표(보고서·영상)를 단독으로 단계적 수행. 시뮬 선개발로 리스크를 앞당겨 해소하고, 추정기 동결·사전등록 규율로 범위를 통제 — 1인 개발의 범위 관리·완결 역량을 보인다.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설계·판단·실험·검증은 단독 수행. 반복 구현과 문서 정리에 AI 코딩 보조(Claude)를 활용.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