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148322" y="1512189"/>
            <a:ext cx="749808" cy="36576"/>
          </a:xfrm>
          <a:prstGeom prst="line">
            <a:avLst/>
          </a:prstGeom>
          <a:noFill/>
          <a:ln w="9525">
            <a:solidFill>
              <a:srgbClr val="E2DCD0"/>
            </a:solidFill>
            <a:prstDash val="solid"/>
          </a:ln>
        </p:spPr>
        <p:txBody>
          <a:bodyPr/>
          <a:p/>
        </p:txBody>
      </p:sp>
      <p:sp>
        <p:nvSpPr>
          <p:cNvPr id="3" name="Shape 1"/>
          <p:cNvSpPr/>
          <p:nvPr/>
        </p:nvSpPr>
        <p:spPr>
          <a:xfrm>
            <a:off x="7148322" y="1512189"/>
            <a:ext cx="-13716" cy="756666"/>
          </a:xfrm>
          <a:prstGeom prst="line">
            <a:avLst/>
          </a:prstGeom>
          <a:noFill/>
          <a:ln w="9525">
            <a:solidFill>
              <a:srgbClr val="E2DCD0"/>
            </a:solidFill>
            <a:prstDash val="solid"/>
          </a:ln>
        </p:spPr>
        <p:txBody>
          <a:bodyPr/>
          <a:p/>
        </p:txBody>
      </p:sp>
      <p:sp>
        <p:nvSpPr>
          <p:cNvPr id="4" name="Shape 2"/>
          <p:cNvSpPr/>
          <p:nvPr/>
        </p:nvSpPr>
        <p:spPr>
          <a:xfrm>
            <a:off x="7898130" y="1548765"/>
            <a:ext cx="841248" cy="-50292"/>
          </a:xfrm>
          <a:prstGeom prst="line">
            <a:avLst/>
          </a:prstGeom>
          <a:noFill/>
          <a:ln w="9525">
            <a:solidFill>
              <a:srgbClr val="E2DCD0"/>
            </a:solidFill>
            <a:prstDash val="solid"/>
          </a:ln>
        </p:spPr>
        <p:txBody>
          <a:bodyPr/>
          <a:p/>
        </p:txBody>
      </p:sp>
      <p:sp>
        <p:nvSpPr>
          <p:cNvPr id="5" name="Shape 3"/>
          <p:cNvSpPr/>
          <p:nvPr/>
        </p:nvSpPr>
        <p:spPr>
          <a:xfrm>
            <a:off x="7898130" y="1548765"/>
            <a:ext cx="4572" cy="761238"/>
          </a:xfrm>
          <a:prstGeom prst="line">
            <a:avLst/>
          </a:prstGeom>
          <a:noFill/>
          <a:ln w="9525">
            <a:solidFill>
              <a:srgbClr val="E2DCD0"/>
            </a:solidFill>
            <a:prstDash val="solid"/>
          </a:ln>
        </p:spPr>
        <p:txBody>
          <a:bodyPr/>
          <a:p/>
        </p:txBody>
      </p:sp>
      <p:sp>
        <p:nvSpPr>
          <p:cNvPr id="6" name="Shape 4"/>
          <p:cNvSpPr/>
          <p:nvPr/>
        </p:nvSpPr>
        <p:spPr>
          <a:xfrm>
            <a:off x="8739378" y="1498473"/>
            <a:ext cx="768096" cy="41148"/>
          </a:xfrm>
          <a:prstGeom prst="line">
            <a:avLst/>
          </a:prstGeom>
          <a:noFill/>
          <a:ln w="9525">
            <a:solidFill>
              <a:srgbClr val="E2DCD0"/>
            </a:solidFill>
            <a:prstDash val="solid"/>
          </a:ln>
        </p:spPr>
        <p:txBody>
          <a:bodyPr/>
          <a:p/>
        </p:txBody>
      </p:sp>
      <p:sp>
        <p:nvSpPr>
          <p:cNvPr id="7" name="Shape 5"/>
          <p:cNvSpPr/>
          <p:nvPr/>
        </p:nvSpPr>
        <p:spPr>
          <a:xfrm>
            <a:off x="8739378" y="1498473"/>
            <a:ext cx="9144" cy="779526"/>
          </a:xfrm>
          <a:prstGeom prst="line">
            <a:avLst/>
          </a:prstGeom>
          <a:noFill/>
          <a:ln w="9525">
            <a:solidFill>
              <a:srgbClr val="E2DCD0"/>
            </a:solidFill>
            <a:prstDash val="solid"/>
          </a:ln>
        </p:spPr>
        <p:txBody>
          <a:bodyPr/>
          <a:p/>
        </p:txBody>
      </p:sp>
      <p:sp>
        <p:nvSpPr>
          <p:cNvPr id="8" name="Shape 6"/>
          <p:cNvSpPr/>
          <p:nvPr/>
        </p:nvSpPr>
        <p:spPr>
          <a:xfrm>
            <a:off x="9507474" y="1539621"/>
            <a:ext cx="836676" cy="-32004"/>
          </a:xfrm>
          <a:prstGeom prst="line">
            <a:avLst/>
          </a:prstGeom>
          <a:noFill/>
          <a:ln w="9525">
            <a:solidFill>
              <a:srgbClr val="E2DCD0"/>
            </a:solidFill>
            <a:prstDash val="solid"/>
          </a:ln>
        </p:spPr>
        <p:txBody>
          <a:bodyPr/>
          <a:p/>
        </p:txBody>
      </p:sp>
      <p:sp>
        <p:nvSpPr>
          <p:cNvPr id="9" name="Shape 7"/>
          <p:cNvSpPr/>
          <p:nvPr/>
        </p:nvSpPr>
        <p:spPr>
          <a:xfrm>
            <a:off x="9507474" y="1539621"/>
            <a:ext cx="-9144" cy="774954"/>
          </a:xfrm>
          <a:prstGeom prst="line">
            <a:avLst/>
          </a:prstGeom>
          <a:noFill/>
          <a:ln w="9525">
            <a:solidFill>
              <a:srgbClr val="E2DCD0"/>
            </a:solidFill>
            <a:prstDash val="solid"/>
          </a:ln>
        </p:spPr>
        <p:txBody>
          <a:bodyPr/>
          <a:p/>
        </p:txBody>
      </p:sp>
      <p:sp>
        <p:nvSpPr>
          <p:cNvPr id="10" name="Shape 8"/>
          <p:cNvSpPr/>
          <p:nvPr/>
        </p:nvSpPr>
        <p:spPr>
          <a:xfrm>
            <a:off x="10344150" y="1507617"/>
            <a:ext cx="749808" cy="45720"/>
          </a:xfrm>
          <a:prstGeom prst="line">
            <a:avLst/>
          </a:prstGeom>
          <a:noFill/>
          <a:ln w="9525">
            <a:solidFill>
              <a:srgbClr val="E2DCD0"/>
            </a:solidFill>
            <a:prstDash val="solid"/>
          </a:ln>
        </p:spPr>
        <p:txBody>
          <a:bodyPr/>
          <a:p/>
        </p:txBody>
      </p:sp>
      <p:sp>
        <p:nvSpPr>
          <p:cNvPr id="11" name="Shape 9"/>
          <p:cNvSpPr/>
          <p:nvPr/>
        </p:nvSpPr>
        <p:spPr>
          <a:xfrm>
            <a:off x="10344150" y="1507617"/>
            <a:ext cx="-4572" cy="756666"/>
          </a:xfrm>
          <a:prstGeom prst="line">
            <a:avLst/>
          </a:prstGeom>
          <a:noFill/>
          <a:ln w="9525">
            <a:solidFill>
              <a:srgbClr val="E2DCD0"/>
            </a:solidFill>
            <a:prstDash val="solid"/>
          </a:ln>
        </p:spPr>
        <p:txBody>
          <a:bodyPr/>
          <a:p/>
        </p:txBody>
      </p:sp>
      <p:sp>
        <p:nvSpPr>
          <p:cNvPr id="12" name="Shape 10"/>
          <p:cNvSpPr/>
          <p:nvPr/>
        </p:nvSpPr>
        <p:spPr>
          <a:xfrm>
            <a:off x="11093958" y="1553337"/>
            <a:ext cx="13716" cy="752094"/>
          </a:xfrm>
          <a:prstGeom prst="line">
            <a:avLst/>
          </a:prstGeom>
          <a:noFill/>
          <a:ln w="9525">
            <a:solidFill>
              <a:srgbClr val="E2DCD0"/>
            </a:solidFill>
            <a:prstDash val="solid"/>
          </a:ln>
        </p:spPr>
        <p:txBody>
          <a:bodyPr/>
          <a:p/>
        </p:txBody>
      </p:sp>
      <p:sp>
        <p:nvSpPr>
          <p:cNvPr id="13" name="Shape 11"/>
          <p:cNvSpPr/>
          <p:nvPr/>
        </p:nvSpPr>
        <p:spPr>
          <a:xfrm>
            <a:off x="7134606" y="2268855"/>
            <a:ext cx="768096" cy="41148"/>
          </a:xfrm>
          <a:prstGeom prst="line">
            <a:avLst/>
          </a:prstGeom>
          <a:noFill/>
          <a:ln w="9525">
            <a:solidFill>
              <a:srgbClr val="E2DCD0"/>
            </a:solidFill>
            <a:prstDash val="solid"/>
          </a:ln>
        </p:spPr>
        <p:txBody>
          <a:bodyPr/>
          <a:p/>
        </p:txBody>
      </p:sp>
      <p:sp>
        <p:nvSpPr>
          <p:cNvPr id="14" name="Shape 12"/>
          <p:cNvSpPr/>
          <p:nvPr/>
        </p:nvSpPr>
        <p:spPr>
          <a:xfrm>
            <a:off x="7134606" y="2268855"/>
            <a:ext cx="9144" cy="770382"/>
          </a:xfrm>
          <a:prstGeom prst="line">
            <a:avLst/>
          </a:prstGeom>
          <a:noFill/>
          <a:ln w="9525">
            <a:solidFill>
              <a:srgbClr val="E2DCD0"/>
            </a:solidFill>
            <a:prstDash val="solid"/>
          </a:ln>
        </p:spPr>
        <p:txBody>
          <a:bodyPr/>
          <a:p/>
        </p:txBody>
      </p:sp>
      <p:sp>
        <p:nvSpPr>
          <p:cNvPr id="15" name="Shape 13"/>
          <p:cNvSpPr/>
          <p:nvPr/>
        </p:nvSpPr>
        <p:spPr>
          <a:xfrm>
            <a:off x="7902702" y="2310003"/>
            <a:ext cx="845820" cy="-32004"/>
          </a:xfrm>
          <a:prstGeom prst="line">
            <a:avLst/>
          </a:prstGeom>
          <a:noFill/>
          <a:ln w="9525">
            <a:solidFill>
              <a:srgbClr val="E2DCD0"/>
            </a:solidFill>
            <a:prstDash val="solid"/>
          </a:ln>
        </p:spPr>
        <p:txBody>
          <a:bodyPr/>
          <a:p/>
        </p:txBody>
      </p:sp>
      <p:sp>
        <p:nvSpPr>
          <p:cNvPr id="16" name="Shape 14"/>
          <p:cNvSpPr/>
          <p:nvPr/>
        </p:nvSpPr>
        <p:spPr>
          <a:xfrm>
            <a:off x="7902702" y="2310003"/>
            <a:ext cx="-9144" cy="774954"/>
          </a:xfrm>
          <a:prstGeom prst="line">
            <a:avLst/>
          </a:prstGeom>
          <a:noFill/>
          <a:ln w="9525">
            <a:solidFill>
              <a:srgbClr val="E2DCD0"/>
            </a:solidFill>
            <a:prstDash val="solid"/>
          </a:ln>
        </p:spPr>
        <p:txBody>
          <a:bodyPr/>
          <a:p/>
        </p:txBody>
      </p:sp>
      <p:sp>
        <p:nvSpPr>
          <p:cNvPr id="17" name="Shape 15"/>
          <p:cNvSpPr/>
          <p:nvPr/>
        </p:nvSpPr>
        <p:spPr>
          <a:xfrm>
            <a:off x="8748522" y="2277999"/>
            <a:ext cx="749808" cy="36576"/>
          </a:xfrm>
          <a:prstGeom prst="line">
            <a:avLst/>
          </a:prstGeom>
          <a:noFill/>
          <a:ln w="9525">
            <a:solidFill>
              <a:srgbClr val="E2DCD0"/>
            </a:solidFill>
            <a:prstDash val="solid"/>
          </a:ln>
        </p:spPr>
        <p:txBody>
          <a:bodyPr/>
          <a:p/>
        </p:txBody>
      </p:sp>
      <p:sp>
        <p:nvSpPr>
          <p:cNvPr id="18" name="Shape 16"/>
          <p:cNvSpPr/>
          <p:nvPr/>
        </p:nvSpPr>
        <p:spPr>
          <a:xfrm>
            <a:off x="8748522" y="2277999"/>
            <a:ext cx="-13716" cy="756666"/>
          </a:xfrm>
          <a:prstGeom prst="line">
            <a:avLst/>
          </a:prstGeom>
          <a:noFill/>
          <a:ln w="9525">
            <a:solidFill>
              <a:srgbClr val="E2DCD0"/>
            </a:solidFill>
            <a:prstDash val="solid"/>
          </a:ln>
        </p:spPr>
        <p:txBody>
          <a:bodyPr/>
          <a:p/>
        </p:txBody>
      </p:sp>
      <p:sp>
        <p:nvSpPr>
          <p:cNvPr id="19" name="Shape 17"/>
          <p:cNvSpPr/>
          <p:nvPr/>
        </p:nvSpPr>
        <p:spPr>
          <a:xfrm>
            <a:off x="9498330" y="2314575"/>
            <a:ext cx="841248" cy="-50292"/>
          </a:xfrm>
          <a:prstGeom prst="line">
            <a:avLst/>
          </a:prstGeom>
          <a:noFill/>
          <a:ln w="9525">
            <a:solidFill>
              <a:srgbClr val="E2DCD0"/>
            </a:solidFill>
            <a:prstDash val="solid"/>
          </a:ln>
        </p:spPr>
        <p:txBody>
          <a:bodyPr/>
          <a:p/>
        </p:txBody>
      </p:sp>
      <p:sp>
        <p:nvSpPr>
          <p:cNvPr id="20" name="Shape 18"/>
          <p:cNvSpPr/>
          <p:nvPr/>
        </p:nvSpPr>
        <p:spPr>
          <a:xfrm>
            <a:off x="9498330" y="2314575"/>
            <a:ext cx="4572" cy="761238"/>
          </a:xfrm>
          <a:prstGeom prst="line">
            <a:avLst/>
          </a:prstGeom>
          <a:noFill/>
          <a:ln w="9525">
            <a:solidFill>
              <a:srgbClr val="E2DCD0"/>
            </a:solidFill>
            <a:prstDash val="solid"/>
          </a:ln>
        </p:spPr>
        <p:txBody>
          <a:bodyPr/>
          <a:p/>
        </p:txBody>
      </p:sp>
      <p:sp>
        <p:nvSpPr>
          <p:cNvPr id="21" name="Shape 19"/>
          <p:cNvSpPr/>
          <p:nvPr/>
        </p:nvSpPr>
        <p:spPr>
          <a:xfrm>
            <a:off x="10339578" y="2264283"/>
            <a:ext cx="768096" cy="41148"/>
          </a:xfrm>
          <a:prstGeom prst="line">
            <a:avLst/>
          </a:prstGeom>
          <a:noFill/>
          <a:ln w="9525">
            <a:solidFill>
              <a:srgbClr val="E2DCD0"/>
            </a:solidFill>
            <a:prstDash val="solid"/>
          </a:ln>
        </p:spPr>
        <p:txBody>
          <a:bodyPr/>
          <a:p/>
        </p:txBody>
      </p:sp>
      <p:sp>
        <p:nvSpPr>
          <p:cNvPr id="22" name="Shape 20"/>
          <p:cNvSpPr/>
          <p:nvPr/>
        </p:nvSpPr>
        <p:spPr>
          <a:xfrm>
            <a:off x="10339578" y="2264283"/>
            <a:ext cx="9144" cy="779526"/>
          </a:xfrm>
          <a:prstGeom prst="line">
            <a:avLst/>
          </a:prstGeom>
          <a:noFill/>
          <a:ln w="9525">
            <a:solidFill>
              <a:srgbClr val="E2DCD0"/>
            </a:solidFill>
            <a:prstDash val="solid"/>
          </a:ln>
        </p:spPr>
        <p:txBody>
          <a:bodyPr/>
          <a:p/>
        </p:txBody>
      </p:sp>
      <p:sp>
        <p:nvSpPr>
          <p:cNvPr id="23" name="Shape 21"/>
          <p:cNvSpPr/>
          <p:nvPr/>
        </p:nvSpPr>
        <p:spPr>
          <a:xfrm>
            <a:off x="11107674" y="2305431"/>
            <a:ext cx="-9144" cy="774954"/>
          </a:xfrm>
          <a:prstGeom prst="line">
            <a:avLst/>
          </a:prstGeom>
          <a:noFill/>
          <a:ln w="9525">
            <a:solidFill>
              <a:srgbClr val="E2DCD0"/>
            </a:solidFill>
            <a:prstDash val="solid"/>
          </a:ln>
        </p:spPr>
        <p:txBody>
          <a:bodyPr/>
          <a:p/>
        </p:txBody>
      </p:sp>
      <p:sp>
        <p:nvSpPr>
          <p:cNvPr id="24" name="Shape 22"/>
          <p:cNvSpPr/>
          <p:nvPr/>
        </p:nvSpPr>
        <p:spPr>
          <a:xfrm>
            <a:off x="7143750" y="3039237"/>
            <a:ext cx="749808" cy="45720"/>
          </a:xfrm>
          <a:prstGeom prst="line">
            <a:avLst/>
          </a:prstGeom>
          <a:noFill/>
          <a:ln w="9525">
            <a:solidFill>
              <a:srgbClr val="E2DCD0"/>
            </a:solidFill>
            <a:prstDash val="solid"/>
          </a:ln>
        </p:spPr>
        <p:txBody>
          <a:bodyPr/>
          <a:p/>
        </p:txBody>
      </p:sp>
      <p:sp>
        <p:nvSpPr>
          <p:cNvPr id="25" name="Shape 23"/>
          <p:cNvSpPr/>
          <p:nvPr/>
        </p:nvSpPr>
        <p:spPr>
          <a:xfrm>
            <a:off x="7143750" y="3039237"/>
            <a:ext cx="-4572" cy="756666"/>
          </a:xfrm>
          <a:prstGeom prst="line">
            <a:avLst/>
          </a:prstGeom>
          <a:noFill/>
          <a:ln w="9525">
            <a:solidFill>
              <a:srgbClr val="E2DCD0"/>
            </a:solidFill>
            <a:prstDash val="solid"/>
          </a:ln>
        </p:spPr>
        <p:txBody>
          <a:bodyPr/>
          <a:p/>
        </p:txBody>
      </p:sp>
      <p:sp>
        <p:nvSpPr>
          <p:cNvPr id="26" name="Shape 24"/>
          <p:cNvSpPr/>
          <p:nvPr/>
        </p:nvSpPr>
        <p:spPr>
          <a:xfrm>
            <a:off x="7893558" y="3084957"/>
            <a:ext cx="841248" cy="-50292"/>
          </a:xfrm>
          <a:prstGeom prst="line">
            <a:avLst/>
          </a:prstGeom>
          <a:noFill/>
          <a:ln w="9525">
            <a:solidFill>
              <a:srgbClr val="E2DCD0"/>
            </a:solidFill>
            <a:prstDash val="solid"/>
          </a:ln>
        </p:spPr>
        <p:txBody>
          <a:bodyPr/>
          <a:p/>
        </p:txBody>
      </p:sp>
      <p:sp>
        <p:nvSpPr>
          <p:cNvPr id="27" name="Shape 25"/>
          <p:cNvSpPr/>
          <p:nvPr/>
        </p:nvSpPr>
        <p:spPr>
          <a:xfrm>
            <a:off x="7893558" y="3084957"/>
            <a:ext cx="13716" cy="752094"/>
          </a:xfrm>
          <a:prstGeom prst="line">
            <a:avLst/>
          </a:prstGeom>
          <a:noFill/>
          <a:ln w="9525">
            <a:solidFill>
              <a:srgbClr val="E2DCD0"/>
            </a:solidFill>
            <a:prstDash val="solid"/>
          </a:ln>
        </p:spPr>
        <p:txBody>
          <a:bodyPr/>
          <a:p/>
        </p:txBody>
      </p:sp>
      <p:sp>
        <p:nvSpPr>
          <p:cNvPr id="28" name="Shape 26"/>
          <p:cNvSpPr/>
          <p:nvPr/>
        </p:nvSpPr>
        <p:spPr>
          <a:xfrm>
            <a:off x="8734806" y="3034665"/>
            <a:ext cx="768096" cy="41148"/>
          </a:xfrm>
          <a:prstGeom prst="line">
            <a:avLst/>
          </a:prstGeom>
          <a:noFill/>
          <a:ln w="9525">
            <a:solidFill>
              <a:srgbClr val="E2DCD0"/>
            </a:solidFill>
            <a:prstDash val="solid"/>
          </a:ln>
        </p:spPr>
        <p:txBody>
          <a:bodyPr/>
          <a:p/>
        </p:txBody>
      </p:sp>
      <p:sp>
        <p:nvSpPr>
          <p:cNvPr id="29" name="Shape 27"/>
          <p:cNvSpPr/>
          <p:nvPr/>
        </p:nvSpPr>
        <p:spPr>
          <a:xfrm>
            <a:off x="8734806" y="3034665"/>
            <a:ext cx="9144" cy="770382"/>
          </a:xfrm>
          <a:prstGeom prst="line">
            <a:avLst/>
          </a:prstGeom>
          <a:noFill/>
          <a:ln w="9525">
            <a:solidFill>
              <a:srgbClr val="E2DCD0"/>
            </a:solidFill>
            <a:prstDash val="solid"/>
          </a:ln>
        </p:spPr>
        <p:txBody>
          <a:bodyPr/>
          <a:p/>
        </p:txBody>
      </p:sp>
      <p:sp>
        <p:nvSpPr>
          <p:cNvPr id="30" name="Shape 28"/>
          <p:cNvSpPr/>
          <p:nvPr/>
        </p:nvSpPr>
        <p:spPr>
          <a:xfrm>
            <a:off x="9502902" y="3075813"/>
            <a:ext cx="845820" cy="-32004"/>
          </a:xfrm>
          <a:prstGeom prst="line">
            <a:avLst/>
          </a:prstGeom>
          <a:noFill/>
          <a:ln w="9525">
            <a:solidFill>
              <a:srgbClr val="E2DCD0"/>
            </a:solidFill>
            <a:prstDash val="solid"/>
          </a:ln>
        </p:spPr>
        <p:txBody>
          <a:bodyPr/>
          <a:p/>
        </p:txBody>
      </p:sp>
      <p:sp>
        <p:nvSpPr>
          <p:cNvPr id="31" name="Shape 29"/>
          <p:cNvSpPr/>
          <p:nvPr/>
        </p:nvSpPr>
        <p:spPr>
          <a:xfrm>
            <a:off x="9502902" y="3075813"/>
            <a:ext cx="-9144" cy="774954"/>
          </a:xfrm>
          <a:prstGeom prst="line">
            <a:avLst/>
          </a:prstGeom>
          <a:noFill/>
          <a:ln w="9525">
            <a:solidFill>
              <a:srgbClr val="E2DCD0"/>
            </a:solidFill>
            <a:prstDash val="solid"/>
          </a:ln>
        </p:spPr>
        <p:txBody>
          <a:bodyPr/>
          <a:p/>
        </p:txBody>
      </p:sp>
      <p:sp>
        <p:nvSpPr>
          <p:cNvPr id="32" name="Shape 30"/>
          <p:cNvSpPr/>
          <p:nvPr/>
        </p:nvSpPr>
        <p:spPr>
          <a:xfrm>
            <a:off x="10348722" y="3043809"/>
            <a:ext cx="749808" cy="36576"/>
          </a:xfrm>
          <a:prstGeom prst="line">
            <a:avLst/>
          </a:prstGeom>
          <a:noFill/>
          <a:ln w="9525">
            <a:solidFill>
              <a:srgbClr val="E2DCD0"/>
            </a:solidFill>
            <a:prstDash val="solid"/>
          </a:ln>
        </p:spPr>
        <p:txBody>
          <a:bodyPr/>
          <a:p/>
        </p:txBody>
      </p:sp>
      <p:sp>
        <p:nvSpPr>
          <p:cNvPr id="33" name="Shape 31"/>
          <p:cNvSpPr/>
          <p:nvPr/>
        </p:nvSpPr>
        <p:spPr>
          <a:xfrm>
            <a:off x="10348722" y="3043809"/>
            <a:ext cx="-13716" cy="756666"/>
          </a:xfrm>
          <a:prstGeom prst="line">
            <a:avLst/>
          </a:prstGeom>
          <a:noFill/>
          <a:ln w="9525">
            <a:solidFill>
              <a:srgbClr val="E2DCD0"/>
            </a:solidFill>
            <a:prstDash val="solid"/>
          </a:ln>
        </p:spPr>
        <p:txBody>
          <a:bodyPr/>
          <a:p/>
        </p:txBody>
      </p:sp>
      <p:sp>
        <p:nvSpPr>
          <p:cNvPr id="34" name="Shape 32"/>
          <p:cNvSpPr/>
          <p:nvPr/>
        </p:nvSpPr>
        <p:spPr>
          <a:xfrm>
            <a:off x="11098530" y="3080385"/>
            <a:ext cx="4572" cy="761238"/>
          </a:xfrm>
          <a:prstGeom prst="line">
            <a:avLst/>
          </a:prstGeom>
          <a:noFill/>
          <a:ln w="9525">
            <a:solidFill>
              <a:srgbClr val="E2DCD0"/>
            </a:solidFill>
            <a:prstDash val="solid"/>
          </a:ln>
        </p:spPr>
        <p:txBody>
          <a:bodyPr/>
          <a:p/>
        </p:txBody>
      </p:sp>
      <p:sp>
        <p:nvSpPr>
          <p:cNvPr id="35" name="Shape 33"/>
          <p:cNvSpPr/>
          <p:nvPr/>
        </p:nvSpPr>
        <p:spPr>
          <a:xfrm>
            <a:off x="7139178" y="3795903"/>
            <a:ext cx="768096" cy="41148"/>
          </a:xfrm>
          <a:prstGeom prst="line">
            <a:avLst/>
          </a:prstGeom>
          <a:noFill/>
          <a:ln w="9525">
            <a:solidFill>
              <a:srgbClr val="E2DCD0"/>
            </a:solidFill>
            <a:prstDash val="solid"/>
          </a:ln>
        </p:spPr>
        <p:txBody>
          <a:bodyPr/>
          <a:p/>
        </p:txBody>
      </p:sp>
      <p:sp>
        <p:nvSpPr>
          <p:cNvPr id="36" name="Shape 34"/>
          <p:cNvSpPr/>
          <p:nvPr/>
        </p:nvSpPr>
        <p:spPr>
          <a:xfrm>
            <a:off x="7907274" y="3837051"/>
            <a:ext cx="836676" cy="-32004"/>
          </a:xfrm>
          <a:prstGeom prst="line">
            <a:avLst/>
          </a:prstGeom>
          <a:noFill/>
          <a:ln w="9525">
            <a:solidFill>
              <a:srgbClr val="E2DCD0"/>
            </a:solidFill>
            <a:prstDash val="solid"/>
          </a:ln>
        </p:spPr>
        <p:txBody>
          <a:bodyPr/>
          <a:p/>
        </p:txBody>
      </p:sp>
      <p:sp>
        <p:nvSpPr>
          <p:cNvPr id="37" name="Shape 35"/>
          <p:cNvSpPr/>
          <p:nvPr/>
        </p:nvSpPr>
        <p:spPr>
          <a:xfrm>
            <a:off x="8743950" y="3805047"/>
            <a:ext cx="749808" cy="45720"/>
          </a:xfrm>
          <a:prstGeom prst="line">
            <a:avLst/>
          </a:prstGeom>
          <a:noFill/>
          <a:ln w="9525">
            <a:solidFill>
              <a:srgbClr val="E2DCD0"/>
            </a:solidFill>
            <a:prstDash val="solid"/>
          </a:ln>
        </p:spPr>
        <p:txBody>
          <a:bodyPr/>
          <a:p/>
        </p:txBody>
      </p:sp>
      <p:sp>
        <p:nvSpPr>
          <p:cNvPr id="38" name="Shape 36"/>
          <p:cNvSpPr/>
          <p:nvPr/>
        </p:nvSpPr>
        <p:spPr>
          <a:xfrm>
            <a:off x="9493758" y="3850767"/>
            <a:ext cx="841248" cy="-50292"/>
          </a:xfrm>
          <a:prstGeom prst="line">
            <a:avLst/>
          </a:prstGeom>
          <a:noFill/>
          <a:ln w="9525">
            <a:solidFill>
              <a:srgbClr val="E2DCD0"/>
            </a:solidFill>
            <a:prstDash val="solid"/>
          </a:ln>
        </p:spPr>
        <p:txBody>
          <a:bodyPr/>
          <a:p/>
        </p:txBody>
      </p:sp>
      <p:sp>
        <p:nvSpPr>
          <p:cNvPr id="39" name="Shape 37"/>
          <p:cNvSpPr/>
          <p:nvPr/>
        </p:nvSpPr>
        <p:spPr>
          <a:xfrm>
            <a:off x="10335006" y="3800475"/>
            <a:ext cx="768096" cy="41148"/>
          </a:xfrm>
          <a:prstGeom prst="line">
            <a:avLst/>
          </a:prstGeom>
          <a:noFill/>
          <a:ln w="9525">
            <a:solidFill>
              <a:srgbClr val="E2DCD0"/>
            </a:solidFill>
            <a:prstDash val="solid"/>
          </a:ln>
        </p:spPr>
        <p:txBody>
          <a:bodyPr/>
          <a:p/>
        </p:txBody>
      </p:sp>
      <p:sp>
        <p:nvSpPr>
          <p:cNvPr id="40" name="Shape 38"/>
          <p:cNvSpPr/>
          <p:nvPr/>
        </p:nvSpPr>
        <p:spPr>
          <a:xfrm>
            <a:off x="7070598"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7820406"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8661654"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9429750" y="1461897"/>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266426" y="1429893"/>
            <a:ext cx="155448" cy="155448"/>
          </a:xfrm>
          <a:prstGeom prst="ellipse">
            <a:avLst/>
          </a:prstGeom>
          <a:solidFill>
            <a:srgbClr val="2C5F2D"/>
          </a:solidFill>
          <a:ln w="15875">
            <a:solidFill>
              <a:srgbClr val="FBF9F4"/>
            </a:solidFill>
            <a:prstDash val="solid"/>
          </a:ln>
        </p:spPr>
        <p:txBody>
          <a:bodyPr/>
          <a:p/>
        </p:txBody>
      </p:sp>
      <p:sp>
        <p:nvSpPr>
          <p:cNvPr id="45" name="Shape 43"/>
          <p:cNvSpPr/>
          <p:nvPr/>
        </p:nvSpPr>
        <p:spPr>
          <a:xfrm>
            <a:off x="11016234" y="1475613"/>
            <a:ext cx="155448" cy="155448"/>
          </a:xfrm>
          <a:prstGeom prst="ellipse">
            <a:avLst/>
          </a:prstGeom>
          <a:solidFill>
            <a:srgbClr val="2C5F2D"/>
          </a:solidFill>
          <a:ln w="15875">
            <a:solidFill>
              <a:srgbClr val="FBF9F4"/>
            </a:solidFill>
            <a:prstDash val="solid"/>
          </a:ln>
        </p:spPr>
        <p:txBody>
          <a:bodyPr/>
          <a:p/>
        </p:txBody>
      </p:sp>
      <p:sp>
        <p:nvSpPr>
          <p:cNvPr id="46" name="Shape 44"/>
          <p:cNvSpPr/>
          <p:nvPr/>
        </p:nvSpPr>
        <p:spPr>
          <a:xfrm>
            <a:off x="7056882"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7824978"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8670798"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9420606" y="2236851"/>
            <a:ext cx="155448" cy="155448"/>
          </a:xfrm>
          <a:prstGeom prst="ellipse">
            <a:avLst/>
          </a:prstGeom>
          <a:solidFill>
            <a:srgbClr val="97BC62"/>
          </a:solidFill>
          <a:ln w="15875">
            <a:solidFill>
              <a:srgbClr val="FBF9F4"/>
            </a:solidFill>
            <a:prstDash val="solid"/>
          </a:ln>
        </p:spPr>
        <p:txBody>
          <a:bodyPr/>
          <a:p/>
        </p:txBody>
      </p:sp>
      <p:sp>
        <p:nvSpPr>
          <p:cNvPr id="50" name="Shape 48"/>
          <p:cNvSpPr/>
          <p:nvPr/>
        </p:nvSpPr>
        <p:spPr>
          <a:xfrm>
            <a:off x="10261854" y="2186559"/>
            <a:ext cx="155448" cy="155448"/>
          </a:xfrm>
          <a:prstGeom prst="ellipse">
            <a:avLst/>
          </a:prstGeom>
          <a:solidFill>
            <a:srgbClr val="2C5F2D"/>
          </a:solidFill>
          <a:ln w="15875">
            <a:solidFill>
              <a:srgbClr val="FBF9F4"/>
            </a:solidFill>
            <a:prstDash val="solid"/>
          </a:ln>
        </p:spPr>
        <p:txBody>
          <a:bodyPr/>
          <a:p/>
        </p:txBody>
      </p:sp>
      <p:sp>
        <p:nvSpPr>
          <p:cNvPr id="51" name="Shape 49"/>
          <p:cNvSpPr/>
          <p:nvPr/>
        </p:nvSpPr>
        <p:spPr>
          <a:xfrm>
            <a:off x="11029950" y="2227707"/>
            <a:ext cx="155448" cy="155448"/>
          </a:xfrm>
          <a:prstGeom prst="ellipse">
            <a:avLst/>
          </a:prstGeom>
          <a:solidFill>
            <a:srgbClr val="2C5F2D"/>
          </a:solidFill>
          <a:ln w="15875">
            <a:solidFill>
              <a:srgbClr val="FBF9F4"/>
            </a:solidFill>
            <a:prstDash val="solid"/>
          </a:ln>
        </p:spPr>
        <p:txBody>
          <a:bodyPr/>
          <a:p/>
        </p:txBody>
      </p:sp>
      <p:sp>
        <p:nvSpPr>
          <p:cNvPr id="52" name="Shape 50"/>
          <p:cNvSpPr/>
          <p:nvPr/>
        </p:nvSpPr>
        <p:spPr>
          <a:xfrm>
            <a:off x="7066026"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7815834"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8657082"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9425178" y="2998089"/>
            <a:ext cx="155448" cy="155448"/>
          </a:xfrm>
          <a:prstGeom prst="ellipse">
            <a:avLst/>
          </a:prstGeom>
          <a:solidFill>
            <a:srgbClr val="97BC62"/>
          </a:solidFill>
          <a:ln w="15875">
            <a:solidFill>
              <a:srgbClr val="FBF9F4"/>
            </a:solidFill>
            <a:prstDash val="solid"/>
          </a:ln>
        </p:spPr>
        <p:txBody>
          <a:bodyPr/>
          <a:p/>
        </p:txBody>
      </p:sp>
      <p:sp>
        <p:nvSpPr>
          <p:cNvPr id="56" name="Shape 54"/>
          <p:cNvSpPr/>
          <p:nvPr/>
        </p:nvSpPr>
        <p:spPr>
          <a:xfrm>
            <a:off x="10270998" y="2966085"/>
            <a:ext cx="155448" cy="155448"/>
          </a:xfrm>
          <a:prstGeom prst="ellipse">
            <a:avLst/>
          </a:prstGeom>
          <a:solidFill>
            <a:srgbClr val="2C5F2D"/>
          </a:solidFill>
          <a:ln w="15875">
            <a:solidFill>
              <a:srgbClr val="FBF9F4"/>
            </a:solidFill>
            <a:prstDash val="solid"/>
          </a:ln>
        </p:spPr>
        <p:txBody>
          <a:bodyPr/>
          <a:p/>
        </p:txBody>
      </p:sp>
      <p:sp>
        <p:nvSpPr>
          <p:cNvPr id="57" name="Shape 55"/>
          <p:cNvSpPr/>
          <p:nvPr/>
        </p:nvSpPr>
        <p:spPr>
          <a:xfrm>
            <a:off x="11020806" y="3002661"/>
            <a:ext cx="155448" cy="155448"/>
          </a:xfrm>
          <a:prstGeom prst="ellipse">
            <a:avLst/>
          </a:prstGeom>
          <a:solidFill>
            <a:srgbClr val="2C5F2D"/>
          </a:solidFill>
          <a:ln w="15875">
            <a:solidFill>
              <a:srgbClr val="FBF9F4"/>
            </a:solidFill>
            <a:prstDash val="solid"/>
          </a:ln>
        </p:spPr>
        <p:txBody>
          <a:bodyPr/>
          <a:p/>
        </p:txBody>
      </p:sp>
      <p:sp>
        <p:nvSpPr>
          <p:cNvPr id="58" name="Shape 56"/>
          <p:cNvSpPr/>
          <p:nvPr/>
        </p:nvSpPr>
        <p:spPr>
          <a:xfrm>
            <a:off x="7061454"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7829550"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8666226"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9416034" y="3773043"/>
            <a:ext cx="155448" cy="155448"/>
          </a:xfrm>
          <a:prstGeom prst="ellipse">
            <a:avLst/>
          </a:prstGeom>
          <a:solidFill>
            <a:srgbClr val="97BC62"/>
          </a:solidFill>
          <a:ln w="15875">
            <a:solidFill>
              <a:srgbClr val="FBF9F4"/>
            </a:solidFill>
            <a:prstDash val="solid"/>
          </a:ln>
        </p:spPr>
        <p:txBody>
          <a:bodyPr/>
          <a:p/>
        </p:txBody>
      </p:sp>
      <p:sp>
        <p:nvSpPr>
          <p:cNvPr id="62" name="Shape 60"/>
          <p:cNvSpPr/>
          <p:nvPr/>
        </p:nvSpPr>
        <p:spPr>
          <a:xfrm>
            <a:off x="10257282" y="3722751"/>
            <a:ext cx="155448" cy="155448"/>
          </a:xfrm>
          <a:prstGeom prst="ellipse">
            <a:avLst/>
          </a:prstGeom>
          <a:solidFill>
            <a:srgbClr val="2C5F2D"/>
          </a:solidFill>
          <a:ln w="15875">
            <a:solidFill>
              <a:srgbClr val="FBF9F4"/>
            </a:solidFill>
            <a:prstDash val="solid"/>
          </a:ln>
        </p:spPr>
        <p:txBody>
          <a:bodyPr/>
          <a:p/>
        </p:txBody>
      </p:sp>
      <p:sp>
        <p:nvSpPr>
          <p:cNvPr id="63" name="Shape 61"/>
          <p:cNvSpPr/>
          <p:nvPr/>
        </p:nvSpPr>
        <p:spPr>
          <a:xfrm>
            <a:off x="11025378" y="3763899"/>
            <a:ext cx="155448" cy="155448"/>
          </a:xfrm>
          <a:prstGeom prst="ellipse">
            <a:avLst/>
          </a:prstGeom>
          <a:solidFill>
            <a:srgbClr val="2C5F2D"/>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868680" y="3611880"/>
            <a:ext cx="1920240"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a:buNone/>
            </a:pPr>
            <a:r>
              <a:rPr lang="en-US" sz="2000" b="1" dirty="0">
                <a:solidFill>
                  <a:srgbClr val="2C5F2D"/>
                </a:solidFill>
                <a:latin typeface="맑은 고딕" pitchFamily="34" charset="0"/>
                <a:ea typeface="맑은 고딕" pitchFamily="34" charset="-122"/>
                <a:cs typeface="맑은 고딕" pitchFamily="34" charset="-120"/>
              </a:rPr>
              <a:t>화중생련  </a:t>
            </a:r>
            <a:pPr indent="0" marL="0">
              <a:buNone/>
            </a:pPr>
            <a:r>
              <a:rPr lang="en-US" sz="2000" b="1" dirty="0">
                <a:solidFill>
                  <a:srgbClr val="6B6E6A"/>
                </a:solidFill>
                <a:latin typeface="맑은 고딕" pitchFamily="34" charset="0"/>
                <a:ea typeface="맑은 고딕" pitchFamily="34" charset="-122"/>
                <a:cs typeface="맑은 고딕" pitchFamily="34" charset="-120"/>
              </a:rPr>
              <a:t>火中生蓮</a:t>
            </a: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  |  독창성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재난에선 노드 파괴가 '필연'이다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a:t>
            </a:r>
            <a:pPr indent="0" marL="0">
              <a:lnSpc>
                <a:spcPct val="125000"/>
              </a:lnSpc>
              <a:buNone/>
            </a:pPr>
            <a:r>
              <a:rPr lang="en-US" sz="1500" b="1" dirty="0">
                <a:solidFill>
                  <a:srgbClr val="D35400"/>
                </a:solidFill>
                <a:latin typeface="맑은 고딕" pitchFamily="34" charset="0"/>
                <a:ea typeface="맑은 고딕" pitchFamily="34" charset="-122"/>
                <a:cs typeface="맑은 고딕" pitchFamily="34" charset="-120"/>
              </a:rPr>
              <a:t>반드시 죽는다</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 기존 시스템은 이 죽음을 단순 '손실'로 처리한다. 우리는 </a:t>
            </a:r>
            <a:pPr indent="0" marL="0">
              <a:lnSpc>
                <a:spcPct val="125000"/>
              </a:lnSpc>
              <a:buNone/>
            </a:pPr>
            <a:r>
              <a:rPr lang="en-US" sz="1500" b="1" dirty="0">
                <a:solidFill>
                  <a:srgbClr val="2C5F2D"/>
                </a:solidFill>
                <a:latin typeface="맑은 고딕" pitchFamily="34" charset="0"/>
                <a:ea typeface="맑은 고딕" pitchFamily="34" charset="-122"/>
                <a:cs typeface="맑은 고딕" pitchFamily="34" charset="-120"/>
              </a:rPr>
              <a:t>죽음의 시공간 패턴 자체를 데이터로 승격</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해, 사라진 노드들이 오히려 불의 방향·속도를 그리게 한다.</a:t>
            </a:r>
            <a:endParaRPr lang="en-US" sz="1500" dirty="0"/>
          </a:p>
        </p:txBody>
      </p:sp>
      <p:sp>
        <p:nvSpPr>
          <p:cNvPr id="6" name="Shape 4"/>
          <p:cNvSpPr/>
          <p:nvPr/>
        </p:nvSpPr>
        <p:spPr>
          <a:xfrm>
            <a:off x="548640"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898648"/>
            <a:ext cx="3063240" cy="365760"/>
          </a:xfrm>
          <a:prstGeom prst="rect">
            <a:avLst/>
          </a:prstGeom>
          <a:noFill/>
          <a:ln/>
        </p:spPr>
        <p:txBody>
          <a:bodyPr wrap="square" rtlCol="0" anchor="ctr"/>
          <a:lstStyle/>
          <a:p>
            <a:pPr indent="0" marL="0">
              <a:buNone/>
            </a:pPr>
            <a:r>
              <a:rPr lang="en-US" sz="1450" b="1" dirty="0">
                <a:solidFill>
                  <a:srgbClr val="6B6E6A"/>
                </a:solidFill>
                <a:latin typeface="맑은 고딕" pitchFamily="34" charset="0"/>
                <a:ea typeface="맑은 고딕" pitchFamily="34" charset="-122"/>
                <a:cs typeface="맑은 고딕" pitchFamily="34" charset="-120"/>
              </a:rPr>
              <a:t>문제 정의</a:t>
            </a:r>
            <a:endParaRPr lang="en-US" sz="1450" dirty="0"/>
          </a:p>
        </p:txBody>
      </p:sp>
      <p:sp>
        <p:nvSpPr>
          <p:cNvPr id="8" name="Shape 6"/>
          <p:cNvSpPr/>
          <p:nvPr/>
        </p:nvSpPr>
        <p:spPr>
          <a:xfrm>
            <a:off x="777240" y="3337560"/>
            <a:ext cx="502920" cy="0"/>
          </a:xfrm>
          <a:prstGeom prst="line">
            <a:avLst/>
          </a:prstGeom>
          <a:noFill/>
          <a:ln w="25400">
            <a:solidFill>
              <a:srgbClr val="D35400"/>
            </a:solidFill>
            <a:prstDash val="solid"/>
          </a:ln>
        </p:spPr>
        <p:txBody>
          <a:bodyPr/>
          <a:p/>
        </p:txBody>
      </p:sp>
      <p:sp>
        <p:nvSpPr>
          <p:cNvPr id="9" name="Text 7"/>
          <p:cNvSpPr/>
          <p:nvPr/>
        </p:nvSpPr>
        <p:spPr>
          <a:xfrm>
            <a:off x="777240" y="3474720"/>
            <a:ext cx="306324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위성·드론은 연기·수목 아래 지표 화선을 못 본다. 진화 지휘·대원 안전이 직결된 실시간 공백이 남는다.</a:t>
            </a:r>
            <a:endParaRPr lang="en-US" sz="1200" dirty="0"/>
          </a:p>
        </p:txBody>
      </p:sp>
      <p:sp>
        <p:nvSpPr>
          <p:cNvPr id="10" name="Shape 8"/>
          <p:cNvSpPr/>
          <p:nvPr/>
        </p:nvSpPr>
        <p:spPr>
          <a:xfrm>
            <a:off x="4325112"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11" name="Text 9"/>
          <p:cNvSpPr/>
          <p:nvPr/>
        </p:nvSpPr>
        <p:spPr>
          <a:xfrm>
            <a:off x="4553712" y="2898648"/>
            <a:ext cx="3063240" cy="365760"/>
          </a:xfrm>
          <a:prstGeom prst="rect">
            <a:avLst/>
          </a:prstGeom>
          <a:noFill/>
          <a:ln/>
        </p:spPr>
        <p:txBody>
          <a:bodyPr wrap="square" rtlCol="0" anchor="ctr"/>
          <a:lstStyle/>
          <a:p>
            <a:pPr indent="0" marL="0">
              <a:buNone/>
            </a:pPr>
            <a:r>
              <a:rPr lang="en-US" sz="1450" b="1" dirty="0">
                <a:solidFill>
                  <a:srgbClr val="6B6E6A"/>
                </a:solidFill>
                <a:latin typeface="맑은 고딕" pitchFamily="34" charset="0"/>
                <a:ea typeface="맑은 고딕" pitchFamily="34" charset="-122"/>
                <a:cs typeface="맑은 고딕" pitchFamily="34" charset="-120"/>
              </a:rPr>
              <a:t>기존의 공백</a:t>
            </a:r>
            <a:endParaRPr lang="en-US" sz="1450" dirty="0"/>
          </a:p>
        </p:txBody>
      </p:sp>
      <p:sp>
        <p:nvSpPr>
          <p:cNvPr id="12" name="Shape 10"/>
          <p:cNvSpPr/>
          <p:nvPr/>
        </p:nvSpPr>
        <p:spPr>
          <a:xfrm>
            <a:off x="4553712" y="3337560"/>
            <a:ext cx="502920" cy="0"/>
          </a:xfrm>
          <a:prstGeom prst="line">
            <a:avLst/>
          </a:prstGeom>
          <a:noFill/>
          <a:ln w="25400">
            <a:solidFill>
              <a:srgbClr val="D35400"/>
            </a:solidFill>
            <a:prstDash val="solid"/>
          </a:ln>
        </p:spPr>
        <p:txBody>
          <a:bodyPr/>
          <a:p/>
        </p:txBody>
      </p:sp>
      <p:sp>
        <p:nvSpPr>
          <p:cNvPr id="13" name="Text 11"/>
          <p:cNvSpPr/>
          <p:nvPr/>
        </p:nvSpPr>
        <p:spPr>
          <a:xfrm>
            <a:off x="4553712" y="3474720"/>
            <a:ext cx="306324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stock 메시는 죽은 노드를 우회만 할 뿐, 그 죽음에 담긴 정보를 버린다.</a:t>
            </a:r>
            <a:endParaRPr lang="en-US" sz="1200" dirty="0"/>
          </a:p>
        </p:txBody>
      </p:sp>
      <p:sp>
        <p:nvSpPr>
          <p:cNvPr id="14" name="Shape 12"/>
          <p:cNvSpPr/>
          <p:nvPr/>
        </p:nvSpPr>
        <p:spPr>
          <a:xfrm>
            <a:off x="8101584" y="2697480"/>
            <a:ext cx="352044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330184" y="2898648"/>
            <a:ext cx="306324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우리 목표</a:t>
            </a:r>
            <a:endParaRPr lang="en-US" sz="1450" dirty="0"/>
          </a:p>
        </p:txBody>
      </p:sp>
      <p:sp>
        <p:nvSpPr>
          <p:cNvPr id="16" name="Shape 14"/>
          <p:cNvSpPr/>
          <p:nvPr/>
        </p:nvSpPr>
        <p:spPr>
          <a:xfrm>
            <a:off x="8330184" y="3337560"/>
            <a:ext cx="502920" cy="0"/>
          </a:xfrm>
          <a:prstGeom prst="line">
            <a:avLst/>
          </a:prstGeom>
          <a:noFill/>
          <a:ln w="25400">
            <a:solidFill>
              <a:srgbClr val="D35400"/>
            </a:solidFill>
            <a:prstDash val="solid"/>
          </a:ln>
        </p:spPr>
        <p:txBody>
          <a:bodyPr/>
          <a:p/>
        </p:txBody>
      </p:sp>
      <p:sp>
        <p:nvSpPr>
          <p:cNvPr id="17" name="Text 15"/>
          <p:cNvSpPr/>
          <p:nvPr/>
        </p:nvSpPr>
        <p:spPr>
          <a:xfrm>
            <a:off x="8330184" y="3474720"/>
            <a:ext cx="306324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고장 패턴을 데이터로 + 자가치유로, 그 공백을 지상에서 실시간으로 채운다.</a:t>
            </a:r>
            <a:endParaRPr lang="en-US" sz="12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a:buNone/>
            </a:pPr>
            <a:r>
              <a:rPr lang="en-US" sz="1300" b="1" i="1" dirty="0">
                <a:solidFill>
                  <a:srgbClr val="2C5F2D"/>
                </a:solidFill>
                <a:latin typeface="맑은 고딕" pitchFamily="34" charset="0"/>
                <a:ea typeface="맑은 고딕" pitchFamily="34" charset="-122"/>
                <a:cs typeface="맑은 고딕" pitchFamily="34" charset="-120"/>
              </a:rPr>
              <a:t>→ 응용(산불)이 아니라 아키텍처(고장→데이터 + 자가치유)에 독창성이 있다.</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a:off x="10503027" y="6464808"/>
            <a:ext cx="-4572" cy="187452"/>
          </a:xfrm>
          <a:prstGeom prst="line">
            <a:avLst/>
          </a:prstGeom>
          <a:noFill/>
          <a:ln w="9525">
            <a:solidFill>
              <a:srgbClr val="E2DCD0"/>
            </a:solidFill>
            <a:prstDash val="solid"/>
          </a:ln>
        </p:spPr>
        <p:txBody>
          <a:bodyPr/>
          <a:p/>
        </p:txBody>
      </p:sp>
      <p:sp>
        <p:nvSpPr>
          <p:cNvPr id="23" name="Shape 21"/>
          <p:cNvSpPr/>
          <p:nvPr/>
        </p:nvSpPr>
        <p:spPr>
          <a:xfrm>
            <a:off x="10647045" y="6501384"/>
            <a:ext cx="235458" cy="-50292"/>
          </a:xfrm>
          <a:prstGeom prst="line">
            <a:avLst/>
          </a:prstGeom>
          <a:noFill/>
          <a:ln w="9525">
            <a:solidFill>
              <a:srgbClr val="E2DCD0"/>
            </a:solidFill>
            <a:prstDash val="solid"/>
          </a:ln>
        </p:spPr>
        <p:txBody>
          <a:bodyPr/>
          <a:p/>
        </p:txBody>
      </p:sp>
      <p:sp>
        <p:nvSpPr>
          <p:cNvPr id="24" name="Shape 22"/>
          <p:cNvSpPr/>
          <p:nvPr/>
        </p:nvSpPr>
        <p:spPr>
          <a:xfrm>
            <a:off x="10647045"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a:off x="10882503" y="6451092"/>
            <a:ext cx="-4572" cy="196596"/>
          </a:xfrm>
          <a:prstGeom prst="line">
            <a:avLst/>
          </a:prstGeom>
          <a:noFill/>
          <a:ln w="9525">
            <a:solidFill>
              <a:srgbClr val="E2DCD0"/>
            </a:solidFill>
            <a:prstDash val="solid"/>
          </a:ln>
        </p:spPr>
        <p:txBody>
          <a:bodyPr/>
          <a:p/>
        </p:txBody>
      </p:sp>
      <p:sp>
        <p:nvSpPr>
          <p:cNvPr id="27" name="Shape 25"/>
          <p:cNvSpPr/>
          <p:nvPr/>
        </p:nvSpPr>
        <p:spPr>
          <a:xfrm>
            <a:off x="11044809"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a:off x="10642473" y="6697980"/>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  |  활용성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상공이 못 보는 '지표 화선'의 실시간 공백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 (동기·삽화로만 사용 — 반사실 주장 아님)</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a:off x="10503027" y="6464808"/>
            <a:ext cx="-4572" cy="187452"/>
          </a:xfrm>
          <a:prstGeom prst="line">
            <a:avLst/>
          </a:prstGeom>
          <a:noFill/>
          <a:ln w="9525">
            <a:solidFill>
              <a:srgbClr val="E2DCD0"/>
            </a:solidFill>
            <a:prstDash val="solid"/>
          </a:ln>
        </p:spPr>
        <p:txBody>
          <a:bodyPr/>
          <a:p/>
        </p:txBody>
      </p:sp>
      <p:sp>
        <p:nvSpPr>
          <p:cNvPr id="20" name="Shape 18"/>
          <p:cNvSpPr/>
          <p:nvPr/>
        </p:nvSpPr>
        <p:spPr>
          <a:xfrm>
            <a:off x="10647045" y="6501384"/>
            <a:ext cx="235458" cy="-50292"/>
          </a:xfrm>
          <a:prstGeom prst="line">
            <a:avLst/>
          </a:prstGeom>
          <a:noFill/>
          <a:ln w="9525">
            <a:solidFill>
              <a:srgbClr val="E2DCD0"/>
            </a:solidFill>
            <a:prstDash val="solid"/>
          </a:ln>
        </p:spPr>
        <p:txBody>
          <a:bodyPr/>
          <a:p/>
        </p:txBody>
      </p:sp>
      <p:sp>
        <p:nvSpPr>
          <p:cNvPr id="21" name="Shape 19"/>
          <p:cNvSpPr/>
          <p:nvPr/>
        </p:nvSpPr>
        <p:spPr>
          <a:xfrm>
            <a:off x="10647045"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a:off x="10882503" y="6451092"/>
            <a:ext cx="-4572" cy="196596"/>
          </a:xfrm>
          <a:prstGeom prst="line">
            <a:avLst/>
          </a:prstGeom>
          <a:noFill/>
          <a:ln w="9525">
            <a:solidFill>
              <a:srgbClr val="E2DCD0"/>
            </a:solidFill>
            <a:prstDash val="solid"/>
          </a:ln>
        </p:spPr>
        <p:txBody>
          <a:bodyPr/>
          <a:p/>
        </p:txBody>
      </p:sp>
      <p:sp>
        <p:nvSpPr>
          <p:cNvPr id="24" name="Shape 22"/>
          <p:cNvSpPr/>
          <p:nvPr/>
        </p:nvSpPr>
        <p:spPr>
          <a:xfrm>
            <a:off x="11044809"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a:off x="10642473" y="6697980"/>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  |  독창성 30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68680" y="3886200"/>
            <a:ext cx="4983480"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a:buNone/>
            </a:pPr>
            <a:r>
              <a:rPr lang="en-US" sz="1250" b="1" i="1"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a:off x="10503027" y="6464808"/>
            <a:ext cx="-4572" cy="187452"/>
          </a:xfrm>
          <a:prstGeom prst="line">
            <a:avLst/>
          </a:prstGeom>
          <a:noFill/>
          <a:ln w="9525">
            <a:solidFill>
              <a:srgbClr val="E2DCD0"/>
            </a:solidFill>
            <a:prstDash val="solid"/>
          </a:ln>
        </p:spPr>
        <p:txBody>
          <a:bodyPr/>
          <a:p/>
        </p:txBody>
      </p:sp>
      <p:sp>
        <p:nvSpPr>
          <p:cNvPr id="29" name="Shape 27"/>
          <p:cNvSpPr/>
          <p:nvPr/>
        </p:nvSpPr>
        <p:spPr>
          <a:xfrm>
            <a:off x="10647045" y="6501384"/>
            <a:ext cx="235458" cy="-50292"/>
          </a:xfrm>
          <a:prstGeom prst="line">
            <a:avLst/>
          </a:prstGeom>
          <a:noFill/>
          <a:ln w="9525">
            <a:solidFill>
              <a:srgbClr val="E2DCD0"/>
            </a:solidFill>
            <a:prstDash val="solid"/>
          </a:ln>
        </p:spPr>
        <p:txBody>
          <a:bodyPr/>
          <a:p/>
        </p:txBody>
      </p:sp>
      <p:sp>
        <p:nvSpPr>
          <p:cNvPr id="30" name="Shape 28"/>
          <p:cNvSpPr/>
          <p:nvPr/>
        </p:nvSpPr>
        <p:spPr>
          <a:xfrm>
            <a:off x="10647045"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a:off x="10882503" y="6451092"/>
            <a:ext cx="-4572" cy="196596"/>
          </a:xfrm>
          <a:prstGeom prst="line">
            <a:avLst/>
          </a:prstGeom>
          <a:noFill/>
          <a:ln w="9525">
            <a:solidFill>
              <a:srgbClr val="E2DCD0"/>
            </a:solidFill>
            <a:prstDash val="solid"/>
          </a:ln>
        </p:spPr>
        <p:txBody>
          <a:bodyPr/>
          <a:p/>
        </p:txBody>
      </p:sp>
      <p:sp>
        <p:nvSpPr>
          <p:cNvPr id="33" name="Shape 31"/>
          <p:cNvSpPr/>
          <p:nvPr/>
        </p:nvSpPr>
        <p:spPr>
          <a:xfrm>
            <a:off x="11044809"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a:off x="10642473" y="6697980"/>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  |  기술성(임베디드SW 적용)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하드웨어 · 소프트웨어 구성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(생사·경보 시각화)</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(메시↔대시보드)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전원(데모)  : USB 5V 급전 — 12분 연속 구동과 회차 간 재현성 확보</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전원(배치)  : 배터리 + 승압 모듈(MT3608)</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16노드 실물 재료비 ≈ 45만 원 (저가 소모형 설계).</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열풍기·변압기 등은 검증용 계측 장비로 노드 원가와 별개.</a:t>
            </a: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 Wokwi(컴파일 확인)</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a:off x="10503027" y="6464808"/>
            <a:ext cx="-4572" cy="187452"/>
          </a:xfrm>
          <a:prstGeom prst="line">
            <a:avLst/>
          </a:prstGeom>
          <a:noFill/>
          <a:ln w="9525">
            <a:solidFill>
              <a:srgbClr val="E2DCD0"/>
            </a:solidFill>
            <a:prstDash val="solid"/>
          </a:ln>
        </p:spPr>
        <p:txBody>
          <a:bodyPr/>
          <a:p/>
        </p:txBody>
      </p:sp>
      <p:sp>
        <p:nvSpPr>
          <p:cNvPr id="17" name="Shape 15"/>
          <p:cNvSpPr/>
          <p:nvPr/>
        </p:nvSpPr>
        <p:spPr>
          <a:xfrm>
            <a:off x="10647045" y="6501384"/>
            <a:ext cx="235458" cy="-50292"/>
          </a:xfrm>
          <a:prstGeom prst="line">
            <a:avLst/>
          </a:prstGeom>
          <a:noFill/>
          <a:ln w="9525">
            <a:solidFill>
              <a:srgbClr val="E2DCD0"/>
            </a:solidFill>
            <a:prstDash val="solid"/>
          </a:ln>
        </p:spPr>
        <p:txBody>
          <a:bodyPr/>
          <a:p/>
        </p:txBody>
      </p:sp>
      <p:sp>
        <p:nvSpPr>
          <p:cNvPr id="18" name="Shape 16"/>
          <p:cNvSpPr/>
          <p:nvPr/>
        </p:nvSpPr>
        <p:spPr>
          <a:xfrm>
            <a:off x="10647045"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a:off x="10882503" y="6451092"/>
            <a:ext cx="-4572" cy="196596"/>
          </a:xfrm>
          <a:prstGeom prst="line">
            <a:avLst/>
          </a:prstGeom>
          <a:noFill/>
          <a:ln w="9525">
            <a:solidFill>
              <a:srgbClr val="E2DCD0"/>
            </a:solidFill>
            <a:prstDash val="solid"/>
          </a:ln>
        </p:spPr>
        <p:txBody>
          <a:bodyPr/>
          <a:p/>
        </p:txBody>
      </p:sp>
      <p:sp>
        <p:nvSpPr>
          <p:cNvPr id="21" name="Shape 19"/>
          <p:cNvSpPr/>
          <p:nvPr/>
        </p:nvSpPr>
        <p:spPr>
          <a:xfrm>
            <a:off x="11044809"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a:off x="10642473" y="6697980"/>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  |  기술성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892040"/>
            <a:ext cx="9418320" cy="105156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93208"/>
            <a:ext cx="896112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532120"/>
            <a:ext cx="502920" cy="0"/>
          </a:xfrm>
          <a:prstGeom prst="line">
            <a:avLst/>
          </a:prstGeom>
          <a:noFill/>
          <a:ln w="25400">
            <a:solidFill>
              <a:srgbClr val="D35400"/>
            </a:solidFill>
            <a:prstDash val="solid"/>
          </a:ln>
        </p:spPr>
        <p:txBody>
          <a:bodyPr/>
          <a:p/>
        </p:txBody>
      </p:sp>
      <p:sp>
        <p:nvSpPr>
          <p:cNvPr id="24" name="Text 22"/>
          <p:cNvSpPr/>
          <p:nvPr/>
        </p:nvSpPr>
        <p:spPr>
          <a:xfrm>
            <a:off x="1600200" y="5669280"/>
            <a:ext cx="8961120" cy="4572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a:off x="10503027" y="6464808"/>
            <a:ext cx="-4572" cy="187452"/>
          </a:xfrm>
          <a:prstGeom prst="line">
            <a:avLst/>
          </a:prstGeom>
          <a:noFill/>
          <a:ln w="9525">
            <a:solidFill>
              <a:srgbClr val="E2DCD0"/>
            </a:solidFill>
            <a:prstDash val="solid"/>
          </a:ln>
        </p:spPr>
        <p:txBody>
          <a:bodyPr/>
          <a:p/>
        </p:txBody>
      </p:sp>
      <p:sp>
        <p:nvSpPr>
          <p:cNvPr id="29" name="Shape 27"/>
          <p:cNvSpPr/>
          <p:nvPr/>
        </p:nvSpPr>
        <p:spPr>
          <a:xfrm>
            <a:off x="10647045" y="6501384"/>
            <a:ext cx="235458" cy="-50292"/>
          </a:xfrm>
          <a:prstGeom prst="line">
            <a:avLst/>
          </a:prstGeom>
          <a:noFill/>
          <a:ln w="9525">
            <a:solidFill>
              <a:srgbClr val="E2DCD0"/>
            </a:solidFill>
            <a:prstDash val="solid"/>
          </a:ln>
        </p:spPr>
        <p:txBody>
          <a:bodyPr/>
          <a:p/>
        </p:txBody>
      </p:sp>
      <p:sp>
        <p:nvSpPr>
          <p:cNvPr id="30" name="Shape 28"/>
          <p:cNvSpPr/>
          <p:nvPr/>
        </p:nvSpPr>
        <p:spPr>
          <a:xfrm>
            <a:off x="10647045"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a:off x="10882503" y="6451092"/>
            <a:ext cx="-4572" cy="196596"/>
          </a:xfrm>
          <a:prstGeom prst="line">
            <a:avLst/>
          </a:prstGeom>
          <a:noFill/>
          <a:ln w="9525">
            <a:solidFill>
              <a:srgbClr val="E2DCD0"/>
            </a:solidFill>
            <a:prstDash val="solid"/>
          </a:ln>
        </p:spPr>
        <p:txBody>
          <a:bodyPr/>
          <a:p/>
        </p:txBody>
      </p:sp>
      <p:sp>
        <p:nvSpPr>
          <p:cNvPr id="33" name="Shape 31"/>
          <p:cNvSpPr/>
          <p:nvPr/>
        </p:nvSpPr>
        <p:spPr>
          <a:xfrm>
            <a:off x="11044809"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a:off x="10642473" y="6697980"/>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4대 모듈  |  기술성·완성도 30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시스템을 이루는 네 개의 핵심 모듈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stock 메시가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  |  기술성·완성도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죽은 노드의 (좌표·시각) → 불의 방향·속도·ETA</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시간창 안의 사망들을 모아</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331720"/>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681728"/>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828032"/>
            <a:ext cx="5852160" cy="365760"/>
          </a:xfrm>
          <a:prstGeom prst="rect">
            <a:avLst/>
          </a:prstGeom>
          <a:noFill/>
          <a:ln/>
        </p:spPr>
        <p:txBody>
          <a:bodyPr wrap="square" rtlCol="0" anchor="ctr"/>
          <a:lstStyle/>
          <a:p>
            <a:pPr indent="0" marL="0">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77240" y="5266944"/>
            <a:ext cx="10607040" cy="548640"/>
          </a:xfrm>
          <a:prstGeom prst="rect">
            <a:avLst/>
          </a:prstGeom>
          <a:noFill/>
          <a:ln/>
        </p:spPr>
        <p:txBody>
          <a:bodyPr wrap="square" rtlCol="0" anchor="ctr"/>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846320"/>
            <a:ext cx="4663440" cy="320040"/>
          </a:xfrm>
          <a:prstGeom prst="rect">
            <a:avLst/>
          </a:prstGeom>
          <a:noFill/>
          <a:ln/>
        </p:spPr>
        <p:txBody>
          <a:bodyPr wrap="square" rtlCol="0" anchor="ctr"/>
          <a:lstStyle/>
          <a:p>
            <a:pPr algn="r" indent="0" marL="0">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a:off x="10503027" y="6464808"/>
            <a:ext cx="-4572" cy="187452"/>
          </a:xfrm>
          <a:prstGeom prst="line">
            <a:avLst/>
          </a:prstGeom>
          <a:noFill/>
          <a:ln w="9525">
            <a:solidFill>
              <a:srgbClr val="E2DCD0"/>
            </a:solidFill>
            <a:prstDash val="solid"/>
          </a:ln>
        </p:spPr>
        <p:txBody>
          <a:bodyPr/>
          <a:p/>
        </p:txBody>
      </p:sp>
      <p:sp>
        <p:nvSpPr>
          <p:cNvPr id="28" name="Shape 26"/>
          <p:cNvSpPr/>
          <p:nvPr/>
        </p:nvSpPr>
        <p:spPr>
          <a:xfrm>
            <a:off x="10647045" y="6501384"/>
            <a:ext cx="235458" cy="-50292"/>
          </a:xfrm>
          <a:prstGeom prst="line">
            <a:avLst/>
          </a:prstGeom>
          <a:noFill/>
          <a:ln w="9525">
            <a:solidFill>
              <a:srgbClr val="E2DCD0"/>
            </a:solidFill>
            <a:prstDash val="solid"/>
          </a:ln>
        </p:spPr>
        <p:txBody>
          <a:bodyPr/>
          <a:p/>
        </p:txBody>
      </p:sp>
      <p:sp>
        <p:nvSpPr>
          <p:cNvPr id="29" name="Shape 27"/>
          <p:cNvSpPr/>
          <p:nvPr/>
        </p:nvSpPr>
        <p:spPr>
          <a:xfrm>
            <a:off x="10647045"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a:off x="10882503" y="6451092"/>
            <a:ext cx="-4572" cy="196596"/>
          </a:xfrm>
          <a:prstGeom prst="line">
            <a:avLst/>
          </a:prstGeom>
          <a:noFill/>
          <a:ln w="9525">
            <a:solidFill>
              <a:srgbClr val="E2DCD0"/>
            </a:solidFill>
            <a:prstDash val="solid"/>
          </a:ln>
        </p:spPr>
        <p:txBody>
          <a:bodyPr/>
          <a:p/>
        </p:txBody>
      </p:sp>
      <p:sp>
        <p:nvSpPr>
          <p:cNvPr id="32" name="Shape 30"/>
          <p:cNvSpPr/>
          <p:nvPr/>
        </p:nvSpPr>
        <p:spPr>
          <a:xfrm>
            <a:off x="11044809"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a:off x="10642473" y="6697980"/>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  |  독창성·기술성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'통신두절'인가, '진짜 파괴'인가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608576" y="2862072"/>
            <a:ext cx="2971800" cy="12344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stock 메시가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  |  기술성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길이 끊겨도 관측은 죽지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788920"/>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7830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sink(id 0) 기준 역방향 BFS로 각 노드의 상행 경로를 구성.</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재라우팅 실지연은 실물에서 첫 실측(Phase C). 시뮬의 100ms는 틱값(성능 아님).</a:t>
            </a:r>
            <a:endParaRPr lang="en-US" sz="1200" dirty="0"/>
          </a:p>
        </p:txBody>
      </p:sp>
      <p:sp>
        <p:nvSpPr>
          <p:cNvPr id="9" name="Shape 7"/>
          <p:cNvSpPr/>
          <p:nvPr/>
        </p:nvSpPr>
        <p:spPr>
          <a:xfrm>
            <a:off x="6153912" y="1508760"/>
            <a:ext cx="5477256" cy="2788920"/>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a:buNone/>
            </a:pPr>
            <a:r>
              <a:rPr lang="en-US" sz="1300" b="1" i="1"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  |  기술성·완성도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코드 구성과 'measure-first' 규율</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overfitting 함정 회피.</a:t>
            </a:r>
            <a:endParaRPr lang="en-US" sz="1200" dirty="0"/>
          </a:p>
        </p:txBody>
      </p:sp>
      <p:sp>
        <p:nvSpPr>
          <p:cNvPr id="13" name="Text 11"/>
          <p:cNvSpPr/>
          <p:nvPr/>
        </p:nvSpPr>
        <p:spPr>
          <a:xfrm>
            <a:off x="548640" y="4983480"/>
            <a:ext cx="11064240" cy="365760"/>
          </a:xfrm>
          <a:prstGeom prst="rect">
            <a:avLst/>
          </a:prstGeom>
          <a:noFill/>
          <a:ln/>
        </p:spPr>
        <p:txBody>
          <a:bodyPr wrap="square" rtlCol="0" anchor="ctr"/>
          <a:lstStyle/>
          <a:p>
            <a:pPr indent="0" marL="0">
              <a:buNone/>
            </a:pPr>
            <a:r>
              <a:rPr lang="en-US" sz="1300" b="1" i="1" dirty="0">
                <a:solidFill>
                  <a:srgbClr val="2C5F2D"/>
                </a:solidFill>
                <a:latin typeface="맑은 고딕" pitchFamily="34" charset="0"/>
                <a:ea typeface="맑은 고딕" pitchFamily="34" charset="-122"/>
                <a:cs typeface="맑은 고딕" pitchFamily="34" charset="-120"/>
              </a:rPr>
              <a:t>→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  |  기술성(문제해결·공학 성숙도)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정직성 서사 = 과대포장 배제</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  |  문제해결 능력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방향오차 82° — 진짜 원인을 찾기까지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914400"/>
        </p:xfrm>
        <a:graphic>
          <a:graphicData uri="http://schemas.openxmlformats.org/drawingml/2006/table">
            <a:tbl>
              <a:tblPr/>
              <a:tblGrid>
                <a:gridCol w="502920"/>
                <a:gridCol w="3520440"/>
                <a:gridCol w="3291840"/>
                <a:gridCol w="3776472"/>
              </a:tblGrid>
              <a:tr h="310896">
                <a:tc>
                  <a:txBody>
                    <a:bodyPr/>
                    <a:lstStyle/>
                    <a:p>
                      <a:pPr algn="l" indent="0" marL="0">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곡률 탓 — 전선이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적합 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57200">
                <a:tc>
                  <a:txBody>
                    <a:bodyPr/>
                    <a:lstStyle/>
                    <a:p>
                      <a:pPr algn="ctr" indent="0" marL="0">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정답은 표본 안에 있었다 — 집계가 그것을 버리고 최악의 노드 하나를 골랐다.  </a:t>
            </a:r>
            <a:pPr indent="0" marL="0">
              <a:lnSpc>
                <a:spcPct val="115000"/>
              </a:lnSpc>
              <a:buNone/>
            </a:pPr>
            <a:r>
              <a:rPr lang="en-US" sz="1200" dirty="0">
                <a:solidFill>
                  <a:srgbClr val="1F2421"/>
                </a:solidFill>
                <a:latin typeface="맑은 고딕" pitchFamily="34" charset="0"/>
                <a:ea typeface="맑은 고딕" pitchFamily="34" charset="-122"/>
                <a:cs typeface="맑은 고딕" pitchFamily="34" charset="-120"/>
              </a:rPr>
              <a:t>가중치가 w = 1/|∇T| (불확실할수록 크게)로, 부호가 반대였다. 오차 전파식에서 다시 유도해 w = |∇T|² 로 교정.</a:t>
            </a: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a:off x="10503027" y="6464808"/>
            <a:ext cx="-4572" cy="187452"/>
          </a:xfrm>
          <a:prstGeom prst="line">
            <a:avLst/>
          </a:prstGeom>
          <a:noFill/>
          <a:ln w="9525">
            <a:solidFill>
              <a:srgbClr val="E2DCD0"/>
            </a:solidFill>
            <a:prstDash val="solid"/>
          </a:ln>
        </p:spPr>
        <p:txBody>
          <a:bodyPr/>
          <a:p/>
        </p:txBody>
      </p:sp>
      <p:sp>
        <p:nvSpPr>
          <p:cNvPr id="24" name="Shape 21"/>
          <p:cNvSpPr/>
          <p:nvPr/>
        </p:nvSpPr>
        <p:spPr>
          <a:xfrm>
            <a:off x="10647045" y="6501384"/>
            <a:ext cx="235458" cy="-50292"/>
          </a:xfrm>
          <a:prstGeom prst="line">
            <a:avLst/>
          </a:prstGeom>
          <a:noFill/>
          <a:ln w="9525">
            <a:solidFill>
              <a:srgbClr val="E2DCD0"/>
            </a:solidFill>
            <a:prstDash val="solid"/>
          </a:ln>
        </p:spPr>
        <p:txBody>
          <a:bodyPr/>
          <a:p/>
        </p:txBody>
      </p:sp>
      <p:sp>
        <p:nvSpPr>
          <p:cNvPr id="25" name="Shape 22"/>
          <p:cNvSpPr/>
          <p:nvPr/>
        </p:nvSpPr>
        <p:spPr>
          <a:xfrm>
            <a:off x="10647045"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a:off x="10882503" y="6451092"/>
            <a:ext cx="-4572" cy="196596"/>
          </a:xfrm>
          <a:prstGeom prst="line">
            <a:avLst/>
          </a:prstGeom>
          <a:noFill/>
          <a:ln w="9525">
            <a:solidFill>
              <a:srgbClr val="E2DCD0"/>
            </a:solidFill>
            <a:prstDash val="solid"/>
          </a:ln>
        </p:spPr>
        <p:txBody>
          <a:bodyPr/>
          <a:p/>
        </p:txBody>
      </p:sp>
      <p:sp>
        <p:nvSpPr>
          <p:cNvPr id="28" name="Shape 25"/>
          <p:cNvSpPr/>
          <p:nvPr/>
        </p:nvSpPr>
        <p:spPr>
          <a:xfrm>
            <a:off x="11044809"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a:off x="10642473" y="6697980"/>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우연한 통제군: 같은 입력에서 강건 집계(속도)는 살고 비강건 집계(방향)만 죽었다</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  |  공학 성숙도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914400"/>
        </p:xfrm>
        <a:graphic>
          <a:graphicData uri="http://schemas.openxmlformats.org/drawingml/2006/table">
            <a:tbl>
              <a:tblPr/>
              <a:tblGrid>
                <a:gridCol w="3108960"/>
                <a:gridCol w="4023360"/>
                <a:gridCol w="3959352"/>
              </a:tblGrid>
              <a:tr h="310896">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자신 있게 틀림</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자신 있게 틀림</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자신 있게 틀림</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5720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 판정을 보류한다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5440680" cy="1874520"/>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42816"/>
            <a:ext cx="498348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681728"/>
            <a:ext cx="502920" cy="0"/>
          </a:xfrm>
          <a:prstGeom prst="line">
            <a:avLst/>
          </a:prstGeom>
          <a:noFill/>
          <a:ln w="25400">
            <a:solidFill>
              <a:srgbClr val="D35400"/>
            </a:solidFill>
            <a:prstDash val="solid"/>
          </a:ln>
        </p:spPr>
        <p:txBody>
          <a:bodyPr/>
          <a:p/>
        </p:txBody>
      </p:sp>
      <p:sp>
        <p:nvSpPr>
          <p:cNvPr id="10" name="Text 7"/>
          <p:cNvSpPr/>
          <p:nvPr/>
        </p:nvSpPr>
        <p:spPr>
          <a:xfrm>
            <a:off x="777240" y="4818888"/>
            <a:ext cx="4983480" cy="8686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4041648"/>
            <a:ext cx="5477256" cy="1874520"/>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42816"/>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681728"/>
            <a:ext cx="502920" cy="0"/>
          </a:xfrm>
          <a:prstGeom prst="line">
            <a:avLst/>
          </a:prstGeom>
          <a:noFill/>
          <a:ln w="25400">
            <a:solidFill>
              <a:srgbClr val="D35400"/>
            </a:solidFill>
            <a:prstDash val="solid"/>
          </a:ln>
        </p:spPr>
        <p:txBody>
          <a:bodyPr/>
          <a:p/>
        </p:txBody>
      </p:sp>
      <p:sp>
        <p:nvSpPr>
          <p:cNvPr id="14" name="Text 11"/>
          <p:cNvSpPr/>
          <p:nvPr/>
        </p:nvSpPr>
        <p:spPr>
          <a:xfrm>
            <a:off x="6382512" y="4818888"/>
            <a:ext cx="5020056" cy="8686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65760"/>
          </a:xfrm>
          <a:prstGeom prst="rect">
            <a:avLst/>
          </a:prstGeom>
          <a:noFill/>
          <a:ln/>
        </p:spPr>
        <p:txBody>
          <a:bodyPr wrap="square" rtlCol="0" anchor="ctr"/>
          <a:lstStyle/>
          <a:p>
            <a:pPr indent="0" marL="0">
              <a:buNone/>
            </a:pPr>
            <a:r>
              <a:rPr lang="en-US" sz="120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20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a:off x="10503027" y="6464808"/>
            <a:ext cx="-4572" cy="187452"/>
          </a:xfrm>
          <a:prstGeom prst="line">
            <a:avLst/>
          </a:prstGeom>
          <a:noFill/>
          <a:ln w="9525">
            <a:solidFill>
              <a:srgbClr val="E2DCD0"/>
            </a:solidFill>
            <a:prstDash val="solid"/>
          </a:ln>
        </p:spPr>
        <p:txBody>
          <a:bodyPr/>
          <a:p/>
        </p:txBody>
      </p:sp>
      <p:sp>
        <p:nvSpPr>
          <p:cNvPr id="20" name="Shape 17"/>
          <p:cNvSpPr/>
          <p:nvPr/>
        </p:nvSpPr>
        <p:spPr>
          <a:xfrm>
            <a:off x="10647045" y="6501384"/>
            <a:ext cx="235458" cy="-50292"/>
          </a:xfrm>
          <a:prstGeom prst="line">
            <a:avLst/>
          </a:prstGeom>
          <a:noFill/>
          <a:ln w="9525">
            <a:solidFill>
              <a:srgbClr val="E2DCD0"/>
            </a:solidFill>
            <a:prstDash val="solid"/>
          </a:ln>
        </p:spPr>
        <p:txBody>
          <a:bodyPr/>
          <a:p/>
        </p:txBody>
      </p:sp>
      <p:sp>
        <p:nvSpPr>
          <p:cNvPr id="21" name="Shape 18"/>
          <p:cNvSpPr/>
          <p:nvPr/>
        </p:nvSpPr>
        <p:spPr>
          <a:xfrm>
            <a:off x="10647045"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a:off x="10882503" y="6451092"/>
            <a:ext cx="-4572" cy="196596"/>
          </a:xfrm>
          <a:prstGeom prst="line">
            <a:avLst/>
          </a:prstGeom>
          <a:noFill/>
          <a:ln w="9525">
            <a:solidFill>
              <a:srgbClr val="E2DCD0"/>
            </a:solidFill>
            <a:prstDash val="solid"/>
          </a:ln>
        </p:spPr>
        <p:txBody>
          <a:bodyPr/>
          <a:p/>
        </p:txBody>
      </p:sp>
      <p:sp>
        <p:nvSpPr>
          <p:cNvPr id="24" name="Shape 21"/>
          <p:cNvSpPr/>
          <p:nvPr/>
        </p:nvSpPr>
        <p:spPr>
          <a:xfrm>
            <a:off x="11044809"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a:off x="10642473" y="6697980"/>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'자기 한계를 아는 것'은 문서가 아니라 기능이다</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  |  공학 성숙도·차별화</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시뮬에선 보이지 않는 실물 전용 위험 셋</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3675888"/>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3675888"/>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2670048"/>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노드별 편차 σ_τ는 '미측정'으로 확정. 한때 5.7%로 보고했으나 센서 번호가 측정 순서와 교란(corr −0.903)된 것을 발견하고 우리 손으로 철회했다.</a:t>
            </a:r>
            <a:endParaRPr lang="en-US" sz="1200" dirty="0"/>
          </a:p>
        </p:txBody>
      </p:sp>
      <p:sp>
        <p:nvSpPr>
          <p:cNvPr id="13" name="Shape 11"/>
          <p:cNvSpPr/>
          <p:nvPr/>
        </p:nvSpPr>
        <p:spPr>
          <a:xfrm>
            <a:off x="8211312" y="1463040"/>
            <a:ext cx="3429000" cy="3675888"/>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349240"/>
            <a:ext cx="11091672" cy="457200"/>
          </a:xfrm>
          <a:prstGeom prst="rect">
            <a:avLst/>
          </a:prstGeom>
          <a:noFill/>
          <a:ln/>
        </p:spPr>
        <p:txBody>
          <a:bodyPr wrap="square" rtlCol="0" anchor="ctr"/>
          <a:lstStyle/>
          <a:p>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a:off x="10503027" y="6464808"/>
            <a:ext cx="-4572" cy="187452"/>
          </a:xfrm>
          <a:prstGeom prst="line">
            <a:avLst/>
          </a:prstGeom>
          <a:noFill/>
          <a:ln w="9525">
            <a:solidFill>
              <a:srgbClr val="E2DCD0"/>
            </a:solidFill>
            <a:prstDash val="solid"/>
          </a:ln>
        </p:spPr>
        <p:txBody>
          <a:bodyPr/>
          <a:p/>
        </p:txBody>
      </p:sp>
      <p:sp>
        <p:nvSpPr>
          <p:cNvPr id="22" name="Shape 20"/>
          <p:cNvSpPr/>
          <p:nvPr/>
        </p:nvSpPr>
        <p:spPr>
          <a:xfrm>
            <a:off x="10647045" y="6501384"/>
            <a:ext cx="235458" cy="-50292"/>
          </a:xfrm>
          <a:prstGeom prst="line">
            <a:avLst/>
          </a:prstGeom>
          <a:noFill/>
          <a:ln w="9525">
            <a:solidFill>
              <a:srgbClr val="E2DCD0"/>
            </a:solidFill>
            <a:prstDash val="solid"/>
          </a:ln>
        </p:spPr>
        <p:txBody>
          <a:bodyPr/>
          <a:p/>
        </p:txBody>
      </p:sp>
      <p:sp>
        <p:nvSpPr>
          <p:cNvPr id="23" name="Shape 21"/>
          <p:cNvSpPr/>
          <p:nvPr/>
        </p:nvSpPr>
        <p:spPr>
          <a:xfrm>
            <a:off x="10647045"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a:off x="10882503" y="6451092"/>
            <a:ext cx="-4572" cy="196596"/>
          </a:xfrm>
          <a:prstGeom prst="line">
            <a:avLst/>
          </a:prstGeom>
          <a:noFill/>
          <a:ln w="9525">
            <a:solidFill>
              <a:srgbClr val="E2DCD0"/>
            </a:solidFill>
            <a:prstDash val="solid"/>
          </a:ln>
        </p:spPr>
        <p:txBody>
          <a:bodyPr/>
          <a:p/>
        </p:txBody>
      </p:sp>
      <p:sp>
        <p:nvSpPr>
          <p:cNvPr id="26" name="Shape 24"/>
          <p:cNvSpPr/>
          <p:nvPr/>
        </p:nvSpPr>
        <p:spPr>
          <a:xfrm>
            <a:off x="11044809"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a:off x="10642473" y="6697980"/>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  |  공학 성숙도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914400"/>
        </p:xfrm>
        <a:graphic>
          <a:graphicData uri="http://schemas.openxmlformats.org/drawingml/2006/table">
            <a:tbl>
              <a:tblPr/>
              <a:tblGrid>
                <a:gridCol w="502920"/>
                <a:gridCol w="3520440"/>
                <a:gridCol w="3291840"/>
                <a:gridCol w="3776472"/>
                <a:gridCol w="3776472"/>
              </a:tblGrid>
              <a:tr h="310896">
                <a:tc>
                  <a:txBody>
                    <a:bodyPr/>
                    <a:lstStyle/>
                    <a:p>
                      <a:pPr algn="l" indent="0" marL="0">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참값 55.67°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31.64°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−24.03°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51.12°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−4.55°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+0.09°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57200">
                <a:tc>
                  <a:txBody>
                    <a:bodyPr/>
                    <a:lstStyle/>
                    <a:p>
                      <a:pPr algn="ctr" indent="0" marL="0">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55.89°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+0.22°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457200">
                <a:tc>
                  <a:txBody>
                    <a:bodyPr/>
                    <a:lstStyle/>
                    <a:p>
                      <a:pPr algn="ctr" indent="0" marL="0">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55.92°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+0.25°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없음  ← 유도값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전선 1.5 m/s 기준값이었다. 20cm 벤치의 전선은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a:off x="10503027" y="6464808"/>
            <a:ext cx="-4572" cy="187452"/>
          </a:xfrm>
          <a:prstGeom prst="line">
            <a:avLst/>
          </a:prstGeom>
          <a:noFill/>
          <a:ln w="9525">
            <a:solidFill>
              <a:srgbClr val="E2DCD0"/>
            </a:solidFill>
            <a:prstDash val="solid"/>
          </a:ln>
        </p:spPr>
        <p:txBody>
          <a:bodyPr/>
          <a:p/>
        </p:txBody>
      </p:sp>
      <p:sp>
        <p:nvSpPr>
          <p:cNvPr id="24" name="Shape 21"/>
          <p:cNvSpPr/>
          <p:nvPr/>
        </p:nvSpPr>
        <p:spPr>
          <a:xfrm>
            <a:off x="10647045" y="6501384"/>
            <a:ext cx="235458" cy="-50292"/>
          </a:xfrm>
          <a:prstGeom prst="line">
            <a:avLst/>
          </a:prstGeom>
          <a:noFill/>
          <a:ln w="9525">
            <a:solidFill>
              <a:srgbClr val="E2DCD0"/>
            </a:solidFill>
            <a:prstDash val="solid"/>
          </a:ln>
        </p:spPr>
        <p:txBody>
          <a:bodyPr/>
          <a:p/>
        </p:txBody>
      </p:sp>
      <p:sp>
        <p:nvSpPr>
          <p:cNvPr id="25" name="Shape 22"/>
          <p:cNvSpPr/>
          <p:nvPr/>
        </p:nvSpPr>
        <p:spPr>
          <a:xfrm>
            <a:off x="10647045"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a:off x="10882503" y="6451092"/>
            <a:ext cx="-4572" cy="196596"/>
          </a:xfrm>
          <a:prstGeom prst="line">
            <a:avLst/>
          </a:prstGeom>
          <a:noFill/>
          <a:ln w="9525">
            <a:solidFill>
              <a:srgbClr val="E2DCD0"/>
            </a:solidFill>
            <a:prstDash val="solid"/>
          </a:ln>
        </p:spPr>
        <p:txBody>
          <a:bodyPr/>
          <a:p/>
        </p:txBody>
      </p:sp>
      <p:sp>
        <p:nvSpPr>
          <p:cNvPr id="28" name="Shape 25"/>
          <p:cNvSpPr/>
          <p:nvPr/>
        </p:nvSpPr>
        <p:spPr>
          <a:xfrm>
            <a:off x="11044809"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a:off x="10642473" y="6697980"/>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  |  독창성 30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전선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stock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stock 메시가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a:off x="10503027" y="6464808"/>
            <a:ext cx="-4572" cy="187452"/>
          </a:xfrm>
          <a:prstGeom prst="line">
            <a:avLst/>
          </a:prstGeom>
          <a:noFill/>
          <a:ln w="9525">
            <a:solidFill>
              <a:srgbClr val="E2DCD0"/>
            </a:solidFill>
            <a:prstDash val="solid"/>
          </a:ln>
        </p:spPr>
        <p:txBody>
          <a:bodyPr/>
          <a:p/>
        </p:txBody>
      </p:sp>
      <p:sp>
        <p:nvSpPr>
          <p:cNvPr id="11" name="Shape 8"/>
          <p:cNvSpPr/>
          <p:nvPr/>
        </p:nvSpPr>
        <p:spPr>
          <a:xfrm>
            <a:off x="10647045" y="6501384"/>
            <a:ext cx="235458" cy="-50292"/>
          </a:xfrm>
          <a:prstGeom prst="line">
            <a:avLst/>
          </a:prstGeom>
          <a:noFill/>
          <a:ln w="9525">
            <a:solidFill>
              <a:srgbClr val="E2DCD0"/>
            </a:solidFill>
            <a:prstDash val="solid"/>
          </a:ln>
        </p:spPr>
        <p:txBody>
          <a:bodyPr/>
          <a:p/>
        </p:txBody>
      </p:sp>
      <p:sp>
        <p:nvSpPr>
          <p:cNvPr id="12" name="Shape 9"/>
          <p:cNvSpPr/>
          <p:nvPr/>
        </p:nvSpPr>
        <p:spPr>
          <a:xfrm>
            <a:off x="10647045"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a:off x="10882503" y="6451092"/>
            <a:ext cx="-4572" cy="196596"/>
          </a:xfrm>
          <a:prstGeom prst="line">
            <a:avLst/>
          </a:prstGeom>
          <a:noFill/>
          <a:ln w="9525">
            <a:solidFill>
              <a:srgbClr val="E2DCD0"/>
            </a:solidFill>
            <a:prstDash val="solid"/>
          </a:ln>
        </p:spPr>
        <p:txBody>
          <a:bodyPr/>
          <a:p/>
        </p:txBody>
      </p:sp>
      <p:sp>
        <p:nvSpPr>
          <p:cNvPr id="15" name="Shape 12"/>
          <p:cNvSpPr/>
          <p:nvPr/>
        </p:nvSpPr>
        <p:spPr>
          <a:xfrm>
            <a:off x="11044809"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a:off x="10642473" y="6697980"/>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  |  기술성(정량)</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정상 성능과 '작동 한계선'을 함께 밝힌다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&lt; 1°</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방향오차</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직선·정면 조건 (0.03~0.88°)</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92.3%</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전달률</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자가치유 포함</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0%</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오탐률</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통신두절 오판</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54</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자동 테스트</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전건 통과 · 회귀 최대차 0</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914400"/>
        </p:xfrm>
        <a:graphic>
          <a:graphicData uri="http://schemas.openxmlformats.org/drawingml/2006/table">
            <a:tbl>
              <a:tblPr/>
              <a:tblGrid>
                <a:gridCol w="3017520"/>
                <a:gridCol w="3383280"/>
                <a:gridCol w="4690872"/>
              </a:tblGrid>
              <a:tr h="329184">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20624">
                <a:tc>
                  <a:txBody>
                    <a:bodyPr/>
                    <a:lstStyle/>
                    <a:p>
                      <a:pPr algn="l" indent="0" marL="0">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943600"/>
            <a:ext cx="11091672" cy="365760"/>
          </a:xfrm>
          <a:prstGeom prst="rect">
            <a:avLst/>
          </a:prstGeom>
          <a:noFill/>
          <a:ln/>
        </p:spPr>
        <p:txBody>
          <a:bodyPr wrap="square" rtlCol="0" anchor="ctr"/>
          <a:lstStyle/>
          <a:p>
            <a:pPr indent="0" marL="0">
              <a:buNone/>
            </a:pPr>
            <a:r>
              <a:rPr lang="en-US" sz="125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25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a:buNone/>
            </a:pPr>
            <a:r>
              <a:rPr lang="en-US" sz="125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a:off x="10503027" y="6464808"/>
            <a:ext cx="-4572" cy="187452"/>
          </a:xfrm>
          <a:prstGeom prst="line">
            <a:avLst/>
          </a:prstGeom>
          <a:noFill/>
          <a:ln w="9525">
            <a:solidFill>
              <a:srgbClr val="E2DCD0"/>
            </a:solidFill>
            <a:prstDash val="solid"/>
          </a:ln>
        </p:spPr>
        <p:txBody>
          <a:bodyPr/>
          <a:p/>
        </p:txBody>
      </p:sp>
      <p:sp>
        <p:nvSpPr>
          <p:cNvPr id="28" name="Shape 25"/>
          <p:cNvSpPr/>
          <p:nvPr/>
        </p:nvSpPr>
        <p:spPr>
          <a:xfrm>
            <a:off x="10647045" y="6501384"/>
            <a:ext cx="235458" cy="-50292"/>
          </a:xfrm>
          <a:prstGeom prst="line">
            <a:avLst/>
          </a:prstGeom>
          <a:noFill/>
          <a:ln w="9525">
            <a:solidFill>
              <a:srgbClr val="E2DCD0"/>
            </a:solidFill>
            <a:prstDash val="solid"/>
          </a:ln>
        </p:spPr>
        <p:txBody>
          <a:bodyPr/>
          <a:p/>
        </p:txBody>
      </p:sp>
      <p:sp>
        <p:nvSpPr>
          <p:cNvPr id="29" name="Shape 26"/>
          <p:cNvSpPr/>
          <p:nvPr/>
        </p:nvSpPr>
        <p:spPr>
          <a:xfrm>
            <a:off x="10647045"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a:off x="10882503" y="6451092"/>
            <a:ext cx="-4572" cy="196596"/>
          </a:xfrm>
          <a:prstGeom prst="line">
            <a:avLst/>
          </a:prstGeom>
          <a:noFill/>
          <a:ln w="9525">
            <a:solidFill>
              <a:srgbClr val="E2DCD0"/>
            </a:solidFill>
            <a:prstDash val="solid"/>
          </a:ln>
        </p:spPr>
        <p:txBody>
          <a:bodyPr/>
          <a:p/>
        </p:txBody>
      </p:sp>
      <p:sp>
        <p:nvSpPr>
          <p:cNvPr id="32" name="Shape 29"/>
          <p:cNvSpPr/>
          <p:nvPr/>
        </p:nvSpPr>
        <p:spPr>
          <a:xfrm>
            <a:off x="11044809"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a:off x="10642473" y="6697980"/>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한계선을 함께 밝히는 것이 곧 신뢰의 근거다</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  |  활용성 20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누가 쓰고, 어떻게 배포하나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전선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  |  활용성 · 발전 가능성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저가 소모형의 경제 논리와 확장성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개당 수천 원 → 불 속에 들어가는 역할엔 내구성을 '살' 수 없으니 저가 소모형이 유일하게 합리적.</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16노드 실물 ≈ 45만 원.</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9202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a:buNone/>
            </a:pPr>
            <a:r>
              <a:rPr lang="en-US" sz="1300" b="1" i="1"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  |  팀 구성·역량 10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1인 개발자로 전 영역을 단계적으로 수행</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86000"/>
                <a:gridCol w="1554480"/>
                <a:gridCol w="5422392"/>
                <a:gridCol w="1828800"/>
              </a:tblGrid>
              <a:tr h="347472">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50292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시뮬레이터 · 도착시각장 추정 · 스트레스 · 하드웨어 괴리 정량화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 완료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50292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집계 결함 발견·교정 · 자기 차단(INSUFFICIENT) · 규모 상수 감사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 완료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50292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8/13~8/28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센서 열관성 τ 실측 · 단일노드 사망 판정 실보드 통과 · 4대 브링업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D35400"/>
                          </a:solidFill>
                          <a:latin typeface="맑은 고딕" pitchFamily="34" charset="0"/>
                          <a:ea typeface="맑은 고딕" pitchFamily="34" charset="-122"/>
                          <a:cs typeface="맑은 고딕" pitchFamily="34" charset="-120"/>
                        </a:rPr>
                        <a:t>진행 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50292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④ 조립</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8/29~8/30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16노드 접착 · t80 3발 · WS2812 납땜 · 감지부 실측좌표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6B6E6A"/>
                          </a:solidFill>
                          <a:latin typeface="맑은 고딕" pitchFamily="34" charset="0"/>
                          <a:ea typeface="맑은 고딕" pitchFamily="34" charset="-122"/>
                          <a:cs typeface="맑은 고딕" pitchFamily="34" charset="-120"/>
                        </a:rPr>
                        <a:t>🟡 예정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50292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⑤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8/31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D1 리허설 → 통과 시 당일 촬영  (9/1 재촬영 여유일)</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6B6E6A"/>
                          </a:solidFill>
                          <a:latin typeface="맑은 고딕" pitchFamily="34" charset="0"/>
                          <a:ea typeface="맑은 고딕" pitchFamily="34" charset="-122"/>
                          <a:cs typeface="맑은 고딕" pitchFamily="34" charset="-120"/>
                        </a:rPr>
                        <a:t>🟡 예정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50292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⑥ 편집·제출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9/2~9/3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영상 편집·업로드 → 덱 링크 삽입 → PDF 변환 → 9/3 오전 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6B6E6A"/>
                          </a:solidFill>
                          <a:latin typeface="맑은 고딕" pitchFamily="34" charset="0"/>
                          <a:ea typeface="맑은 고딕" pitchFamily="34" charset="-122"/>
                          <a:cs typeface="맑은 고딕" pitchFamily="34" charset="-120"/>
                        </a:rPr>
                        <a:t>🟡 예정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a:off x="10503027" y="6464808"/>
            <a:ext cx="-4572" cy="187452"/>
          </a:xfrm>
          <a:prstGeom prst="line">
            <a:avLst/>
          </a:prstGeom>
          <a:noFill/>
          <a:ln w="9525">
            <a:solidFill>
              <a:srgbClr val="E2DCD0"/>
            </a:solidFill>
            <a:prstDash val="solid"/>
          </a:ln>
        </p:spPr>
        <p:txBody>
          <a:bodyPr/>
          <a:p/>
        </p:txBody>
      </p:sp>
      <p:sp>
        <p:nvSpPr>
          <p:cNvPr id="14" name="Shape 11"/>
          <p:cNvSpPr/>
          <p:nvPr/>
        </p:nvSpPr>
        <p:spPr>
          <a:xfrm>
            <a:off x="10647045" y="6501384"/>
            <a:ext cx="235458" cy="-50292"/>
          </a:xfrm>
          <a:prstGeom prst="line">
            <a:avLst/>
          </a:prstGeom>
          <a:noFill/>
          <a:ln w="9525">
            <a:solidFill>
              <a:srgbClr val="E2DCD0"/>
            </a:solidFill>
            <a:prstDash val="solid"/>
          </a:ln>
        </p:spPr>
        <p:txBody>
          <a:bodyPr/>
          <a:p/>
        </p:txBody>
      </p:sp>
      <p:sp>
        <p:nvSpPr>
          <p:cNvPr id="15" name="Shape 12"/>
          <p:cNvSpPr/>
          <p:nvPr/>
        </p:nvSpPr>
        <p:spPr>
          <a:xfrm>
            <a:off x="10647045"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a:off x="10882503" y="6451092"/>
            <a:ext cx="-4572" cy="196596"/>
          </a:xfrm>
          <a:prstGeom prst="line">
            <a:avLst/>
          </a:prstGeom>
          <a:noFill/>
          <a:ln w="9525">
            <a:solidFill>
              <a:srgbClr val="E2DCD0"/>
            </a:solidFill>
            <a:prstDash val="solid"/>
          </a:ln>
        </p:spPr>
        <p:txBody>
          <a:bodyPr/>
          <a:p/>
        </p:txBody>
      </p:sp>
      <p:sp>
        <p:nvSpPr>
          <p:cNvPr id="18" name="Shape 15"/>
          <p:cNvSpPr/>
          <p:nvPr/>
        </p:nvSpPr>
        <p:spPr>
          <a:xfrm>
            <a:off x="11044809"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a:off x="10642473" y="6697980"/>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