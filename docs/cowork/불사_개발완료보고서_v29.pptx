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ldu04/2026ESWContest_free_HWAJUNGSAENGRYEON" TargetMode="External"/><Relationship Id="rId4" Type="http://schemas.openxmlformats.org/officeDocument/2006/relationships/hyperlink" Target="https://youtu.be/ZDX_D-6ZaC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ldu04/2026ESWContest_free_HWAJUNGSAENGRYEON" TargetMode="External"/><Relationship Id="rId4" Type="http://schemas.openxmlformats.org/officeDocument/2006/relationships/hyperlink" Target="https://youtu.be/ZDX_D-6ZaC0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486400" y="5907024"/>
            <a:ext cx="6153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sz="900">
                <a:solidFill>
                  <a:srgbClr val="6B6E6A"/>
                </a:solidFill>
                <a:latin typeface="맑은 고딕"/>
              </a:rPr>
              <a:t>GitHub  </a:t>
            </a:r>
            <a:r>
              <a:rPr sz="900" u="sng">
                <a:solidFill>
                  <a:srgbClr val="2C5F2D"/>
                </a:solidFill>
                <a:latin typeface="맑은 고딕"/>
                <a:hlinkClick r:id="rId3"/>
              </a:rPr>
              <a:t>https://github.com/ldu04/2026ESWContest_free_HWAJUNGSAENGRYEON</a:t>
            </a:r>
            <a:endParaRPr lang="en-US" sz="1100" dirty="0"/>
          </a:p>
          <a:p>
            <a:r>
              <a:rPr sz="900">
                <a:solidFill>
                  <a:srgbClr val="6B6E6A"/>
                </a:solidFill>
                <a:latin typeface="맑은 고딕"/>
              </a:rPr>
              <a:t>시연영상  </a:t>
            </a:r>
            <a:r>
              <a:rPr sz="900" i="0" u="sng">
                <a:solidFill>
                  <a:srgbClr val="2C5F2D"/>
                </a:solidFill>
                <a:latin typeface="맑은 고딕"/>
                <a:hlinkClick r:id="rId4"/>
              </a:rPr>
              <a:t>https://youtu.be/ZDX_D-6ZaC0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u="sng" sz="1000">
                          <a:solidFill>
                            <a:srgbClr val="2C5F2D"/>
                          </a:solidFill>
                          <a:latin typeface="맑은 고딕"/>
                          <a:hlinkClick r:id="rId3"/>
                        </a:rPr>
                        <a:t>https://github.com/ldu04/2026ESWContest_free_HWAJUNGSAENGRYEON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u="sng">
                          <a:solidFill>
                            <a:srgbClr val="2C5F2D"/>
                          </a:solidFill>
                          <a:latin typeface="맑은 고딕"/>
                          <a:hlinkClick r:id="rId4"/>
                        </a:rPr>
                        <a:t>https://youtu.be/ZDX_D-6ZaC0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78561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785616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  <p:pic>
        <p:nvPicPr>
          <p:cNvPr id="33" name="Picture 32" descr="s05_n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03904"/>
            <a:ext cx="1275159" cy="10881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16991" y="3895344"/>
            <a:ext cx="3589448" cy="822960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ESP32 — 무선·연산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DS18B20 — 온도 센서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WS2812 — 상태 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46904"/>
            <a:ext cx="5029200" cy="219456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세 부품이 전부다 — 잃어도 되도록 가볍게 만들었다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608783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608783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정보가 부족한가, 설정이 좁은가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설정값이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설정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이웃 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66767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원인은 알고리즘이 아니라 설정값이었고,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브리지 중계 병목 — 임종신호가 사라졌다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초당 15건을 보내는데 브리지는 약 1.3건만 내보냈다(실측). 하트비트 트래픽에 밀려 단발 임종신호의 통과 확률은 9% [계산] — 관측된 노드별 도착률 5~9%와 같은 값이다.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n07 사망 시험이 이것으로 실패했다 — 노드는 죽었는데 게이트웨이는 몰랐다.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하트비트를 1초에서 10초로 늘려 트래픽을 1/10로 줄이고, 임종신호를 1초 간격 3회 반복으로 바꿨다. 게이트웨이는 임종신호가 도착하면 이웃 투표를 기다리지 않고 즉시 사망을 확정한다.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20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본편에서 16대 중 15대의 임종신호를 수신했다.</a:t>
            </a: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남은 1대(n03)는 15쪽에 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사망 시험 실패로,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3310128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</a:tblGrid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이 실험이 재현한 것과 재현하지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재현한 것 — 불이 지나가면서 노드가 차례로 파괴되는 과정, 그리고 그 시각과 좌표만으로 하는 추정.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재현하지 않은 것 — 복사·연료 소진·바람·지형. 열풍기의 이동을 화선의 대리물로 삼았다. 0.20 m 격자를 야외 배치의 축소 모형으로 두었고,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추정기가 볼 수 없는 것 — 참값 대본. 추정기는 대본을 모른 채 죽은 시각만 받는다.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412126" cy="25968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19"/>
            <a:ext cx="589788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1517904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830568" y="1664208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691639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38528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55.48° → 추정 58.33°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258568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6830568" y="240487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32303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679191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999232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6830568" y="3145534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172968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19856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3739896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6830568" y="388620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평균 5분 51초 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160520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불이 닿기 얼마 전에 알렸나 — 13/16 노드 수신 · 최소 1분 27초 · 최대 8분 43초 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526279"/>
            <a:ext cx="11091672" cy="1737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777240" y="4654295"/>
            <a:ext cx="10634472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3"/>
            <a:ext cx="10634472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이 시간은 언제부터 주어지나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4647"/>
            <a:ext cx="10634472" cy="62179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발화를 감지한 시간이 아니다. 불이 이미 격자 안에 들어온 뒤의 시간이다.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최소 3대가 타 죽어야 추정이 시작된다. 경보를 못 받은 3대는 그 3대다 — 그들의 죽음이 추정을 만든 재료다.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그 뒤로는 화선 앞쪽에 남은 노드가 「불이 몇 분 뒤 도달」을 받는다.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화선이 대체로 한 방향으로 번진다는 전제 위에서 성립한다. 비화(飛火)로 불씨가 건너뛰면 이 예보는 맞지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43016"/>
            <a:ext cx="10634472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리드타임 = 노드 간격 ÷ 화선속도. 관측을 기다리는 값이 아니라 설치 밀도로 정하는 값이다.</a:t>
            </a:r>
          </a:p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17.2 m 간격 기준 — 화선속도 0.05 m/s 에서 5분 44초, 0.10 m/s 에서 2분 52초, 0.01 m/s 에서 28분 40초.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19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733141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80613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3694176"/>
            <a:ext cx="6100419" cy="93268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3820363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7835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883664"/>
          <a:ext cx="4716932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828032"/>
            <a:ext cx="1109167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3379" y="1517904"/>
            <a:ext cx="47169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1F2421"/>
                </a:solidFill>
                <a:latin typeface="맑은 고딕"/>
              </a:rPr>
              <a:t>런 무결성 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속도가 함께 커지면 시간 상수는 그대로다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1 · 배치가 수십 배 넓어지면?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38528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b="1">
                <a:solidFill>
                  <a:srgbClr val="1F2421"/>
                </a:solidFill>
                <a:latin typeface="맑은 고딕"/>
              </a:rPr>
              <a:t>dt_window     = 이웃 반경 ÷ 화선속도</a:t>
            </a:r>
          </a:p>
          <a:p>
            <a:r>
              <a:rPr sz="1200" b="1">
                <a:solidFill>
                  <a:srgbClr val="1F2421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4864608" cy="1426464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572768"/>
              </a:tblGrid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" y="4393455"/>
            <a:ext cx="4864608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F2421"/>
                </a:solidFill>
                <a:latin typeface="맑은 고딕"/>
              </a:rPr>
              <a:t>길이와 속도가 같은 비율로 바뀌면 두 시간 상수는 변하지 않는다.</a:t>
            </a:r>
          </a:p>
          <a:p>
            <a:r>
              <a:rPr sz="100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32367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r>
              <a:rPr sz="85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sp>
        <p:nvSpPr>
          <p:cNvPr id="5" name="Shape 3"/>
          <p:cNvSpPr/>
          <p:nvPr/>
        </p:nvSpPr>
        <p:spPr>
          <a:xfrm>
            <a:off x="6318504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547104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2 · 노드가 많아져 경로가 길어지면?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75104"/>
            <a:ext cx="4864608" cy="2567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47104" y="4670195"/>
            <a:ext cx="4864608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5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596128"/>
            <a:ext cx="11091672" cy="777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