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6" r:id="rId27"/>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9F4"/>
        </a:solidFill>
      </p:bgPr>
    </p:bg>
    <p:spTree>
      <p:nvGrpSpPr>
        <p:cNvPr id="1" name=""/>
        <p:cNvGrpSpPr/>
        <p:nvPr/>
      </p:nvGrpSpPr>
      <p:grpSpPr>
        <a:xfrm>
          <a:off x="0" y="0"/>
          <a:ext cx="0" cy="0"/>
          <a:chOff x="0" y="0"/>
          <a:chExt cx="0" cy="0"/>
        </a:xfrm>
      </p:grpSpPr>
      <p:sp>
        <p:nvSpPr>
          <p:cNvPr id="2" name="Shape 0"/>
          <p:cNvSpPr/>
          <p:nvPr/>
        </p:nvSpPr>
        <p:spPr>
          <a:xfrm>
            <a:off x="7930134" y="1512189"/>
            <a:ext cx="749808" cy="36576"/>
          </a:xfrm>
          <a:prstGeom prst="line">
            <a:avLst/>
          </a:prstGeom>
          <a:noFill/>
          <a:ln w="9525">
            <a:solidFill>
              <a:srgbClr val="E2DCD0"/>
            </a:solidFill>
            <a:prstDash val="solid"/>
          </a:ln>
        </p:spPr>
        <p:txBody>
          <a:bodyPr/>
          <a:p/>
        </p:txBody>
      </p:sp>
      <p:sp>
        <p:nvSpPr>
          <p:cNvPr id="3" name="Shape 1"/>
          <p:cNvSpPr/>
          <p:nvPr/>
        </p:nvSpPr>
        <p:spPr>
          <a:xfrm flipH="1">
            <a:off x="7916418" y="1512189"/>
            <a:ext cx="13716" cy="756666"/>
          </a:xfrm>
          <a:prstGeom prst="line">
            <a:avLst/>
          </a:prstGeom>
          <a:noFill/>
          <a:ln w="9525">
            <a:solidFill>
              <a:srgbClr val="E2DCD0"/>
            </a:solidFill>
            <a:prstDash val="solid"/>
          </a:ln>
        </p:spPr>
        <p:txBody>
          <a:bodyPr/>
          <a:p/>
        </p:txBody>
      </p:sp>
      <p:sp>
        <p:nvSpPr>
          <p:cNvPr id="4" name="Shape 2"/>
          <p:cNvSpPr/>
          <p:nvPr/>
        </p:nvSpPr>
        <p:spPr>
          <a:xfrm flipV="1">
            <a:off x="8679942" y="1498473"/>
            <a:ext cx="841248" cy="50292"/>
          </a:xfrm>
          <a:prstGeom prst="line">
            <a:avLst/>
          </a:prstGeom>
          <a:noFill/>
          <a:ln w="9525">
            <a:solidFill>
              <a:srgbClr val="E2DCD0"/>
            </a:solidFill>
            <a:prstDash val="solid"/>
          </a:ln>
        </p:spPr>
        <p:txBody>
          <a:bodyPr/>
          <a:p/>
        </p:txBody>
      </p:sp>
      <p:sp>
        <p:nvSpPr>
          <p:cNvPr id="5" name="Shape 3"/>
          <p:cNvSpPr/>
          <p:nvPr/>
        </p:nvSpPr>
        <p:spPr>
          <a:xfrm>
            <a:off x="8679942" y="1548765"/>
            <a:ext cx="4572" cy="761238"/>
          </a:xfrm>
          <a:prstGeom prst="line">
            <a:avLst/>
          </a:prstGeom>
          <a:noFill/>
          <a:ln w="9525">
            <a:solidFill>
              <a:srgbClr val="E2DCD0"/>
            </a:solidFill>
            <a:prstDash val="solid"/>
          </a:ln>
        </p:spPr>
        <p:txBody>
          <a:bodyPr/>
          <a:p/>
        </p:txBody>
      </p:sp>
      <p:sp>
        <p:nvSpPr>
          <p:cNvPr id="6" name="Shape 4"/>
          <p:cNvSpPr/>
          <p:nvPr/>
        </p:nvSpPr>
        <p:spPr>
          <a:xfrm>
            <a:off x="9521190" y="1498473"/>
            <a:ext cx="768096" cy="41148"/>
          </a:xfrm>
          <a:prstGeom prst="line">
            <a:avLst/>
          </a:prstGeom>
          <a:noFill/>
          <a:ln w="9525">
            <a:solidFill>
              <a:srgbClr val="E2DCD0"/>
            </a:solidFill>
            <a:prstDash val="solid"/>
          </a:ln>
        </p:spPr>
        <p:txBody>
          <a:bodyPr/>
          <a:p/>
        </p:txBody>
      </p:sp>
      <p:sp>
        <p:nvSpPr>
          <p:cNvPr id="7" name="Shape 5"/>
          <p:cNvSpPr/>
          <p:nvPr/>
        </p:nvSpPr>
        <p:spPr>
          <a:xfrm>
            <a:off x="9521190" y="1498473"/>
            <a:ext cx="9144" cy="779526"/>
          </a:xfrm>
          <a:prstGeom prst="line">
            <a:avLst/>
          </a:prstGeom>
          <a:noFill/>
          <a:ln w="9525">
            <a:solidFill>
              <a:srgbClr val="E2DCD0"/>
            </a:solidFill>
            <a:prstDash val="solid"/>
          </a:ln>
        </p:spPr>
        <p:txBody>
          <a:bodyPr/>
          <a:p/>
        </p:txBody>
      </p:sp>
      <p:sp>
        <p:nvSpPr>
          <p:cNvPr id="9" name="Shape 7"/>
          <p:cNvSpPr/>
          <p:nvPr/>
        </p:nvSpPr>
        <p:spPr>
          <a:xfrm flipH="1">
            <a:off x="10280142" y="1539621"/>
            <a:ext cx="9144" cy="774954"/>
          </a:xfrm>
          <a:prstGeom prst="line">
            <a:avLst/>
          </a:prstGeom>
          <a:noFill/>
          <a:ln w="9525">
            <a:solidFill>
              <a:srgbClr val="E2DCD0"/>
            </a:solidFill>
            <a:prstDash val="solid"/>
          </a:ln>
        </p:spPr>
        <p:txBody>
          <a:bodyPr/>
          <a:p/>
        </p:txBody>
      </p:sp>
      <p:sp>
        <p:nvSpPr>
          <p:cNvPr id="13" name="Shape 11"/>
          <p:cNvSpPr/>
          <p:nvPr/>
        </p:nvSpPr>
        <p:spPr>
          <a:xfrm>
            <a:off x="7916418" y="2268855"/>
            <a:ext cx="768096" cy="41148"/>
          </a:xfrm>
          <a:prstGeom prst="line">
            <a:avLst/>
          </a:prstGeom>
          <a:noFill/>
          <a:ln w="9525">
            <a:solidFill>
              <a:srgbClr val="E2DCD0"/>
            </a:solidFill>
            <a:prstDash val="solid"/>
          </a:ln>
        </p:spPr>
        <p:txBody>
          <a:bodyPr/>
          <a:p/>
        </p:txBody>
      </p:sp>
      <p:sp>
        <p:nvSpPr>
          <p:cNvPr id="14" name="Shape 12"/>
          <p:cNvSpPr/>
          <p:nvPr/>
        </p:nvSpPr>
        <p:spPr>
          <a:xfrm>
            <a:off x="7916418" y="2268855"/>
            <a:ext cx="9144" cy="770382"/>
          </a:xfrm>
          <a:prstGeom prst="line">
            <a:avLst/>
          </a:prstGeom>
          <a:noFill/>
          <a:ln w="9525">
            <a:solidFill>
              <a:srgbClr val="E2DCD0"/>
            </a:solidFill>
            <a:prstDash val="solid"/>
          </a:ln>
        </p:spPr>
        <p:txBody>
          <a:bodyPr/>
          <a:p/>
        </p:txBody>
      </p:sp>
      <p:sp>
        <p:nvSpPr>
          <p:cNvPr id="15" name="Shape 13"/>
          <p:cNvSpPr/>
          <p:nvPr/>
        </p:nvSpPr>
        <p:spPr>
          <a:xfrm flipV="1">
            <a:off x="8684514" y="2277999"/>
            <a:ext cx="845820" cy="32004"/>
          </a:xfrm>
          <a:prstGeom prst="line">
            <a:avLst/>
          </a:prstGeom>
          <a:noFill/>
          <a:ln w="9525">
            <a:solidFill>
              <a:srgbClr val="E2DCD0"/>
            </a:solidFill>
            <a:prstDash val="solid"/>
          </a:ln>
        </p:spPr>
        <p:txBody>
          <a:bodyPr/>
          <a:p/>
        </p:txBody>
      </p:sp>
      <p:sp>
        <p:nvSpPr>
          <p:cNvPr id="16" name="Shape 14"/>
          <p:cNvSpPr/>
          <p:nvPr/>
        </p:nvSpPr>
        <p:spPr>
          <a:xfrm flipH="1">
            <a:off x="8675370" y="2310003"/>
            <a:ext cx="9144" cy="774954"/>
          </a:xfrm>
          <a:prstGeom prst="line">
            <a:avLst/>
          </a:prstGeom>
          <a:noFill/>
          <a:ln w="9525">
            <a:solidFill>
              <a:srgbClr val="E2DCD0"/>
            </a:solidFill>
            <a:prstDash val="solid"/>
          </a:ln>
        </p:spPr>
        <p:txBody>
          <a:bodyPr/>
          <a:p/>
        </p:txBody>
      </p:sp>
      <p:sp>
        <p:nvSpPr>
          <p:cNvPr id="17" name="Shape 15"/>
          <p:cNvSpPr/>
          <p:nvPr/>
        </p:nvSpPr>
        <p:spPr>
          <a:xfrm>
            <a:off x="9530334" y="2277999"/>
            <a:ext cx="749808" cy="36576"/>
          </a:xfrm>
          <a:prstGeom prst="line">
            <a:avLst/>
          </a:prstGeom>
          <a:noFill/>
          <a:ln w="9525">
            <a:solidFill>
              <a:srgbClr val="E2DCD0"/>
            </a:solidFill>
            <a:prstDash val="solid"/>
          </a:ln>
        </p:spPr>
        <p:txBody>
          <a:bodyPr/>
          <a:p/>
        </p:txBody>
      </p:sp>
      <p:sp>
        <p:nvSpPr>
          <p:cNvPr id="18" name="Shape 16"/>
          <p:cNvSpPr/>
          <p:nvPr/>
        </p:nvSpPr>
        <p:spPr>
          <a:xfrm flipH="1">
            <a:off x="9516618" y="2277999"/>
            <a:ext cx="13716" cy="756666"/>
          </a:xfrm>
          <a:prstGeom prst="line">
            <a:avLst/>
          </a:prstGeom>
          <a:noFill/>
          <a:ln w="9525">
            <a:solidFill>
              <a:srgbClr val="E2DCD0"/>
            </a:solidFill>
            <a:prstDash val="solid"/>
          </a:ln>
        </p:spPr>
        <p:txBody>
          <a:bodyPr/>
          <a:p/>
        </p:txBody>
      </p:sp>
      <p:sp>
        <p:nvSpPr>
          <p:cNvPr id="20" name="Shape 18"/>
          <p:cNvSpPr/>
          <p:nvPr/>
        </p:nvSpPr>
        <p:spPr>
          <a:xfrm>
            <a:off x="10280142" y="2314575"/>
            <a:ext cx="4572" cy="761238"/>
          </a:xfrm>
          <a:prstGeom prst="line">
            <a:avLst/>
          </a:prstGeom>
          <a:noFill/>
          <a:ln w="9525">
            <a:solidFill>
              <a:srgbClr val="E2DCD0"/>
            </a:solidFill>
            <a:prstDash val="solid"/>
          </a:ln>
        </p:spPr>
        <p:txBody>
          <a:bodyPr/>
          <a:p/>
        </p:txBody>
      </p:sp>
      <p:sp>
        <p:nvSpPr>
          <p:cNvPr id="24" name="Shape 22"/>
          <p:cNvSpPr/>
          <p:nvPr/>
        </p:nvSpPr>
        <p:spPr>
          <a:xfrm>
            <a:off x="7925562" y="3039237"/>
            <a:ext cx="749808" cy="45720"/>
          </a:xfrm>
          <a:prstGeom prst="line">
            <a:avLst/>
          </a:prstGeom>
          <a:noFill/>
          <a:ln w="9525">
            <a:solidFill>
              <a:srgbClr val="E2DCD0"/>
            </a:solidFill>
            <a:prstDash val="solid"/>
          </a:ln>
        </p:spPr>
        <p:txBody>
          <a:bodyPr/>
          <a:p/>
        </p:txBody>
      </p:sp>
      <p:sp>
        <p:nvSpPr>
          <p:cNvPr id="25" name="Shape 23"/>
          <p:cNvSpPr/>
          <p:nvPr/>
        </p:nvSpPr>
        <p:spPr>
          <a:xfrm flipH="1">
            <a:off x="7920990" y="3039237"/>
            <a:ext cx="4572" cy="756666"/>
          </a:xfrm>
          <a:prstGeom prst="line">
            <a:avLst/>
          </a:prstGeom>
          <a:noFill/>
          <a:ln w="9525">
            <a:solidFill>
              <a:srgbClr val="E2DCD0"/>
            </a:solidFill>
            <a:prstDash val="solid"/>
          </a:ln>
        </p:spPr>
        <p:txBody>
          <a:bodyPr/>
          <a:p/>
        </p:txBody>
      </p:sp>
      <p:sp>
        <p:nvSpPr>
          <p:cNvPr id="26" name="Shape 24"/>
          <p:cNvSpPr/>
          <p:nvPr/>
        </p:nvSpPr>
        <p:spPr>
          <a:xfrm flipV="1">
            <a:off x="8675370" y="3034665"/>
            <a:ext cx="841248" cy="50292"/>
          </a:xfrm>
          <a:prstGeom prst="line">
            <a:avLst/>
          </a:prstGeom>
          <a:noFill/>
          <a:ln w="9525">
            <a:solidFill>
              <a:srgbClr val="E2DCD0"/>
            </a:solidFill>
            <a:prstDash val="solid"/>
          </a:ln>
        </p:spPr>
        <p:txBody>
          <a:bodyPr/>
          <a:p/>
        </p:txBody>
      </p:sp>
      <p:sp>
        <p:nvSpPr>
          <p:cNvPr id="27" name="Shape 25"/>
          <p:cNvSpPr/>
          <p:nvPr/>
        </p:nvSpPr>
        <p:spPr>
          <a:xfrm>
            <a:off x="8675370" y="3084957"/>
            <a:ext cx="13716" cy="752094"/>
          </a:xfrm>
          <a:prstGeom prst="line">
            <a:avLst/>
          </a:prstGeom>
          <a:noFill/>
          <a:ln w="9525">
            <a:solidFill>
              <a:srgbClr val="E2DCD0"/>
            </a:solidFill>
            <a:prstDash val="solid"/>
          </a:ln>
        </p:spPr>
        <p:txBody>
          <a:bodyPr/>
          <a:p/>
        </p:txBody>
      </p:sp>
      <p:sp>
        <p:nvSpPr>
          <p:cNvPr id="28" name="Shape 26"/>
          <p:cNvSpPr/>
          <p:nvPr/>
        </p:nvSpPr>
        <p:spPr>
          <a:xfrm>
            <a:off x="9516618" y="3034665"/>
            <a:ext cx="768096" cy="41148"/>
          </a:xfrm>
          <a:prstGeom prst="line">
            <a:avLst/>
          </a:prstGeom>
          <a:noFill/>
          <a:ln w="9525">
            <a:solidFill>
              <a:srgbClr val="E2DCD0"/>
            </a:solidFill>
            <a:prstDash val="solid"/>
          </a:ln>
        </p:spPr>
        <p:txBody>
          <a:bodyPr/>
          <a:p/>
        </p:txBody>
      </p:sp>
      <p:sp>
        <p:nvSpPr>
          <p:cNvPr id="29" name="Shape 27"/>
          <p:cNvSpPr/>
          <p:nvPr/>
        </p:nvSpPr>
        <p:spPr>
          <a:xfrm>
            <a:off x="9516618" y="3034665"/>
            <a:ext cx="9144" cy="770382"/>
          </a:xfrm>
          <a:prstGeom prst="line">
            <a:avLst/>
          </a:prstGeom>
          <a:noFill/>
          <a:ln w="9525">
            <a:solidFill>
              <a:srgbClr val="E2DCD0"/>
            </a:solidFill>
            <a:prstDash val="solid"/>
          </a:ln>
        </p:spPr>
        <p:txBody>
          <a:bodyPr/>
          <a:p/>
        </p:txBody>
      </p:sp>
      <p:sp>
        <p:nvSpPr>
          <p:cNvPr id="31" name="Shape 29"/>
          <p:cNvSpPr/>
          <p:nvPr/>
        </p:nvSpPr>
        <p:spPr>
          <a:xfrm flipH="1">
            <a:off x="10275570" y="3075813"/>
            <a:ext cx="9144" cy="774954"/>
          </a:xfrm>
          <a:prstGeom prst="line">
            <a:avLst/>
          </a:prstGeom>
          <a:noFill/>
          <a:ln w="9525">
            <a:solidFill>
              <a:srgbClr val="E2DCD0"/>
            </a:solidFill>
            <a:prstDash val="solid"/>
          </a:ln>
        </p:spPr>
        <p:txBody>
          <a:bodyPr/>
          <a:p/>
        </p:txBody>
      </p:sp>
      <p:sp>
        <p:nvSpPr>
          <p:cNvPr id="35" name="Shape 33"/>
          <p:cNvSpPr/>
          <p:nvPr/>
        </p:nvSpPr>
        <p:spPr>
          <a:xfrm>
            <a:off x="7920990" y="3795903"/>
            <a:ext cx="768096" cy="41148"/>
          </a:xfrm>
          <a:prstGeom prst="line">
            <a:avLst/>
          </a:prstGeom>
          <a:noFill/>
          <a:ln w="9525">
            <a:solidFill>
              <a:srgbClr val="E2DCD0"/>
            </a:solidFill>
            <a:prstDash val="solid"/>
          </a:ln>
        </p:spPr>
        <p:txBody>
          <a:bodyPr/>
          <a:p/>
        </p:txBody>
      </p:sp>
      <p:sp>
        <p:nvSpPr>
          <p:cNvPr id="36" name="Shape 34"/>
          <p:cNvSpPr/>
          <p:nvPr/>
        </p:nvSpPr>
        <p:spPr>
          <a:xfrm flipV="1">
            <a:off x="8689086" y="3805047"/>
            <a:ext cx="836676" cy="32004"/>
          </a:xfrm>
          <a:prstGeom prst="line">
            <a:avLst/>
          </a:prstGeom>
          <a:noFill/>
          <a:ln w="9525">
            <a:solidFill>
              <a:srgbClr val="E2DCD0"/>
            </a:solidFill>
            <a:prstDash val="solid"/>
          </a:ln>
        </p:spPr>
        <p:txBody>
          <a:bodyPr/>
          <a:p/>
        </p:txBody>
      </p:sp>
      <p:sp>
        <p:nvSpPr>
          <p:cNvPr id="37" name="Shape 35"/>
          <p:cNvSpPr/>
          <p:nvPr/>
        </p:nvSpPr>
        <p:spPr>
          <a:xfrm>
            <a:off x="9525762" y="3805047"/>
            <a:ext cx="749808" cy="45720"/>
          </a:xfrm>
          <a:prstGeom prst="line">
            <a:avLst/>
          </a:prstGeom>
          <a:noFill/>
          <a:ln w="9525">
            <a:solidFill>
              <a:srgbClr val="E2DCD0"/>
            </a:solidFill>
            <a:prstDash val="solid"/>
          </a:ln>
        </p:spPr>
        <p:txBody>
          <a:bodyPr/>
          <a:p/>
        </p:txBody>
      </p:sp>
      <p:sp>
        <p:nvSpPr>
          <p:cNvPr id="40" name="Shape 38"/>
          <p:cNvSpPr/>
          <p:nvPr/>
        </p:nvSpPr>
        <p:spPr>
          <a:xfrm>
            <a:off x="7852410" y="1434465"/>
            <a:ext cx="155448" cy="155448"/>
          </a:xfrm>
          <a:prstGeom prst="ellipse">
            <a:avLst/>
          </a:prstGeom>
          <a:solidFill>
            <a:srgbClr val="D35400"/>
          </a:solidFill>
          <a:ln w="15875">
            <a:solidFill>
              <a:srgbClr val="FBF9F4"/>
            </a:solidFill>
            <a:prstDash val="solid"/>
          </a:ln>
        </p:spPr>
        <p:txBody>
          <a:bodyPr/>
          <a:p/>
        </p:txBody>
      </p:sp>
      <p:sp>
        <p:nvSpPr>
          <p:cNvPr id="41" name="Shape 39"/>
          <p:cNvSpPr/>
          <p:nvPr/>
        </p:nvSpPr>
        <p:spPr>
          <a:xfrm>
            <a:off x="8602218" y="1471041"/>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9443466" y="1420749"/>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211562" y="1461897"/>
            <a:ext cx="155448" cy="155448"/>
          </a:xfrm>
          <a:prstGeom prst="ellipse">
            <a:avLst/>
          </a:prstGeom>
          <a:solidFill>
            <a:srgbClr val="97BC62"/>
          </a:solidFill>
          <a:ln w="15875">
            <a:solidFill>
              <a:srgbClr val="FBF9F4"/>
            </a:solidFill>
            <a:prstDash val="solid"/>
          </a:ln>
        </p:spPr>
        <p:txBody>
          <a:bodyPr/>
          <a:p/>
        </p:txBody>
      </p:sp>
      <p:sp>
        <p:nvSpPr>
          <p:cNvPr id="46" name="Shape 44"/>
          <p:cNvSpPr/>
          <p:nvPr/>
        </p:nvSpPr>
        <p:spPr>
          <a:xfrm>
            <a:off x="7838694" y="2191131"/>
            <a:ext cx="155448" cy="155448"/>
          </a:xfrm>
          <a:prstGeom prst="ellipse">
            <a:avLst/>
          </a:prstGeom>
          <a:solidFill>
            <a:srgbClr val="D35400"/>
          </a:solidFill>
          <a:ln w="15875">
            <a:solidFill>
              <a:srgbClr val="FBF9F4"/>
            </a:solidFill>
            <a:prstDash val="solid"/>
          </a:ln>
        </p:spPr>
        <p:txBody>
          <a:bodyPr/>
          <a:p/>
        </p:txBody>
      </p:sp>
      <p:sp>
        <p:nvSpPr>
          <p:cNvPr id="47" name="Shape 45"/>
          <p:cNvSpPr/>
          <p:nvPr/>
        </p:nvSpPr>
        <p:spPr>
          <a:xfrm>
            <a:off x="8606790" y="2232279"/>
            <a:ext cx="155448" cy="155448"/>
          </a:xfrm>
          <a:prstGeom prst="ellipse">
            <a:avLst/>
          </a:prstGeom>
          <a:solidFill>
            <a:srgbClr val="D35400"/>
          </a:solidFill>
          <a:ln w="15875">
            <a:solidFill>
              <a:srgbClr val="FBF9F4"/>
            </a:solidFill>
            <a:prstDash val="solid"/>
          </a:ln>
        </p:spPr>
        <p:txBody>
          <a:bodyPr/>
          <a:p/>
        </p:txBody>
      </p:sp>
      <p:sp>
        <p:nvSpPr>
          <p:cNvPr id="48" name="Shape 46"/>
          <p:cNvSpPr/>
          <p:nvPr/>
        </p:nvSpPr>
        <p:spPr>
          <a:xfrm>
            <a:off x="9452610" y="2200275"/>
            <a:ext cx="155448" cy="155448"/>
          </a:xfrm>
          <a:prstGeom prst="ellipse">
            <a:avLst/>
          </a:prstGeom>
          <a:solidFill>
            <a:srgbClr val="E8A15C"/>
          </a:solidFill>
          <a:ln w="15875">
            <a:solidFill>
              <a:srgbClr val="FBF9F4"/>
            </a:solidFill>
            <a:prstDash val="solid"/>
          </a:ln>
        </p:spPr>
        <p:txBody>
          <a:bodyPr/>
          <a:p/>
        </p:txBody>
      </p:sp>
      <p:sp>
        <p:nvSpPr>
          <p:cNvPr id="49" name="Shape 47"/>
          <p:cNvSpPr/>
          <p:nvPr/>
        </p:nvSpPr>
        <p:spPr>
          <a:xfrm>
            <a:off x="10202418" y="2236851"/>
            <a:ext cx="155448" cy="155448"/>
          </a:xfrm>
          <a:prstGeom prst="ellipse">
            <a:avLst/>
          </a:prstGeom>
          <a:solidFill>
            <a:srgbClr val="97BC62"/>
          </a:solidFill>
          <a:ln w="15875">
            <a:solidFill>
              <a:srgbClr val="FBF9F4"/>
            </a:solidFill>
            <a:prstDash val="solid"/>
          </a:ln>
        </p:spPr>
        <p:txBody>
          <a:bodyPr/>
          <a:p/>
        </p:txBody>
      </p:sp>
      <p:sp>
        <p:nvSpPr>
          <p:cNvPr id="52" name="Shape 50"/>
          <p:cNvSpPr/>
          <p:nvPr/>
        </p:nvSpPr>
        <p:spPr>
          <a:xfrm>
            <a:off x="7847838" y="2961513"/>
            <a:ext cx="155448" cy="155448"/>
          </a:xfrm>
          <a:prstGeom prst="ellipse">
            <a:avLst/>
          </a:prstGeom>
          <a:solidFill>
            <a:srgbClr val="D35400"/>
          </a:solidFill>
          <a:ln w="15875">
            <a:solidFill>
              <a:srgbClr val="FBF9F4"/>
            </a:solidFill>
            <a:prstDash val="solid"/>
          </a:ln>
        </p:spPr>
        <p:txBody>
          <a:bodyPr/>
          <a:p/>
        </p:txBody>
      </p:sp>
      <p:sp>
        <p:nvSpPr>
          <p:cNvPr id="53" name="Shape 51"/>
          <p:cNvSpPr/>
          <p:nvPr/>
        </p:nvSpPr>
        <p:spPr>
          <a:xfrm>
            <a:off x="8597646" y="3007233"/>
            <a:ext cx="155448" cy="155448"/>
          </a:xfrm>
          <a:prstGeom prst="ellipse">
            <a:avLst/>
          </a:prstGeom>
          <a:solidFill>
            <a:srgbClr val="D35400"/>
          </a:solidFill>
          <a:ln w="15875">
            <a:solidFill>
              <a:srgbClr val="FBF9F4"/>
            </a:solidFill>
            <a:prstDash val="solid"/>
          </a:ln>
        </p:spPr>
        <p:txBody>
          <a:bodyPr/>
          <a:p/>
        </p:txBody>
      </p:sp>
      <p:sp>
        <p:nvSpPr>
          <p:cNvPr id="54" name="Shape 52"/>
          <p:cNvSpPr/>
          <p:nvPr/>
        </p:nvSpPr>
        <p:spPr>
          <a:xfrm>
            <a:off x="9438894" y="2956941"/>
            <a:ext cx="155448" cy="155448"/>
          </a:xfrm>
          <a:prstGeom prst="ellipse">
            <a:avLst/>
          </a:prstGeom>
          <a:solidFill>
            <a:srgbClr val="E8A15C"/>
          </a:solidFill>
          <a:ln w="15875">
            <a:solidFill>
              <a:srgbClr val="FBF9F4"/>
            </a:solidFill>
            <a:prstDash val="solid"/>
          </a:ln>
        </p:spPr>
        <p:txBody>
          <a:bodyPr/>
          <a:p/>
        </p:txBody>
      </p:sp>
      <p:sp>
        <p:nvSpPr>
          <p:cNvPr id="55" name="Shape 53"/>
          <p:cNvSpPr/>
          <p:nvPr/>
        </p:nvSpPr>
        <p:spPr>
          <a:xfrm>
            <a:off x="10206990" y="2998089"/>
            <a:ext cx="155448" cy="155448"/>
          </a:xfrm>
          <a:prstGeom prst="ellipse">
            <a:avLst/>
          </a:prstGeom>
          <a:solidFill>
            <a:srgbClr val="97BC62"/>
          </a:solidFill>
          <a:ln w="15875">
            <a:solidFill>
              <a:srgbClr val="FBF9F4"/>
            </a:solidFill>
            <a:prstDash val="solid"/>
          </a:ln>
        </p:spPr>
        <p:txBody>
          <a:bodyPr/>
          <a:p/>
        </p:txBody>
      </p:sp>
      <p:sp>
        <p:nvSpPr>
          <p:cNvPr id="58" name="Shape 56"/>
          <p:cNvSpPr/>
          <p:nvPr/>
        </p:nvSpPr>
        <p:spPr>
          <a:xfrm>
            <a:off x="7843266" y="3718179"/>
            <a:ext cx="155448" cy="155448"/>
          </a:xfrm>
          <a:prstGeom prst="ellipse">
            <a:avLst/>
          </a:prstGeom>
          <a:solidFill>
            <a:srgbClr val="D35400"/>
          </a:solidFill>
          <a:ln w="15875">
            <a:solidFill>
              <a:srgbClr val="FBF9F4"/>
            </a:solidFill>
            <a:prstDash val="solid"/>
          </a:ln>
        </p:spPr>
        <p:txBody>
          <a:bodyPr/>
          <a:p/>
        </p:txBody>
      </p:sp>
      <p:sp>
        <p:nvSpPr>
          <p:cNvPr id="59" name="Shape 57"/>
          <p:cNvSpPr/>
          <p:nvPr/>
        </p:nvSpPr>
        <p:spPr>
          <a:xfrm>
            <a:off x="8611362" y="3759327"/>
            <a:ext cx="155448" cy="155448"/>
          </a:xfrm>
          <a:prstGeom prst="ellipse">
            <a:avLst/>
          </a:prstGeom>
          <a:solidFill>
            <a:srgbClr val="D35400"/>
          </a:solidFill>
          <a:ln w="15875">
            <a:solidFill>
              <a:srgbClr val="FBF9F4"/>
            </a:solidFill>
            <a:prstDash val="solid"/>
          </a:ln>
        </p:spPr>
        <p:txBody>
          <a:bodyPr/>
          <a:p/>
        </p:txBody>
      </p:sp>
      <p:sp>
        <p:nvSpPr>
          <p:cNvPr id="60" name="Shape 58"/>
          <p:cNvSpPr/>
          <p:nvPr/>
        </p:nvSpPr>
        <p:spPr>
          <a:xfrm>
            <a:off x="9448038" y="3727323"/>
            <a:ext cx="155448" cy="155448"/>
          </a:xfrm>
          <a:prstGeom prst="ellipse">
            <a:avLst/>
          </a:prstGeom>
          <a:solidFill>
            <a:srgbClr val="E8A15C"/>
          </a:solidFill>
          <a:ln w="15875">
            <a:solidFill>
              <a:srgbClr val="FBF9F4"/>
            </a:solidFill>
            <a:prstDash val="solid"/>
          </a:ln>
        </p:spPr>
        <p:txBody>
          <a:bodyPr/>
          <a:p/>
        </p:txBody>
      </p:sp>
      <p:sp>
        <p:nvSpPr>
          <p:cNvPr id="61" name="Shape 59"/>
          <p:cNvSpPr/>
          <p:nvPr/>
        </p:nvSpPr>
        <p:spPr>
          <a:xfrm>
            <a:off x="10197846" y="3773043"/>
            <a:ext cx="155448" cy="155448"/>
          </a:xfrm>
          <a:prstGeom prst="ellipse">
            <a:avLst/>
          </a:prstGeom>
          <a:solidFill>
            <a:srgbClr val="97BC62"/>
          </a:solidFill>
          <a:ln w="15875">
            <a:solidFill>
              <a:srgbClr val="FBF9F4"/>
            </a:solidFill>
            <a:prstDash val="solid"/>
          </a:ln>
        </p:spPr>
        <p:txBody>
          <a:bodyPr/>
          <a:p/>
        </p:txBody>
      </p:sp>
      <p:sp>
        <p:nvSpPr>
          <p:cNvPr id="64" name="Text 62"/>
          <p:cNvSpPr/>
          <p:nvPr/>
        </p:nvSpPr>
        <p:spPr>
          <a:xfrm>
            <a:off x="822960" y="1554480"/>
            <a:ext cx="8229600" cy="320040"/>
          </a:xfrm>
          <a:prstGeom prst="rect">
            <a:avLst/>
          </a:prstGeom>
          <a:noFill/>
          <a:ln/>
        </p:spPr>
        <p:txBody>
          <a:bodyPr wrap="square" rtlCol="0" anchor="ctr"/>
          <a:lstStyle/>
          <a:p>
            <a:pPr indent="0" marL="0" eaLnBrk="0" hangingPunct="1">
              <a:buNone/>
            </a:pPr>
            <a:r>
              <a:rPr lang="en-US" sz="1300" b="1" spc="100" kern="0" dirty="0">
                <a:solidFill>
                  <a:srgbClr val="D35400"/>
                </a:solidFill>
                <a:latin typeface="맑은 고딕" pitchFamily="34" charset="0"/>
                <a:ea typeface="맑은 고딕" pitchFamily="34" charset="-122"/>
                <a:cs typeface="맑은 고딕" pitchFamily="34" charset="-120"/>
              </a:rPr>
              <a:t>제24회 임베디드SW경진대회 · 자유공모 부문</a:t>
            </a:r>
            <a:endParaRPr lang="en-US" sz="1300" dirty="0"/>
          </a:p>
        </p:txBody>
      </p:sp>
      <p:sp>
        <p:nvSpPr>
          <p:cNvPr id="65" name="Text 63"/>
          <p:cNvSpPr/>
          <p:nvPr/>
        </p:nvSpPr>
        <p:spPr>
          <a:xfrm>
            <a:off x="777240" y="1965960"/>
            <a:ext cx="5852160" cy="1463040"/>
          </a:xfrm>
          <a:prstGeom prst="rect">
            <a:avLst/>
          </a:prstGeom>
          <a:noFill/>
          <a:ln/>
        </p:spPr>
        <p:txBody>
          <a:bodyPr wrap="square" rtlCol="0" anchor="ctr"/>
          <a:lstStyle/>
          <a:p>
            <a:pPr indent="0" marL="0" eaLnBrk="0" hangingPunct="1">
              <a:buNone/>
            </a:pPr>
            <a:r>
              <a:rPr lang="en-US" sz="8800" b="1" dirty="0">
                <a:solidFill>
                  <a:srgbClr val="1F2421"/>
                </a:solidFill>
                <a:latin typeface="맑은 고딕" pitchFamily="34" charset="0"/>
                <a:ea typeface="맑은 고딕" pitchFamily="34" charset="-122"/>
                <a:cs typeface="맑은 고딕" pitchFamily="34" charset="-120"/>
              </a:rPr>
              <a:t>불사</a:t>
            </a:r>
            <a:endParaRPr lang="en-US" sz="8800" dirty="0"/>
          </a:p>
        </p:txBody>
      </p:sp>
      <p:sp>
        <p:nvSpPr>
          <p:cNvPr id="66" name="Shape 64"/>
          <p:cNvSpPr/>
          <p:nvPr/>
        </p:nvSpPr>
        <p:spPr>
          <a:xfrm>
            <a:off x="940003" y="3611880"/>
            <a:ext cx="2119579" cy="0"/>
          </a:xfrm>
          <a:prstGeom prst="line">
            <a:avLst/>
          </a:prstGeom>
          <a:noFill/>
          <a:ln w="38100">
            <a:solidFill>
              <a:srgbClr val="D35400"/>
            </a:solidFill>
            <a:prstDash val="solid"/>
          </a:ln>
        </p:spPr>
        <p:txBody>
          <a:bodyPr/>
          <a:p/>
        </p:txBody>
      </p:sp>
      <p:sp>
        <p:nvSpPr>
          <p:cNvPr id="67" name="Text 65"/>
          <p:cNvSpPr/>
          <p:nvPr/>
        </p:nvSpPr>
        <p:spPr>
          <a:xfrm>
            <a:off x="822960" y="3794760"/>
            <a:ext cx="8229600" cy="457200"/>
          </a:xfrm>
          <a:prstGeom prst="rect">
            <a:avLst/>
          </a:prstGeom>
          <a:noFill/>
          <a:ln/>
        </p:spPr>
        <p:txBody>
          <a:bodyPr wrap="square" rtlCol="0" anchor="ctr"/>
          <a:lstStyle/>
          <a:p>
            <a:pPr indent="0" marL="0" eaLnBrk="0" hangingPunct="1">
              <a:buNone/>
            </a:pPr>
            <a:r>
              <a:rPr lang="en-US" sz="1400" b="0" dirty="0">
                <a:solidFill>
                  <a:srgbClr val="2C5F2D"/>
                </a:solidFill>
                <a:latin typeface="맑은 고딕" pitchFamily="34" charset="0"/>
                <a:ea typeface="맑은 고딕" pitchFamily="34" charset="-122"/>
                <a:cs typeface="맑은 고딕" pitchFamily="34" charset="-120"/>
              </a:rPr>
              <a:t>팀 화중생련  火中生蓮</a:t>
            </a:r>
            <a:pPr indent="0" marL="0">
              <a:buNone/>
            </a:pPr>
            <a:endParaRPr lang="en-US" sz="2000" dirty="0"/>
          </a:p>
        </p:txBody>
      </p:sp>
      <p:sp>
        <p:nvSpPr>
          <p:cNvPr id="68" name="Text 66"/>
          <p:cNvSpPr/>
          <p:nvPr/>
        </p:nvSpPr>
        <p:spPr>
          <a:xfrm>
            <a:off x="822960" y="4480560"/>
            <a:ext cx="9601200" cy="457200"/>
          </a:xfrm>
          <a:prstGeom prst="rect">
            <a:avLst/>
          </a:prstGeom>
          <a:noFill/>
          <a:ln/>
        </p:spPr>
        <p:txBody>
          <a:bodyPr wrap="square" rtlCol="0" anchor="ctr"/>
          <a:lstStyle/>
          <a:p>
            <a:pPr indent="0" marL="0" eaLnBrk="0" hangingPunct="1">
              <a:buNone/>
            </a:pPr>
            <a:r>
              <a:rPr lang="en-US" sz="1600" dirty="0">
                <a:solidFill>
                  <a:srgbClr val="50544B"/>
                </a:solidFill>
                <a:latin typeface="맑은 고딕" pitchFamily="34" charset="0"/>
                <a:ea typeface="맑은 고딕" pitchFamily="34" charset="-122"/>
                <a:cs typeface="맑은 고딕" pitchFamily="34" charset="-120"/>
              </a:rPr>
              <a:t>고장(노드 파괴)을 데이터로 바꾸는 자가치유 산불 감시 메시 네트워크</a:t>
            </a:r>
            <a:endParaRPr lang="en-US" sz="1600" dirty="0"/>
          </a:p>
        </p:txBody>
      </p:sp>
      <p:sp>
        <p:nvSpPr>
          <p:cNvPr id="69" name="Shape 67"/>
          <p:cNvSpPr/>
          <p:nvPr/>
        </p:nvSpPr>
        <p:spPr>
          <a:xfrm>
            <a:off x="822960" y="5806440"/>
            <a:ext cx="10515600" cy="0"/>
          </a:xfrm>
          <a:prstGeom prst="line">
            <a:avLst/>
          </a:prstGeom>
          <a:noFill/>
          <a:ln w="12700">
            <a:solidFill>
              <a:srgbClr val="E2DCD0"/>
            </a:solidFill>
            <a:prstDash val="solid"/>
          </a:ln>
        </p:spPr>
        <p:txBody>
          <a:bodyPr/>
          <a:p/>
        </p:txBody>
      </p:sp>
      <p:sp>
        <p:nvSpPr>
          <p:cNvPr id="70" name="Text 68"/>
          <p:cNvSpPr/>
          <p:nvPr/>
        </p:nvSpPr>
        <p:spPr>
          <a:xfrm>
            <a:off x="822960" y="5943600"/>
            <a:ext cx="7315200" cy="36576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이동욱</a:t>
            </a:r>
            <a:pPr indent="0" marL="0">
              <a:buNone/>
            </a:pPr>
            <a:r>
              <a:rPr lang="en-US" sz="1300" dirty="0">
                <a:solidFill>
                  <a:srgbClr val="6B6E6A"/>
                </a:solidFill>
                <a:latin typeface="맑은 고딕" pitchFamily="34" charset="0"/>
                <a:ea typeface="맑은 고딕" pitchFamily="34" charset="-122"/>
                <a:cs typeface="맑은 고딕" pitchFamily="34" charset="-120"/>
              </a:rPr>
              <a:t>  전자공학전공 · 숭실대학교</a:t>
            </a:r>
            <a:endParaRPr lang="en-US" sz="1300" dirty="0"/>
          </a:p>
        </p:txBody>
      </p:sp>
      <p:sp>
        <p:nvSpPr>
          <p:cNvPr id="71" name="Text 69"/>
          <p:cNvSpPr/>
          <p:nvPr/>
        </p:nvSpPr>
        <p:spPr>
          <a:xfrm>
            <a:off x="6766560" y="5943600"/>
            <a:ext cx="4572000" cy="365760"/>
          </a:xfrm>
          <a:prstGeom prst="rect">
            <a:avLst/>
          </a:prstGeom>
          <a:noFill/>
          <a:ln/>
        </p:spPr>
        <p:txBody>
          <a:bodyPr wrap="square" rtlCol="0" anchor="ctr"/>
          <a:lstStyle/>
          <a:p>
            <a:pPr algn="r" indent="0" marL="0" eaLnBrk="0" hangingPunct="1">
              <a:buNone/>
            </a:pPr>
            <a:r>
              <a:rPr lang="en-US" sz="1100" dirty="0">
                <a:solidFill>
                  <a:srgbClr val="6B6E6A"/>
                </a:solidFill>
                <a:latin typeface="맑은 고딕" pitchFamily="34" charset="0"/>
                <a:ea typeface="맑은 고딕" pitchFamily="34" charset="-122"/>
                <a:cs typeface="맑은 고딕" pitchFamily="34" charset="-120"/>
              </a:rPr>
              <a:t>GitHub · 시연영상 링크는 제출본에 삽입</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① 개발 배경·동기</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재난에선 노드 파괴가 '필연'이다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508760"/>
            <a:ext cx="11064240" cy="868680"/>
          </a:xfrm>
          <a:prstGeom prst="rect">
            <a:avLst/>
          </a:prstGeom>
          <a:noFill/>
          <a:ln/>
        </p:spPr>
        <p:txBody>
          <a:bodyPr wrap="square" rtlCol="0" anchor="ctr"/>
          <a:lstStyle/>
          <a:p>
            <a:pPr indent="0" marL="0" eaLnBrk="0" hangingPunct="1">
              <a:lnSpc>
                <a:spcPct val="125000"/>
              </a:lnSpc>
              <a:buNone/>
            </a:pPr>
            <a:r>
              <a:rPr lang="en-US" sz="1500" dirty="0">
                <a:solidFill>
                  <a:srgbClr val="1F2421"/>
                </a:solidFill>
                <a:latin typeface="맑은 고딕" pitchFamily="34" charset="0"/>
                <a:ea typeface="맑은 고딕" pitchFamily="34" charset="-122"/>
                <a:cs typeface="맑은 고딕" pitchFamily="34" charset="-120"/>
              </a:rPr>
              <a:t>산불·지진·붕괴 현장에서 센서 노드는 </a:t>
            </a:r>
            <a:pPr indent="0" marL="0">
              <a:lnSpc>
                <a:spcPct val="125000"/>
              </a:lnSpc>
              <a:buNone/>
            </a:pPr>
            <a:r>
              <a:rPr lang="en-US" sz="1500" b="1" dirty="0">
                <a:solidFill>
                  <a:srgbClr val="D35400"/>
                </a:solidFill>
                <a:latin typeface="맑은 고딕" pitchFamily="34" charset="0"/>
                <a:ea typeface="맑은 고딕" pitchFamily="34" charset="-122"/>
                <a:cs typeface="맑은 고딕" pitchFamily="34" charset="-120"/>
              </a:rPr>
              <a:t>반드시 죽는다</a:t>
            </a:r>
            <a:pPr indent="0" marL="0">
              <a:lnSpc>
                <a:spcPct val="125000"/>
              </a:lnSpc>
              <a:buNone/>
            </a:pPr>
            <a:r>
              <a:rPr lang="en-US" sz="1500" dirty="0">
                <a:solidFill>
                  <a:srgbClr val="1F2421"/>
                </a:solidFill>
                <a:latin typeface="맑은 고딕" pitchFamily="34" charset="0"/>
                <a:ea typeface="맑은 고딕" pitchFamily="34" charset="-122"/>
                <a:cs typeface="맑은 고딕" pitchFamily="34" charset="-120"/>
              </a:rPr>
              <a:t>. 기존 시스템은 이 죽음을 단순 '손실'로 처리한다. 우리는 </a:t>
            </a:r>
            <a:pPr indent="0" marL="0">
              <a:lnSpc>
                <a:spcPct val="125000"/>
              </a:lnSpc>
              <a:buNone/>
            </a:pPr>
            <a:r>
              <a:rPr lang="en-US" sz="1500" b="1" dirty="0">
                <a:solidFill>
                  <a:srgbClr val="2C5F2D"/>
                </a:solidFill>
                <a:latin typeface="맑은 고딕" pitchFamily="34" charset="0"/>
                <a:ea typeface="맑은 고딕" pitchFamily="34" charset="-122"/>
                <a:cs typeface="맑은 고딕" pitchFamily="34" charset="-120"/>
              </a:rPr>
              <a:t>죽음의 시공간 패턴 자체를 데이터로 승격</a:t>
            </a:r>
            <a:pPr indent="0" marL="0">
              <a:lnSpc>
                <a:spcPct val="125000"/>
              </a:lnSpc>
              <a:buNone/>
            </a:pPr>
            <a:r>
              <a:rPr lang="en-US" sz="1500" dirty="0">
                <a:solidFill>
                  <a:srgbClr val="1F2421"/>
                </a:solidFill>
                <a:latin typeface="맑은 고딕" pitchFamily="34" charset="0"/>
                <a:ea typeface="맑은 고딕" pitchFamily="34" charset="-122"/>
                <a:cs typeface="맑은 고딕" pitchFamily="34" charset="-120"/>
              </a:rPr>
              <a:t>해, 사라진 노드들이 오히려 불의 방향·속도를 그리게 한다.</a:t>
            </a:r>
            <a:endParaRPr lang="en-US" sz="1500" dirty="0"/>
          </a:p>
        </p:txBody>
      </p:sp>
      <p:sp>
        <p:nvSpPr>
          <p:cNvPr id="6" name="Shape 4"/>
          <p:cNvSpPr/>
          <p:nvPr/>
        </p:nvSpPr>
        <p:spPr>
          <a:xfrm>
            <a:off x="548640" y="2697480"/>
            <a:ext cx="3520440" cy="2331720"/>
          </a:xfrm>
          <a:prstGeom prst="roundRect">
            <a:avLst>
              <a:gd name="adj" fmla="val 2353"/>
            </a:avLst>
          </a:prstGeom>
          <a:solidFill>
            <a:srgbClr val="FFFFFF"/>
          </a:solidFill>
          <a:ln w="12700">
            <a:solidFill>
              <a:srgbClr val="E2DCD0"/>
            </a:solidFill>
            <a:prstDash val="solid"/>
          </a:ln>
        </p:spPr>
        <p:txBody>
          <a:bodyPr/>
          <a:p/>
        </p:txBody>
      </p:sp>
      <p:sp>
        <p:nvSpPr>
          <p:cNvPr id="7" name="Text 5"/>
          <p:cNvSpPr/>
          <p:nvPr/>
        </p:nvSpPr>
        <p:spPr>
          <a:xfrm>
            <a:off x="777240" y="2898648"/>
            <a:ext cx="3063240" cy="365760"/>
          </a:xfrm>
          <a:prstGeom prst="rect">
            <a:avLst/>
          </a:prstGeom>
          <a:noFill/>
          <a:ln/>
        </p:spPr>
        <p:txBody>
          <a:bodyPr wrap="square" rtlCol="0" anchor="ctr"/>
          <a:lstStyle/>
          <a:p>
            <a:pPr indent="0" marL="0" eaLnBrk="0" hangingPunct="1">
              <a:buNone/>
            </a:pPr>
            <a:r>
              <a:rPr lang="en-US" sz="1450" b="1" dirty="0">
                <a:solidFill>
                  <a:srgbClr val="6B6E6A"/>
                </a:solidFill>
                <a:latin typeface="맑은 고딕" pitchFamily="34" charset="0"/>
                <a:ea typeface="맑은 고딕" pitchFamily="34" charset="-122"/>
                <a:cs typeface="맑은 고딕" pitchFamily="34" charset="-120"/>
              </a:rPr>
              <a:t>문제 정의</a:t>
            </a:r>
            <a:endParaRPr lang="en-US" sz="1450" dirty="0"/>
          </a:p>
        </p:txBody>
      </p:sp>
      <p:sp>
        <p:nvSpPr>
          <p:cNvPr id="8" name="Shape 6"/>
          <p:cNvSpPr/>
          <p:nvPr/>
        </p:nvSpPr>
        <p:spPr>
          <a:xfrm>
            <a:off x="777240" y="3337560"/>
            <a:ext cx="502920" cy="0"/>
          </a:xfrm>
          <a:prstGeom prst="line">
            <a:avLst/>
          </a:prstGeom>
          <a:noFill/>
          <a:ln w="25400">
            <a:solidFill>
              <a:srgbClr val="D35400"/>
            </a:solidFill>
            <a:prstDash val="solid"/>
          </a:ln>
        </p:spPr>
        <p:txBody>
          <a:bodyPr/>
          <a:p/>
        </p:txBody>
      </p:sp>
      <p:sp>
        <p:nvSpPr>
          <p:cNvPr id="9" name="Text 7"/>
          <p:cNvSpPr/>
          <p:nvPr/>
        </p:nvSpPr>
        <p:spPr>
          <a:xfrm>
            <a:off x="777240" y="3474720"/>
            <a:ext cx="306324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위성·드론은 연기·수목 아래 지표 화선을 못 본다. 진화 지휘·대원 안전이 직결된 실시간 공백이 남는다.</a:t>
            </a:r>
            <a:endParaRPr lang="en-US" sz="1200" dirty="0"/>
          </a:p>
        </p:txBody>
      </p:sp>
      <p:sp>
        <p:nvSpPr>
          <p:cNvPr id="10" name="Shape 8"/>
          <p:cNvSpPr/>
          <p:nvPr/>
        </p:nvSpPr>
        <p:spPr>
          <a:xfrm>
            <a:off x="4325112" y="2697480"/>
            <a:ext cx="3520440" cy="2331720"/>
          </a:xfrm>
          <a:prstGeom prst="roundRect">
            <a:avLst>
              <a:gd name="adj" fmla="val 2353"/>
            </a:avLst>
          </a:prstGeom>
          <a:solidFill>
            <a:srgbClr val="FFFFFF"/>
          </a:solidFill>
          <a:ln w="12700">
            <a:solidFill>
              <a:srgbClr val="E2DCD0"/>
            </a:solidFill>
            <a:prstDash val="solid"/>
          </a:ln>
        </p:spPr>
        <p:txBody>
          <a:bodyPr/>
          <a:p/>
        </p:txBody>
      </p:sp>
      <p:sp>
        <p:nvSpPr>
          <p:cNvPr id="11" name="Text 9"/>
          <p:cNvSpPr/>
          <p:nvPr/>
        </p:nvSpPr>
        <p:spPr>
          <a:xfrm>
            <a:off x="4553712" y="2898648"/>
            <a:ext cx="3063240" cy="365760"/>
          </a:xfrm>
          <a:prstGeom prst="rect">
            <a:avLst/>
          </a:prstGeom>
          <a:noFill/>
          <a:ln/>
        </p:spPr>
        <p:txBody>
          <a:bodyPr wrap="square" rtlCol="0" anchor="ctr"/>
          <a:lstStyle/>
          <a:p>
            <a:pPr indent="0" marL="0" eaLnBrk="0" hangingPunct="1">
              <a:buNone/>
            </a:pPr>
            <a:r>
              <a:rPr lang="en-US" sz="1450" b="1" dirty="0">
                <a:solidFill>
                  <a:srgbClr val="6B6E6A"/>
                </a:solidFill>
                <a:latin typeface="맑은 고딕" pitchFamily="34" charset="0"/>
                <a:ea typeface="맑은 고딕" pitchFamily="34" charset="-122"/>
                <a:cs typeface="맑은 고딕" pitchFamily="34" charset="-120"/>
              </a:rPr>
              <a:t>기존의 공백</a:t>
            </a:r>
            <a:endParaRPr lang="en-US" sz="1450" dirty="0"/>
          </a:p>
        </p:txBody>
      </p:sp>
      <p:sp>
        <p:nvSpPr>
          <p:cNvPr id="12" name="Shape 10"/>
          <p:cNvSpPr/>
          <p:nvPr/>
        </p:nvSpPr>
        <p:spPr>
          <a:xfrm>
            <a:off x="4553712" y="3337560"/>
            <a:ext cx="502920" cy="0"/>
          </a:xfrm>
          <a:prstGeom prst="line">
            <a:avLst/>
          </a:prstGeom>
          <a:noFill/>
          <a:ln w="25400">
            <a:solidFill>
              <a:srgbClr val="D35400"/>
            </a:solidFill>
            <a:prstDash val="solid"/>
          </a:ln>
        </p:spPr>
        <p:txBody>
          <a:bodyPr/>
          <a:p/>
        </p:txBody>
      </p:sp>
      <p:sp>
        <p:nvSpPr>
          <p:cNvPr id="13" name="Text 11"/>
          <p:cNvSpPr/>
          <p:nvPr/>
        </p:nvSpPr>
        <p:spPr>
          <a:xfrm>
            <a:off x="4553712" y="3474720"/>
            <a:ext cx="306324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순정 painlessMesh는 죽은 노드를 우회만 할 뿐, 그 죽음에 담긴 정보를 버린다.</a:t>
            </a:r>
            <a:endParaRPr lang="en-US" sz="1200" dirty="0"/>
          </a:p>
        </p:txBody>
      </p:sp>
      <p:sp>
        <p:nvSpPr>
          <p:cNvPr id="14" name="Shape 12"/>
          <p:cNvSpPr/>
          <p:nvPr/>
        </p:nvSpPr>
        <p:spPr>
          <a:xfrm>
            <a:off x="8101584" y="2697480"/>
            <a:ext cx="3520440" cy="2331720"/>
          </a:xfrm>
          <a:prstGeom prst="roundRect">
            <a:avLst>
              <a:gd name="adj" fmla="val 2353"/>
            </a:avLst>
          </a:prstGeom>
          <a:solidFill>
            <a:srgbClr val="EEF3E6"/>
          </a:solidFill>
          <a:ln w="12700">
            <a:solidFill>
              <a:srgbClr val="E2DCD0"/>
            </a:solidFill>
            <a:prstDash val="solid"/>
          </a:ln>
        </p:spPr>
        <p:txBody>
          <a:bodyPr/>
          <a:p/>
        </p:txBody>
      </p:sp>
      <p:sp>
        <p:nvSpPr>
          <p:cNvPr id="15" name="Text 13"/>
          <p:cNvSpPr/>
          <p:nvPr/>
        </p:nvSpPr>
        <p:spPr>
          <a:xfrm>
            <a:off x="8330184" y="2898648"/>
            <a:ext cx="306324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우리 목표</a:t>
            </a:r>
            <a:endParaRPr lang="en-US" sz="1450" dirty="0"/>
          </a:p>
        </p:txBody>
      </p:sp>
      <p:sp>
        <p:nvSpPr>
          <p:cNvPr id="16" name="Shape 14"/>
          <p:cNvSpPr/>
          <p:nvPr/>
        </p:nvSpPr>
        <p:spPr>
          <a:xfrm>
            <a:off x="8330184" y="3337560"/>
            <a:ext cx="502920" cy="0"/>
          </a:xfrm>
          <a:prstGeom prst="line">
            <a:avLst/>
          </a:prstGeom>
          <a:noFill/>
          <a:ln w="25400">
            <a:solidFill>
              <a:srgbClr val="D35400"/>
            </a:solidFill>
            <a:prstDash val="solid"/>
          </a:ln>
        </p:spPr>
        <p:txBody>
          <a:bodyPr/>
          <a:p/>
        </p:txBody>
      </p:sp>
      <p:sp>
        <p:nvSpPr>
          <p:cNvPr id="17" name="Text 15"/>
          <p:cNvSpPr/>
          <p:nvPr/>
        </p:nvSpPr>
        <p:spPr>
          <a:xfrm>
            <a:off x="8330184" y="3474720"/>
            <a:ext cx="306324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고장 패턴을 데이터로 + 자가치유로, 그 공백을 지상에서 실시간으로 채운다.</a:t>
            </a:r>
            <a:endParaRPr lang="en-US" sz="1200" dirty="0"/>
          </a:p>
        </p:txBody>
      </p:sp>
      <p:sp>
        <p:nvSpPr>
          <p:cNvPr id="18" name="Text 16"/>
          <p:cNvSpPr/>
          <p:nvPr/>
        </p:nvSpPr>
        <p:spPr>
          <a:xfrm>
            <a:off x="548640" y="5257800"/>
            <a:ext cx="11064240" cy="36576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 응용(산불)이 아니라 아키텍처(고장→데이터 + 자가치유)에 독창성이 있다.</a:t>
            </a:r>
            <a:endParaRPr lang="en-US" sz="1300" dirty="0"/>
          </a:p>
        </p:txBody>
      </p:sp>
      <p:sp>
        <p:nvSpPr>
          <p:cNvPr id="19"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0"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a:t>
            </a:r>
            <a:endParaRPr lang="en-US" sz="900" dirty="0"/>
          </a:p>
        </p:txBody>
      </p:sp>
      <p:sp>
        <p:nvSpPr>
          <p:cNvPr id="21" name="Shape 19"/>
          <p:cNvSpPr/>
          <p:nvPr/>
        </p:nvSpPr>
        <p:spPr>
          <a:xfrm>
            <a:off x="10503027" y="6464808"/>
            <a:ext cx="144018" cy="36576"/>
          </a:xfrm>
          <a:prstGeom prst="line">
            <a:avLst/>
          </a:prstGeom>
          <a:noFill/>
          <a:ln w="9525">
            <a:solidFill>
              <a:srgbClr val="E2DCD0"/>
            </a:solidFill>
            <a:prstDash val="solid"/>
          </a:ln>
        </p:spPr>
        <p:txBody>
          <a:bodyPr/>
          <a:p/>
        </p:txBody>
      </p:sp>
      <p:sp>
        <p:nvSpPr>
          <p:cNvPr id="22" name="Shape 20"/>
          <p:cNvSpPr/>
          <p:nvPr/>
        </p:nvSpPr>
        <p:spPr>
          <a:xfrm flipH="1">
            <a:off x="10498455" y="6464808"/>
            <a:ext cx="4572" cy="187452"/>
          </a:xfrm>
          <a:prstGeom prst="line">
            <a:avLst/>
          </a:prstGeom>
          <a:noFill/>
          <a:ln w="9525">
            <a:solidFill>
              <a:srgbClr val="E2DCD0"/>
            </a:solidFill>
            <a:prstDash val="solid"/>
          </a:ln>
        </p:spPr>
        <p:txBody>
          <a:bodyPr/>
          <a:p/>
        </p:txBody>
      </p:sp>
      <p:sp>
        <p:nvSpPr>
          <p:cNvPr id="23" name="Shape 21"/>
          <p:cNvSpPr/>
          <p:nvPr/>
        </p:nvSpPr>
        <p:spPr>
          <a:xfrm flipV="1">
            <a:off x="10647045" y="6451092"/>
            <a:ext cx="235458" cy="50292"/>
          </a:xfrm>
          <a:prstGeom prst="line">
            <a:avLst/>
          </a:prstGeom>
          <a:noFill/>
          <a:ln w="9525">
            <a:solidFill>
              <a:srgbClr val="E2DCD0"/>
            </a:solidFill>
            <a:prstDash val="solid"/>
          </a:ln>
        </p:spPr>
        <p:txBody>
          <a:bodyPr/>
          <a:p/>
        </p:txBody>
      </p:sp>
      <p:sp>
        <p:nvSpPr>
          <p:cNvPr id="24" name="Shape 22"/>
          <p:cNvSpPr/>
          <p:nvPr/>
        </p:nvSpPr>
        <p:spPr>
          <a:xfrm flipH="1">
            <a:off x="10642473" y="6501384"/>
            <a:ext cx="4572" cy="196596"/>
          </a:xfrm>
          <a:prstGeom prst="line">
            <a:avLst/>
          </a:prstGeom>
          <a:noFill/>
          <a:ln w="9525">
            <a:solidFill>
              <a:srgbClr val="E2DCD0"/>
            </a:solidFill>
            <a:prstDash val="solid"/>
          </a:ln>
        </p:spPr>
        <p:txBody>
          <a:bodyPr/>
          <a:p/>
        </p:txBody>
      </p:sp>
      <p:sp>
        <p:nvSpPr>
          <p:cNvPr id="25" name="Shape 23"/>
          <p:cNvSpPr/>
          <p:nvPr/>
        </p:nvSpPr>
        <p:spPr>
          <a:xfrm>
            <a:off x="10882503" y="6451092"/>
            <a:ext cx="162306" cy="41148"/>
          </a:xfrm>
          <a:prstGeom prst="line">
            <a:avLst/>
          </a:prstGeom>
          <a:noFill/>
          <a:ln w="9525">
            <a:solidFill>
              <a:srgbClr val="E2DCD0"/>
            </a:solidFill>
            <a:prstDash val="solid"/>
          </a:ln>
        </p:spPr>
        <p:txBody>
          <a:bodyPr/>
          <a:p/>
        </p:txBody>
      </p:sp>
      <p:sp>
        <p:nvSpPr>
          <p:cNvPr id="26" name="Shape 24"/>
          <p:cNvSpPr/>
          <p:nvPr/>
        </p:nvSpPr>
        <p:spPr>
          <a:xfrm flipH="1">
            <a:off x="10877931" y="6451092"/>
            <a:ext cx="4572" cy="196596"/>
          </a:xfrm>
          <a:prstGeom prst="line">
            <a:avLst/>
          </a:prstGeom>
          <a:noFill/>
          <a:ln w="9525">
            <a:solidFill>
              <a:srgbClr val="E2DCD0"/>
            </a:solidFill>
            <a:prstDash val="solid"/>
          </a:ln>
        </p:spPr>
        <p:txBody>
          <a:bodyPr/>
          <a:p/>
        </p:txBody>
      </p:sp>
      <p:sp>
        <p:nvSpPr>
          <p:cNvPr id="27" name="Shape 25"/>
          <p:cNvSpPr/>
          <p:nvPr/>
        </p:nvSpPr>
        <p:spPr>
          <a:xfrm flipH="1">
            <a:off x="11040237" y="6492240"/>
            <a:ext cx="4572" cy="196596"/>
          </a:xfrm>
          <a:prstGeom prst="line">
            <a:avLst/>
          </a:prstGeom>
          <a:noFill/>
          <a:ln w="9525">
            <a:solidFill>
              <a:srgbClr val="E2DCD0"/>
            </a:solidFill>
            <a:prstDash val="solid"/>
          </a:ln>
        </p:spPr>
        <p:txBody>
          <a:bodyPr/>
          <a:p/>
        </p:txBody>
      </p:sp>
      <p:sp>
        <p:nvSpPr>
          <p:cNvPr id="28" name="Shape 26"/>
          <p:cNvSpPr/>
          <p:nvPr/>
        </p:nvSpPr>
        <p:spPr>
          <a:xfrm>
            <a:off x="10498455" y="6652260"/>
            <a:ext cx="144018" cy="45720"/>
          </a:xfrm>
          <a:prstGeom prst="line">
            <a:avLst/>
          </a:prstGeom>
          <a:noFill/>
          <a:ln w="9525">
            <a:solidFill>
              <a:srgbClr val="E2DCD0"/>
            </a:solidFill>
            <a:prstDash val="solid"/>
          </a:ln>
        </p:spPr>
        <p:txBody>
          <a:bodyPr/>
          <a:p/>
        </p:txBody>
      </p:sp>
      <p:sp>
        <p:nvSpPr>
          <p:cNvPr id="29" name="Shape 27"/>
          <p:cNvSpPr/>
          <p:nvPr/>
        </p:nvSpPr>
        <p:spPr>
          <a:xfrm flipV="1">
            <a:off x="10642473" y="6647688"/>
            <a:ext cx="235458" cy="50292"/>
          </a:xfrm>
          <a:prstGeom prst="line">
            <a:avLst/>
          </a:prstGeom>
          <a:noFill/>
          <a:ln w="9525">
            <a:solidFill>
              <a:srgbClr val="E2DCD0"/>
            </a:solidFill>
            <a:prstDash val="solid"/>
          </a:ln>
        </p:spPr>
        <p:txBody>
          <a:bodyPr/>
          <a:p/>
        </p:txBody>
      </p:sp>
      <p:sp>
        <p:nvSpPr>
          <p:cNvPr id="30" name="Shape 28"/>
          <p:cNvSpPr/>
          <p:nvPr/>
        </p:nvSpPr>
        <p:spPr>
          <a:xfrm>
            <a:off x="10877931" y="6647688"/>
            <a:ext cx="162306" cy="41148"/>
          </a:xfrm>
          <a:prstGeom prst="line">
            <a:avLst/>
          </a:prstGeom>
          <a:noFill/>
          <a:ln w="9525">
            <a:solidFill>
              <a:srgbClr val="E2DCD0"/>
            </a:solidFill>
            <a:prstDash val="solid"/>
          </a:ln>
        </p:spPr>
        <p:txBody>
          <a:bodyPr/>
          <a:p/>
        </p:txBody>
      </p:sp>
      <p:sp>
        <p:nvSpPr>
          <p:cNvPr id="31"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2"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3"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4"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5"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6"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7"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8"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② 문제 정의</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상공이 못 보는 '지표 화선'의 실시간 공백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103120"/>
          </a:xfrm>
          <a:prstGeom prst="roundRect">
            <a:avLst>
              <a:gd name="adj" fmla="val 2609"/>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무엇이 안 보이나</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연기와 수목 캐노피 아래에서 실제로 번지는 지표 화선(fire front)의 위치·방향·속도. 위성은 광역 개요만, 드론은 상공·간헐적이라 초 단위 국지 변화를 놓친다.</a:t>
            </a:r>
            <a:endParaRPr lang="en-US" sz="1200" dirty="0"/>
          </a:p>
        </p:txBody>
      </p:sp>
      <p:sp>
        <p:nvSpPr>
          <p:cNvPr id="9" name="Shape 7"/>
          <p:cNvSpPr/>
          <p:nvPr/>
        </p:nvSpPr>
        <p:spPr>
          <a:xfrm>
            <a:off x="6153912" y="1508760"/>
            <a:ext cx="5477256" cy="2103120"/>
          </a:xfrm>
          <a:prstGeom prst="roundRect">
            <a:avLst>
              <a:gd name="adj" fmla="val 2609"/>
            </a:avLst>
          </a:prstGeom>
          <a:solidFill>
            <a:srgbClr val="FBEFE2"/>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왜 치명적인가</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진화 지휘부의 자원 배치와 최전선 대원의 대피 타이밍이 바로 이 정보에 달려 있다. 공백이 곧 인명·재산 피해로 이어진다.</a:t>
            </a:r>
            <a:endParaRPr lang="en-US" sz="1200" dirty="0"/>
          </a:p>
        </p:txBody>
      </p:sp>
      <p:sp>
        <p:nvSpPr>
          <p:cNvPr id="13" name="Text 11"/>
          <p:cNvSpPr/>
          <p:nvPr/>
        </p:nvSpPr>
        <p:spPr>
          <a:xfrm>
            <a:off x="548640" y="3886200"/>
            <a:ext cx="10972800" cy="32004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현장 동기 (2025 의성 산불)</a:t>
            </a:r>
            <a:endParaRPr lang="en-US" sz="1300" dirty="0"/>
          </a:p>
        </p:txBody>
      </p:sp>
      <p:sp>
        <p:nvSpPr>
          <p:cNvPr id="14" name="Shape 12"/>
          <p:cNvSpPr/>
          <p:nvPr/>
        </p:nvSpPr>
        <p:spPr>
          <a:xfrm>
            <a:off x="548640" y="4224528"/>
            <a:ext cx="502920" cy="0"/>
          </a:xfrm>
          <a:prstGeom prst="line">
            <a:avLst/>
          </a:prstGeom>
          <a:noFill/>
          <a:ln w="25400">
            <a:solidFill>
              <a:srgbClr val="D35400"/>
            </a:solidFill>
            <a:prstDash val="solid"/>
          </a:ln>
        </p:spPr>
        <p:txBody>
          <a:bodyPr/>
          <a:p/>
        </p:txBody>
      </p:sp>
      <p:sp>
        <p:nvSpPr>
          <p:cNvPr id="15" name="Text 13"/>
          <p:cNvSpPr/>
          <p:nvPr/>
        </p:nvSpPr>
        <p:spPr>
          <a:xfrm>
            <a:off x="548640" y="4343400"/>
            <a:ext cx="11064240" cy="822960"/>
          </a:xfrm>
          <a:prstGeom prst="rect">
            <a:avLst/>
          </a:prstGeom>
          <a:noFill/>
          <a:ln/>
        </p:spPr>
        <p:txBody>
          <a:bodyPr wrap="square" rtlCol="0" anchor="ctr"/>
          <a:lstStyle/>
          <a:p>
            <a:pPr indent="0" marL="0" eaLnBrk="0" hangingPunct="1">
              <a:lnSpc>
                <a:spcPct val="125000"/>
              </a:lnSpc>
              <a:buNone/>
            </a:pPr>
            <a:r>
              <a:rPr lang="en-US" sz="1250" dirty="0">
                <a:solidFill>
                  <a:srgbClr val="44483F"/>
                </a:solidFill>
                <a:latin typeface="맑은 고딕" pitchFamily="34" charset="0"/>
                <a:ea typeface="맑은 고딕" pitchFamily="34" charset="-122"/>
                <a:cs typeface="맑은 고딕" pitchFamily="34" charset="-120"/>
              </a:rPr>
              <a:t>대형 산불 대응 현장에서, 지상의 실시간 화선 정보가 없어 판단이 지연되는 국면을 보며 '지상에서 화선을 실측하는 저가 레이어'의 필요를 절감했다. (동기·삽화로만 사용 — 반사실 주장 아님)</a:t>
            </a:r>
            <a:endParaRPr lang="en-US" sz="1250" dirty="0"/>
          </a:p>
        </p:txBody>
      </p:sp>
      <p:sp>
        <p:nvSpPr>
          <p:cNvPr id="16" name="Text 14"/>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7" name="Text 15"/>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2</a:t>
            </a:r>
            <a:endParaRPr lang="en-US" sz="900" dirty="0"/>
          </a:p>
        </p:txBody>
      </p:sp>
      <p:sp>
        <p:nvSpPr>
          <p:cNvPr id="18" name="Shape 16"/>
          <p:cNvSpPr/>
          <p:nvPr/>
        </p:nvSpPr>
        <p:spPr>
          <a:xfrm>
            <a:off x="10503027" y="6464808"/>
            <a:ext cx="144018" cy="36576"/>
          </a:xfrm>
          <a:prstGeom prst="line">
            <a:avLst/>
          </a:prstGeom>
          <a:noFill/>
          <a:ln w="9525">
            <a:solidFill>
              <a:srgbClr val="E2DCD0"/>
            </a:solidFill>
            <a:prstDash val="solid"/>
          </a:ln>
        </p:spPr>
        <p:txBody>
          <a:bodyPr/>
          <a:p/>
        </p:txBody>
      </p:sp>
      <p:sp>
        <p:nvSpPr>
          <p:cNvPr id="19" name="Shape 17"/>
          <p:cNvSpPr/>
          <p:nvPr/>
        </p:nvSpPr>
        <p:spPr>
          <a:xfrm flipH="1">
            <a:off x="10498455" y="6464808"/>
            <a:ext cx="4572" cy="187452"/>
          </a:xfrm>
          <a:prstGeom prst="line">
            <a:avLst/>
          </a:prstGeom>
          <a:noFill/>
          <a:ln w="9525">
            <a:solidFill>
              <a:srgbClr val="E2DCD0"/>
            </a:solidFill>
            <a:prstDash val="solid"/>
          </a:ln>
        </p:spPr>
        <p:txBody>
          <a:bodyPr/>
          <a:p/>
        </p:txBody>
      </p:sp>
      <p:sp>
        <p:nvSpPr>
          <p:cNvPr id="20" name="Shape 18"/>
          <p:cNvSpPr/>
          <p:nvPr/>
        </p:nvSpPr>
        <p:spPr>
          <a:xfrm flipV="1">
            <a:off x="10647045" y="6451092"/>
            <a:ext cx="235458" cy="50292"/>
          </a:xfrm>
          <a:prstGeom prst="line">
            <a:avLst/>
          </a:prstGeom>
          <a:noFill/>
          <a:ln w="9525">
            <a:solidFill>
              <a:srgbClr val="E2DCD0"/>
            </a:solidFill>
            <a:prstDash val="solid"/>
          </a:ln>
        </p:spPr>
        <p:txBody>
          <a:bodyPr/>
          <a:p/>
        </p:txBody>
      </p:sp>
      <p:sp>
        <p:nvSpPr>
          <p:cNvPr id="21" name="Shape 19"/>
          <p:cNvSpPr/>
          <p:nvPr/>
        </p:nvSpPr>
        <p:spPr>
          <a:xfrm flipH="1">
            <a:off x="10642473" y="6501384"/>
            <a:ext cx="4572" cy="196596"/>
          </a:xfrm>
          <a:prstGeom prst="line">
            <a:avLst/>
          </a:prstGeom>
          <a:noFill/>
          <a:ln w="9525">
            <a:solidFill>
              <a:srgbClr val="E2DCD0"/>
            </a:solidFill>
            <a:prstDash val="solid"/>
          </a:ln>
        </p:spPr>
        <p:txBody>
          <a:bodyPr/>
          <a:p/>
        </p:txBody>
      </p:sp>
      <p:sp>
        <p:nvSpPr>
          <p:cNvPr id="22" name="Shape 20"/>
          <p:cNvSpPr/>
          <p:nvPr/>
        </p:nvSpPr>
        <p:spPr>
          <a:xfrm>
            <a:off x="10882503" y="6451092"/>
            <a:ext cx="162306" cy="41148"/>
          </a:xfrm>
          <a:prstGeom prst="line">
            <a:avLst/>
          </a:prstGeom>
          <a:noFill/>
          <a:ln w="9525">
            <a:solidFill>
              <a:srgbClr val="E2DCD0"/>
            </a:solidFill>
            <a:prstDash val="solid"/>
          </a:ln>
        </p:spPr>
        <p:txBody>
          <a:bodyPr/>
          <a:p/>
        </p:txBody>
      </p:sp>
      <p:sp>
        <p:nvSpPr>
          <p:cNvPr id="23" name="Shape 21"/>
          <p:cNvSpPr/>
          <p:nvPr/>
        </p:nvSpPr>
        <p:spPr>
          <a:xfrm flipH="1">
            <a:off x="10877931" y="6451092"/>
            <a:ext cx="4572" cy="196596"/>
          </a:xfrm>
          <a:prstGeom prst="line">
            <a:avLst/>
          </a:prstGeom>
          <a:noFill/>
          <a:ln w="9525">
            <a:solidFill>
              <a:srgbClr val="E2DCD0"/>
            </a:solidFill>
            <a:prstDash val="solid"/>
          </a:ln>
        </p:spPr>
        <p:txBody>
          <a:bodyPr/>
          <a:p/>
        </p:txBody>
      </p:sp>
      <p:sp>
        <p:nvSpPr>
          <p:cNvPr id="24" name="Shape 22"/>
          <p:cNvSpPr/>
          <p:nvPr/>
        </p:nvSpPr>
        <p:spPr>
          <a:xfrm flipH="1">
            <a:off x="11040237" y="6492240"/>
            <a:ext cx="4572" cy="196596"/>
          </a:xfrm>
          <a:prstGeom prst="line">
            <a:avLst/>
          </a:prstGeom>
          <a:noFill/>
          <a:ln w="9525">
            <a:solidFill>
              <a:srgbClr val="E2DCD0"/>
            </a:solidFill>
            <a:prstDash val="solid"/>
          </a:ln>
        </p:spPr>
        <p:txBody>
          <a:bodyPr/>
          <a:p/>
        </p:txBody>
      </p:sp>
      <p:sp>
        <p:nvSpPr>
          <p:cNvPr id="25" name="Shape 23"/>
          <p:cNvSpPr/>
          <p:nvPr/>
        </p:nvSpPr>
        <p:spPr>
          <a:xfrm>
            <a:off x="10498455" y="6652260"/>
            <a:ext cx="144018" cy="45720"/>
          </a:xfrm>
          <a:prstGeom prst="line">
            <a:avLst/>
          </a:prstGeom>
          <a:noFill/>
          <a:ln w="9525">
            <a:solidFill>
              <a:srgbClr val="E2DCD0"/>
            </a:solidFill>
            <a:prstDash val="solid"/>
          </a:ln>
        </p:spPr>
        <p:txBody>
          <a:bodyPr/>
          <a:p/>
        </p:txBody>
      </p:sp>
      <p:sp>
        <p:nvSpPr>
          <p:cNvPr id="26" name="Shape 24"/>
          <p:cNvSpPr/>
          <p:nvPr/>
        </p:nvSpPr>
        <p:spPr>
          <a:xfrm flipV="1">
            <a:off x="10642473" y="6647688"/>
            <a:ext cx="235458" cy="50292"/>
          </a:xfrm>
          <a:prstGeom prst="line">
            <a:avLst/>
          </a:prstGeom>
          <a:noFill/>
          <a:ln w="9525">
            <a:solidFill>
              <a:srgbClr val="E2DCD0"/>
            </a:solidFill>
            <a:prstDash val="solid"/>
          </a:ln>
        </p:spPr>
        <p:txBody>
          <a:bodyPr/>
          <a:p/>
        </p:txBody>
      </p:sp>
      <p:sp>
        <p:nvSpPr>
          <p:cNvPr id="27" name="Shape 25"/>
          <p:cNvSpPr/>
          <p:nvPr/>
        </p:nvSpPr>
        <p:spPr>
          <a:xfrm>
            <a:off x="10877931" y="6647688"/>
            <a:ext cx="162306" cy="41148"/>
          </a:xfrm>
          <a:prstGeom prst="line">
            <a:avLst/>
          </a:prstGeom>
          <a:noFill/>
          <a:ln w="9525">
            <a:solidFill>
              <a:srgbClr val="E2DCD0"/>
            </a:solidFill>
            <a:prstDash val="solid"/>
          </a:ln>
        </p:spPr>
        <p:txBody>
          <a:bodyPr/>
          <a:p/>
        </p:txBody>
      </p:sp>
      <p:sp>
        <p:nvSpPr>
          <p:cNvPr id="28" name="Shape 26"/>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9" name="Shape 27"/>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0" name="Shape 28"/>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1" name="Shape 29"/>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2" name="Shape 30"/>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3" name="Shape 31"/>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4" name="Shape 32"/>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5" name="Shape 33"/>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6" name="Text 34"/>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동기는 삽화로만 · 근거는 일반 산불대응 공백</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③ 개발 목표·핵심 아이디어</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고장을 '손실'이 아니라 '데이터'로</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640080" y="1737360"/>
            <a:ext cx="3108960" cy="1051560"/>
          </a:xfrm>
          <a:prstGeom prst="roundRect">
            <a:avLst>
              <a:gd name="adj" fmla="val 6957"/>
            </a:avLst>
          </a:prstGeom>
          <a:solidFill>
            <a:srgbClr val="FBEFE2"/>
          </a:solidFill>
          <a:ln w="15875">
            <a:solidFill>
              <a:srgbClr val="E2DCD0"/>
            </a:solidFill>
            <a:prstDash val="solid"/>
          </a:ln>
        </p:spPr>
        <p:txBody>
          <a:bodyPr/>
          <a:p/>
        </p:txBody>
      </p:sp>
      <p:sp>
        <p:nvSpPr>
          <p:cNvPr id="6" name="Text 4"/>
          <p:cNvSpPr/>
          <p:nvPr/>
        </p:nvSpPr>
        <p:spPr>
          <a:xfrm>
            <a:off x="640080" y="1952244"/>
            <a:ext cx="3108960" cy="365760"/>
          </a:xfrm>
          <a:prstGeom prst="rect">
            <a:avLst/>
          </a:prstGeom>
          <a:noFill/>
          <a:ln/>
        </p:spPr>
        <p:txBody>
          <a:bodyPr wrap="square" rtlCol="0" anchor="ctr"/>
          <a:lstStyle/>
          <a:p>
            <a:pPr algn="ctr" indent="0" marL="0" eaLnBrk="0" hangingPunct="1">
              <a:buNone/>
            </a:pPr>
            <a:r>
              <a:rPr lang="en-US" sz="1350" b="1" dirty="0">
                <a:solidFill>
                  <a:srgbClr val="D35400"/>
                </a:solidFill>
                <a:latin typeface="맑은 고딕" pitchFamily="34" charset="0"/>
                <a:ea typeface="맑은 고딕" pitchFamily="34" charset="-122"/>
                <a:cs typeface="맑은 고딕" pitchFamily="34" charset="-120"/>
              </a:rPr>
              <a:t>① 노드 파괴</a:t>
            </a:r>
            <a:endParaRPr lang="en-US" sz="1350" dirty="0"/>
          </a:p>
        </p:txBody>
      </p:sp>
      <p:sp>
        <p:nvSpPr>
          <p:cNvPr id="7" name="Text 5"/>
          <p:cNvSpPr/>
          <p:nvPr/>
        </p:nvSpPr>
        <p:spPr>
          <a:xfrm>
            <a:off x="640080" y="2281428"/>
            <a:ext cx="310896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불에 타 죽는 순간</a:t>
            </a:r>
            <a:endParaRPr lang="en-US" sz="1000" dirty="0"/>
          </a:p>
        </p:txBody>
      </p:sp>
      <p:sp>
        <p:nvSpPr>
          <p:cNvPr id="8" name="Shape 6"/>
          <p:cNvSpPr/>
          <p:nvPr/>
        </p:nvSpPr>
        <p:spPr>
          <a:xfrm>
            <a:off x="3840480" y="2258568"/>
            <a:ext cx="685800" cy="0"/>
          </a:xfrm>
          <a:prstGeom prst="line">
            <a:avLst/>
          </a:prstGeom>
          <a:noFill/>
          <a:ln w="25400">
            <a:solidFill>
              <a:srgbClr val="D35400"/>
            </a:solidFill>
            <a:prstDash val="solid"/>
            <a:tailEnd type="triangle"/>
          </a:ln>
        </p:spPr>
        <p:txBody>
          <a:bodyPr/>
          <a:p/>
        </p:txBody>
      </p:sp>
      <p:sp>
        <p:nvSpPr>
          <p:cNvPr id="9" name="Shape 7"/>
          <p:cNvSpPr/>
          <p:nvPr/>
        </p:nvSpPr>
        <p:spPr>
          <a:xfrm>
            <a:off x="4617720" y="1737360"/>
            <a:ext cx="3108960" cy="1051560"/>
          </a:xfrm>
          <a:prstGeom prst="roundRect">
            <a:avLst>
              <a:gd name="adj" fmla="val 6957"/>
            </a:avLst>
          </a:prstGeom>
          <a:solidFill>
            <a:srgbClr val="FFFFFF"/>
          </a:solidFill>
          <a:ln w="15875">
            <a:solidFill>
              <a:srgbClr val="E2DCD0"/>
            </a:solidFill>
            <a:prstDash val="solid"/>
          </a:ln>
        </p:spPr>
        <p:txBody>
          <a:bodyPr/>
          <a:p/>
        </p:txBody>
      </p:sp>
      <p:sp>
        <p:nvSpPr>
          <p:cNvPr id="10" name="Text 8"/>
          <p:cNvSpPr/>
          <p:nvPr/>
        </p:nvSpPr>
        <p:spPr>
          <a:xfrm>
            <a:off x="4617720" y="1952244"/>
            <a:ext cx="310896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② 죽은 시각·좌표</a:t>
            </a:r>
            <a:endParaRPr lang="en-US" sz="1350" dirty="0"/>
          </a:p>
        </p:txBody>
      </p:sp>
      <p:sp>
        <p:nvSpPr>
          <p:cNvPr id="11" name="Text 9"/>
          <p:cNvSpPr/>
          <p:nvPr/>
        </p:nvSpPr>
        <p:spPr>
          <a:xfrm>
            <a:off x="4617720" y="2281428"/>
            <a:ext cx="310896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 불이 도착한 시각</a:t>
            </a:r>
            <a:endParaRPr lang="en-US" sz="1000" dirty="0"/>
          </a:p>
        </p:txBody>
      </p:sp>
      <p:sp>
        <p:nvSpPr>
          <p:cNvPr id="12" name="Shape 10"/>
          <p:cNvSpPr/>
          <p:nvPr/>
        </p:nvSpPr>
        <p:spPr>
          <a:xfrm>
            <a:off x="7818120" y="2258568"/>
            <a:ext cx="685800" cy="0"/>
          </a:xfrm>
          <a:prstGeom prst="line">
            <a:avLst/>
          </a:prstGeom>
          <a:noFill/>
          <a:ln w="25400">
            <a:solidFill>
              <a:srgbClr val="D35400"/>
            </a:solidFill>
            <a:prstDash val="solid"/>
            <a:tailEnd type="triangle"/>
          </a:ln>
        </p:spPr>
        <p:txBody>
          <a:bodyPr/>
          <a:p/>
        </p:txBody>
      </p:sp>
      <p:sp>
        <p:nvSpPr>
          <p:cNvPr id="13" name="Shape 11"/>
          <p:cNvSpPr/>
          <p:nvPr/>
        </p:nvSpPr>
        <p:spPr>
          <a:xfrm>
            <a:off x="8595360" y="1737360"/>
            <a:ext cx="3017520" cy="1051560"/>
          </a:xfrm>
          <a:prstGeom prst="roundRect">
            <a:avLst>
              <a:gd name="adj" fmla="val 6957"/>
            </a:avLst>
          </a:prstGeom>
          <a:solidFill>
            <a:srgbClr val="EEF3E6"/>
          </a:solidFill>
          <a:ln w="15875">
            <a:solidFill>
              <a:srgbClr val="E2DCD0"/>
            </a:solidFill>
            <a:prstDash val="solid"/>
          </a:ln>
        </p:spPr>
        <p:txBody>
          <a:bodyPr/>
          <a:p/>
        </p:txBody>
      </p:sp>
      <p:sp>
        <p:nvSpPr>
          <p:cNvPr id="14" name="Text 12"/>
          <p:cNvSpPr/>
          <p:nvPr/>
        </p:nvSpPr>
        <p:spPr>
          <a:xfrm>
            <a:off x="8595360" y="1952244"/>
            <a:ext cx="3017520" cy="365760"/>
          </a:xfrm>
          <a:prstGeom prst="rect">
            <a:avLst/>
          </a:prstGeom>
          <a:noFill/>
          <a:ln/>
        </p:spPr>
        <p:txBody>
          <a:bodyPr wrap="square" rtlCol="0" anchor="ctr"/>
          <a:lstStyle/>
          <a:p>
            <a:pPr algn="ct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③ 방향·속도·ETA</a:t>
            </a:r>
            <a:endParaRPr lang="en-US" sz="1350" dirty="0"/>
          </a:p>
        </p:txBody>
      </p:sp>
      <p:sp>
        <p:nvSpPr>
          <p:cNvPr id="15" name="Text 13"/>
          <p:cNvSpPr/>
          <p:nvPr/>
        </p:nvSpPr>
        <p:spPr>
          <a:xfrm>
            <a:off x="8595360" y="2281428"/>
            <a:ext cx="30175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 신뢰도 등급</a:t>
            </a:r>
            <a:endParaRPr lang="en-US" sz="1000" dirty="0"/>
          </a:p>
        </p:txBody>
      </p:sp>
      <p:sp>
        <p:nvSpPr>
          <p:cNvPr id="16" name="Shape 14"/>
          <p:cNvSpPr/>
          <p:nvPr/>
        </p:nvSpPr>
        <p:spPr>
          <a:xfrm>
            <a:off x="640080" y="3108960"/>
            <a:ext cx="5440680" cy="2103120"/>
          </a:xfrm>
          <a:prstGeom prst="roundRect">
            <a:avLst>
              <a:gd name="adj" fmla="val 2609"/>
            </a:avLst>
          </a:prstGeom>
          <a:solidFill>
            <a:srgbClr val="FFFFFF"/>
          </a:solidFill>
          <a:ln w="12700">
            <a:solidFill>
              <a:srgbClr val="E2DCD0"/>
            </a:solidFill>
            <a:prstDash val="solid"/>
          </a:ln>
        </p:spPr>
        <p:txBody>
          <a:bodyPr/>
          <a:p/>
        </p:txBody>
      </p:sp>
      <p:sp>
        <p:nvSpPr>
          <p:cNvPr id="17" name="Text 15"/>
          <p:cNvSpPr/>
          <p:nvPr/>
        </p:nvSpPr>
        <p:spPr>
          <a:xfrm>
            <a:off x="868680" y="33101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목표 1 — 고장의 데이터화</a:t>
            </a:r>
            <a:endParaRPr lang="en-US" sz="1450" dirty="0"/>
          </a:p>
        </p:txBody>
      </p:sp>
      <p:sp>
        <p:nvSpPr>
          <p:cNvPr id="18" name="Shape 16"/>
          <p:cNvSpPr/>
          <p:nvPr/>
        </p:nvSpPr>
        <p:spPr>
          <a:xfrm>
            <a:off x="868680" y="3749040"/>
            <a:ext cx="502920" cy="0"/>
          </a:xfrm>
          <a:prstGeom prst="line">
            <a:avLst/>
          </a:prstGeom>
          <a:noFill/>
          <a:ln w="25400">
            <a:solidFill>
              <a:srgbClr val="D35400"/>
            </a:solidFill>
            <a:prstDash val="solid"/>
          </a:ln>
        </p:spPr>
        <p:txBody>
          <a:bodyPr/>
          <a:p/>
        </p:txBody>
      </p:sp>
      <p:sp>
        <p:nvSpPr>
          <p:cNvPr id="19" name="Text 17"/>
          <p:cNvSpPr/>
          <p:nvPr/>
        </p:nvSpPr>
        <p:spPr>
          <a:xfrm>
            <a:off x="804672" y="3886200"/>
            <a:ext cx="5111496"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교차검증된 '죽음'을 확정 이진 신호로 모아, 흩어진 (좌표·죽은시각)에서 화선의 위치·방향·속도를 추정한다.</a:t>
            </a:r>
            <a:endParaRPr lang="en-US" sz="1200" dirty="0"/>
          </a:p>
        </p:txBody>
      </p:sp>
      <p:sp>
        <p:nvSpPr>
          <p:cNvPr id="20" name="Shape 18"/>
          <p:cNvSpPr/>
          <p:nvPr/>
        </p:nvSpPr>
        <p:spPr>
          <a:xfrm>
            <a:off x="6199632" y="3108960"/>
            <a:ext cx="5431536" cy="2103120"/>
          </a:xfrm>
          <a:prstGeom prst="roundRect">
            <a:avLst>
              <a:gd name="adj" fmla="val 2609"/>
            </a:avLst>
          </a:prstGeom>
          <a:solidFill>
            <a:srgbClr val="FFFFFF"/>
          </a:solidFill>
          <a:ln w="12700">
            <a:solidFill>
              <a:srgbClr val="E2DCD0"/>
            </a:solidFill>
            <a:prstDash val="solid"/>
          </a:ln>
        </p:spPr>
        <p:txBody>
          <a:bodyPr/>
          <a:p/>
        </p:txBody>
      </p:sp>
      <p:sp>
        <p:nvSpPr>
          <p:cNvPr id="21" name="Text 19"/>
          <p:cNvSpPr/>
          <p:nvPr/>
        </p:nvSpPr>
        <p:spPr>
          <a:xfrm>
            <a:off x="6428232" y="3310128"/>
            <a:ext cx="4974336"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목표 2 — 자가치유</a:t>
            </a:r>
            <a:endParaRPr lang="en-US" sz="1450" dirty="0"/>
          </a:p>
        </p:txBody>
      </p:sp>
      <p:sp>
        <p:nvSpPr>
          <p:cNvPr id="22" name="Shape 20"/>
          <p:cNvSpPr/>
          <p:nvPr/>
        </p:nvSpPr>
        <p:spPr>
          <a:xfrm>
            <a:off x="6428232" y="3749040"/>
            <a:ext cx="502920" cy="0"/>
          </a:xfrm>
          <a:prstGeom prst="line">
            <a:avLst/>
          </a:prstGeom>
          <a:noFill/>
          <a:ln w="25400">
            <a:solidFill>
              <a:srgbClr val="D35400"/>
            </a:solidFill>
            <a:prstDash val="solid"/>
          </a:ln>
        </p:spPr>
        <p:txBody>
          <a:bodyPr/>
          <a:p/>
        </p:txBody>
      </p:sp>
      <p:sp>
        <p:nvSpPr>
          <p:cNvPr id="23" name="Text 21"/>
          <p:cNvSpPr/>
          <p:nvPr/>
        </p:nvSpPr>
        <p:spPr>
          <a:xfrm>
            <a:off x="6428232" y="3886200"/>
            <a:ext cx="4974336"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노드가 죽어 경로가 끊겨도 남은 노드들이 자동으로 우회로를 다시 짜, 관측 자체가 계속되게 한다.</a:t>
            </a:r>
            <a:endParaRPr lang="en-US" sz="1200" dirty="0"/>
          </a:p>
        </p:txBody>
      </p:sp>
      <p:sp>
        <p:nvSpPr>
          <p:cNvPr id="24" name="Text 22"/>
          <p:cNvSpPr/>
          <p:nvPr/>
        </p:nvSpPr>
        <p:spPr>
          <a:xfrm>
            <a:off x="640080" y="5394960"/>
            <a:ext cx="10972800" cy="320040"/>
          </a:xfrm>
          <a:prstGeom prst="rect">
            <a:avLst/>
          </a:prstGeom>
          <a:noFill/>
          <a:ln/>
        </p:spPr>
        <p:txBody>
          <a:bodyPr wrap="square" rtlCol="0" anchor="ctr"/>
          <a:lstStyle/>
          <a:p>
            <a:pPr indent="0" marL="0" eaLnBrk="0" hangingPunct="1">
              <a:buNone/>
            </a:pPr>
            <a:r>
              <a:rPr lang="en-US" sz="1250" b="1" i="0" dirty="0">
                <a:solidFill>
                  <a:srgbClr val="2C5F2D"/>
                </a:solidFill>
                <a:latin typeface="맑은 고딕" pitchFamily="34" charset="0"/>
                <a:ea typeface="맑은 고딕" pitchFamily="34" charset="-122"/>
                <a:cs typeface="맑은 고딕" pitchFamily="34" charset="-120"/>
              </a:rPr>
              <a:t>→ 두 목표가 합쳐져: 노드는 죽지만(불에 타도) 시스템의 관측은 '죽지 않는다'. = 불사(不死)의 이중 의미.</a:t>
            </a:r>
            <a:endParaRPr lang="en-US" sz="1250" dirty="0"/>
          </a:p>
        </p:txBody>
      </p:sp>
      <p:sp>
        <p:nvSpPr>
          <p:cNvPr id="25" name="Text 2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6" name="Text 2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3</a:t>
            </a:r>
            <a:endParaRPr lang="en-US" sz="900" dirty="0"/>
          </a:p>
        </p:txBody>
      </p:sp>
      <p:sp>
        <p:nvSpPr>
          <p:cNvPr id="27" name="Shape 25"/>
          <p:cNvSpPr/>
          <p:nvPr/>
        </p:nvSpPr>
        <p:spPr>
          <a:xfrm>
            <a:off x="10503027" y="6464808"/>
            <a:ext cx="144018" cy="36576"/>
          </a:xfrm>
          <a:prstGeom prst="line">
            <a:avLst/>
          </a:prstGeom>
          <a:noFill/>
          <a:ln w="9525">
            <a:solidFill>
              <a:srgbClr val="E2DCD0"/>
            </a:solidFill>
            <a:prstDash val="solid"/>
          </a:ln>
        </p:spPr>
        <p:txBody>
          <a:bodyPr/>
          <a:p/>
        </p:txBody>
      </p:sp>
      <p:sp>
        <p:nvSpPr>
          <p:cNvPr id="28" name="Shape 26"/>
          <p:cNvSpPr/>
          <p:nvPr/>
        </p:nvSpPr>
        <p:spPr>
          <a:xfrm flipH="1">
            <a:off x="10498455" y="6464808"/>
            <a:ext cx="4572" cy="187452"/>
          </a:xfrm>
          <a:prstGeom prst="line">
            <a:avLst/>
          </a:prstGeom>
          <a:noFill/>
          <a:ln w="9525">
            <a:solidFill>
              <a:srgbClr val="E2DCD0"/>
            </a:solidFill>
            <a:prstDash val="solid"/>
          </a:ln>
        </p:spPr>
        <p:txBody>
          <a:bodyPr/>
          <a:p/>
        </p:txBody>
      </p:sp>
      <p:sp>
        <p:nvSpPr>
          <p:cNvPr id="29" name="Shape 27"/>
          <p:cNvSpPr/>
          <p:nvPr/>
        </p:nvSpPr>
        <p:spPr>
          <a:xfrm flipV="1">
            <a:off x="10647045" y="6451092"/>
            <a:ext cx="235458" cy="50292"/>
          </a:xfrm>
          <a:prstGeom prst="line">
            <a:avLst/>
          </a:prstGeom>
          <a:noFill/>
          <a:ln w="9525">
            <a:solidFill>
              <a:srgbClr val="E2DCD0"/>
            </a:solidFill>
            <a:prstDash val="solid"/>
          </a:ln>
        </p:spPr>
        <p:txBody>
          <a:bodyPr/>
          <a:p/>
        </p:txBody>
      </p:sp>
      <p:sp>
        <p:nvSpPr>
          <p:cNvPr id="30" name="Shape 28"/>
          <p:cNvSpPr/>
          <p:nvPr/>
        </p:nvSpPr>
        <p:spPr>
          <a:xfrm flipH="1">
            <a:off x="10642473" y="6501384"/>
            <a:ext cx="4572" cy="196596"/>
          </a:xfrm>
          <a:prstGeom prst="line">
            <a:avLst/>
          </a:prstGeom>
          <a:noFill/>
          <a:ln w="9525">
            <a:solidFill>
              <a:srgbClr val="E2DCD0"/>
            </a:solidFill>
            <a:prstDash val="solid"/>
          </a:ln>
        </p:spPr>
        <p:txBody>
          <a:bodyPr/>
          <a:p/>
        </p:txBody>
      </p:sp>
      <p:sp>
        <p:nvSpPr>
          <p:cNvPr id="31" name="Shape 29"/>
          <p:cNvSpPr/>
          <p:nvPr/>
        </p:nvSpPr>
        <p:spPr>
          <a:xfrm>
            <a:off x="10882503" y="6451092"/>
            <a:ext cx="162306" cy="41148"/>
          </a:xfrm>
          <a:prstGeom prst="line">
            <a:avLst/>
          </a:prstGeom>
          <a:noFill/>
          <a:ln w="9525">
            <a:solidFill>
              <a:srgbClr val="E2DCD0"/>
            </a:solidFill>
            <a:prstDash val="solid"/>
          </a:ln>
        </p:spPr>
        <p:txBody>
          <a:bodyPr/>
          <a:p/>
        </p:txBody>
      </p:sp>
      <p:sp>
        <p:nvSpPr>
          <p:cNvPr id="32" name="Shape 30"/>
          <p:cNvSpPr/>
          <p:nvPr/>
        </p:nvSpPr>
        <p:spPr>
          <a:xfrm flipH="1">
            <a:off x="10877931" y="6451092"/>
            <a:ext cx="4572" cy="196596"/>
          </a:xfrm>
          <a:prstGeom prst="line">
            <a:avLst/>
          </a:prstGeom>
          <a:noFill/>
          <a:ln w="9525">
            <a:solidFill>
              <a:srgbClr val="E2DCD0"/>
            </a:solidFill>
            <a:prstDash val="solid"/>
          </a:ln>
        </p:spPr>
        <p:txBody>
          <a:bodyPr/>
          <a:p/>
        </p:txBody>
      </p:sp>
      <p:sp>
        <p:nvSpPr>
          <p:cNvPr id="33" name="Shape 31"/>
          <p:cNvSpPr/>
          <p:nvPr/>
        </p:nvSpPr>
        <p:spPr>
          <a:xfrm flipH="1">
            <a:off x="11040237" y="6492240"/>
            <a:ext cx="4572" cy="196596"/>
          </a:xfrm>
          <a:prstGeom prst="line">
            <a:avLst/>
          </a:prstGeom>
          <a:noFill/>
          <a:ln w="9525">
            <a:solidFill>
              <a:srgbClr val="E2DCD0"/>
            </a:solidFill>
            <a:prstDash val="solid"/>
          </a:ln>
        </p:spPr>
        <p:txBody>
          <a:bodyPr/>
          <a:p/>
        </p:txBody>
      </p:sp>
      <p:sp>
        <p:nvSpPr>
          <p:cNvPr id="34" name="Shape 32"/>
          <p:cNvSpPr/>
          <p:nvPr/>
        </p:nvSpPr>
        <p:spPr>
          <a:xfrm>
            <a:off x="10498455" y="6652260"/>
            <a:ext cx="144018" cy="45720"/>
          </a:xfrm>
          <a:prstGeom prst="line">
            <a:avLst/>
          </a:prstGeom>
          <a:noFill/>
          <a:ln w="9525">
            <a:solidFill>
              <a:srgbClr val="E2DCD0"/>
            </a:solidFill>
            <a:prstDash val="solid"/>
          </a:ln>
        </p:spPr>
        <p:txBody>
          <a:bodyPr/>
          <a:p/>
        </p:txBody>
      </p:sp>
      <p:sp>
        <p:nvSpPr>
          <p:cNvPr id="35" name="Shape 33"/>
          <p:cNvSpPr/>
          <p:nvPr/>
        </p:nvSpPr>
        <p:spPr>
          <a:xfrm flipV="1">
            <a:off x="10642473" y="6647688"/>
            <a:ext cx="235458" cy="50292"/>
          </a:xfrm>
          <a:prstGeom prst="line">
            <a:avLst/>
          </a:prstGeom>
          <a:noFill/>
          <a:ln w="9525">
            <a:solidFill>
              <a:srgbClr val="E2DCD0"/>
            </a:solidFill>
            <a:prstDash val="solid"/>
          </a:ln>
        </p:spPr>
        <p:txBody>
          <a:bodyPr/>
          <a:p/>
        </p:txBody>
      </p:sp>
      <p:sp>
        <p:nvSpPr>
          <p:cNvPr id="36" name="Shape 34"/>
          <p:cNvSpPr/>
          <p:nvPr/>
        </p:nvSpPr>
        <p:spPr>
          <a:xfrm>
            <a:off x="10877931" y="6647688"/>
            <a:ext cx="162306" cy="41148"/>
          </a:xfrm>
          <a:prstGeom prst="line">
            <a:avLst/>
          </a:prstGeom>
          <a:noFill/>
          <a:ln w="9525">
            <a:solidFill>
              <a:srgbClr val="E2DCD0"/>
            </a:solidFill>
            <a:prstDash val="solid"/>
          </a:ln>
        </p:spPr>
        <p:txBody>
          <a:bodyPr/>
          <a:p/>
        </p:txBody>
      </p:sp>
      <p:sp>
        <p:nvSpPr>
          <p:cNvPr id="37" name="Shape 3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1" name="Shape 3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환경 ① 시스템 구성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하드웨어 · 소프트웨어 구성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86400" cy="3657600"/>
          </a:xfrm>
          <a:prstGeom prst="roundRect">
            <a:avLst>
              <a:gd name="adj" fmla="val 1500"/>
            </a:avLst>
          </a:prstGeom>
          <a:solidFill>
            <a:srgbClr val="FFFFFF"/>
          </a:solidFill>
          <a:ln w="12700">
            <a:solidFill>
              <a:srgbClr val="E2DCD0"/>
            </a:solidFill>
            <a:prstDash val="solid"/>
          </a:ln>
        </p:spPr>
        <p:txBody>
          <a:bodyPr/>
          <a:p/>
        </p:txBody>
      </p:sp>
      <p:sp>
        <p:nvSpPr>
          <p:cNvPr id="6" name="Text 4"/>
          <p:cNvSpPr/>
          <p:nvPr/>
        </p:nvSpPr>
        <p:spPr>
          <a:xfrm>
            <a:off x="777240" y="1709928"/>
            <a:ext cx="50292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하드웨어</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5029200" cy="26517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센서 노드: ESP32 × 16 (WiFi 메시)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온도 감지: DS18B20 디지털 온도센서 (9비트 고속 모드)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상태 표시: WS2812 LED (생사 시각화)</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게이트웨이: 라즈베리파이 (메시↔대시보드)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전원(데모): USB 5V 급전 — 12분 연속 구동과 회차 간 재현성 확보</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전원(배치): 배터리 + 승압 모듈(MT3608)</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16노드 실물 재료비 ≈ 45만 원 (저가 소모형 설계).</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열풍기·변압기 등은 검증용 계측 장비로 노드 원가와 별개.</a:t>
            </a:r>
            <a:endParaRPr lang="en-US" sz="1200" dirty="0"/>
          </a:p>
        </p:txBody>
      </p:sp>
      <p:sp>
        <p:nvSpPr>
          <p:cNvPr id="9" name="Shape 7"/>
          <p:cNvSpPr/>
          <p:nvPr/>
        </p:nvSpPr>
        <p:spPr>
          <a:xfrm>
            <a:off x="6153912" y="1508760"/>
            <a:ext cx="5477256" cy="3657600"/>
          </a:xfrm>
          <a:prstGeom prst="roundRect">
            <a:avLst>
              <a:gd name="adj" fmla="val 1500"/>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소프트웨어</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26517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펌웨어: C/C++ (Arduino-ESP32 + painlessMesh)</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메시 자동 구성·우회 + 메시 시각 동기 제공</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게이트웨이: Python — 시뮬 추정기 코드 그대로 재사용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관제: 자체완결 웹 대시보드 (HTML, 서버 불필요)</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개발·검증: 네트워크 시뮬레이터(Python), Wokwi(컴파일 확인)</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판정 일원화: 화재/비화재 판별을 단일 함수로 — 시뮬과 실물이</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같은 코드를 호출한다(시뮬 결과가 실물의 근거가 되도록).</a:t>
            </a:r>
            <a:endParaRPr lang="en-US" sz="1200" dirty="0"/>
          </a:p>
        </p:txBody>
      </p:sp>
      <p:sp>
        <p:nvSpPr>
          <p:cNvPr id="13" name="Text 11"/>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4" name="Text 12"/>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4</a:t>
            </a:r>
            <a:endParaRPr lang="en-US" sz="900" dirty="0"/>
          </a:p>
        </p:txBody>
      </p:sp>
      <p:sp>
        <p:nvSpPr>
          <p:cNvPr id="15" name="Shape 13"/>
          <p:cNvSpPr/>
          <p:nvPr/>
        </p:nvSpPr>
        <p:spPr>
          <a:xfrm>
            <a:off x="10503027" y="6464808"/>
            <a:ext cx="144018" cy="36576"/>
          </a:xfrm>
          <a:prstGeom prst="line">
            <a:avLst/>
          </a:prstGeom>
          <a:noFill/>
          <a:ln w="9525">
            <a:solidFill>
              <a:srgbClr val="E2DCD0"/>
            </a:solidFill>
            <a:prstDash val="solid"/>
          </a:ln>
        </p:spPr>
        <p:txBody>
          <a:bodyPr/>
          <a:p/>
        </p:txBody>
      </p:sp>
      <p:sp>
        <p:nvSpPr>
          <p:cNvPr id="16" name="Shape 14"/>
          <p:cNvSpPr/>
          <p:nvPr/>
        </p:nvSpPr>
        <p:spPr>
          <a:xfrm flipH="1">
            <a:off x="10498455" y="6464808"/>
            <a:ext cx="4572" cy="187452"/>
          </a:xfrm>
          <a:prstGeom prst="line">
            <a:avLst/>
          </a:prstGeom>
          <a:noFill/>
          <a:ln w="9525">
            <a:solidFill>
              <a:srgbClr val="E2DCD0"/>
            </a:solidFill>
            <a:prstDash val="solid"/>
          </a:ln>
        </p:spPr>
        <p:txBody>
          <a:bodyPr/>
          <a:p/>
        </p:txBody>
      </p:sp>
      <p:sp>
        <p:nvSpPr>
          <p:cNvPr id="17" name="Shape 15"/>
          <p:cNvSpPr/>
          <p:nvPr/>
        </p:nvSpPr>
        <p:spPr>
          <a:xfrm flipV="1">
            <a:off x="10647045" y="6451092"/>
            <a:ext cx="235458" cy="50292"/>
          </a:xfrm>
          <a:prstGeom prst="line">
            <a:avLst/>
          </a:prstGeom>
          <a:noFill/>
          <a:ln w="9525">
            <a:solidFill>
              <a:srgbClr val="E2DCD0"/>
            </a:solidFill>
            <a:prstDash val="solid"/>
          </a:ln>
        </p:spPr>
        <p:txBody>
          <a:bodyPr/>
          <a:p/>
        </p:txBody>
      </p:sp>
      <p:sp>
        <p:nvSpPr>
          <p:cNvPr id="18" name="Shape 16"/>
          <p:cNvSpPr/>
          <p:nvPr/>
        </p:nvSpPr>
        <p:spPr>
          <a:xfrm flipH="1">
            <a:off x="10642473" y="6501384"/>
            <a:ext cx="4572" cy="196596"/>
          </a:xfrm>
          <a:prstGeom prst="line">
            <a:avLst/>
          </a:prstGeom>
          <a:noFill/>
          <a:ln w="9525">
            <a:solidFill>
              <a:srgbClr val="E2DCD0"/>
            </a:solidFill>
            <a:prstDash val="solid"/>
          </a:ln>
        </p:spPr>
        <p:txBody>
          <a:bodyPr/>
          <a:p/>
        </p:txBody>
      </p:sp>
      <p:sp>
        <p:nvSpPr>
          <p:cNvPr id="19" name="Shape 17"/>
          <p:cNvSpPr/>
          <p:nvPr/>
        </p:nvSpPr>
        <p:spPr>
          <a:xfrm>
            <a:off x="10882503" y="6451092"/>
            <a:ext cx="162306" cy="41148"/>
          </a:xfrm>
          <a:prstGeom prst="line">
            <a:avLst/>
          </a:prstGeom>
          <a:noFill/>
          <a:ln w="9525">
            <a:solidFill>
              <a:srgbClr val="E2DCD0"/>
            </a:solidFill>
            <a:prstDash val="solid"/>
          </a:ln>
        </p:spPr>
        <p:txBody>
          <a:bodyPr/>
          <a:p/>
        </p:txBody>
      </p:sp>
      <p:sp>
        <p:nvSpPr>
          <p:cNvPr id="20" name="Shape 18"/>
          <p:cNvSpPr/>
          <p:nvPr/>
        </p:nvSpPr>
        <p:spPr>
          <a:xfrm flipH="1">
            <a:off x="10877931" y="6451092"/>
            <a:ext cx="4572" cy="196596"/>
          </a:xfrm>
          <a:prstGeom prst="line">
            <a:avLst/>
          </a:prstGeom>
          <a:noFill/>
          <a:ln w="9525">
            <a:solidFill>
              <a:srgbClr val="E2DCD0"/>
            </a:solidFill>
            <a:prstDash val="solid"/>
          </a:ln>
        </p:spPr>
        <p:txBody>
          <a:bodyPr/>
          <a:p/>
        </p:txBody>
      </p:sp>
      <p:sp>
        <p:nvSpPr>
          <p:cNvPr id="21" name="Shape 19"/>
          <p:cNvSpPr/>
          <p:nvPr/>
        </p:nvSpPr>
        <p:spPr>
          <a:xfrm flipH="1">
            <a:off x="11040237" y="6492240"/>
            <a:ext cx="4572" cy="196596"/>
          </a:xfrm>
          <a:prstGeom prst="line">
            <a:avLst/>
          </a:prstGeom>
          <a:noFill/>
          <a:ln w="9525">
            <a:solidFill>
              <a:srgbClr val="E2DCD0"/>
            </a:solidFill>
            <a:prstDash val="solid"/>
          </a:ln>
        </p:spPr>
        <p:txBody>
          <a:bodyPr/>
          <a:p/>
        </p:txBody>
      </p:sp>
      <p:sp>
        <p:nvSpPr>
          <p:cNvPr id="22" name="Shape 20"/>
          <p:cNvSpPr/>
          <p:nvPr/>
        </p:nvSpPr>
        <p:spPr>
          <a:xfrm>
            <a:off x="10498455" y="6652260"/>
            <a:ext cx="144018" cy="45720"/>
          </a:xfrm>
          <a:prstGeom prst="line">
            <a:avLst/>
          </a:prstGeom>
          <a:noFill/>
          <a:ln w="9525">
            <a:solidFill>
              <a:srgbClr val="E2DCD0"/>
            </a:solidFill>
            <a:prstDash val="solid"/>
          </a:ln>
        </p:spPr>
        <p:txBody>
          <a:bodyPr/>
          <a:p/>
        </p:txBody>
      </p:sp>
      <p:sp>
        <p:nvSpPr>
          <p:cNvPr id="23" name="Shape 21"/>
          <p:cNvSpPr/>
          <p:nvPr/>
        </p:nvSpPr>
        <p:spPr>
          <a:xfrm flipV="1">
            <a:off x="10642473" y="6647688"/>
            <a:ext cx="235458" cy="50292"/>
          </a:xfrm>
          <a:prstGeom prst="line">
            <a:avLst/>
          </a:prstGeom>
          <a:noFill/>
          <a:ln w="9525">
            <a:solidFill>
              <a:srgbClr val="E2DCD0"/>
            </a:solidFill>
            <a:prstDash val="solid"/>
          </a:ln>
        </p:spPr>
        <p:txBody>
          <a:bodyPr/>
          <a:p/>
        </p:txBody>
      </p:sp>
      <p:sp>
        <p:nvSpPr>
          <p:cNvPr id="24" name="Shape 22"/>
          <p:cNvSpPr/>
          <p:nvPr/>
        </p:nvSpPr>
        <p:spPr>
          <a:xfrm>
            <a:off x="10877931" y="6647688"/>
            <a:ext cx="162306" cy="41148"/>
          </a:xfrm>
          <a:prstGeom prst="line">
            <a:avLst/>
          </a:prstGeom>
          <a:noFill/>
          <a:ln w="9525">
            <a:solidFill>
              <a:srgbClr val="E2DCD0"/>
            </a:solidFill>
            <a:prstDash val="solid"/>
          </a:ln>
        </p:spPr>
        <p:txBody>
          <a:bodyPr/>
          <a:p/>
        </p:txBody>
      </p:sp>
      <p:sp>
        <p:nvSpPr>
          <p:cNvPr id="25" name="Shape 23"/>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6" name="Shape 24"/>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7" name="Shape 25"/>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8" name="Shape 26"/>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9" name="Shape 27"/>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0" name="Shape 28"/>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1" name="Shape 29"/>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2" name="Shape 30"/>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환경 ② 기능 설계도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데이터 흐름 아키텍처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02920" y="2286000"/>
            <a:ext cx="2331720" cy="1188720"/>
          </a:xfrm>
          <a:prstGeom prst="roundRect">
            <a:avLst>
              <a:gd name="adj" fmla="val 6154"/>
            </a:avLst>
          </a:prstGeom>
          <a:solidFill>
            <a:srgbClr val="FBEFE2"/>
          </a:solidFill>
          <a:ln w="15875">
            <a:solidFill>
              <a:srgbClr val="E2DCD0"/>
            </a:solidFill>
            <a:prstDash val="solid"/>
          </a:ln>
        </p:spPr>
        <p:txBody>
          <a:bodyPr/>
          <a:p/>
        </p:txBody>
      </p:sp>
      <p:sp>
        <p:nvSpPr>
          <p:cNvPr id="6" name="Text 4"/>
          <p:cNvSpPr/>
          <p:nvPr/>
        </p:nvSpPr>
        <p:spPr>
          <a:xfrm>
            <a:off x="502920" y="2569464"/>
            <a:ext cx="2331720" cy="365760"/>
          </a:xfrm>
          <a:prstGeom prst="rect">
            <a:avLst/>
          </a:prstGeom>
          <a:noFill/>
          <a:ln/>
        </p:spPr>
        <p:txBody>
          <a:bodyPr wrap="square" rtlCol="0" anchor="ctr"/>
          <a:lstStyle/>
          <a:p>
            <a:pPr algn="ctr" indent="0" marL="0" eaLnBrk="0" hangingPunct="1">
              <a:buNone/>
            </a:pPr>
            <a:r>
              <a:rPr lang="en-US" sz="1350" b="1" dirty="0">
                <a:solidFill>
                  <a:srgbClr val="D35400"/>
                </a:solidFill>
                <a:latin typeface="맑은 고딕" pitchFamily="34" charset="0"/>
                <a:ea typeface="맑은 고딕" pitchFamily="34" charset="-122"/>
                <a:cs typeface="맑은 고딕" pitchFamily="34" charset="-120"/>
              </a:rPr>
              <a:t>센서 노드</a:t>
            </a:r>
            <a:endParaRPr lang="en-US" sz="1350" dirty="0"/>
          </a:p>
        </p:txBody>
      </p:sp>
      <p:sp>
        <p:nvSpPr>
          <p:cNvPr id="7" name="Text 5"/>
          <p:cNvSpPr/>
          <p:nvPr/>
        </p:nvSpPr>
        <p:spPr>
          <a:xfrm>
            <a:off x="50292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ESP32 + 온도</a:t>
            </a:r>
            <a:endParaRPr lang="en-US" sz="1000" dirty="0"/>
          </a:p>
        </p:txBody>
      </p:sp>
      <p:sp>
        <p:nvSpPr>
          <p:cNvPr id="8" name="Shape 6"/>
          <p:cNvSpPr/>
          <p:nvPr/>
        </p:nvSpPr>
        <p:spPr>
          <a:xfrm>
            <a:off x="2880360" y="2880360"/>
            <a:ext cx="457200" cy="0"/>
          </a:xfrm>
          <a:prstGeom prst="line">
            <a:avLst/>
          </a:prstGeom>
          <a:noFill/>
          <a:ln w="25400">
            <a:solidFill>
              <a:srgbClr val="D35400"/>
            </a:solidFill>
            <a:prstDash val="solid"/>
            <a:tailEnd type="triangle"/>
          </a:ln>
        </p:spPr>
        <p:txBody>
          <a:bodyPr/>
          <a:p/>
        </p:txBody>
      </p:sp>
      <p:sp>
        <p:nvSpPr>
          <p:cNvPr id="9" name="Shape 7"/>
          <p:cNvSpPr/>
          <p:nvPr/>
        </p:nvSpPr>
        <p:spPr>
          <a:xfrm>
            <a:off x="3383280" y="2286000"/>
            <a:ext cx="2331720" cy="1188720"/>
          </a:xfrm>
          <a:prstGeom prst="roundRect">
            <a:avLst>
              <a:gd name="adj" fmla="val 6154"/>
            </a:avLst>
          </a:prstGeom>
          <a:solidFill>
            <a:srgbClr val="FFFFFF"/>
          </a:solidFill>
          <a:ln w="15875">
            <a:solidFill>
              <a:srgbClr val="E2DCD0"/>
            </a:solidFill>
            <a:prstDash val="solid"/>
          </a:ln>
        </p:spPr>
        <p:txBody>
          <a:bodyPr/>
          <a:p/>
        </p:txBody>
      </p:sp>
      <p:sp>
        <p:nvSpPr>
          <p:cNvPr id="10" name="Text 8"/>
          <p:cNvSpPr/>
          <p:nvPr/>
        </p:nvSpPr>
        <p:spPr>
          <a:xfrm>
            <a:off x="3383280" y="2569464"/>
            <a:ext cx="233172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메시 네트워크</a:t>
            </a:r>
            <a:endParaRPr lang="en-US" sz="1350" dirty="0"/>
          </a:p>
        </p:txBody>
      </p:sp>
      <p:sp>
        <p:nvSpPr>
          <p:cNvPr id="11" name="Text 9"/>
          <p:cNvSpPr/>
          <p:nvPr/>
        </p:nvSpPr>
        <p:spPr>
          <a:xfrm>
            <a:off x="338328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painlessMesh</a:t>
            </a:r>
            <a:endParaRPr lang="en-US" sz="1000" dirty="0"/>
          </a:p>
        </p:txBody>
      </p:sp>
      <p:sp>
        <p:nvSpPr>
          <p:cNvPr id="12" name="Shape 10"/>
          <p:cNvSpPr/>
          <p:nvPr/>
        </p:nvSpPr>
        <p:spPr>
          <a:xfrm>
            <a:off x="5760720" y="2880360"/>
            <a:ext cx="457200" cy="0"/>
          </a:xfrm>
          <a:prstGeom prst="line">
            <a:avLst/>
          </a:prstGeom>
          <a:noFill/>
          <a:ln w="25400">
            <a:solidFill>
              <a:srgbClr val="D35400"/>
            </a:solidFill>
            <a:prstDash val="solid"/>
            <a:tailEnd type="triangle"/>
          </a:ln>
        </p:spPr>
        <p:txBody>
          <a:bodyPr/>
          <a:p/>
        </p:txBody>
      </p:sp>
      <p:sp>
        <p:nvSpPr>
          <p:cNvPr id="13" name="Shape 11"/>
          <p:cNvSpPr/>
          <p:nvPr/>
        </p:nvSpPr>
        <p:spPr>
          <a:xfrm>
            <a:off x="6263640" y="2286000"/>
            <a:ext cx="2331720" cy="1188720"/>
          </a:xfrm>
          <a:prstGeom prst="roundRect">
            <a:avLst>
              <a:gd name="adj" fmla="val 6154"/>
            </a:avLst>
          </a:prstGeom>
          <a:solidFill>
            <a:srgbClr val="FFFFFF"/>
          </a:solidFill>
          <a:ln w="15875">
            <a:solidFill>
              <a:srgbClr val="E2DCD0"/>
            </a:solidFill>
            <a:prstDash val="solid"/>
          </a:ln>
        </p:spPr>
        <p:txBody>
          <a:bodyPr/>
          <a:p/>
        </p:txBody>
      </p:sp>
      <p:sp>
        <p:nvSpPr>
          <p:cNvPr id="14" name="Text 12"/>
          <p:cNvSpPr/>
          <p:nvPr/>
        </p:nvSpPr>
        <p:spPr>
          <a:xfrm>
            <a:off x="6263640" y="2569464"/>
            <a:ext cx="233172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게이트웨이</a:t>
            </a:r>
            <a:endParaRPr lang="en-US" sz="1350" dirty="0"/>
          </a:p>
        </p:txBody>
      </p:sp>
      <p:sp>
        <p:nvSpPr>
          <p:cNvPr id="15" name="Text 13"/>
          <p:cNvSpPr/>
          <p:nvPr/>
        </p:nvSpPr>
        <p:spPr>
          <a:xfrm>
            <a:off x="626364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RPi · 추정기(Python)</a:t>
            </a:r>
            <a:endParaRPr lang="en-US" sz="1000" dirty="0"/>
          </a:p>
        </p:txBody>
      </p:sp>
      <p:sp>
        <p:nvSpPr>
          <p:cNvPr id="16" name="Shape 14"/>
          <p:cNvSpPr/>
          <p:nvPr/>
        </p:nvSpPr>
        <p:spPr>
          <a:xfrm>
            <a:off x="8641080" y="2880360"/>
            <a:ext cx="457200" cy="0"/>
          </a:xfrm>
          <a:prstGeom prst="line">
            <a:avLst/>
          </a:prstGeom>
          <a:noFill/>
          <a:ln w="25400">
            <a:solidFill>
              <a:srgbClr val="D35400"/>
            </a:solidFill>
            <a:prstDash val="solid"/>
            <a:tailEnd type="triangle"/>
          </a:ln>
        </p:spPr>
        <p:txBody>
          <a:bodyPr/>
          <a:p/>
        </p:txBody>
      </p:sp>
      <p:sp>
        <p:nvSpPr>
          <p:cNvPr id="17" name="Shape 15"/>
          <p:cNvSpPr/>
          <p:nvPr/>
        </p:nvSpPr>
        <p:spPr>
          <a:xfrm>
            <a:off x="9144000" y="2286000"/>
            <a:ext cx="2331720" cy="1188720"/>
          </a:xfrm>
          <a:prstGeom prst="roundRect">
            <a:avLst>
              <a:gd name="adj" fmla="val 6154"/>
            </a:avLst>
          </a:prstGeom>
          <a:solidFill>
            <a:srgbClr val="EEF3E6"/>
          </a:solidFill>
          <a:ln w="15875">
            <a:solidFill>
              <a:srgbClr val="E2DCD0"/>
            </a:solidFill>
            <a:prstDash val="solid"/>
          </a:ln>
        </p:spPr>
        <p:txBody>
          <a:bodyPr/>
          <a:p/>
        </p:txBody>
      </p:sp>
      <p:sp>
        <p:nvSpPr>
          <p:cNvPr id="18" name="Text 16"/>
          <p:cNvSpPr/>
          <p:nvPr/>
        </p:nvSpPr>
        <p:spPr>
          <a:xfrm>
            <a:off x="9144000" y="2569464"/>
            <a:ext cx="2331720" cy="365760"/>
          </a:xfrm>
          <a:prstGeom prst="rect">
            <a:avLst/>
          </a:prstGeom>
          <a:noFill/>
          <a:ln/>
        </p:spPr>
        <p:txBody>
          <a:bodyPr wrap="square" rtlCol="0" anchor="ctr"/>
          <a:lstStyle/>
          <a:p>
            <a:pPr algn="ct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웹 대시보드</a:t>
            </a:r>
            <a:endParaRPr lang="en-US" sz="1350" dirty="0"/>
          </a:p>
        </p:txBody>
      </p:sp>
      <p:sp>
        <p:nvSpPr>
          <p:cNvPr id="19" name="Text 17"/>
          <p:cNvSpPr/>
          <p:nvPr/>
        </p:nvSpPr>
        <p:spPr>
          <a:xfrm>
            <a:off x="914400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화선·경보 관제</a:t>
            </a:r>
            <a:endParaRPr lang="en-US" sz="1000" dirty="0"/>
          </a:p>
        </p:txBody>
      </p:sp>
      <p:sp>
        <p:nvSpPr>
          <p:cNvPr id="20" name="Text 18"/>
          <p:cNvSpPr/>
          <p:nvPr/>
        </p:nvSpPr>
        <p:spPr>
          <a:xfrm>
            <a:off x="548640" y="3977640"/>
            <a:ext cx="11064240" cy="731520"/>
          </a:xfrm>
          <a:prstGeom prst="rect">
            <a:avLst/>
          </a:prstGeom>
          <a:noFill/>
          <a:ln/>
        </p:spPr>
        <p:txBody>
          <a:bodyPr wrap="square" rtlCol="0" anchor="ctr"/>
          <a:lstStyle/>
          <a:p>
            <a:pPr algn="ctr" indent="0" marL="0" eaLnBrk="0" hangingPunct="1">
              <a:lnSpc>
                <a:spcPct val="130000"/>
              </a:lnSpc>
              <a:buNone/>
            </a:pPr>
            <a:r>
              <a:rPr lang="en-US" sz="1300" dirty="0">
                <a:solidFill>
                  <a:srgbClr val="44483F"/>
                </a:solidFill>
                <a:latin typeface="맑은 고딕" pitchFamily="34" charset="0"/>
                <a:ea typeface="맑은 고딕" pitchFamily="34" charset="-122"/>
                <a:cs typeface="맑은 고딕" pitchFamily="34" charset="-120"/>
              </a:rPr>
              <a:t>노드가 임종신호·하트비트를 메시로 흘리면, 게이트웨이가 죽은 노드의 시공간 패턴에서 화선을 추정하고, 대시보드가 생사·자가치유 경로·참/추정 화선·대피경보를 실시간 재생한다.</a:t>
            </a:r>
            <a:endParaRPr lang="en-US" sz="1300" dirty="0"/>
          </a:p>
        </p:txBody>
      </p:sp>
      <p:sp>
        <p:nvSpPr>
          <p:cNvPr id="21" name="Shape 19"/>
          <p:cNvSpPr/>
          <p:nvPr/>
        </p:nvSpPr>
        <p:spPr>
          <a:xfrm>
            <a:off x="1371600" y="4745736"/>
            <a:ext cx="9418320" cy="1463040"/>
          </a:xfrm>
          <a:prstGeom prst="roundRect">
            <a:avLst>
              <a:gd name="adj" fmla="val 5217"/>
            </a:avLst>
          </a:prstGeom>
          <a:solidFill>
            <a:srgbClr val="EEF3E6"/>
          </a:solidFill>
          <a:ln w="12700">
            <a:solidFill>
              <a:srgbClr val="E2DCD0"/>
            </a:solidFill>
            <a:prstDash val="solid"/>
          </a:ln>
        </p:spPr>
        <p:txBody>
          <a:bodyPr/>
          <a:p/>
        </p:txBody>
      </p:sp>
      <p:sp>
        <p:nvSpPr>
          <p:cNvPr id="22" name="Text 20"/>
          <p:cNvSpPr/>
          <p:nvPr/>
        </p:nvSpPr>
        <p:spPr>
          <a:xfrm>
            <a:off x="1600200" y="5020056"/>
            <a:ext cx="896112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핵심 이식성 증명 · 판정 일원화</a:t>
            </a:r>
            <a:endParaRPr lang="en-US" sz="1450" dirty="0"/>
          </a:p>
        </p:txBody>
      </p:sp>
      <p:sp>
        <p:nvSpPr>
          <p:cNvPr id="23" name="Shape 21"/>
          <p:cNvSpPr/>
          <p:nvPr/>
        </p:nvSpPr>
        <p:spPr>
          <a:xfrm>
            <a:off x="1600200" y="5458968"/>
            <a:ext cx="502920" cy="0"/>
          </a:xfrm>
          <a:prstGeom prst="line">
            <a:avLst/>
          </a:prstGeom>
          <a:noFill/>
          <a:ln w="25400">
            <a:solidFill>
              <a:srgbClr val="D35400"/>
            </a:solidFill>
            <a:prstDash val="solid"/>
          </a:ln>
        </p:spPr>
        <p:txBody>
          <a:bodyPr/>
          <a:p/>
        </p:txBody>
      </p:sp>
      <p:sp>
        <p:nvSpPr>
          <p:cNvPr id="24" name="Text 22"/>
          <p:cNvSpPr/>
          <p:nvPr/>
        </p:nvSpPr>
        <p:spPr>
          <a:xfrm>
            <a:off x="1600200" y="5596128"/>
            <a:ext cx="8961120" cy="45720"/>
          </a:xfrm>
          <a:prstGeom prst="rect">
            <a:avLst/>
          </a:prstGeom>
          <a:noFill/>
          <a:ln/>
        </p:spPr>
        <p:txBody>
          <a:bodyPr wrap="square" rtlCol="0" anchor="t"/>
          <a:lstStyle/>
          <a:p>
            <a:pPr indent="0" marL="0" eaLnBrk="0" hangingPunct="1">
              <a:lnSpc>
                <a:spcPct val="110000"/>
              </a:lnSpc>
              <a:buNone/>
            </a:pPr>
            <a:r>
              <a:rPr lang="en-US" sz="1050" dirty="0">
                <a:solidFill>
                  <a:srgbClr val="44483F"/>
                </a:solidFill>
                <a:latin typeface="맑은 고딕" pitchFamily="34" charset="0"/>
                <a:ea typeface="맑은 고딕" pitchFamily="34" charset="-122"/>
                <a:cs typeface="맑은 고딕" pitchFamily="34" charset="-120"/>
              </a:rPr>
              <a:t>게이트웨이가 시뮬레이터의 추정기 코드를 그대로 재사용 → 모의 데이터에서 시뮬 직접값과 완전 일치. 나아가 화재/비화재 판별도 단일 함수로 통합해 시뮬·실물이 같은 판정을 쓴다 — 두 경로가 다른 판정을 쓰면 시뮬 결과가 실물의 근거가 되지 못하기 때문.</a:t>
            </a:r>
            <a:endParaRPr lang="en-US" sz="1200" dirty="0"/>
          </a:p>
        </p:txBody>
      </p:sp>
      <p:sp>
        <p:nvSpPr>
          <p:cNvPr id="25" name="Text 2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6" name="Text 2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5</a:t>
            </a:r>
            <a:endParaRPr lang="en-US" sz="900" dirty="0"/>
          </a:p>
        </p:txBody>
      </p:sp>
      <p:sp>
        <p:nvSpPr>
          <p:cNvPr id="27" name="Shape 25"/>
          <p:cNvSpPr/>
          <p:nvPr/>
        </p:nvSpPr>
        <p:spPr>
          <a:xfrm>
            <a:off x="10503027" y="6464808"/>
            <a:ext cx="144018" cy="36576"/>
          </a:xfrm>
          <a:prstGeom prst="line">
            <a:avLst/>
          </a:prstGeom>
          <a:noFill/>
          <a:ln w="9525">
            <a:solidFill>
              <a:srgbClr val="E2DCD0"/>
            </a:solidFill>
            <a:prstDash val="solid"/>
          </a:ln>
        </p:spPr>
        <p:txBody>
          <a:bodyPr/>
          <a:p/>
        </p:txBody>
      </p:sp>
      <p:sp>
        <p:nvSpPr>
          <p:cNvPr id="28" name="Shape 26"/>
          <p:cNvSpPr/>
          <p:nvPr/>
        </p:nvSpPr>
        <p:spPr>
          <a:xfrm flipH="1">
            <a:off x="10498455" y="6464808"/>
            <a:ext cx="4572" cy="187452"/>
          </a:xfrm>
          <a:prstGeom prst="line">
            <a:avLst/>
          </a:prstGeom>
          <a:noFill/>
          <a:ln w="9525">
            <a:solidFill>
              <a:srgbClr val="E2DCD0"/>
            </a:solidFill>
            <a:prstDash val="solid"/>
          </a:ln>
        </p:spPr>
        <p:txBody>
          <a:bodyPr/>
          <a:p/>
        </p:txBody>
      </p:sp>
      <p:sp>
        <p:nvSpPr>
          <p:cNvPr id="29" name="Shape 27"/>
          <p:cNvSpPr/>
          <p:nvPr/>
        </p:nvSpPr>
        <p:spPr>
          <a:xfrm flipV="1">
            <a:off x="10647045" y="6451092"/>
            <a:ext cx="235458" cy="50292"/>
          </a:xfrm>
          <a:prstGeom prst="line">
            <a:avLst/>
          </a:prstGeom>
          <a:noFill/>
          <a:ln w="9525">
            <a:solidFill>
              <a:srgbClr val="E2DCD0"/>
            </a:solidFill>
            <a:prstDash val="solid"/>
          </a:ln>
        </p:spPr>
        <p:txBody>
          <a:bodyPr/>
          <a:p/>
        </p:txBody>
      </p:sp>
      <p:sp>
        <p:nvSpPr>
          <p:cNvPr id="30" name="Shape 28"/>
          <p:cNvSpPr/>
          <p:nvPr/>
        </p:nvSpPr>
        <p:spPr>
          <a:xfrm flipH="1">
            <a:off x="10642473" y="6501384"/>
            <a:ext cx="4572" cy="196596"/>
          </a:xfrm>
          <a:prstGeom prst="line">
            <a:avLst/>
          </a:prstGeom>
          <a:noFill/>
          <a:ln w="9525">
            <a:solidFill>
              <a:srgbClr val="E2DCD0"/>
            </a:solidFill>
            <a:prstDash val="solid"/>
          </a:ln>
        </p:spPr>
        <p:txBody>
          <a:bodyPr/>
          <a:p/>
        </p:txBody>
      </p:sp>
      <p:sp>
        <p:nvSpPr>
          <p:cNvPr id="31" name="Shape 29"/>
          <p:cNvSpPr/>
          <p:nvPr/>
        </p:nvSpPr>
        <p:spPr>
          <a:xfrm>
            <a:off x="10882503" y="6451092"/>
            <a:ext cx="162306" cy="41148"/>
          </a:xfrm>
          <a:prstGeom prst="line">
            <a:avLst/>
          </a:prstGeom>
          <a:noFill/>
          <a:ln w="9525">
            <a:solidFill>
              <a:srgbClr val="E2DCD0"/>
            </a:solidFill>
            <a:prstDash val="solid"/>
          </a:ln>
        </p:spPr>
        <p:txBody>
          <a:bodyPr/>
          <a:p/>
        </p:txBody>
      </p:sp>
      <p:sp>
        <p:nvSpPr>
          <p:cNvPr id="32" name="Shape 30"/>
          <p:cNvSpPr/>
          <p:nvPr/>
        </p:nvSpPr>
        <p:spPr>
          <a:xfrm flipH="1">
            <a:off x="10877931" y="6451092"/>
            <a:ext cx="4572" cy="196596"/>
          </a:xfrm>
          <a:prstGeom prst="line">
            <a:avLst/>
          </a:prstGeom>
          <a:noFill/>
          <a:ln w="9525">
            <a:solidFill>
              <a:srgbClr val="E2DCD0"/>
            </a:solidFill>
            <a:prstDash val="solid"/>
          </a:ln>
        </p:spPr>
        <p:txBody>
          <a:bodyPr/>
          <a:p/>
        </p:txBody>
      </p:sp>
      <p:sp>
        <p:nvSpPr>
          <p:cNvPr id="33" name="Shape 31"/>
          <p:cNvSpPr/>
          <p:nvPr/>
        </p:nvSpPr>
        <p:spPr>
          <a:xfrm flipH="1">
            <a:off x="11040237" y="6492240"/>
            <a:ext cx="4572" cy="196596"/>
          </a:xfrm>
          <a:prstGeom prst="line">
            <a:avLst/>
          </a:prstGeom>
          <a:noFill/>
          <a:ln w="9525">
            <a:solidFill>
              <a:srgbClr val="E2DCD0"/>
            </a:solidFill>
            <a:prstDash val="solid"/>
          </a:ln>
        </p:spPr>
        <p:txBody>
          <a:bodyPr/>
          <a:p/>
        </p:txBody>
      </p:sp>
      <p:sp>
        <p:nvSpPr>
          <p:cNvPr id="34" name="Shape 32"/>
          <p:cNvSpPr/>
          <p:nvPr/>
        </p:nvSpPr>
        <p:spPr>
          <a:xfrm>
            <a:off x="10498455" y="6652260"/>
            <a:ext cx="144018" cy="45720"/>
          </a:xfrm>
          <a:prstGeom prst="line">
            <a:avLst/>
          </a:prstGeom>
          <a:noFill/>
          <a:ln w="9525">
            <a:solidFill>
              <a:srgbClr val="E2DCD0"/>
            </a:solidFill>
            <a:prstDash val="solid"/>
          </a:ln>
        </p:spPr>
        <p:txBody>
          <a:bodyPr/>
          <a:p/>
        </p:txBody>
      </p:sp>
      <p:sp>
        <p:nvSpPr>
          <p:cNvPr id="35" name="Shape 33"/>
          <p:cNvSpPr/>
          <p:nvPr/>
        </p:nvSpPr>
        <p:spPr>
          <a:xfrm flipV="1">
            <a:off x="10642473" y="6647688"/>
            <a:ext cx="235458" cy="50292"/>
          </a:xfrm>
          <a:prstGeom prst="line">
            <a:avLst/>
          </a:prstGeom>
          <a:noFill/>
          <a:ln w="9525">
            <a:solidFill>
              <a:srgbClr val="E2DCD0"/>
            </a:solidFill>
            <a:prstDash val="solid"/>
          </a:ln>
        </p:spPr>
        <p:txBody>
          <a:bodyPr/>
          <a:p/>
        </p:txBody>
      </p:sp>
      <p:sp>
        <p:nvSpPr>
          <p:cNvPr id="36" name="Shape 34"/>
          <p:cNvSpPr/>
          <p:nvPr/>
        </p:nvSpPr>
        <p:spPr>
          <a:xfrm>
            <a:off x="10877931" y="6647688"/>
            <a:ext cx="162306" cy="41148"/>
          </a:xfrm>
          <a:prstGeom prst="line">
            <a:avLst/>
          </a:prstGeom>
          <a:noFill/>
          <a:ln w="9525">
            <a:solidFill>
              <a:srgbClr val="E2DCD0"/>
            </a:solidFill>
            <a:prstDash val="solid"/>
          </a:ln>
        </p:spPr>
        <p:txBody>
          <a:bodyPr/>
          <a:p/>
        </p:txBody>
      </p:sp>
      <p:sp>
        <p:nvSpPr>
          <p:cNvPr id="37" name="Shape 3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1" name="Shape 3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①  네 개의 핵심 모듈</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시스템을 이루는 네 개의 핵심 모듈</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54480"/>
            <a:ext cx="5468112" cy="1645920"/>
          </a:xfrm>
          <a:prstGeom prst="roundRect">
            <a:avLst>
              <a:gd name="adj" fmla="val 3333"/>
            </a:avLst>
          </a:prstGeom>
          <a:solidFill>
            <a:srgbClr val="FFFFFF"/>
          </a:solidFill>
          <a:ln w="12700">
            <a:solidFill>
              <a:srgbClr val="E2DCD0"/>
            </a:solidFill>
            <a:prstDash val="solid"/>
          </a:ln>
        </p:spPr>
        <p:txBody>
          <a:bodyPr/>
          <a:p/>
        </p:txBody>
      </p:sp>
      <p:sp>
        <p:nvSpPr>
          <p:cNvPr id="6" name="Text 4"/>
          <p:cNvSpPr/>
          <p:nvPr/>
        </p:nvSpPr>
        <p:spPr>
          <a:xfrm>
            <a:off x="777240" y="17373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①</a:t>
            </a:r>
            <a:endParaRPr lang="en-US" sz="3000" dirty="0"/>
          </a:p>
        </p:txBody>
      </p:sp>
      <p:sp>
        <p:nvSpPr>
          <p:cNvPr id="7" name="Text 5"/>
          <p:cNvSpPr/>
          <p:nvPr/>
        </p:nvSpPr>
        <p:spPr>
          <a:xfrm>
            <a:off x="1508760" y="1810512"/>
            <a:ext cx="434340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임종신호 (Last-Gasp)</a:t>
            </a:r>
            <a:endParaRPr lang="en-US" sz="1500" dirty="0"/>
          </a:p>
        </p:txBody>
      </p:sp>
      <p:sp>
        <p:nvSpPr>
          <p:cNvPr id="8" name="Text 6"/>
          <p:cNvSpPr/>
          <p:nvPr/>
        </p:nvSpPr>
        <p:spPr>
          <a:xfrm>
            <a:off x="1508760" y="22128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노드가 임계온도를 넘겨 죽기 직전 쏘는 마지막 패킷 — 죽음의 시각을 확정.</a:t>
            </a:r>
            <a:endParaRPr lang="en-US" sz="1150" dirty="0"/>
          </a:p>
        </p:txBody>
      </p:sp>
      <p:sp>
        <p:nvSpPr>
          <p:cNvPr id="9" name="Shape 7"/>
          <p:cNvSpPr/>
          <p:nvPr/>
        </p:nvSpPr>
        <p:spPr>
          <a:xfrm>
            <a:off x="6153912" y="1554480"/>
            <a:ext cx="5468112" cy="1645920"/>
          </a:xfrm>
          <a:prstGeom prst="roundRect">
            <a:avLst>
              <a:gd name="adj" fmla="val 3333"/>
            </a:avLst>
          </a:prstGeom>
          <a:solidFill>
            <a:srgbClr val="FFFFFF"/>
          </a:solidFill>
          <a:ln w="12700">
            <a:solidFill>
              <a:srgbClr val="E2DCD0"/>
            </a:solidFill>
            <a:prstDash val="solid"/>
          </a:ln>
        </p:spPr>
        <p:txBody>
          <a:bodyPr/>
          <a:p/>
        </p:txBody>
      </p:sp>
      <p:sp>
        <p:nvSpPr>
          <p:cNvPr id="10" name="Text 8"/>
          <p:cNvSpPr/>
          <p:nvPr/>
        </p:nvSpPr>
        <p:spPr>
          <a:xfrm>
            <a:off x="6382512" y="17373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②</a:t>
            </a:r>
            <a:endParaRPr lang="en-US" sz="3000" dirty="0"/>
          </a:p>
        </p:txBody>
      </p:sp>
      <p:sp>
        <p:nvSpPr>
          <p:cNvPr id="11" name="Text 9"/>
          <p:cNvSpPr/>
          <p:nvPr/>
        </p:nvSpPr>
        <p:spPr>
          <a:xfrm>
            <a:off x="7114032" y="1810512"/>
            <a:ext cx="434340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자가치유 라우팅</a:t>
            </a:r>
            <a:endParaRPr lang="en-US" sz="1500" dirty="0"/>
          </a:p>
        </p:txBody>
      </p:sp>
      <p:sp>
        <p:nvSpPr>
          <p:cNvPr id="12" name="Text 10"/>
          <p:cNvSpPr/>
          <p:nvPr/>
        </p:nvSpPr>
        <p:spPr>
          <a:xfrm>
            <a:off x="7114032" y="22128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노드가 죽어 길이 끊기면 sink 기준 역방향 BFS로 우회로를 자동 재계산.</a:t>
            </a:r>
            <a:endParaRPr lang="en-US" sz="1150" dirty="0"/>
          </a:p>
        </p:txBody>
      </p:sp>
      <p:sp>
        <p:nvSpPr>
          <p:cNvPr id="13" name="Shape 11"/>
          <p:cNvSpPr/>
          <p:nvPr/>
        </p:nvSpPr>
        <p:spPr>
          <a:xfrm>
            <a:off x="548640" y="3383280"/>
            <a:ext cx="5468112" cy="1645920"/>
          </a:xfrm>
          <a:prstGeom prst="roundRect">
            <a:avLst>
              <a:gd name="adj" fmla="val 3333"/>
            </a:avLst>
          </a:prstGeom>
          <a:solidFill>
            <a:srgbClr val="FBEFE2"/>
          </a:solidFill>
          <a:ln w="12700">
            <a:solidFill>
              <a:srgbClr val="E2DCD0"/>
            </a:solidFill>
            <a:prstDash val="solid"/>
          </a:ln>
        </p:spPr>
        <p:txBody>
          <a:bodyPr/>
          <a:p/>
        </p:txBody>
      </p:sp>
      <p:sp>
        <p:nvSpPr>
          <p:cNvPr id="14" name="Text 12"/>
          <p:cNvSpPr/>
          <p:nvPr/>
        </p:nvSpPr>
        <p:spPr>
          <a:xfrm>
            <a:off x="777240" y="35661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③</a:t>
            </a:r>
            <a:endParaRPr lang="en-US" sz="3000" dirty="0"/>
          </a:p>
        </p:txBody>
      </p:sp>
      <p:sp>
        <p:nvSpPr>
          <p:cNvPr id="15" name="Text 13"/>
          <p:cNvSpPr/>
          <p:nvPr/>
        </p:nvSpPr>
        <p:spPr>
          <a:xfrm>
            <a:off x="1508760" y="3639312"/>
            <a:ext cx="4343400" cy="365760"/>
          </a:xfrm>
          <a:prstGeom prst="rect">
            <a:avLst/>
          </a:prstGeom>
          <a:noFill/>
          <a:ln/>
        </p:spPr>
        <p:txBody>
          <a:bodyPr wrap="square" rtlCol="0" anchor="ctr"/>
          <a:lstStyle/>
          <a:p>
            <a:pPr indent="0" marL="0" eaLnBrk="0" hangingPunct="1">
              <a:buNone/>
            </a:pPr>
            <a:r>
              <a:rPr lang="en-US" sz="1500" b="1" dirty="0">
                <a:solidFill>
                  <a:srgbClr val="D35400"/>
                </a:solidFill>
                <a:latin typeface="맑은 고딕" pitchFamily="34" charset="0"/>
                <a:ea typeface="맑은 고딕" pitchFamily="34" charset="-122"/>
                <a:cs typeface="맑은 고딕" pitchFamily="34" charset="-120"/>
              </a:rPr>
              <a:t>오탐 방어 (교차검증) ★</a:t>
            </a:r>
            <a:endParaRPr lang="en-US" sz="1500" dirty="0"/>
          </a:p>
        </p:txBody>
      </p:sp>
      <p:sp>
        <p:nvSpPr>
          <p:cNvPr id="16" name="Text 14"/>
          <p:cNvSpPr/>
          <p:nvPr/>
        </p:nvSpPr>
        <p:spPr>
          <a:xfrm>
            <a:off x="1508760" y="40416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통신두절 vs 진짜 파괴를 다중이웃 + 온도로 구분 — 순정 painlessMesh가 못 하는 계층.</a:t>
            </a:r>
            <a:endParaRPr lang="en-US" sz="1150" dirty="0"/>
          </a:p>
        </p:txBody>
      </p:sp>
      <p:sp>
        <p:nvSpPr>
          <p:cNvPr id="17" name="Shape 15"/>
          <p:cNvSpPr/>
          <p:nvPr/>
        </p:nvSpPr>
        <p:spPr>
          <a:xfrm>
            <a:off x="6153912" y="3383280"/>
            <a:ext cx="5468112" cy="1645920"/>
          </a:xfrm>
          <a:prstGeom prst="roundRect">
            <a:avLst>
              <a:gd name="adj" fmla="val 3333"/>
            </a:avLst>
          </a:prstGeom>
          <a:solidFill>
            <a:srgbClr val="EEF3E6"/>
          </a:solidFill>
          <a:ln w="12700">
            <a:solidFill>
              <a:srgbClr val="E2DCD0"/>
            </a:solidFill>
            <a:prstDash val="solid"/>
          </a:ln>
        </p:spPr>
        <p:txBody>
          <a:bodyPr/>
          <a:p/>
        </p:txBody>
      </p:sp>
      <p:sp>
        <p:nvSpPr>
          <p:cNvPr id="18" name="Text 16"/>
          <p:cNvSpPr/>
          <p:nvPr/>
        </p:nvSpPr>
        <p:spPr>
          <a:xfrm>
            <a:off x="6382512" y="35661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④</a:t>
            </a:r>
            <a:endParaRPr lang="en-US" sz="3000" dirty="0"/>
          </a:p>
        </p:txBody>
      </p:sp>
      <p:sp>
        <p:nvSpPr>
          <p:cNvPr id="19" name="Text 17"/>
          <p:cNvSpPr/>
          <p:nvPr/>
        </p:nvSpPr>
        <p:spPr>
          <a:xfrm>
            <a:off x="7114032" y="3639312"/>
            <a:ext cx="4343400" cy="365760"/>
          </a:xfrm>
          <a:prstGeom prst="rect">
            <a:avLst/>
          </a:prstGeom>
          <a:noFill/>
          <a:ln/>
        </p:spPr>
        <p:txBody>
          <a:bodyPr wrap="square" rtlCol="0" anchor="ctr"/>
          <a:lstStyle/>
          <a:p>
            <a:pPr indent="0" marL="0" eaLnBrk="0" hangingPunct="1">
              <a:buNone/>
            </a:pPr>
            <a:r>
              <a:rPr lang="en-US" sz="1500" b="1" dirty="0">
                <a:solidFill>
                  <a:srgbClr val="2C5F2D"/>
                </a:solidFill>
                <a:latin typeface="맑은 고딕" pitchFamily="34" charset="0"/>
                <a:ea typeface="맑은 고딕" pitchFamily="34" charset="-122"/>
                <a:cs typeface="맑은 고딕" pitchFamily="34" charset="-120"/>
              </a:rPr>
              <a:t>도착시각장(場) 추정 ★</a:t>
            </a:r>
            <a:endParaRPr lang="en-US" sz="1500" dirty="0"/>
          </a:p>
        </p:txBody>
      </p:sp>
      <p:sp>
        <p:nvSpPr>
          <p:cNvPr id="20" name="Text 18"/>
          <p:cNvSpPr/>
          <p:nvPr/>
        </p:nvSpPr>
        <p:spPr>
          <a:xfrm>
            <a:off x="7114032" y="40416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죽은 (좌표·시각)에서 최소제곱으로 방향·속도·ETA와 신뢰도를 역산.</a:t>
            </a:r>
            <a:endParaRPr lang="en-US" sz="115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6</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② ★ 핵심 알고리즘</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죽은 노드의 (좌표·시각) → 불의 방향·속도·ETA</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44752"/>
            <a:ext cx="11091672" cy="566928"/>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각 노드가 타 죽은 시각 = 불이 그 지점에 도착한 시각. 흩어진 (x, y, 죽은시각)에 면을 맞추면 그 기울기가 곧 화선이다. 실제 구현은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2단 구조</a:t>
            </a:r>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 — 노드마다 국소 적합을 돌리고, 그 결과들을 신뢰도로 가중해 합친다.</a:t>
            </a:r>
            <a:endParaRPr lang="en-US" sz="1350" dirty="0"/>
          </a:p>
        </p:txBody>
      </p:sp>
      <p:sp>
        <p:nvSpPr>
          <p:cNvPr id="6" name="Shape 4"/>
          <p:cNvSpPr/>
          <p:nvPr/>
        </p:nvSpPr>
        <p:spPr>
          <a:xfrm>
            <a:off x="548640" y="2121408"/>
            <a:ext cx="3429000" cy="2487168"/>
          </a:xfrm>
          <a:prstGeom prst="roundRect">
            <a:avLst>
              <a:gd name="adj" fmla="val 2353"/>
            </a:avLst>
          </a:prstGeom>
          <a:solidFill>
            <a:srgbClr val="FFFFFF"/>
          </a:solidFill>
          <a:ln w="12700">
            <a:solidFill>
              <a:srgbClr val="E2DCD0"/>
            </a:solidFill>
            <a:prstDash val="solid"/>
          </a:ln>
        </p:spPr>
        <p:txBody>
          <a:bodyPr/>
          <a:p/>
        </p:txBody>
      </p:sp>
      <p:sp>
        <p:nvSpPr>
          <p:cNvPr id="7" name="Text 5"/>
          <p:cNvSpPr/>
          <p:nvPr/>
        </p:nvSpPr>
        <p:spPr>
          <a:xfrm>
            <a:off x="777240" y="2322576"/>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1단 · 국소 평면 적합</a:t>
            </a:r>
            <a:endParaRPr lang="en-US" sz="1450" dirty="0"/>
          </a:p>
        </p:txBody>
      </p:sp>
      <p:sp>
        <p:nvSpPr>
          <p:cNvPr id="8" name="Shape 6"/>
          <p:cNvSpPr/>
          <p:nvPr/>
        </p:nvSpPr>
        <p:spPr>
          <a:xfrm>
            <a:off x="777240" y="2761488"/>
            <a:ext cx="502920" cy="0"/>
          </a:xfrm>
          <a:prstGeom prst="line">
            <a:avLst/>
          </a:prstGeom>
          <a:noFill/>
          <a:ln w="25400">
            <a:solidFill>
              <a:srgbClr val="D35400"/>
            </a:solidFill>
            <a:prstDash val="solid"/>
          </a:ln>
        </p:spPr>
        <p:txBody>
          <a:bodyPr/>
          <a:p/>
        </p:txBody>
      </p:sp>
      <p:sp>
        <p:nvSpPr>
          <p:cNvPr id="9" name="Text 7"/>
          <p:cNvSpPr/>
          <p:nvPr/>
        </p:nvSpPr>
        <p:spPr>
          <a:xfrm>
            <a:off x="777240" y="2898648"/>
            <a:ext cx="297180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노드 j마다 독립적으로:</a:t>
            </a:r>
            <a:endParaRPr lang="en-US" sz="1200" dirty="0"/>
          </a:p>
          <a:p>
            <a:pPr indent="0" marL="0" eaLnBrk="0" hangingPunct="1">
              <a:lnSpc>
                <a:spcPct val="120000"/>
              </a:lnSpc>
              <a:buNone/>
            </a:pP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무선 이웃 ∩ 창 안의 사망들을 모아</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최소제곱으로 평면을 맞추고</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기울기 ∇T_j 를 얻는다</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수만큼 N개의 추정치</a:t>
            </a:r>
            <a:endParaRPr lang="en-US" sz="1200" dirty="0"/>
          </a:p>
        </p:txBody>
      </p:sp>
      <p:sp>
        <p:nvSpPr>
          <p:cNvPr id="10" name="Shape 8"/>
          <p:cNvSpPr/>
          <p:nvPr/>
        </p:nvSpPr>
        <p:spPr>
          <a:xfrm>
            <a:off x="4379976" y="2121408"/>
            <a:ext cx="3429000" cy="2487168"/>
          </a:xfrm>
          <a:prstGeom prst="roundRect">
            <a:avLst>
              <a:gd name="adj" fmla="val 2353"/>
            </a:avLst>
          </a:prstGeom>
          <a:solidFill>
            <a:srgbClr val="FBEFE2"/>
          </a:solidFill>
          <a:ln w="12700">
            <a:solidFill>
              <a:srgbClr val="E2DCD0"/>
            </a:solidFill>
            <a:prstDash val="solid"/>
          </a:ln>
        </p:spPr>
        <p:txBody>
          <a:bodyPr/>
          <a:p/>
        </p:txBody>
      </p:sp>
      <p:sp>
        <p:nvSpPr>
          <p:cNvPr id="11" name="Text 9"/>
          <p:cNvSpPr/>
          <p:nvPr/>
        </p:nvSpPr>
        <p:spPr>
          <a:xfrm>
            <a:off x="4608576" y="2322576"/>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2단 · 집계</a:t>
            </a:r>
            <a:endParaRPr lang="en-US" sz="1450" dirty="0"/>
          </a:p>
        </p:txBody>
      </p:sp>
      <p:sp>
        <p:nvSpPr>
          <p:cNvPr id="12" name="Shape 10"/>
          <p:cNvSpPr/>
          <p:nvPr/>
        </p:nvSpPr>
        <p:spPr>
          <a:xfrm>
            <a:off x="4608576" y="2761488"/>
            <a:ext cx="502920" cy="0"/>
          </a:xfrm>
          <a:prstGeom prst="line">
            <a:avLst/>
          </a:prstGeom>
          <a:noFill/>
          <a:ln w="25400">
            <a:solidFill>
              <a:srgbClr val="D35400"/>
            </a:solidFill>
            <a:prstDash val="solid"/>
          </a:ln>
        </p:spPr>
        <p:txBody>
          <a:bodyPr/>
          <a:p/>
        </p:txBody>
      </p:sp>
      <p:sp>
        <p:nvSpPr>
          <p:cNvPr id="13" name="Text 11"/>
          <p:cNvSpPr/>
          <p:nvPr/>
        </p:nvSpPr>
        <p:spPr>
          <a:xfrm>
            <a:off x="4608576" y="2898648"/>
            <a:ext cx="297180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N개를 하나로 합친다:</a:t>
            </a:r>
            <a:endParaRPr lang="en-US" sz="1200" dirty="0"/>
          </a:p>
          <a:p>
            <a:pPr indent="0" marL="0" eaLnBrk="0" hangingPunct="1">
              <a:lnSpc>
                <a:spcPct val="120000"/>
              </a:lnSpc>
              <a:buNone/>
            </a:pP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방향 — 신뢰도 가중 벡터합</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가중치 w = |∇T|²</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속도 — 중앙값(강건 통계)</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진단 — 유효표본수 n_eff</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두 출력이 다른 집계를 쓴다</a:t>
            </a:r>
            <a:endParaRPr lang="en-US" sz="1200" dirty="0"/>
          </a:p>
        </p:txBody>
      </p:sp>
      <p:sp>
        <p:nvSpPr>
          <p:cNvPr id="14" name="Shape 12"/>
          <p:cNvSpPr/>
          <p:nvPr/>
        </p:nvSpPr>
        <p:spPr>
          <a:xfrm>
            <a:off x="8211312" y="2121408"/>
            <a:ext cx="3429000" cy="2487168"/>
          </a:xfrm>
          <a:prstGeom prst="roundRect">
            <a:avLst>
              <a:gd name="adj" fmla="val 2353"/>
            </a:avLst>
          </a:prstGeom>
          <a:solidFill>
            <a:srgbClr val="EEF3E6"/>
          </a:solidFill>
          <a:ln w="12700">
            <a:solidFill>
              <a:srgbClr val="E2DCD0"/>
            </a:solidFill>
            <a:prstDash val="solid"/>
          </a:ln>
        </p:spPr>
        <p:txBody>
          <a:bodyPr/>
          <a:p/>
        </p:txBody>
      </p:sp>
      <p:sp>
        <p:nvSpPr>
          <p:cNvPr id="15" name="Text 13"/>
          <p:cNvSpPr/>
          <p:nvPr/>
        </p:nvSpPr>
        <p:spPr>
          <a:xfrm>
            <a:off x="8439912" y="2322576"/>
            <a:ext cx="297180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출력</a:t>
            </a:r>
            <a:endParaRPr lang="en-US" sz="1450" dirty="0"/>
          </a:p>
        </p:txBody>
      </p:sp>
      <p:sp>
        <p:nvSpPr>
          <p:cNvPr id="16" name="Shape 14"/>
          <p:cNvSpPr/>
          <p:nvPr/>
        </p:nvSpPr>
        <p:spPr>
          <a:xfrm>
            <a:off x="8439912" y="2761488"/>
            <a:ext cx="502920" cy="0"/>
          </a:xfrm>
          <a:prstGeom prst="line">
            <a:avLst/>
          </a:prstGeom>
          <a:noFill/>
          <a:ln w="25400">
            <a:solidFill>
              <a:srgbClr val="D35400"/>
            </a:solidFill>
            <a:prstDash val="solid"/>
          </a:ln>
        </p:spPr>
        <p:txBody>
          <a:bodyPr/>
          <a:p/>
        </p:txBody>
      </p:sp>
      <p:sp>
        <p:nvSpPr>
          <p:cNvPr id="17" name="Text 15"/>
          <p:cNvSpPr/>
          <p:nvPr/>
        </p:nvSpPr>
        <p:spPr>
          <a:xfrm>
            <a:off x="8439912" y="2898648"/>
            <a:ext cx="2971800" cy="132588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진행 방향  n̂</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진행 속도  s</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지점별 도착예상시각 ETA</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신뢰도 등급</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정보가 부족하면 값을 내지 않고</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INSUFFICIENT를 반환한다.</a:t>
            </a:r>
            <a:endParaRPr lang="en-US" sz="1200" dirty="0"/>
          </a:p>
        </p:txBody>
      </p:sp>
      <p:sp>
        <p:nvSpPr>
          <p:cNvPr id="18" name="Shape 16"/>
          <p:cNvSpPr/>
          <p:nvPr/>
        </p:nvSpPr>
        <p:spPr>
          <a:xfrm>
            <a:off x="4041648" y="3287268"/>
            <a:ext cx="292608" cy="0"/>
          </a:xfrm>
          <a:prstGeom prst="line">
            <a:avLst/>
          </a:prstGeom>
          <a:noFill/>
          <a:ln w="25400">
            <a:solidFill>
              <a:srgbClr val="D35400"/>
            </a:solidFill>
            <a:prstDash val="solid"/>
            <a:tailEnd type="triangle"/>
          </a:ln>
        </p:spPr>
        <p:txBody>
          <a:bodyPr/>
          <a:p/>
        </p:txBody>
      </p:sp>
      <p:sp>
        <p:nvSpPr>
          <p:cNvPr id="19" name="Shape 17"/>
          <p:cNvSpPr/>
          <p:nvPr/>
        </p:nvSpPr>
        <p:spPr>
          <a:xfrm>
            <a:off x="7872984" y="3287268"/>
            <a:ext cx="292608" cy="0"/>
          </a:xfrm>
          <a:prstGeom prst="line">
            <a:avLst/>
          </a:prstGeom>
          <a:noFill/>
          <a:ln w="25400">
            <a:solidFill>
              <a:srgbClr val="D35400"/>
            </a:solidFill>
            <a:prstDash val="solid"/>
            <a:tailEnd type="triangle"/>
          </a:ln>
        </p:spPr>
        <p:txBody>
          <a:bodyPr/>
          <a:p/>
        </p:txBody>
      </p:sp>
      <p:sp>
        <p:nvSpPr>
          <p:cNvPr id="20" name="Shape 18"/>
          <p:cNvSpPr/>
          <p:nvPr/>
        </p:nvSpPr>
        <p:spPr>
          <a:xfrm>
            <a:off x="548640" y="4809744"/>
            <a:ext cx="11091672" cy="1298448"/>
          </a:xfrm>
          <a:prstGeom prst="roundRect">
            <a:avLst>
              <a:gd name="adj" fmla="val 4225"/>
            </a:avLst>
          </a:prstGeom>
          <a:solidFill>
            <a:srgbClr val="FFFFFF"/>
          </a:solidFill>
          <a:ln w="12700">
            <a:solidFill>
              <a:srgbClr val="E2DCD0"/>
            </a:solidFill>
            <a:prstDash val="solid"/>
          </a:ln>
        </p:spPr>
        <p:txBody>
          <a:bodyPr/>
          <a:p/>
        </p:txBody>
      </p:sp>
      <p:sp>
        <p:nvSpPr>
          <p:cNvPr id="21" name="Text 19"/>
          <p:cNvSpPr/>
          <p:nvPr/>
        </p:nvSpPr>
        <p:spPr>
          <a:xfrm>
            <a:off x="777240" y="4919472"/>
            <a:ext cx="585216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∇T = n̂ / s  →  방향 n̂ = ∇T/|∇T| ,  속도 s = 1/|∇T|</a:t>
            </a:r>
            <a:endParaRPr lang="en-US" sz="1500" dirty="0"/>
          </a:p>
        </p:txBody>
      </p:sp>
      <p:sp>
        <p:nvSpPr>
          <p:cNvPr id="22" name="Text 20"/>
          <p:cNvSpPr/>
          <p:nvPr/>
        </p:nvSpPr>
        <p:spPr>
          <a:xfrm>
            <a:off x="713232" y="5358384"/>
            <a:ext cx="10762488" cy="548640"/>
          </a:xfrm>
          <a:prstGeom prst="rect">
            <a:avLst/>
          </a:prstGeom>
          <a:noFill/>
          <a:ln/>
        </p:spPr>
        <p:txBody>
          <a:bodyPr wrap="square" rtlCol="0" anchor="ctr"/>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모든 노드에 똑같이 걸리는 센서 지연은 평면의 절편에만 흡수되어 기울기에서 상쇄된다 — </a:t>
            </a:r>
            <a:pPr indent="0" marL="0">
              <a:lnSpc>
                <a:spcPct val="120000"/>
              </a:lnSpc>
              <a:buNone/>
            </a:pPr>
            <a:r>
              <a:rPr lang="en-US" sz="1200" b="1" dirty="0">
                <a:solidFill>
                  <a:srgbClr val="2C5F2D"/>
                </a:solidFill>
                <a:latin typeface="맑은 고딕" pitchFamily="34" charset="0"/>
                <a:ea typeface="맑은 고딕" pitchFamily="34" charset="-122"/>
                <a:cs typeface="맑은 고딕" pitchFamily="34" charset="-120"/>
              </a:rPr>
              <a:t>방향·속도가 센서 지연에 원리적으로 면역인 이유(수식 증명).</a:t>
            </a:r>
            <a:endParaRPr lang="en-US" sz="1200" dirty="0"/>
          </a:p>
        </p:txBody>
      </p:sp>
      <p:sp>
        <p:nvSpPr>
          <p:cNvPr id="23" name="Text 21"/>
          <p:cNvSpPr/>
          <p:nvPr/>
        </p:nvSpPr>
        <p:spPr>
          <a:xfrm>
            <a:off x="6766560" y="4937760"/>
            <a:ext cx="4663440" cy="320040"/>
          </a:xfrm>
          <a:prstGeom prst="rect">
            <a:avLst/>
          </a:prstGeom>
          <a:noFill/>
          <a:ln/>
        </p:spPr>
        <p:txBody>
          <a:bodyPr wrap="square" rtlCol="0" anchor="ctr"/>
          <a:lstStyle/>
          <a:p>
            <a:pPr algn="r" indent="0" marL="0" eaLnBrk="0" hangingPunct="1">
              <a:buNone/>
            </a:pPr>
            <a:r>
              <a:rPr lang="en-US" sz="1100" dirty="0">
                <a:solidFill>
                  <a:srgbClr val="6B6E6A"/>
                </a:solidFill>
                <a:latin typeface="맑은 고딕" pitchFamily="34" charset="0"/>
                <a:ea typeface="맑은 고딕" pitchFamily="34" charset="-122"/>
                <a:cs typeface="맑은 고딕" pitchFamily="34" charset="-120"/>
              </a:rPr>
              <a:t>가벼운 최소제곱 — 저사양 게이트웨이에서 즉시 계산 (딥러닝 아님)</a:t>
            </a:r>
            <a:endParaRPr lang="en-US" sz="1100" dirty="0"/>
          </a:p>
        </p:txBody>
      </p:sp>
      <p:sp>
        <p:nvSpPr>
          <p:cNvPr id="24" name="Text 2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5" name="Text 2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7</a:t>
            </a:r>
            <a:endParaRPr lang="en-US" sz="900" dirty="0"/>
          </a:p>
        </p:txBody>
      </p:sp>
      <p:sp>
        <p:nvSpPr>
          <p:cNvPr id="26" name="Shape 24"/>
          <p:cNvSpPr/>
          <p:nvPr/>
        </p:nvSpPr>
        <p:spPr>
          <a:xfrm>
            <a:off x="10503027" y="6464808"/>
            <a:ext cx="144018" cy="36576"/>
          </a:xfrm>
          <a:prstGeom prst="line">
            <a:avLst/>
          </a:prstGeom>
          <a:noFill/>
          <a:ln w="9525">
            <a:solidFill>
              <a:srgbClr val="E2DCD0"/>
            </a:solidFill>
            <a:prstDash val="solid"/>
          </a:ln>
        </p:spPr>
        <p:txBody>
          <a:bodyPr/>
          <a:p/>
        </p:txBody>
      </p:sp>
      <p:sp>
        <p:nvSpPr>
          <p:cNvPr id="27" name="Shape 25"/>
          <p:cNvSpPr/>
          <p:nvPr/>
        </p:nvSpPr>
        <p:spPr>
          <a:xfrm flipH="1">
            <a:off x="10498455" y="6464808"/>
            <a:ext cx="4572" cy="187452"/>
          </a:xfrm>
          <a:prstGeom prst="line">
            <a:avLst/>
          </a:prstGeom>
          <a:noFill/>
          <a:ln w="9525">
            <a:solidFill>
              <a:srgbClr val="E2DCD0"/>
            </a:solidFill>
            <a:prstDash val="solid"/>
          </a:ln>
        </p:spPr>
        <p:txBody>
          <a:bodyPr/>
          <a:p/>
        </p:txBody>
      </p:sp>
      <p:sp>
        <p:nvSpPr>
          <p:cNvPr id="28" name="Shape 26"/>
          <p:cNvSpPr/>
          <p:nvPr/>
        </p:nvSpPr>
        <p:spPr>
          <a:xfrm flipV="1">
            <a:off x="10647045" y="6451092"/>
            <a:ext cx="235458" cy="50292"/>
          </a:xfrm>
          <a:prstGeom prst="line">
            <a:avLst/>
          </a:prstGeom>
          <a:noFill/>
          <a:ln w="9525">
            <a:solidFill>
              <a:srgbClr val="E2DCD0"/>
            </a:solidFill>
            <a:prstDash val="solid"/>
          </a:ln>
        </p:spPr>
        <p:txBody>
          <a:bodyPr/>
          <a:p/>
        </p:txBody>
      </p:sp>
      <p:sp>
        <p:nvSpPr>
          <p:cNvPr id="29" name="Shape 27"/>
          <p:cNvSpPr/>
          <p:nvPr/>
        </p:nvSpPr>
        <p:spPr>
          <a:xfrm flipH="1">
            <a:off x="10642473" y="6501384"/>
            <a:ext cx="4572" cy="196596"/>
          </a:xfrm>
          <a:prstGeom prst="line">
            <a:avLst/>
          </a:prstGeom>
          <a:noFill/>
          <a:ln w="9525">
            <a:solidFill>
              <a:srgbClr val="E2DCD0"/>
            </a:solidFill>
            <a:prstDash val="solid"/>
          </a:ln>
        </p:spPr>
        <p:txBody>
          <a:bodyPr/>
          <a:p/>
        </p:txBody>
      </p:sp>
      <p:sp>
        <p:nvSpPr>
          <p:cNvPr id="30" name="Shape 28"/>
          <p:cNvSpPr/>
          <p:nvPr/>
        </p:nvSpPr>
        <p:spPr>
          <a:xfrm>
            <a:off x="10882503" y="6451092"/>
            <a:ext cx="162306" cy="41148"/>
          </a:xfrm>
          <a:prstGeom prst="line">
            <a:avLst/>
          </a:prstGeom>
          <a:noFill/>
          <a:ln w="9525">
            <a:solidFill>
              <a:srgbClr val="E2DCD0"/>
            </a:solidFill>
            <a:prstDash val="solid"/>
          </a:ln>
        </p:spPr>
        <p:txBody>
          <a:bodyPr/>
          <a:p/>
        </p:txBody>
      </p:sp>
      <p:sp>
        <p:nvSpPr>
          <p:cNvPr id="31" name="Shape 29"/>
          <p:cNvSpPr/>
          <p:nvPr/>
        </p:nvSpPr>
        <p:spPr>
          <a:xfrm flipH="1">
            <a:off x="10877931" y="6451092"/>
            <a:ext cx="4572" cy="196596"/>
          </a:xfrm>
          <a:prstGeom prst="line">
            <a:avLst/>
          </a:prstGeom>
          <a:noFill/>
          <a:ln w="9525">
            <a:solidFill>
              <a:srgbClr val="E2DCD0"/>
            </a:solidFill>
            <a:prstDash val="solid"/>
          </a:ln>
        </p:spPr>
        <p:txBody>
          <a:bodyPr/>
          <a:p/>
        </p:txBody>
      </p:sp>
      <p:sp>
        <p:nvSpPr>
          <p:cNvPr id="32" name="Shape 30"/>
          <p:cNvSpPr/>
          <p:nvPr/>
        </p:nvSpPr>
        <p:spPr>
          <a:xfrm flipH="1">
            <a:off x="11040237" y="6492240"/>
            <a:ext cx="4572" cy="196596"/>
          </a:xfrm>
          <a:prstGeom prst="line">
            <a:avLst/>
          </a:prstGeom>
          <a:noFill/>
          <a:ln w="9525">
            <a:solidFill>
              <a:srgbClr val="E2DCD0"/>
            </a:solidFill>
            <a:prstDash val="solid"/>
          </a:ln>
        </p:spPr>
        <p:txBody>
          <a:bodyPr/>
          <a:p/>
        </p:txBody>
      </p:sp>
      <p:sp>
        <p:nvSpPr>
          <p:cNvPr id="33" name="Shape 31"/>
          <p:cNvSpPr/>
          <p:nvPr/>
        </p:nvSpPr>
        <p:spPr>
          <a:xfrm>
            <a:off x="10498455" y="6652260"/>
            <a:ext cx="144018" cy="45720"/>
          </a:xfrm>
          <a:prstGeom prst="line">
            <a:avLst/>
          </a:prstGeom>
          <a:noFill/>
          <a:ln w="9525">
            <a:solidFill>
              <a:srgbClr val="E2DCD0"/>
            </a:solidFill>
            <a:prstDash val="solid"/>
          </a:ln>
        </p:spPr>
        <p:txBody>
          <a:bodyPr/>
          <a:p/>
        </p:txBody>
      </p:sp>
      <p:sp>
        <p:nvSpPr>
          <p:cNvPr id="34" name="Shape 32"/>
          <p:cNvSpPr/>
          <p:nvPr/>
        </p:nvSpPr>
        <p:spPr>
          <a:xfrm flipV="1">
            <a:off x="10642473" y="6647688"/>
            <a:ext cx="235458" cy="50292"/>
          </a:xfrm>
          <a:prstGeom prst="line">
            <a:avLst/>
          </a:prstGeom>
          <a:noFill/>
          <a:ln w="9525">
            <a:solidFill>
              <a:srgbClr val="E2DCD0"/>
            </a:solidFill>
            <a:prstDash val="solid"/>
          </a:ln>
        </p:spPr>
        <p:txBody>
          <a:bodyPr/>
          <a:p/>
        </p:txBody>
      </p:sp>
      <p:sp>
        <p:nvSpPr>
          <p:cNvPr id="35" name="Shape 33"/>
          <p:cNvSpPr/>
          <p:nvPr/>
        </p:nvSpPr>
        <p:spPr>
          <a:xfrm>
            <a:off x="10877931" y="6647688"/>
            <a:ext cx="162306" cy="41148"/>
          </a:xfrm>
          <a:prstGeom prst="line">
            <a:avLst/>
          </a:prstGeom>
          <a:noFill/>
          <a:ln w="9525">
            <a:solidFill>
              <a:srgbClr val="E2DCD0"/>
            </a:solidFill>
            <a:prstDash val="solid"/>
          </a:ln>
        </p:spPr>
        <p:txBody>
          <a:bodyPr/>
          <a:p/>
        </p:txBody>
      </p:sp>
      <p:sp>
        <p:nvSpPr>
          <p:cNvPr id="36" name="Shape 3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7" name="Shape 3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8" name="Shape 3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9" name="Shape 3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0" name="Shape 3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1" name="Shape 3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2" name="Shape 4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3" name="Shape 4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4" name="Text 42"/>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명세↔코드 1:1 대조 완료</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③ ★ 오탐 방어 (헤드라인)</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'통신두절'인가, '진짜 파괴'인가</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66928"/>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노드가 조용해졌다고 다 죽은 게 아니다. 잠깐 끊긴 것(통신두절)이나 불이 아닌 죽음(배터리·고장)을 화재로 오판하면 가짜 화선이 그려진다. 세 층으로 막는다.</a:t>
            </a:r>
            <a:endParaRPr lang="en-US" sz="1350" dirty="0"/>
          </a:p>
        </p:txBody>
      </p:sp>
      <p:sp>
        <p:nvSpPr>
          <p:cNvPr id="6" name="Shape 4"/>
          <p:cNvSpPr/>
          <p:nvPr/>
        </p:nvSpPr>
        <p:spPr>
          <a:xfrm>
            <a:off x="548640" y="2084832"/>
            <a:ext cx="3429000" cy="2240280"/>
          </a:xfrm>
          <a:prstGeom prst="roundRect">
            <a:avLst>
              <a:gd name="adj" fmla="val 2449"/>
            </a:avLst>
          </a:prstGeom>
          <a:solidFill>
            <a:srgbClr val="FFFFFF"/>
          </a:solidFill>
          <a:ln w="12700">
            <a:solidFill>
              <a:srgbClr val="E2DCD0"/>
            </a:solidFill>
            <a:prstDash val="solid"/>
          </a:ln>
        </p:spPr>
        <p:txBody>
          <a:bodyPr/>
          <a:p/>
        </p:txBody>
      </p:sp>
      <p:sp>
        <p:nvSpPr>
          <p:cNvPr id="7" name="Text 5"/>
          <p:cNvSpPr/>
          <p:nvPr/>
        </p:nvSpPr>
        <p:spPr>
          <a:xfrm>
            <a:off x="777240" y="2286000"/>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1층 · 다중 이웃 교차검증</a:t>
            </a:r>
            <a:endParaRPr lang="en-US" sz="1450" dirty="0"/>
          </a:p>
        </p:txBody>
      </p:sp>
      <p:sp>
        <p:nvSpPr>
          <p:cNvPr id="8" name="Shape 6"/>
          <p:cNvSpPr/>
          <p:nvPr/>
        </p:nvSpPr>
        <p:spPr>
          <a:xfrm>
            <a:off x="777240" y="2724912"/>
            <a:ext cx="502920" cy="0"/>
          </a:xfrm>
          <a:prstGeom prst="line">
            <a:avLst/>
          </a:prstGeom>
          <a:noFill/>
          <a:ln w="25400">
            <a:solidFill>
              <a:srgbClr val="D35400"/>
            </a:solidFill>
            <a:prstDash val="solid"/>
          </a:ln>
        </p:spPr>
        <p:txBody>
          <a:bodyPr/>
          <a:p/>
        </p:txBody>
      </p:sp>
      <p:sp>
        <p:nvSpPr>
          <p:cNvPr id="9" name="Text 7"/>
          <p:cNvSpPr/>
          <p:nvPr/>
        </p:nvSpPr>
        <p:spPr>
          <a:xfrm>
            <a:off x="777240" y="2862072"/>
            <a:ext cx="2971800"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한 노드가 침묵해도 즉시 죽음으로 보지 않는다. K개 이웃(K_confirm=3)이 독립적으로 '연결 끊김'을 확인해야 사망 후보로 승격 — 일시적 링크 노이즈를 걸러낸다.</a:t>
            </a:r>
            <a:endParaRPr lang="en-US" sz="1200" dirty="0"/>
          </a:p>
        </p:txBody>
      </p:sp>
      <p:sp>
        <p:nvSpPr>
          <p:cNvPr id="10" name="Shape 8"/>
          <p:cNvSpPr/>
          <p:nvPr/>
        </p:nvSpPr>
        <p:spPr>
          <a:xfrm>
            <a:off x="4379976" y="2084832"/>
            <a:ext cx="3429000" cy="2240280"/>
          </a:xfrm>
          <a:prstGeom prst="roundRect">
            <a:avLst>
              <a:gd name="adj" fmla="val 2449"/>
            </a:avLst>
          </a:prstGeom>
          <a:solidFill>
            <a:srgbClr val="FFFFFF"/>
          </a:solidFill>
          <a:ln w="12700">
            <a:solidFill>
              <a:srgbClr val="E2DCD0"/>
            </a:solidFill>
            <a:prstDash val="solid"/>
          </a:ln>
        </p:spPr>
        <p:txBody>
          <a:bodyPr/>
          <a:p/>
        </p:txBody>
      </p:sp>
      <p:sp>
        <p:nvSpPr>
          <p:cNvPr id="11" name="Text 9"/>
          <p:cNvSpPr/>
          <p:nvPr/>
        </p:nvSpPr>
        <p:spPr>
          <a:xfrm>
            <a:off x="4608576" y="2286000"/>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2층 · 온도 교차검증</a:t>
            </a:r>
            <a:endParaRPr lang="en-US" sz="1450" dirty="0"/>
          </a:p>
        </p:txBody>
      </p:sp>
      <p:sp>
        <p:nvSpPr>
          <p:cNvPr id="12" name="Shape 10"/>
          <p:cNvSpPr/>
          <p:nvPr/>
        </p:nvSpPr>
        <p:spPr>
          <a:xfrm>
            <a:off x="4608576" y="2724912"/>
            <a:ext cx="502920" cy="0"/>
          </a:xfrm>
          <a:prstGeom prst="line">
            <a:avLst/>
          </a:prstGeom>
          <a:noFill/>
          <a:ln w="25400">
            <a:solidFill>
              <a:srgbClr val="D35400"/>
            </a:solidFill>
            <a:prstDash val="solid"/>
          </a:ln>
        </p:spPr>
        <p:txBody>
          <a:bodyPr/>
          <a:p/>
        </p:txBody>
      </p:sp>
      <p:sp>
        <p:nvSpPr>
          <p:cNvPr id="13" name="Text 11"/>
          <p:cNvSpPr/>
          <p:nvPr/>
        </p:nvSpPr>
        <p:spPr>
          <a:xfrm>
            <a:off x="4480560" y="2862072"/>
            <a:ext cx="3227832"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사망 후보가 직전에 고온을 겪었는가? 화선에 의한 죽음이면 온도 상승이 선행한다. 온도 정황이 뒷받침될 때만 '화선 사망'으로 확정.</a:t>
            </a:r>
            <a:endParaRPr lang="en-US" sz="1200" dirty="0"/>
          </a:p>
        </p:txBody>
      </p:sp>
      <p:sp>
        <p:nvSpPr>
          <p:cNvPr id="14" name="Shape 12"/>
          <p:cNvSpPr/>
          <p:nvPr/>
        </p:nvSpPr>
        <p:spPr>
          <a:xfrm>
            <a:off x="8211312" y="2084832"/>
            <a:ext cx="3429000" cy="2240280"/>
          </a:xfrm>
          <a:prstGeom prst="roundRect">
            <a:avLst>
              <a:gd name="adj" fmla="val 2449"/>
            </a:avLst>
          </a:prstGeom>
          <a:solidFill>
            <a:srgbClr val="FBEFE2"/>
          </a:solidFill>
          <a:ln w="12700">
            <a:solidFill>
              <a:srgbClr val="E2DCD0"/>
            </a:solidFill>
            <a:prstDash val="solid"/>
          </a:ln>
        </p:spPr>
        <p:txBody>
          <a:bodyPr/>
          <a:p/>
        </p:txBody>
      </p:sp>
      <p:sp>
        <p:nvSpPr>
          <p:cNvPr id="15" name="Text 13"/>
          <p:cNvSpPr/>
          <p:nvPr/>
        </p:nvSpPr>
        <p:spPr>
          <a:xfrm>
            <a:off x="8439912" y="2286000"/>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3층 · 임종신호 (비대칭)</a:t>
            </a:r>
            <a:endParaRPr lang="en-US" sz="1450" dirty="0"/>
          </a:p>
        </p:txBody>
      </p:sp>
      <p:sp>
        <p:nvSpPr>
          <p:cNvPr id="16" name="Shape 14"/>
          <p:cNvSpPr/>
          <p:nvPr/>
        </p:nvSpPr>
        <p:spPr>
          <a:xfrm>
            <a:off x="8439912" y="2724912"/>
            <a:ext cx="502920" cy="0"/>
          </a:xfrm>
          <a:prstGeom prst="line">
            <a:avLst/>
          </a:prstGeom>
          <a:noFill/>
          <a:ln w="25400">
            <a:solidFill>
              <a:srgbClr val="D35400"/>
            </a:solidFill>
            <a:prstDash val="solid"/>
          </a:ln>
        </p:spPr>
        <p:txBody>
          <a:bodyPr/>
          <a:p/>
        </p:txBody>
      </p:sp>
      <p:sp>
        <p:nvSpPr>
          <p:cNvPr id="17" name="Text 15"/>
          <p:cNvSpPr/>
          <p:nvPr/>
        </p:nvSpPr>
        <p:spPr>
          <a:xfrm>
            <a:off x="8439912" y="2862072"/>
            <a:ext cx="2971800"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임종신호는 있으면 화재 증거, 없어도 기각 근거가 아니다 — 전소로 신호조차 못 보낸 노드가 바로 진짜 화재이므로. 이 비대칭성은 테스트 2개로 고정.</a:t>
            </a:r>
            <a:endParaRPr lang="en-US" sz="1200" dirty="0"/>
          </a:p>
        </p:txBody>
      </p:sp>
      <p:sp>
        <p:nvSpPr>
          <p:cNvPr id="18" name="Shape 16"/>
          <p:cNvSpPr/>
          <p:nvPr/>
        </p:nvSpPr>
        <p:spPr>
          <a:xfrm>
            <a:off x="548640" y="4553712"/>
            <a:ext cx="11091672" cy="1417320"/>
          </a:xfrm>
          <a:prstGeom prst="roundRect">
            <a:avLst>
              <a:gd name="adj" fmla="val 3871"/>
            </a:avLst>
          </a:prstGeom>
          <a:solidFill>
            <a:srgbClr val="EEF3E6"/>
          </a:solidFill>
          <a:ln w="12700">
            <a:solidFill>
              <a:srgbClr val="E2DCD0"/>
            </a:solidFill>
            <a:prstDash val="solid"/>
          </a:ln>
        </p:spPr>
        <p:txBody>
          <a:bodyPr/>
          <a:p/>
        </p:txBody>
      </p:sp>
      <p:sp>
        <p:nvSpPr>
          <p:cNvPr id="19" name="Text 17"/>
          <p:cNvSpPr/>
          <p:nvPr/>
        </p:nvSpPr>
        <p:spPr>
          <a:xfrm>
            <a:off x="777240" y="4681728"/>
            <a:ext cx="10607040" cy="320040"/>
          </a:xfrm>
          <a:prstGeom prst="rect">
            <a:avLst/>
          </a:prstGeom>
          <a:noFill/>
          <a:ln/>
        </p:spPr>
        <p:txBody>
          <a:bodyPr wrap="square" rtlCol="0" anchor="ctr"/>
          <a:lstStyle/>
          <a:p>
            <a:pP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설계 원칙 — 판별은 정보가 가장 많은 곳에서</a:t>
            </a:r>
            <a:endParaRPr lang="en-US" sz="1350" dirty="0"/>
          </a:p>
        </p:txBody>
      </p:sp>
      <p:sp>
        <p:nvSpPr>
          <p:cNvPr id="20" name="Text 18"/>
          <p:cNvSpPr/>
          <p:nvPr/>
        </p:nvSpPr>
        <p:spPr>
          <a:xfrm>
            <a:off x="777240" y="5029200"/>
            <a:ext cx="10607040" cy="822960"/>
          </a:xfrm>
          <a:prstGeom prst="rect">
            <a:avLst/>
          </a:prstGeom>
          <a:noFill/>
          <a:ln/>
        </p:spPr>
        <p:txBody>
          <a:bodyPr wrap="square" rtlCol="0" anchor="ctr"/>
          <a:lstStyle/>
          <a:p>
            <a:pPr indent="0" marL="0" eaLnBrk="0" hangingPunct="1">
              <a:lnSpc>
                <a:spcPct val="125000"/>
              </a:lnSpc>
              <a:buNone/>
            </a:pPr>
            <a:r>
              <a:rPr lang="en-US" sz="1200" dirty="0">
                <a:solidFill>
                  <a:srgbClr val="44483F"/>
                </a:solidFill>
                <a:latin typeface="맑은 고딕" pitchFamily="34" charset="0"/>
                <a:ea typeface="맑은 고딕" pitchFamily="34" charset="-122"/>
                <a:cs typeface="맑은 고딕" pitchFamily="34" charset="-120"/>
              </a:rPr>
              <a:t>말단 노드의 게이트는 </a:t>
            </a:r>
            <a:pPr indent="0" marL="0">
              <a:lnSpc>
                <a:spcPct val="125000"/>
              </a:lnSpc>
              <a:buNone/>
            </a:pPr>
            <a:r>
              <a:rPr lang="en-US" sz="1200" b="1" dirty="0">
                <a:solidFill>
                  <a:srgbClr val="1F2421"/>
                </a:solidFill>
                <a:latin typeface="맑은 고딕" pitchFamily="34" charset="0"/>
                <a:ea typeface="맑은 고딕" pitchFamily="34" charset="-122"/>
                <a:cs typeface="맑은 고딕" pitchFamily="34" charset="-120"/>
              </a:rPr>
              <a:t>의도적으로 느슨하게</a:t>
            </a:r>
            <a:pPr indent="0" marL="0">
              <a:lnSpc>
                <a:spcPct val="125000"/>
              </a:lnSpc>
              <a:buNone/>
            </a:pPr>
            <a:r>
              <a:rPr lang="en-US" sz="1200" dirty="0">
                <a:solidFill>
                  <a:srgbClr val="44483F"/>
                </a:solidFill>
                <a:latin typeface="맑은 고딕" pitchFamily="34" charset="0"/>
                <a:ea typeface="맑은 고딕" pitchFamily="34" charset="-122"/>
                <a:cs typeface="맑은 고딕" pitchFamily="34" charset="-120"/>
              </a:rPr>
              <a:t> 두고, 최종 판별은 이웃 정보가 모두 모이는 게이트웨이에서 한다. 말단에서 조이면 게이트웨이가 볼 표본 자체가 굶기 때문. </a:t>
            </a:r>
            <a:pPr indent="0" marL="0">
              <a:lnSpc>
                <a:spcPct val="125000"/>
              </a:lnSpc>
              <a:buNone/>
            </a:pPr>
            <a:r>
              <a:rPr lang="en-US" sz="1200" b="1" dirty="0">
                <a:solidFill>
                  <a:srgbClr val="2C5F2D"/>
                </a:solidFill>
                <a:latin typeface="맑은 고딕" pitchFamily="34" charset="0"/>
                <a:ea typeface="맑은 고딕" pitchFamily="34" charset="-122"/>
                <a:cs typeface="맑은 고딕" pitchFamily="34" charset="-120"/>
              </a:rPr>
              <a:t>결과: 측정 전 구간(통신두절 0.30까지) 오탐률 0%, 비화재 COOL 누수 86.4% → 0%.</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8</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1" name="Text 39"/>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순정 painlessMesh가 갖지 못한 계층</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④ 자가치유 라우팅 · 임종신호</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길이 끊겨도 관측은 죽지 않는다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898648"/>
          </a:xfrm>
          <a:prstGeom prst="roundRect">
            <a:avLst>
              <a:gd name="adj" fmla="val 1967"/>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자가치유 라우팅</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78308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브리지(id 99) 기준 역방향 BFS로 각 노드의 상행 경로를 구성.</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노드가 DEAD로 확정되면 영향 구역만 경로를 즉시 재계산.</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연결성이 유지되는 한, 죽은 노드를 우회해 데이터가 계속 sink에 도달.</a:t>
            </a:r>
            <a:endParaRPr lang="en-US" sz="1200" dirty="0"/>
          </a:p>
          <a:p>
            <a:pPr indent="0" marL="0" eaLnBrk="0" hangingPunct="1">
              <a:lnSpc>
                <a:spcPct val="120000"/>
              </a:lnSpc>
              <a:buNone/>
            </a:pPr>
            <a:endParaRPr lang="en-US" sz="1200" dirty="0"/>
          </a:p>
          <a:p>
            <a:pPr indent="-146304" marL="146304" eaLnBrk="0" hangingPunct="1">
              <a:lnSpc>
                <a:spcPct val="120000"/>
              </a:lnSpc>
              <a:buNone/>
            </a:pPr>
            <a:r>
              <a:rPr lang="en-US" sz="1100" dirty="0" b="1">
                <a:solidFill>
                  <a:srgbClr val="44483F"/>
                </a:solidFill>
                <a:latin typeface="맑은 고딕" pitchFamily="34" charset="0"/>
                <a:ea typeface="맑은 고딕" pitchFamily="34" charset="-122"/>
                <a:cs typeface="맑은 고딕" pitchFamily="34" charset="-120"/>
              </a:rPr>
              <a:t>· 실물 4노드 메시 실측 (2026-08-30)</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중계 노드 이탈 → 데이터 전달 복구 26.0초 / 노드 재합류 3.0초</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트리는 원래 형태로 되돌아가지 않고 다른 유효한 형태로 수렴했다.</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시뮬의 100ms는 틱값(성능 아님).</a:t>
            </a:r>
            <a:endParaRPr lang="en-US" sz="1200" dirty="0"/>
          </a:p>
        </p:txBody>
      </p:sp>
      <p:sp>
        <p:nvSpPr>
          <p:cNvPr id="9" name="Shape 7"/>
          <p:cNvSpPr/>
          <p:nvPr/>
        </p:nvSpPr>
        <p:spPr>
          <a:xfrm>
            <a:off x="6153912" y="1508760"/>
            <a:ext cx="5477256" cy="2075688"/>
          </a:xfrm>
          <a:prstGeom prst="roundRect">
            <a:avLst>
              <a:gd name="adj" fmla="val 1967"/>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임종신호 (Last-Gasp)</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78308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노드가 임계온도를 넘어 죽기 직전, 마지막 패킷을 방출.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'언제 죽었는가'를 확정 → 도착시각 추정의 입력 시각을 정밀화.</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하트비트(주기 신호) 누락과 결합해 침묵을 판정.</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죽음의 '시각'이 정확할수록 화선 방향·속도 추정이 정밀해진다.</a:t>
            </a:r>
            <a:endParaRPr lang="en-US" sz="1200" dirty="0"/>
          </a:p>
        </p:txBody>
      </p:sp>
      <p:sp>
        <p:nvSpPr>
          <p:cNvPr id="13" name="Text 11"/>
          <p:cNvSpPr/>
          <p:nvPr/>
        </p:nvSpPr>
        <p:spPr>
          <a:xfrm>
            <a:off x="548640" y="4572000"/>
            <a:ext cx="11064240" cy="457200"/>
          </a:xfrm>
          <a:prstGeom prst="rect">
            <a:avLst/>
          </a:prstGeom>
          <a:noFill/>
          <a:ln/>
        </p:spPr>
        <p:txBody>
          <a:bodyPr wrap="square" rtlCol="0" anchor="ctr"/>
          <a:lstStyle/>
          <a:p>
            <a:pPr algn="ct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자가치유(관측 지속) + 임종신호(죽음의 시각 확정)가 만나, '죽는 노드'가 '살아있는 정보'가 된다.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9</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flipH="1">
            <a:off x="10498455" y="6464808"/>
            <a:ext cx="4572" cy="187452"/>
          </a:xfrm>
          <a:prstGeom prst="line">
            <a:avLst/>
          </a:prstGeom>
          <a:noFill/>
          <a:ln w="9525">
            <a:solidFill>
              <a:srgbClr val="E2DCD0"/>
            </a:solidFill>
            <a:prstDash val="solid"/>
          </a:ln>
        </p:spPr>
        <p:txBody>
          <a:bodyPr/>
          <a:p/>
        </p:txBody>
      </p:sp>
      <p:sp>
        <p:nvSpPr>
          <p:cNvPr id="18" name="Shape 16"/>
          <p:cNvSpPr/>
          <p:nvPr/>
        </p:nvSpPr>
        <p:spPr>
          <a:xfrm flipV="1">
            <a:off x="10647045" y="6451092"/>
            <a:ext cx="235458" cy="50292"/>
          </a:xfrm>
          <a:prstGeom prst="line">
            <a:avLst/>
          </a:prstGeom>
          <a:noFill/>
          <a:ln w="9525">
            <a:solidFill>
              <a:srgbClr val="E2DCD0"/>
            </a:solidFill>
            <a:prstDash val="solid"/>
          </a:ln>
        </p:spPr>
        <p:txBody>
          <a:bodyPr/>
          <a:p/>
        </p:txBody>
      </p:sp>
      <p:sp>
        <p:nvSpPr>
          <p:cNvPr id="19" name="Shape 17"/>
          <p:cNvSpPr/>
          <p:nvPr/>
        </p:nvSpPr>
        <p:spPr>
          <a:xfrm flipH="1">
            <a:off x="10642473"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flipH="1">
            <a:off x="10877931" y="6451092"/>
            <a:ext cx="4572" cy="196596"/>
          </a:xfrm>
          <a:prstGeom prst="line">
            <a:avLst/>
          </a:prstGeom>
          <a:noFill/>
          <a:ln w="9525">
            <a:solidFill>
              <a:srgbClr val="E2DCD0"/>
            </a:solidFill>
            <a:prstDash val="solid"/>
          </a:ln>
        </p:spPr>
        <p:txBody>
          <a:bodyPr/>
          <a:p/>
        </p:txBody>
      </p:sp>
      <p:sp>
        <p:nvSpPr>
          <p:cNvPr id="22" name="Shape 20"/>
          <p:cNvSpPr/>
          <p:nvPr/>
        </p:nvSpPr>
        <p:spPr>
          <a:xfrm flipH="1">
            <a:off x="11040237"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flipV="1">
            <a:off x="10642473" y="6647688"/>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⑤ 구성 · 개발 규율</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코드 구성과 개발 규율</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86400" cy="3200400"/>
          </a:xfrm>
          <a:prstGeom prst="roundRect">
            <a:avLst>
              <a:gd name="adj" fmla="val 1714"/>
            </a:avLst>
          </a:prstGeom>
          <a:solidFill>
            <a:srgbClr val="FFFFFF"/>
          </a:solidFill>
          <a:ln w="12700">
            <a:solidFill>
              <a:srgbClr val="E2DCD0"/>
            </a:solidFill>
            <a:prstDash val="solid"/>
          </a:ln>
        </p:spPr>
        <p:txBody>
          <a:bodyPr/>
          <a:p/>
        </p:txBody>
      </p:sp>
      <p:sp>
        <p:nvSpPr>
          <p:cNvPr id="6" name="Text 4"/>
          <p:cNvSpPr/>
          <p:nvPr/>
        </p:nvSpPr>
        <p:spPr>
          <a:xfrm>
            <a:off x="777240" y="1709928"/>
            <a:ext cx="50292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저장소 구성</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5029200" cy="21945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sim/  — 시뮬레이터 · 추정기(estimator) · 집계(aggregate)</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firmware/  — ESP32 노드 펌웨어(C/C++)</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gateway/  — 라즈베리파이 추정기(Python, sim 재사용)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dashboard/  — 자체완결 웹 관제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docs/  — 연구노트(PROGRESS · DECISIONS · 알고리즘 명세)</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결정 로그(D-001~)를 남겨 '왜 그렇게 정했는가'를 전부 추적 가능하게.</a:t>
            </a:r>
            <a:endParaRPr lang="en-US" sz="1200" dirty="0"/>
          </a:p>
        </p:txBody>
      </p:sp>
      <p:sp>
        <p:nvSpPr>
          <p:cNvPr id="9" name="Shape 7"/>
          <p:cNvSpPr/>
          <p:nvPr/>
        </p:nvSpPr>
        <p:spPr>
          <a:xfrm>
            <a:off x="6153912" y="1508760"/>
            <a:ext cx="5477256" cy="3200400"/>
          </a:xfrm>
          <a:prstGeom prst="roundRect">
            <a:avLst>
              <a:gd name="adj" fmla="val 1714"/>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추정기 동결 + 버전 분기</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21945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핵심 추정기 파일을 동결(frozen) — 모든 개선은 버전 분기로만.</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그래서 어떤 실험도 과거 결과를 훼손할 수 없다.</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회귀가 매번 비트 단위 동일함을 확인(최대차 0.000e+00).</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자동 테스트 54건 상시 통과.</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결과가 나빠도 파라미터를 유리하게 고치지 않는다(기록만).</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데모에만 맞춘 과적합을 피한다.</a:t>
            </a:r>
            <a:endParaRPr lang="en-US" sz="1200" dirty="0"/>
          </a:p>
        </p:txBody>
      </p:sp>
      <p:sp>
        <p:nvSpPr>
          <p:cNvPr id="13" name="Text 11"/>
          <p:cNvSpPr/>
          <p:nvPr/>
        </p:nvSpPr>
        <p:spPr>
          <a:xfrm>
            <a:off x="548640" y="4892040"/>
            <a:ext cx="11064240" cy="68580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 값을 정하기 전에 먼저 재고, 잰 값에서 파라미터를 유도한다. 완성도는 '보기 좋은 숫자'가 아니라 '재현 가능하고 정직하게 측정된 숫자'에서 나온다.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10</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flipH="1">
            <a:off x="10498455" y="6464808"/>
            <a:ext cx="4572" cy="187452"/>
          </a:xfrm>
          <a:prstGeom prst="line">
            <a:avLst/>
          </a:prstGeom>
          <a:noFill/>
          <a:ln w="9525">
            <a:solidFill>
              <a:srgbClr val="E2DCD0"/>
            </a:solidFill>
            <a:prstDash val="solid"/>
          </a:ln>
        </p:spPr>
        <p:txBody>
          <a:bodyPr/>
          <a:p/>
        </p:txBody>
      </p:sp>
      <p:sp>
        <p:nvSpPr>
          <p:cNvPr id="18" name="Shape 16"/>
          <p:cNvSpPr/>
          <p:nvPr/>
        </p:nvSpPr>
        <p:spPr>
          <a:xfrm flipV="1">
            <a:off x="10647045" y="6451092"/>
            <a:ext cx="235458" cy="50292"/>
          </a:xfrm>
          <a:prstGeom prst="line">
            <a:avLst/>
          </a:prstGeom>
          <a:noFill/>
          <a:ln w="9525">
            <a:solidFill>
              <a:srgbClr val="E2DCD0"/>
            </a:solidFill>
            <a:prstDash val="solid"/>
          </a:ln>
        </p:spPr>
        <p:txBody>
          <a:bodyPr/>
          <a:p/>
        </p:txBody>
      </p:sp>
      <p:sp>
        <p:nvSpPr>
          <p:cNvPr id="19" name="Shape 17"/>
          <p:cNvSpPr/>
          <p:nvPr/>
        </p:nvSpPr>
        <p:spPr>
          <a:xfrm flipH="1">
            <a:off x="10642473"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flipH="1">
            <a:off x="10877931" y="6451092"/>
            <a:ext cx="4572" cy="196596"/>
          </a:xfrm>
          <a:prstGeom prst="line">
            <a:avLst/>
          </a:prstGeom>
          <a:noFill/>
          <a:ln w="9525">
            <a:solidFill>
              <a:srgbClr val="E2DCD0"/>
            </a:solidFill>
            <a:prstDash val="solid"/>
          </a:ln>
        </p:spPr>
        <p:txBody>
          <a:bodyPr/>
          <a:p/>
        </p:txBody>
      </p:sp>
      <p:sp>
        <p:nvSpPr>
          <p:cNvPr id="22" name="Shape 20"/>
          <p:cNvSpPr/>
          <p:nvPr/>
        </p:nvSpPr>
        <p:spPr>
          <a:xfrm flipH="1">
            <a:off x="11040237"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flipV="1">
            <a:off x="10642473" y="6647688"/>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①</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하드웨어 없이 먼저 검증하고, 정직하게 교정</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148840"/>
          </a:xfrm>
          <a:prstGeom prst="roundRect">
            <a:avLst>
              <a:gd name="adj" fmla="val 2553"/>
            </a:avLst>
          </a:prstGeom>
          <a:solidFill>
            <a:srgbClr val="FBEFE2"/>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장애 · 하드웨어 리스크</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부품 도착 전 알고리즘을 못 짜면 개발이 지연되고, 실물에서 처음 검증하면 리스크가 크다.</a:t>
            </a:r>
            <a:endParaRPr lang="en-US" sz="1200" dirty="0"/>
          </a:p>
        </p:txBody>
      </p:sp>
      <p:sp>
        <p:nvSpPr>
          <p:cNvPr id="9" name="Shape 7"/>
          <p:cNvSpPr/>
          <p:nvPr/>
        </p:nvSpPr>
        <p:spPr>
          <a:xfrm>
            <a:off x="6153912" y="150876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해결 · 시뮬 선(先)개발</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네트워크 시뮬레이터로 4대 기능을 먼저 구현·검증. 정상 조건에서 방향 2.12°·속도 0.10%·전달률 92.3%·오탐 0% 확보.</a:t>
            </a:r>
            <a:endParaRPr lang="en-US" sz="1200" dirty="0"/>
          </a:p>
        </p:txBody>
      </p:sp>
      <p:sp>
        <p:nvSpPr>
          <p:cNvPr id="13" name="Shape 11"/>
          <p:cNvSpPr/>
          <p:nvPr/>
        </p:nvSpPr>
        <p:spPr>
          <a:xfrm>
            <a:off x="548640" y="3840480"/>
            <a:ext cx="5440680" cy="2148840"/>
          </a:xfrm>
          <a:prstGeom prst="roundRect">
            <a:avLst>
              <a:gd name="adj" fmla="val 2553"/>
            </a:avLst>
          </a:prstGeom>
          <a:solidFill>
            <a:srgbClr val="FBEFE2"/>
          </a:solidFill>
          <a:ln w="12700">
            <a:solidFill>
              <a:srgbClr val="E2DCD0"/>
            </a:solidFill>
            <a:prstDash val="solid"/>
          </a:ln>
        </p:spPr>
        <p:txBody>
          <a:bodyPr/>
          <a:p/>
        </p:txBody>
      </p:sp>
      <p:sp>
        <p:nvSpPr>
          <p:cNvPr id="14" name="Text 12"/>
          <p:cNvSpPr/>
          <p:nvPr/>
        </p:nvSpPr>
        <p:spPr>
          <a:xfrm>
            <a:off x="777240" y="4041648"/>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장애 · 가짜로 좋은 수치</a:t>
            </a:r>
            <a:endParaRPr lang="en-US" sz="1450" dirty="0"/>
          </a:p>
        </p:txBody>
      </p:sp>
      <p:sp>
        <p:nvSpPr>
          <p:cNvPr id="15" name="Shape 13"/>
          <p:cNvSpPr/>
          <p:nvPr/>
        </p:nvSpPr>
        <p:spPr>
          <a:xfrm>
            <a:off x="777240" y="4480560"/>
            <a:ext cx="502920" cy="0"/>
          </a:xfrm>
          <a:prstGeom prst="line">
            <a:avLst/>
          </a:prstGeom>
          <a:noFill/>
          <a:ln w="25400">
            <a:solidFill>
              <a:srgbClr val="D35400"/>
            </a:solidFill>
            <a:prstDash val="solid"/>
          </a:ln>
        </p:spPr>
        <p:txBody>
          <a:bodyPr/>
          <a:p/>
        </p:txBody>
      </p:sp>
      <p:sp>
        <p:nvSpPr>
          <p:cNvPr id="16" name="Text 14"/>
          <p:cNvSpPr/>
          <p:nvPr/>
        </p:nvSpPr>
        <p:spPr>
          <a:xfrm>
            <a:off x="777240" y="461772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초기엔 바람이 고정 파형이라 시드를 바꿔도 오차가 안 변해 에러바가 가짜로 0에 가까웠다. 좋아 보이는 숫자가 사실은 측정이 아니었다.</a:t>
            </a:r>
            <a:endParaRPr lang="en-US" sz="1200" dirty="0"/>
          </a:p>
        </p:txBody>
      </p:sp>
      <p:sp>
        <p:nvSpPr>
          <p:cNvPr id="17" name="Shape 15"/>
          <p:cNvSpPr/>
          <p:nvPr/>
        </p:nvSpPr>
        <p:spPr>
          <a:xfrm>
            <a:off x="6153912" y="384048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8" name="Text 16"/>
          <p:cNvSpPr/>
          <p:nvPr/>
        </p:nvSpPr>
        <p:spPr>
          <a:xfrm>
            <a:off x="6382512" y="404164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해결 · 사전등록 제도</a:t>
            </a:r>
            <a:endParaRPr lang="en-US" sz="1450" dirty="0"/>
          </a:p>
        </p:txBody>
      </p:sp>
      <p:sp>
        <p:nvSpPr>
          <p:cNvPr id="19" name="Shape 17"/>
          <p:cNvSpPr/>
          <p:nvPr/>
        </p:nvSpPr>
        <p:spPr>
          <a:xfrm>
            <a:off x="6382512" y="4480560"/>
            <a:ext cx="502920" cy="0"/>
          </a:xfrm>
          <a:prstGeom prst="line">
            <a:avLst/>
          </a:prstGeom>
          <a:noFill/>
          <a:ln w="25400">
            <a:solidFill>
              <a:srgbClr val="D35400"/>
            </a:solidFill>
            <a:prstDash val="solid"/>
          </a:ln>
        </p:spPr>
        <p:txBody>
          <a:bodyPr/>
          <a:p/>
        </p:txBody>
      </p:sp>
      <p:sp>
        <p:nvSpPr>
          <p:cNvPr id="20" name="Text 18"/>
          <p:cNvSpPr/>
          <p:nvPr/>
        </p:nvSpPr>
        <p:spPr>
          <a:xfrm>
            <a:off x="6382512" y="461772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바람을 시드마다 다른 실현으로 바꿔 진짜 통계로. 나아가 물리 예측을 미리 등록하고 맞든 틀리든 전부 기록하는 규칙을 세웠다 — 기각된 예측 5건이 문서에 그대로 남아 있다(단조성·취약성·곡률·채점·ETA 게이트).</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11</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1" name="Text 39"/>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정직성 서사 = 과대포장 배제</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② ★ 하나의 증상, 세 번의 오진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방향오차 82° — 진짜 원인을 찾기까지</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4864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타원 화선의 측면 조건에서 방향오차가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82~86°</a:t>
            </a:r>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 90°가 무작위 추측의 한계이므로 사실상 아무 정보도 못 주는 상태였다. 세 번의 진단이 전부 측정으로 기각된 뒤에야 원인에 닿았다.</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48256"/>
          <a:ext cx="11091672" cy="1883664"/>
        </p:xfrm>
        <a:graphic>
          <a:graphicData uri="http://schemas.openxmlformats.org/drawingml/2006/table">
            <a:tbl>
              <a:tblPr/>
              <a:tblGrid>
                <a:gridCol w="502920"/>
                <a:gridCol w="3520440"/>
                <a:gridCol w="3291840"/>
                <a:gridCol w="3776472"/>
              </a:tblGrid>
              <a:tr h="292608">
                <a:tc>
                  <a:txBody>
                    <a:bodyPr/>
                    <a:lstStyle/>
                    <a:p>
                      <a:pPr algn="l" indent="0" marL="0" eaLnBrk="0" hangingPunct="1">
                        <a:buNone/>
                      </a:pP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가설</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검정 방법</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결과</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곡률 탓 — 화선이 굽어 평면 근사가 깨짐</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창을 넓혀 곡률 영향을 분리</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기각 — 창을 넓히자 81.8° → 5.6°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채점 방식 탓 — 국소 법선 vs 전역 축 혼동</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채점 코드를 직접 확인</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기각 — 이미 국소 법선 기준이었다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③</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표본 부족 탓 — 창 안에 이웃이 모자람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표본 수·조건수 진단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부분 기각 — 13개인데도 실패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38912">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④</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집계 가중치가 원인</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노드별 개별 오차와 가중치 분포를 분해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 확정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8" name="Text 5"/>
          <p:cNvSpPr/>
          <p:nvPr/>
        </p:nvSpPr>
        <p:spPr>
          <a:xfrm>
            <a:off x="548640"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+0.986</a:t>
            </a:r>
            <a:endParaRPr lang="en-US" sz="2800" dirty="0"/>
          </a:p>
        </p:txBody>
      </p:sp>
      <p:sp>
        <p:nvSpPr>
          <p:cNvPr id="9" name="Text 6"/>
          <p:cNvSpPr/>
          <p:nvPr/>
        </p:nvSpPr>
        <p:spPr>
          <a:xfrm>
            <a:off x="548640"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corr(속도, 방향오차)</a:t>
            </a:r>
            <a:endParaRPr lang="en-US" sz="1200" dirty="0"/>
          </a:p>
        </p:txBody>
      </p:sp>
      <p:sp>
        <p:nvSpPr>
          <p:cNvPr id="10" name="Text 7"/>
          <p:cNvSpPr/>
          <p:nvPr/>
        </p:nvSpPr>
        <p:spPr>
          <a:xfrm>
            <a:off x="548640"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속도가 큰 노드가 곧 틀린 노드</a:t>
            </a:r>
            <a:endParaRPr lang="en-US" sz="950" dirty="0"/>
          </a:p>
        </p:txBody>
      </p:sp>
      <p:sp>
        <p:nvSpPr>
          <p:cNvPr id="11" name="Shape 8"/>
          <p:cNvSpPr/>
          <p:nvPr/>
        </p:nvSpPr>
        <p:spPr>
          <a:xfrm>
            <a:off x="4334256"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2" name="Text 9"/>
          <p:cNvSpPr/>
          <p:nvPr/>
        </p:nvSpPr>
        <p:spPr>
          <a:xfrm>
            <a:off x="4334256"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86.4%</a:t>
            </a:r>
            <a:endParaRPr lang="en-US" sz="2800" dirty="0"/>
          </a:p>
        </p:txBody>
      </p:sp>
      <p:sp>
        <p:nvSpPr>
          <p:cNvPr id="13" name="Text 10"/>
          <p:cNvSpPr/>
          <p:nvPr/>
        </p:nvSpPr>
        <p:spPr>
          <a:xfrm>
            <a:off x="4334256"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한 노드의 가중치 비중</a:t>
            </a:r>
            <a:endParaRPr lang="en-US" sz="1200" dirty="0"/>
          </a:p>
        </p:txBody>
      </p:sp>
      <p:sp>
        <p:nvSpPr>
          <p:cNvPr id="41" name="Text 11"/>
          <p:cNvSpPr/>
          <p:nvPr/>
        </p:nvSpPr>
        <p:spPr>
          <a:xfrm>
            <a:off x="4334256"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그 노드의 개별 오차 85.21°</a:t>
            </a:r>
            <a:endParaRPr lang="en-US" sz="950" dirty="0"/>
          </a:p>
        </p:txBody>
      </p:sp>
      <p:sp>
        <p:nvSpPr>
          <p:cNvPr id="15" name="Shape 12"/>
          <p:cNvSpPr/>
          <p:nvPr/>
        </p:nvSpPr>
        <p:spPr>
          <a:xfrm>
            <a:off x="8119872"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6" name="Text 13"/>
          <p:cNvSpPr/>
          <p:nvPr/>
        </p:nvSpPr>
        <p:spPr>
          <a:xfrm>
            <a:off x="8119872"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1.35°</a:t>
            </a:r>
            <a:endParaRPr lang="en-US" sz="2800" dirty="0"/>
          </a:p>
        </p:txBody>
      </p:sp>
      <p:sp>
        <p:nvSpPr>
          <p:cNvPr id="17" name="Text 14"/>
          <p:cNvSpPr/>
          <p:nvPr/>
        </p:nvSpPr>
        <p:spPr>
          <a:xfrm>
            <a:off x="8119872"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개별 오차의 중앙값</a:t>
            </a:r>
            <a:endParaRPr lang="en-US" sz="1200" dirty="0"/>
          </a:p>
        </p:txBody>
      </p:sp>
      <p:sp>
        <p:nvSpPr>
          <p:cNvPr id="18" name="Text 15"/>
          <p:cNvSpPr/>
          <p:nvPr/>
        </p:nvSpPr>
        <p:spPr>
          <a:xfrm>
            <a:off x="8119872"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나머지 노드들은 맞히고 있었다</a:t>
            </a:r>
            <a:endParaRPr lang="en-US" sz="950" dirty="0"/>
          </a:p>
        </p:txBody>
      </p:sp>
      <p:sp>
        <p:nvSpPr>
          <p:cNvPr id="19" name="Text 16"/>
          <p:cNvSpPr/>
          <p:nvPr/>
        </p:nvSpPr>
        <p:spPr>
          <a:xfrm>
            <a:off x="548640" y="5541264"/>
            <a:ext cx="11091672" cy="868680"/>
          </a:xfrm>
          <a:prstGeom prst="rect">
            <a:avLst/>
          </a:prstGeom>
          <a:noFill/>
          <a:ln/>
        </p:spPr>
        <p:txBody>
          <a:bodyPr wrap="square" rtlCol="0" anchor="ctr"/>
          <a:lstStyle/>
          <a:p>
            <a:pPr indent="0" marL="0" eaLnBrk="0" hangingPunct="1">
              <a:lnSpc>
                <a:spcPct val="105000"/>
              </a:lnSpc>
              <a:buNone/>
            </a:pPr>
            <a:r>
              <a:rPr lang="en-US" sz="1000" b="0" dirty="0">
                <a:solidFill>
                  <a:srgbClr val="44483F"/>
                </a:solidFill>
                <a:latin typeface="맑은 고딕" pitchFamily="34" charset="0"/>
                <a:ea typeface="맑은 고딕" pitchFamily="34" charset="-122"/>
                <a:cs typeface="맑은 고딕" pitchFamily="34" charset="-120"/>
              </a:rPr>
              <a:t>정답은 표본 안에 있었다 — 집계가 그것을 버리고 최악의 노드 하나를 골랐다. 가중치가 w = 1/|∇T| (불확실할수록 크게)로 부호가 반대였다. 오차 전파식에서 다시 유도해 w = |∇T|² 로 교정.</a:t>
            </a:r>
            <a:pPr indent="0" marL="0">
              <a:lnSpc>
                <a:spcPct val="115000"/>
              </a:lnSpc>
              <a:buNone/>
            </a:pPr>
            <a:endParaRPr lang="en-US" sz="1200" dirty="0"/>
          </a:p>
          <a:p>
            <a:pPr indent="0" marL="0" eaLnBrk="0" hangingPunct="1">
              <a:lnSpc>
                <a:spcPct val="105000"/>
              </a:lnSpc>
              <a:buNone/>
            </a:pPr>
            <a:r>
              <a:rPr lang="en-US" sz="1000" b="0" dirty="0">
                <a:solidFill>
                  <a:srgbClr val="44483F"/>
                </a:solidFill>
                <a:latin typeface="맑은 고딕" pitchFamily="34" charset="0"/>
                <a:ea typeface="맑은 고딕" pitchFamily="34" charset="-122"/>
                <a:cs typeface="맑은 고딕" pitchFamily="34" charset="-120"/>
              </a:rPr>
              <a:t>82~86°는 시뮬 타원 화선의 측면 조건에서 창 8초·결함 가중치로 낸 전역 방향 오차다. 같은 추정을 20cm 실물 격자·창 327초에서 국소 법선 기준으로 재면 이웃이 8개인 내부 노드는 0.33~1.17°, 이웃이 3~5개인 가장자리·모서리는 0.96~33.20°다. 남은 오차는 알고리즘이 아니라 이웃 배치에서 온다.</a:t>
            </a:r>
            <a:pPr indent="0" marL="0">
              <a:lnSpc>
                <a:spcPct val="115000"/>
              </a:lnSpc>
              <a:buNone/>
            </a:pPr>
            <a:endParaRPr lang="en-US" sz="1200" dirty="0"/>
          </a:p>
          <a:p>
            <a:pPr indent="0" marL="0" eaLnBrk="0" hangingPunct="1">
              <a:lnSpc>
                <a:spcPct val="105000"/>
              </a:lnSpc>
              <a:buNone/>
            </a:pPr>
            <a:r>
              <a:rPr lang="en-US" sz="1000" b="1" dirty="0">
                <a:solidFill>
                  <a:srgbClr val="D35400"/>
                </a:solidFill>
                <a:latin typeface="맑은 고딕" pitchFamily="34" charset="0"/>
                <a:ea typeface="맑은 고딕" pitchFamily="34" charset="-122"/>
                <a:cs typeface="맑은 고딕" pitchFamily="34" charset="-120"/>
              </a:rPr>
              <a:t>교정 뒤 방향오차 — 직선 화선 0.03°, 타원 정면 0.88°. 82~86°가 나왔던 타원 측면·노드 희소 조건은 교정 뒤에도 값을 내지 않고 자기 차단한다. 그 조건의 방향오차는 미측정이다.</a:t>
            </a:r>
            <a:pPr indent="0" marL="0">
              <a:lnSpc>
                <a:spcPct val="115000"/>
              </a:lnSpc>
              <a:buNone/>
            </a:pPr>
            <a:endParaRPr lang="en-US" sz="1200" dirty="0"/>
          </a:p>
        </p:txBody>
      </p:sp>
      <p:sp>
        <p:nvSpPr>
          <p:cNvPr id="20"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1"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12</a:t>
            </a:r>
            <a:endParaRPr lang="en-US" sz="900" dirty="0"/>
          </a:p>
        </p:txBody>
      </p:sp>
      <p:sp>
        <p:nvSpPr>
          <p:cNvPr id="22" name="Shape 19"/>
          <p:cNvSpPr/>
          <p:nvPr/>
        </p:nvSpPr>
        <p:spPr>
          <a:xfrm>
            <a:off x="10503027" y="6464808"/>
            <a:ext cx="144018" cy="36576"/>
          </a:xfrm>
          <a:prstGeom prst="line">
            <a:avLst/>
          </a:prstGeom>
          <a:noFill/>
          <a:ln w="9525">
            <a:solidFill>
              <a:srgbClr val="E2DCD0"/>
            </a:solidFill>
            <a:prstDash val="solid"/>
          </a:ln>
        </p:spPr>
        <p:txBody>
          <a:bodyPr/>
          <a:p/>
        </p:txBody>
      </p:sp>
      <p:sp>
        <p:nvSpPr>
          <p:cNvPr id="23" name="Shape 20"/>
          <p:cNvSpPr/>
          <p:nvPr/>
        </p:nvSpPr>
        <p:spPr>
          <a:xfrm flipH="1">
            <a:off x="10498455" y="6464808"/>
            <a:ext cx="4572" cy="187452"/>
          </a:xfrm>
          <a:prstGeom prst="line">
            <a:avLst/>
          </a:prstGeom>
          <a:noFill/>
          <a:ln w="9525">
            <a:solidFill>
              <a:srgbClr val="E2DCD0"/>
            </a:solidFill>
            <a:prstDash val="solid"/>
          </a:ln>
        </p:spPr>
        <p:txBody>
          <a:bodyPr/>
          <a:p/>
        </p:txBody>
      </p:sp>
      <p:sp>
        <p:nvSpPr>
          <p:cNvPr id="24" name="Shape 21"/>
          <p:cNvSpPr/>
          <p:nvPr/>
        </p:nvSpPr>
        <p:spPr>
          <a:xfrm flipV="1">
            <a:off x="10647045" y="6451092"/>
            <a:ext cx="235458" cy="50292"/>
          </a:xfrm>
          <a:prstGeom prst="line">
            <a:avLst/>
          </a:prstGeom>
          <a:noFill/>
          <a:ln w="9525">
            <a:solidFill>
              <a:srgbClr val="E2DCD0"/>
            </a:solidFill>
            <a:prstDash val="solid"/>
          </a:ln>
        </p:spPr>
        <p:txBody>
          <a:bodyPr/>
          <a:p/>
        </p:txBody>
      </p:sp>
      <p:sp>
        <p:nvSpPr>
          <p:cNvPr id="25" name="Shape 22"/>
          <p:cNvSpPr/>
          <p:nvPr/>
        </p:nvSpPr>
        <p:spPr>
          <a:xfrm flipH="1">
            <a:off x="10642473" y="6501384"/>
            <a:ext cx="4572" cy="196596"/>
          </a:xfrm>
          <a:prstGeom prst="line">
            <a:avLst/>
          </a:prstGeom>
          <a:noFill/>
          <a:ln w="9525">
            <a:solidFill>
              <a:srgbClr val="E2DCD0"/>
            </a:solidFill>
            <a:prstDash val="solid"/>
          </a:ln>
        </p:spPr>
        <p:txBody>
          <a:bodyPr/>
          <a:p/>
        </p:txBody>
      </p:sp>
      <p:sp>
        <p:nvSpPr>
          <p:cNvPr id="26" name="Shape 23"/>
          <p:cNvSpPr/>
          <p:nvPr/>
        </p:nvSpPr>
        <p:spPr>
          <a:xfrm>
            <a:off x="10882503" y="6451092"/>
            <a:ext cx="162306" cy="41148"/>
          </a:xfrm>
          <a:prstGeom prst="line">
            <a:avLst/>
          </a:prstGeom>
          <a:noFill/>
          <a:ln w="9525">
            <a:solidFill>
              <a:srgbClr val="E2DCD0"/>
            </a:solidFill>
            <a:prstDash val="solid"/>
          </a:ln>
        </p:spPr>
        <p:txBody>
          <a:bodyPr/>
          <a:p/>
        </p:txBody>
      </p:sp>
      <p:sp>
        <p:nvSpPr>
          <p:cNvPr id="27" name="Shape 24"/>
          <p:cNvSpPr/>
          <p:nvPr/>
        </p:nvSpPr>
        <p:spPr>
          <a:xfrm flipH="1">
            <a:off x="10877931" y="6451092"/>
            <a:ext cx="4572" cy="196596"/>
          </a:xfrm>
          <a:prstGeom prst="line">
            <a:avLst/>
          </a:prstGeom>
          <a:noFill/>
          <a:ln w="9525">
            <a:solidFill>
              <a:srgbClr val="E2DCD0"/>
            </a:solidFill>
            <a:prstDash val="solid"/>
          </a:ln>
        </p:spPr>
        <p:txBody>
          <a:bodyPr/>
          <a:p/>
        </p:txBody>
      </p:sp>
      <p:sp>
        <p:nvSpPr>
          <p:cNvPr id="28" name="Shape 25"/>
          <p:cNvSpPr/>
          <p:nvPr/>
        </p:nvSpPr>
        <p:spPr>
          <a:xfrm flipH="1">
            <a:off x="11040237" y="6492240"/>
            <a:ext cx="4572" cy="196596"/>
          </a:xfrm>
          <a:prstGeom prst="line">
            <a:avLst/>
          </a:prstGeom>
          <a:noFill/>
          <a:ln w="9525">
            <a:solidFill>
              <a:srgbClr val="E2DCD0"/>
            </a:solidFill>
            <a:prstDash val="solid"/>
          </a:ln>
        </p:spPr>
        <p:txBody>
          <a:bodyPr/>
          <a:p/>
        </p:txBody>
      </p:sp>
      <p:sp>
        <p:nvSpPr>
          <p:cNvPr id="29" name="Shape 26"/>
          <p:cNvSpPr/>
          <p:nvPr/>
        </p:nvSpPr>
        <p:spPr>
          <a:xfrm>
            <a:off x="10498455" y="6652260"/>
            <a:ext cx="144018" cy="45720"/>
          </a:xfrm>
          <a:prstGeom prst="line">
            <a:avLst/>
          </a:prstGeom>
          <a:noFill/>
          <a:ln w="9525">
            <a:solidFill>
              <a:srgbClr val="E2DCD0"/>
            </a:solidFill>
            <a:prstDash val="solid"/>
          </a:ln>
        </p:spPr>
        <p:txBody>
          <a:bodyPr/>
          <a:p/>
        </p:txBody>
      </p:sp>
      <p:sp>
        <p:nvSpPr>
          <p:cNvPr id="30" name="Shape 27"/>
          <p:cNvSpPr/>
          <p:nvPr/>
        </p:nvSpPr>
        <p:spPr>
          <a:xfrm flipV="1">
            <a:off x="10642473" y="6647688"/>
            <a:ext cx="235458" cy="50292"/>
          </a:xfrm>
          <a:prstGeom prst="line">
            <a:avLst/>
          </a:prstGeom>
          <a:noFill/>
          <a:ln w="9525">
            <a:solidFill>
              <a:srgbClr val="E2DCD0"/>
            </a:solidFill>
            <a:prstDash val="solid"/>
          </a:ln>
        </p:spPr>
        <p:txBody>
          <a:bodyPr/>
          <a:p/>
        </p:txBody>
      </p:sp>
      <p:sp>
        <p:nvSpPr>
          <p:cNvPr id="31" name="Shape 28"/>
          <p:cNvSpPr/>
          <p:nvPr/>
        </p:nvSpPr>
        <p:spPr>
          <a:xfrm>
            <a:off x="10877931" y="6647688"/>
            <a:ext cx="162306" cy="41148"/>
          </a:xfrm>
          <a:prstGeom prst="line">
            <a:avLst/>
          </a:prstGeom>
          <a:noFill/>
          <a:ln w="9525">
            <a:solidFill>
              <a:srgbClr val="E2DCD0"/>
            </a:solidFill>
            <a:prstDash val="solid"/>
          </a:ln>
        </p:spPr>
        <p:txBody>
          <a:bodyPr/>
          <a:p/>
        </p:txBody>
      </p:sp>
      <p:sp>
        <p:nvSpPr>
          <p:cNvPr id="32"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6"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0" name="Text 37"/>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우연한 통제군: 같은 입력에서 강건 집계(속도)는 살고 비강건 집계(방향)만 죽었다</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③ ★ 모르면 '모른다'고 말하는 시스템</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가중치를 고쳐도, 정보가 원래 없는 조건은 남는다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45720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희소한 측면 조건에서는 창 안에 쓸 만한 관측 자체가 없다. 어떤 알고리즘도 못 푼다.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그때 시스템은 무엇을 해야 하는가?</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975104"/>
          <a:ext cx="11091672" cy="1828800"/>
        </p:xfrm>
        <a:graphic>
          <a:graphicData uri="http://schemas.openxmlformats.org/drawingml/2006/table">
            <a:tbl>
              <a:tblPr/>
              <a:tblGrid>
                <a:gridCol w="3108960"/>
                <a:gridCol w="4023360"/>
                <a:gridCol w="3959352"/>
              </a:tblGrid>
              <a:tr h="292608">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집계 방식</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출력</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판정</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기존(가중 결함)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85.05°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표본 부족을 감지하지 못하고 값을 출력</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균일 가중</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84.90°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집계 방식을 바꿔도 결과는 같다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중앙값</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84.90°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집계 방식을 바꿔도 결과는 같다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38912">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역분산 (채택)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값 없음 — INSUFFICIENT</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 표본 부족을 감지해 판정을 보류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3931920"/>
            <a:ext cx="5440680" cy="2075688"/>
          </a:xfrm>
          <a:prstGeom prst="roundRect">
            <a:avLst>
              <a:gd name="adj" fmla="val 2927"/>
            </a:avLst>
          </a:prstGeom>
          <a:solidFill>
            <a:srgbClr val="FBEFE2"/>
          </a:solidFill>
          <a:ln w="12700">
            <a:solidFill>
              <a:srgbClr val="E2DCD0"/>
            </a:solidFill>
            <a:prstDash val="solid"/>
          </a:ln>
        </p:spPr>
        <p:txBody>
          <a:bodyPr/>
          <a:p/>
        </p:txBody>
      </p:sp>
      <p:sp>
        <p:nvSpPr>
          <p:cNvPr id="8" name="Text 5"/>
          <p:cNvSpPr/>
          <p:nvPr/>
        </p:nvSpPr>
        <p:spPr>
          <a:xfrm>
            <a:off x="777240" y="4261104"/>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설계 결정 — 폴백을 넣지 않는다</a:t>
            </a:r>
            <a:endParaRPr lang="en-US" sz="1450" dirty="0"/>
          </a:p>
        </p:txBody>
      </p:sp>
      <p:sp>
        <p:nvSpPr>
          <p:cNvPr id="9" name="Shape 6"/>
          <p:cNvSpPr/>
          <p:nvPr/>
        </p:nvSpPr>
        <p:spPr>
          <a:xfrm>
            <a:off x="777240" y="4700016"/>
            <a:ext cx="502920" cy="0"/>
          </a:xfrm>
          <a:prstGeom prst="line">
            <a:avLst/>
          </a:prstGeom>
          <a:noFill/>
          <a:ln w="25400">
            <a:solidFill>
              <a:srgbClr val="D35400"/>
            </a:solidFill>
            <a:prstDash val="solid"/>
          </a:ln>
        </p:spPr>
        <p:txBody>
          <a:bodyPr/>
          <a:p/>
        </p:txBody>
      </p:sp>
      <p:sp>
        <p:nvSpPr>
          <p:cNvPr id="10" name="Text 7"/>
          <p:cNvSpPr/>
          <p:nvPr/>
        </p:nvSpPr>
        <p:spPr>
          <a:xfrm>
            <a:off x="777240" y="4837176"/>
            <a:ext cx="4983480" cy="868680"/>
          </a:xfrm>
          <a:prstGeom prst="rect">
            <a:avLst/>
          </a:prstGeom>
          <a:noFill/>
          <a:ln/>
        </p:spPr>
        <p:txBody>
          <a:bodyPr wrap="square" rtlCol="0" anchor="t"/>
          <a:lstStyle/>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산불 대응에서 '모른다'와 '정반대를 확신한다'의 비용은 대칭이 아니다. 방향을 모르면 판단을 보류하지만, 90° 틀린 방향을 믿으면 대원을 화선 쪽으로 보낸다.</a:t>
            </a:r>
            <a:endParaRPr lang="en-US" sz="1200" dirty="0"/>
          </a:p>
          <a:p>
            <a:pPr indent="0" marL="0" eaLnBrk="0" hangingPunct="1">
              <a:lnSpc>
                <a:spcPct val="100000"/>
              </a:lnSpc>
              <a:buNone/>
            </a:pPr>
            <a:endParaRPr lang="en-US" sz="1200" dirty="0"/>
          </a:p>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실제 로그에는 "냈다면 틀렸을 것: True"가 함께 남는다.</a:t>
            </a:r>
            <a:endParaRPr lang="en-US" sz="1200" dirty="0"/>
          </a:p>
        </p:txBody>
      </p:sp>
      <p:sp>
        <p:nvSpPr>
          <p:cNvPr id="11" name="Shape 8"/>
          <p:cNvSpPr/>
          <p:nvPr/>
        </p:nvSpPr>
        <p:spPr>
          <a:xfrm>
            <a:off x="6153912" y="3931920"/>
            <a:ext cx="5477256" cy="2075688"/>
          </a:xfrm>
          <a:prstGeom prst="roundRect">
            <a:avLst>
              <a:gd name="adj" fmla="val 2927"/>
            </a:avLst>
          </a:prstGeom>
          <a:solidFill>
            <a:srgbClr val="EEF3E6"/>
          </a:solidFill>
          <a:ln w="12700">
            <a:solidFill>
              <a:srgbClr val="E2DCD0"/>
            </a:solidFill>
            <a:prstDash val="solid"/>
          </a:ln>
        </p:spPr>
        <p:txBody>
          <a:bodyPr/>
          <a:p/>
        </p:txBody>
      </p:sp>
      <p:sp>
        <p:nvSpPr>
          <p:cNvPr id="12" name="Text 9"/>
          <p:cNvSpPr/>
          <p:nvPr/>
        </p:nvSpPr>
        <p:spPr>
          <a:xfrm>
            <a:off x="6382512" y="4261104"/>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진단량 · 유효표본수 n_eff</a:t>
            </a:r>
            <a:endParaRPr lang="en-US" sz="1450" dirty="0"/>
          </a:p>
        </p:txBody>
      </p:sp>
      <p:sp>
        <p:nvSpPr>
          <p:cNvPr id="13" name="Shape 10"/>
          <p:cNvSpPr/>
          <p:nvPr/>
        </p:nvSpPr>
        <p:spPr>
          <a:xfrm>
            <a:off x="6382512" y="4700016"/>
            <a:ext cx="502920" cy="0"/>
          </a:xfrm>
          <a:prstGeom prst="line">
            <a:avLst/>
          </a:prstGeom>
          <a:noFill/>
          <a:ln w="25400">
            <a:solidFill>
              <a:srgbClr val="D35400"/>
            </a:solidFill>
            <a:prstDash val="solid"/>
          </a:ln>
        </p:spPr>
        <p:txBody>
          <a:bodyPr/>
          <a:p/>
        </p:txBody>
      </p:sp>
      <p:sp>
        <p:nvSpPr>
          <p:cNvPr id="14" name="Text 11"/>
          <p:cNvSpPr/>
          <p:nvPr/>
        </p:nvSpPr>
        <p:spPr>
          <a:xfrm>
            <a:off x="6382512" y="4837176"/>
            <a:ext cx="5020056" cy="868680"/>
          </a:xfrm>
          <a:prstGeom prst="rect">
            <a:avLst/>
          </a:prstGeom>
          <a:noFill/>
          <a:ln/>
        </p:spPr>
        <p:txBody>
          <a:bodyPr wrap="square" rtlCol="0" anchor="t"/>
          <a:lstStyle/>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표본이 13개여도 하나가 가중치를 독식하면 n_eff는 1.33까지 떨어진다.</a:t>
            </a:r>
            <a:endParaRPr lang="en-US" sz="1200" dirty="0"/>
          </a:p>
          <a:p>
            <a:pPr indent="0" marL="0" eaLnBrk="0" hangingPunct="1">
              <a:lnSpc>
                <a:spcPct val="100000"/>
              </a:lnSpc>
              <a:buNone/>
            </a:pPr>
            <a:endParaRPr lang="en-US" sz="1200" dirty="0"/>
          </a:p>
          <a:p>
            <a:pPr indent="-146304" marL="146304"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 정상 12.7~13.0  · 가중치 독식 1.33~1.74  · 진짜 표본 굶주림 1.04</a:t>
            </a:r>
            <a:endParaRPr lang="en-US" sz="1200" dirty="0"/>
          </a:p>
          <a:p>
            <a:pPr indent="0" marL="0" eaLnBrk="0" hangingPunct="1">
              <a:lnSpc>
                <a:spcPct val="100000"/>
              </a:lnSpc>
              <a:buNone/>
            </a:pPr>
            <a:endParaRPr lang="en-US" sz="1200" dirty="0"/>
          </a:p>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원표본 수와 짝지어 표기해야 두 실패가 구분된다.</a:t>
            </a:r>
            <a:endParaRPr lang="en-US" sz="1200" dirty="0"/>
          </a:p>
        </p:txBody>
      </p:sp>
      <p:sp>
        <p:nvSpPr>
          <p:cNvPr id="37" name="Text 12"/>
          <p:cNvSpPr/>
          <p:nvPr/>
        </p:nvSpPr>
        <p:spPr>
          <a:xfrm>
            <a:off x="548640" y="6016752"/>
            <a:ext cx="11091672" cy="384048"/>
          </a:xfrm>
          <a:prstGeom prst="rect">
            <a:avLst/>
          </a:prstGeom>
          <a:noFill/>
          <a:ln/>
        </p:spPr>
        <p:txBody>
          <a:bodyPr wrap="square" rtlCol="0" anchor="ctr"/>
          <a:lstStyle/>
          <a:p>
            <a:pPr indent="0" marL="0" eaLnBrk="0" hangingPunct="1">
              <a:lnSpc>
                <a:spcPct val="105000"/>
              </a:lnSpc>
              <a:buNone/>
            </a:pPr>
            <a:r>
              <a:rPr lang="en-US" sz="1050" b="1" dirty="0">
                <a:solidFill>
                  <a:srgbClr val="D35400"/>
                </a:solidFill>
                <a:latin typeface="맑은 고딕" pitchFamily="34" charset="0"/>
                <a:ea typeface="맑은 고딕" pitchFamily="34" charset="-122"/>
                <a:cs typeface="맑은 고딕" pitchFamily="34" charset="-120"/>
              </a:rPr>
              <a:t>★ 같은 원칙을 우리 계측 도구가 어겼다 — </a:t>
            </a:r>
            <a:pPr indent="0" marL="0">
              <a:buNone/>
            </a:pPr>
            <a:r>
              <a:rPr lang="en-US" sz="1050" dirty="0">
                <a:solidFill>
                  <a:srgbClr val="1F2421"/>
                </a:solidFill>
                <a:latin typeface="맑은 고딕" pitchFamily="34" charset="0"/>
                <a:ea typeface="맑은 고딕" pitchFamily="34" charset="-122"/>
                <a:cs typeface="맑은 고딕" pitchFamily="34" charset="-120"/>
              </a:rPr>
              <a:t>센서를 못 찾은 로거가 오류 한 줄 뒤 영구히 침묵해, 배선을 고쳐도 정상과 구별되지 않았다. 침묵 대신 상태를 계속 출력하도록 고쳤다.</a:t>
            </a:r>
            <a:endParaRPr lang="en-US" sz="1200" dirty="0"/>
          </a:p>
        </p:txBody>
      </p:sp>
      <p:sp>
        <p:nvSpPr>
          <p:cNvPr id="16" name="Text 1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7" name="Text 1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13</a:t>
            </a:r>
            <a:endParaRPr lang="en-US" sz="900" dirty="0"/>
          </a:p>
        </p:txBody>
      </p:sp>
      <p:sp>
        <p:nvSpPr>
          <p:cNvPr id="18" name="Shape 15"/>
          <p:cNvSpPr/>
          <p:nvPr/>
        </p:nvSpPr>
        <p:spPr>
          <a:xfrm>
            <a:off x="10503027" y="6464808"/>
            <a:ext cx="144018" cy="36576"/>
          </a:xfrm>
          <a:prstGeom prst="line">
            <a:avLst/>
          </a:prstGeom>
          <a:noFill/>
          <a:ln w="9525">
            <a:solidFill>
              <a:srgbClr val="E2DCD0"/>
            </a:solidFill>
            <a:prstDash val="solid"/>
          </a:ln>
        </p:spPr>
        <p:txBody>
          <a:bodyPr/>
          <a:p/>
        </p:txBody>
      </p:sp>
      <p:sp>
        <p:nvSpPr>
          <p:cNvPr id="19" name="Shape 16"/>
          <p:cNvSpPr/>
          <p:nvPr/>
        </p:nvSpPr>
        <p:spPr>
          <a:xfrm flipH="1">
            <a:off x="10498455" y="6464808"/>
            <a:ext cx="4572" cy="187452"/>
          </a:xfrm>
          <a:prstGeom prst="line">
            <a:avLst/>
          </a:prstGeom>
          <a:noFill/>
          <a:ln w="9525">
            <a:solidFill>
              <a:srgbClr val="E2DCD0"/>
            </a:solidFill>
            <a:prstDash val="solid"/>
          </a:ln>
        </p:spPr>
        <p:txBody>
          <a:bodyPr/>
          <a:p/>
        </p:txBody>
      </p:sp>
      <p:sp>
        <p:nvSpPr>
          <p:cNvPr id="20" name="Shape 17"/>
          <p:cNvSpPr/>
          <p:nvPr/>
        </p:nvSpPr>
        <p:spPr>
          <a:xfrm flipV="1">
            <a:off x="10647045" y="6451092"/>
            <a:ext cx="235458" cy="50292"/>
          </a:xfrm>
          <a:prstGeom prst="line">
            <a:avLst/>
          </a:prstGeom>
          <a:noFill/>
          <a:ln w="9525">
            <a:solidFill>
              <a:srgbClr val="E2DCD0"/>
            </a:solidFill>
            <a:prstDash val="solid"/>
          </a:ln>
        </p:spPr>
        <p:txBody>
          <a:bodyPr/>
          <a:p/>
        </p:txBody>
      </p:sp>
      <p:sp>
        <p:nvSpPr>
          <p:cNvPr id="21" name="Shape 18"/>
          <p:cNvSpPr/>
          <p:nvPr/>
        </p:nvSpPr>
        <p:spPr>
          <a:xfrm flipH="1">
            <a:off x="10642473" y="6501384"/>
            <a:ext cx="4572" cy="196596"/>
          </a:xfrm>
          <a:prstGeom prst="line">
            <a:avLst/>
          </a:prstGeom>
          <a:noFill/>
          <a:ln w="9525">
            <a:solidFill>
              <a:srgbClr val="E2DCD0"/>
            </a:solidFill>
            <a:prstDash val="solid"/>
          </a:ln>
        </p:spPr>
        <p:txBody>
          <a:bodyPr/>
          <a:p/>
        </p:txBody>
      </p:sp>
      <p:sp>
        <p:nvSpPr>
          <p:cNvPr id="22" name="Shape 19"/>
          <p:cNvSpPr/>
          <p:nvPr/>
        </p:nvSpPr>
        <p:spPr>
          <a:xfrm>
            <a:off x="10882503" y="6451092"/>
            <a:ext cx="162306" cy="41148"/>
          </a:xfrm>
          <a:prstGeom prst="line">
            <a:avLst/>
          </a:prstGeom>
          <a:noFill/>
          <a:ln w="9525">
            <a:solidFill>
              <a:srgbClr val="E2DCD0"/>
            </a:solidFill>
            <a:prstDash val="solid"/>
          </a:ln>
        </p:spPr>
        <p:txBody>
          <a:bodyPr/>
          <a:p/>
        </p:txBody>
      </p:sp>
      <p:sp>
        <p:nvSpPr>
          <p:cNvPr id="23" name="Shape 20"/>
          <p:cNvSpPr/>
          <p:nvPr/>
        </p:nvSpPr>
        <p:spPr>
          <a:xfrm flipH="1">
            <a:off x="10877931" y="6451092"/>
            <a:ext cx="4572" cy="196596"/>
          </a:xfrm>
          <a:prstGeom prst="line">
            <a:avLst/>
          </a:prstGeom>
          <a:noFill/>
          <a:ln w="9525">
            <a:solidFill>
              <a:srgbClr val="E2DCD0"/>
            </a:solidFill>
            <a:prstDash val="solid"/>
          </a:ln>
        </p:spPr>
        <p:txBody>
          <a:bodyPr/>
          <a:p/>
        </p:txBody>
      </p:sp>
      <p:sp>
        <p:nvSpPr>
          <p:cNvPr id="24" name="Shape 21"/>
          <p:cNvSpPr/>
          <p:nvPr/>
        </p:nvSpPr>
        <p:spPr>
          <a:xfrm flipH="1">
            <a:off x="11040237" y="6492240"/>
            <a:ext cx="4572" cy="196596"/>
          </a:xfrm>
          <a:prstGeom prst="line">
            <a:avLst/>
          </a:prstGeom>
          <a:noFill/>
          <a:ln w="9525">
            <a:solidFill>
              <a:srgbClr val="E2DCD0"/>
            </a:solidFill>
            <a:prstDash val="solid"/>
          </a:ln>
        </p:spPr>
        <p:txBody>
          <a:bodyPr/>
          <a:p/>
        </p:txBody>
      </p:sp>
      <p:sp>
        <p:nvSpPr>
          <p:cNvPr id="25" name="Shape 22"/>
          <p:cNvSpPr/>
          <p:nvPr/>
        </p:nvSpPr>
        <p:spPr>
          <a:xfrm>
            <a:off x="10498455" y="6652260"/>
            <a:ext cx="144018" cy="45720"/>
          </a:xfrm>
          <a:prstGeom prst="line">
            <a:avLst/>
          </a:prstGeom>
          <a:noFill/>
          <a:ln w="9525">
            <a:solidFill>
              <a:srgbClr val="E2DCD0"/>
            </a:solidFill>
            <a:prstDash val="solid"/>
          </a:ln>
        </p:spPr>
        <p:txBody>
          <a:bodyPr/>
          <a:p/>
        </p:txBody>
      </p:sp>
      <p:sp>
        <p:nvSpPr>
          <p:cNvPr id="26" name="Shape 23"/>
          <p:cNvSpPr/>
          <p:nvPr/>
        </p:nvSpPr>
        <p:spPr>
          <a:xfrm flipV="1">
            <a:off x="10642473" y="6647688"/>
            <a:ext cx="235458" cy="50292"/>
          </a:xfrm>
          <a:prstGeom prst="line">
            <a:avLst/>
          </a:prstGeom>
          <a:noFill/>
          <a:ln w="9525">
            <a:solidFill>
              <a:srgbClr val="E2DCD0"/>
            </a:solidFill>
            <a:prstDash val="solid"/>
          </a:ln>
        </p:spPr>
        <p:txBody>
          <a:bodyPr/>
          <a:p/>
        </p:txBody>
      </p:sp>
      <p:sp>
        <p:nvSpPr>
          <p:cNvPr id="27" name="Shape 24"/>
          <p:cNvSpPr/>
          <p:nvPr/>
        </p:nvSpPr>
        <p:spPr>
          <a:xfrm>
            <a:off x="10877931" y="6647688"/>
            <a:ext cx="162306" cy="41148"/>
          </a:xfrm>
          <a:prstGeom prst="line">
            <a:avLst/>
          </a:prstGeom>
          <a:noFill/>
          <a:ln w="9525">
            <a:solidFill>
              <a:srgbClr val="E2DCD0"/>
            </a:solidFill>
            <a:prstDash val="solid"/>
          </a:ln>
        </p:spPr>
        <p:txBody>
          <a:bodyPr/>
          <a:p/>
        </p:txBody>
      </p:sp>
      <p:sp>
        <p:nvSpPr>
          <p:cNvPr id="28" name="Shape 2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9" name="Shape 2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0" name="Shape 2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1" name="Shape 2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2" name="Shape 2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6" name="Text 33"/>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'자기 한계를 아는 것'은 문서가 아니라 기능이다</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④ ★ 하드웨어 괴리 선점</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시뮬에선 보이지 않는 실물 전용 위험 셋</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463040"/>
            <a:ext cx="3429000" cy="4343400"/>
          </a:xfrm>
          <a:prstGeom prst="roundRect">
            <a:avLst>
              <a:gd name="adj" fmla="val 1600"/>
            </a:avLst>
          </a:prstGeom>
          <a:solidFill>
            <a:srgbClr val="FFFFFF"/>
          </a:solidFill>
          <a:ln w="12700">
            <a:solidFill>
              <a:srgbClr val="E2DCD0"/>
            </a:solidFill>
            <a:prstDash val="solid"/>
          </a:ln>
        </p:spPr>
        <p:txBody>
          <a:bodyPr/>
          <a:p/>
        </p:txBody>
      </p:sp>
      <p:sp>
        <p:nvSpPr>
          <p:cNvPr id="6" name="Text 4"/>
          <p:cNvSpPr/>
          <p:nvPr/>
        </p:nvSpPr>
        <p:spPr>
          <a:xfrm>
            <a:off x="777240" y="1664208"/>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① 시계 동기</a:t>
            </a:r>
            <a:endParaRPr lang="en-US" sz="1450" dirty="0"/>
          </a:p>
        </p:txBody>
      </p:sp>
      <p:sp>
        <p:nvSpPr>
          <p:cNvPr id="7" name="Shape 5"/>
          <p:cNvSpPr/>
          <p:nvPr/>
        </p:nvSpPr>
        <p:spPr>
          <a:xfrm>
            <a:off x="777240" y="2103120"/>
            <a:ext cx="502920" cy="0"/>
          </a:xfrm>
          <a:prstGeom prst="line">
            <a:avLst/>
          </a:prstGeom>
          <a:noFill/>
          <a:ln w="25400">
            <a:solidFill>
              <a:srgbClr val="D35400"/>
            </a:solidFill>
            <a:prstDash val="solid"/>
          </a:ln>
        </p:spPr>
        <p:txBody>
          <a:bodyPr/>
          <a:p/>
        </p:txBody>
      </p:sp>
      <p:sp>
        <p:nvSpPr>
          <p:cNvPr id="8" name="Text 6"/>
          <p:cNvSpPr/>
          <p:nvPr/>
        </p:nvSpPr>
        <p:spPr>
          <a:xfrm>
            <a:off x="777240" y="2240280"/>
            <a:ext cx="2971800" cy="2670048"/>
          </a:xfrm>
          <a:prstGeom prst="rect">
            <a:avLst/>
          </a:prstGeom>
          <a:noFill/>
          <a:ln/>
        </p:spPr>
        <p:txBody>
          <a:bodyPr wrap="square" rtlCol="0" anchor="t"/>
          <a:lstStyle/>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서로 다른 노드의 사망 시각을 빼서 기울기를 만드는 알고리즘이므로 시간축이 같아야 한다.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초기 펌웨어는 보드 부팅 기준 시계를 썼다 — 보드마다 원점이 달라 뺄셈 자체가 무의미해지는 원리적 파탄.</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 메시 동기 시각으로 교체. 사망 시각도 '루트의 확정 시각'에서 '당사자 노드가 각인한 시각'으로 (확정 시각엔 감지·투표 지연이 섞여 있었다).</a:t>
            </a:r>
            <a:endParaRPr lang="en-US" sz="1200" dirty="0"/>
          </a:p>
        </p:txBody>
      </p:sp>
      <p:sp>
        <p:nvSpPr>
          <p:cNvPr id="9" name="Shape 7"/>
          <p:cNvSpPr/>
          <p:nvPr/>
        </p:nvSpPr>
        <p:spPr>
          <a:xfrm>
            <a:off x="4379976" y="1463040"/>
            <a:ext cx="3429000" cy="4343400"/>
          </a:xfrm>
          <a:prstGeom prst="roundRect">
            <a:avLst>
              <a:gd name="adj" fmla="val 1600"/>
            </a:avLst>
          </a:prstGeom>
          <a:solidFill>
            <a:srgbClr val="FBEFE2"/>
          </a:solidFill>
          <a:ln w="12700">
            <a:solidFill>
              <a:srgbClr val="E2DCD0"/>
            </a:solidFill>
            <a:prstDash val="solid"/>
          </a:ln>
        </p:spPr>
        <p:txBody>
          <a:bodyPr/>
          <a:p/>
        </p:txBody>
      </p:sp>
      <p:sp>
        <p:nvSpPr>
          <p:cNvPr id="10" name="Text 8"/>
          <p:cNvSpPr/>
          <p:nvPr/>
        </p:nvSpPr>
        <p:spPr>
          <a:xfrm>
            <a:off x="4608576" y="1664208"/>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② 센서 열관성 τ</a:t>
            </a:r>
            <a:endParaRPr lang="en-US" sz="1450" dirty="0"/>
          </a:p>
        </p:txBody>
      </p:sp>
      <p:sp>
        <p:nvSpPr>
          <p:cNvPr id="11" name="Shape 9"/>
          <p:cNvSpPr/>
          <p:nvPr/>
        </p:nvSpPr>
        <p:spPr>
          <a:xfrm>
            <a:off x="4608576" y="2103120"/>
            <a:ext cx="502920" cy="0"/>
          </a:xfrm>
          <a:prstGeom prst="line">
            <a:avLst/>
          </a:prstGeom>
          <a:noFill/>
          <a:ln w="25400">
            <a:solidFill>
              <a:srgbClr val="D35400"/>
            </a:solidFill>
            <a:prstDash val="solid"/>
          </a:ln>
        </p:spPr>
        <p:txBody>
          <a:bodyPr/>
          <a:p/>
        </p:txBody>
      </p:sp>
      <p:sp>
        <p:nvSpPr>
          <p:cNvPr id="12" name="Text 10"/>
          <p:cNvSpPr/>
          <p:nvPr/>
        </p:nvSpPr>
        <p:spPr>
          <a:xfrm>
            <a:off x="4608576" y="2240280"/>
            <a:ext cx="2971800" cy="3840480"/>
          </a:xfrm>
          <a:prstGeom prst="rect">
            <a:avLst/>
          </a:prstGeom>
          <a:noFill/>
          <a:ln/>
        </p:spPr>
        <p:txBody>
          <a:bodyPr wrap="square" rtlCol="0" anchor="t"/>
          <a:lstStyle/>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센서는 공기 온도를 즉시 따라가지 못한다. 이 지연이 곧 사망 시각의 오차가 된다.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시뮬 시험 범위  0 ~ 10초</a:t>
            </a: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실측 범위  11 ~ 92초</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 검증했다고 믿은 범위 밖에 실제가 있었다.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 τ는 온도가 아니라 유속의 함수 — 같은 센서·같은 시행 안에서 제트 21.5초 / 실내 92초로 4.1배 차이. 바뀐 것은 공기가 움직이느냐뿐이었다.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950" dirty="0">
                <a:solidFill>
                  <a:srgbClr val="44483F"/>
                </a:solidFill>
                <a:latin typeface="맑은 고딕" pitchFamily="34" charset="0"/>
                <a:ea typeface="맑은 고딕" pitchFamily="34" charset="-122"/>
                <a:cs typeface="맑은 고딕" pitchFamily="34" charset="-120"/>
              </a:rPr>
              <a:t>★ 노드별 편차 σ_τ는 '미측정'으로 확정. 한때 5.7%로 보고했으나 센서 번호가 측정 순서와 교란(corr −0.903)된 것을 발견하고 우리 손으로 철회했다.</a:t>
            </a:r>
            <a:endParaRPr lang="en-US" sz="1200" dirty="0"/>
          </a:p>
        </p:txBody>
      </p:sp>
      <p:sp>
        <p:nvSpPr>
          <p:cNvPr id="13" name="Shape 11"/>
          <p:cNvSpPr/>
          <p:nvPr/>
        </p:nvSpPr>
        <p:spPr>
          <a:xfrm>
            <a:off x="8211312" y="1463040"/>
            <a:ext cx="3429000" cy="4343400"/>
          </a:xfrm>
          <a:prstGeom prst="roundRect">
            <a:avLst>
              <a:gd name="adj" fmla="val 1600"/>
            </a:avLst>
          </a:prstGeom>
          <a:solidFill>
            <a:srgbClr val="EEF3E6"/>
          </a:solidFill>
          <a:ln w="12700">
            <a:solidFill>
              <a:srgbClr val="E2DCD0"/>
            </a:solidFill>
            <a:prstDash val="solid"/>
          </a:ln>
        </p:spPr>
        <p:txBody>
          <a:bodyPr/>
          <a:p/>
        </p:txBody>
      </p:sp>
      <p:sp>
        <p:nvSpPr>
          <p:cNvPr id="14" name="Text 12"/>
          <p:cNvSpPr/>
          <p:nvPr/>
        </p:nvSpPr>
        <p:spPr>
          <a:xfrm>
            <a:off x="8439912" y="1664208"/>
            <a:ext cx="297180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③ 실물 파이프라인 공백</a:t>
            </a:r>
            <a:endParaRPr lang="en-US" sz="1450" dirty="0"/>
          </a:p>
        </p:txBody>
      </p:sp>
      <p:sp>
        <p:nvSpPr>
          <p:cNvPr id="15" name="Shape 13"/>
          <p:cNvSpPr/>
          <p:nvPr/>
        </p:nvSpPr>
        <p:spPr>
          <a:xfrm>
            <a:off x="8439912" y="2103120"/>
            <a:ext cx="502920" cy="0"/>
          </a:xfrm>
          <a:prstGeom prst="line">
            <a:avLst/>
          </a:prstGeom>
          <a:noFill/>
          <a:ln w="25400">
            <a:solidFill>
              <a:srgbClr val="D35400"/>
            </a:solidFill>
            <a:prstDash val="solid"/>
          </a:ln>
        </p:spPr>
        <p:txBody>
          <a:bodyPr/>
          <a:p/>
        </p:txBody>
      </p:sp>
      <p:sp>
        <p:nvSpPr>
          <p:cNvPr id="16" name="Text 14"/>
          <p:cNvSpPr/>
          <p:nvPr/>
        </p:nvSpPr>
        <p:spPr>
          <a:xfrm>
            <a:off x="8439912" y="2240280"/>
            <a:ext cx="2971800" cy="2670048"/>
          </a:xfrm>
          <a:prstGeom prst="rect">
            <a:avLst/>
          </a:prstGeom>
          <a:noFill/>
          <a:ln/>
        </p:spPr>
        <p:txBody>
          <a:bodyPr wrap="square" rtlCol="0" anchor="t"/>
          <a:lstStyle/>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시뮬에는 화재/비화재 판별이 있는데 실물 경로에는 없었다 — 게이트웨이가 판별기를 아예 호출하지 않고 있었다.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 판정 로직을 한 함수로 통합해 시뮬과 실물이 같은 코드를 호출하도록 교정.</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이걸 놓쳤으면 시뮬에서 검증한 방어가 실물에서 통째로 빠진 채 데모를 했을 것이다.</a:t>
            </a:r>
            <a:endParaRPr lang="en-US" sz="1200" dirty="0"/>
          </a:p>
        </p:txBody>
      </p:sp>
      <p:sp>
        <p:nvSpPr>
          <p:cNvPr id="17" name="Text 15"/>
          <p:cNvSpPr/>
          <p:nvPr/>
        </p:nvSpPr>
        <p:spPr>
          <a:xfrm>
            <a:off x="548640" y="5897880"/>
            <a:ext cx="11091672" cy="457200"/>
          </a:xfrm>
          <a:prstGeom prst="rect">
            <a:avLst/>
          </a:prstGeom>
          <a:noFill/>
          <a:ln/>
        </p:spPr>
        <p:txBody>
          <a:bodyPr wrap="square" rtlCol="0" anchor="ctr"/>
          <a:lstStyle/>
          <a:p>
            <a:pPr indent="0" marL="0" eaLnBrk="0" hangingPunct="1">
              <a:lnSpc>
                <a:spcPct val="120000"/>
              </a:lnSpc>
              <a:buNone/>
            </a:pPr>
            <a:r>
              <a:rPr lang="en-US" sz="1250" dirty="0">
                <a:solidFill>
                  <a:srgbClr val="1F2421"/>
                </a:solidFill>
                <a:latin typeface="맑은 고딕" pitchFamily="34" charset="0"/>
                <a:ea typeface="맑은 고딕" pitchFamily="34" charset="-122"/>
                <a:cs typeface="맑은 고딕" pitchFamily="34" charset="-120"/>
              </a:rPr>
              <a:t>세 위험 모두 </a:t>
            </a:r>
            <a:pPr indent="0" marL="0">
              <a:lnSpc>
                <a:spcPct val="120000"/>
              </a:lnSpc>
              <a:buNone/>
            </a:pPr>
            <a:r>
              <a:rPr lang="en-US" sz="1250" b="1" dirty="0">
                <a:solidFill>
                  <a:srgbClr val="D35400"/>
                </a:solidFill>
                <a:latin typeface="맑은 고딕" pitchFamily="34" charset="0"/>
                <a:ea typeface="맑은 고딕" pitchFamily="34" charset="-122"/>
                <a:cs typeface="맑은 고딕" pitchFamily="34" charset="-120"/>
              </a:rPr>
              <a:t>실물에서 터지기 전에</a:t>
            </a:r>
            <a:pPr indent="0" marL="0">
              <a:lnSpc>
                <a:spcPct val="120000"/>
              </a:lnSpc>
              <a:buNone/>
            </a:pPr>
            <a:r>
              <a:rPr lang="en-US" sz="1250" dirty="0">
                <a:solidFill>
                  <a:srgbClr val="1F2421"/>
                </a:solidFill>
                <a:latin typeface="맑은 고딕" pitchFamily="34" charset="0"/>
                <a:ea typeface="맑은 고딕" pitchFamily="34" charset="-122"/>
                <a:cs typeface="맑은 고딕" pitchFamily="34" charset="-120"/>
              </a:rPr>
              <a:t> 발견했다. ①은 코드 검토로, ②는 실측으로, ③은 실물 이식 준비 중에 — 각각 다른 방법이 필요했다는 것이 이 문제들의 성격을 보여준다.</a:t>
            </a:r>
            <a:endParaRPr lang="en-US" sz="1250" dirty="0"/>
          </a:p>
        </p:txBody>
      </p:sp>
      <p:sp>
        <p:nvSpPr>
          <p:cNvPr id="18" name="Text 16"/>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9" name="Text 17"/>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14</a:t>
            </a:r>
            <a:endParaRPr lang="en-US" sz="900" dirty="0"/>
          </a:p>
        </p:txBody>
      </p:sp>
      <p:sp>
        <p:nvSpPr>
          <p:cNvPr id="20" name="Shape 18"/>
          <p:cNvSpPr/>
          <p:nvPr/>
        </p:nvSpPr>
        <p:spPr>
          <a:xfrm>
            <a:off x="10503027" y="6464808"/>
            <a:ext cx="144018" cy="36576"/>
          </a:xfrm>
          <a:prstGeom prst="line">
            <a:avLst/>
          </a:prstGeom>
          <a:noFill/>
          <a:ln w="9525">
            <a:solidFill>
              <a:srgbClr val="E2DCD0"/>
            </a:solidFill>
            <a:prstDash val="solid"/>
          </a:ln>
        </p:spPr>
        <p:txBody>
          <a:bodyPr/>
          <a:p/>
        </p:txBody>
      </p:sp>
      <p:sp>
        <p:nvSpPr>
          <p:cNvPr id="21" name="Shape 19"/>
          <p:cNvSpPr/>
          <p:nvPr/>
        </p:nvSpPr>
        <p:spPr>
          <a:xfrm flipH="1">
            <a:off x="10498455" y="6464808"/>
            <a:ext cx="4572" cy="187452"/>
          </a:xfrm>
          <a:prstGeom prst="line">
            <a:avLst/>
          </a:prstGeom>
          <a:noFill/>
          <a:ln w="9525">
            <a:solidFill>
              <a:srgbClr val="E2DCD0"/>
            </a:solidFill>
            <a:prstDash val="solid"/>
          </a:ln>
        </p:spPr>
        <p:txBody>
          <a:bodyPr/>
          <a:p/>
        </p:txBody>
      </p:sp>
      <p:sp>
        <p:nvSpPr>
          <p:cNvPr id="22" name="Shape 20"/>
          <p:cNvSpPr/>
          <p:nvPr/>
        </p:nvSpPr>
        <p:spPr>
          <a:xfrm flipV="1">
            <a:off x="10647045" y="6451092"/>
            <a:ext cx="235458" cy="50292"/>
          </a:xfrm>
          <a:prstGeom prst="line">
            <a:avLst/>
          </a:prstGeom>
          <a:noFill/>
          <a:ln w="9525">
            <a:solidFill>
              <a:srgbClr val="E2DCD0"/>
            </a:solidFill>
            <a:prstDash val="solid"/>
          </a:ln>
        </p:spPr>
        <p:txBody>
          <a:bodyPr/>
          <a:p/>
        </p:txBody>
      </p:sp>
      <p:sp>
        <p:nvSpPr>
          <p:cNvPr id="23" name="Shape 21"/>
          <p:cNvSpPr/>
          <p:nvPr/>
        </p:nvSpPr>
        <p:spPr>
          <a:xfrm flipH="1">
            <a:off x="10642473" y="6501384"/>
            <a:ext cx="4572" cy="196596"/>
          </a:xfrm>
          <a:prstGeom prst="line">
            <a:avLst/>
          </a:prstGeom>
          <a:noFill/>
          <a:ln w="9525">
            <a:solidFill>
              <a:srgbClr val="E2DCD0"/>
            </a:solidFill>
            <a:prstDash val="solid"/>
          </a:ln>
        </p:spPr>
        <p:txBody>
          <a:bodyPr/>
          <a:p/>
        </p:txBody>
      </p:sp>
      <p:sp>
        <p:nvSpPr>
          <p:cNvPr id="24" name="Shape 22"/>
          <p:cNvSpPr/>
          <p:nvPr/>
        </p:nvSpPr>
        <p:spPr>
          <a:xfrm>
            <a:off x="10882503" y="6451092"/>
            <a:ext cx="162306" cy="41148"/>
          </a:xfrm>
          <a:prstGeom prst="line">
            <a:avLst/>
          </a:prstGeom>
          <a:noFill/>
          <a:ln w="9525">
            <a:solidFill>
              <a:srgbClr val="E2DCD0"/>
            </a:solidFill>
            <a:prstDash val="solid"/>
          </a:ln>
        </p:spPr>
        <p:txBody>
          <a:bodyPr/>
          <a:p/>
        </p:txBody>
      </p:sp>
      <p:sp>
        <p:nvSpPr>
          <p:cNvPr id="25" name="Shape 23"/>
          <p:cNvSpPr/>
          <p:nvPr/>
        </p:nvSpPr>
        <p:spPr>
          <a:xfrm flipH="1">
            <a:off x="10877931" y="6451092"/>
            <a:ext cx="4572" cy="196596"/>
          </a:xfrm>
          <a:prstGeom prst="line">
            <a:avLst/>
          </a:prstGeom>
          <a:noFill/>
          <a:ln w="9525">
            <a:solidFill>
              <a:srgbClr val="E2DCD0"/>
            </a:solidFill>
            <a:prstDash val="solid"/>
          </a:ln>
        </p:spPr>
        <p:txBody>
          <a:bodyPr/>
          <a:p/>
        </p:txBody>
      </p:sp>
      <p:sp>
        <p:nvSpPr>
          <p:cNvPr id="26" name="Shape 24"/>
          <p:cNvSpPr/>
          <p:nvPr/>
        </p:nvSpPr>
        <p:spPr>
          <a:xfrm flipH="1">
            <a:off x="11040237" y="6492240"/>
            <a:ext cx="4572" cy="196596"/>
          </a:xfrm>
          <a:prstGeom prst="line">
            <a:avLst/>
          </a:prstGeom>
          <a:noFill/>
          <a:ln w="9525">
            <a:solidFill>
              <a:srgbClr val="E2DCD0"/>
            </a:solidFill>
            <a:prstDash val="solid"/>
          </a:ln>
        </p:spPr>
        <p:txBody>
          <a:bodyPr/>
          <a:p/>
        </p:txBody>
      </p:sp>
      <p:sp>
        <p:nvSpPr>
          <p:cNvPr id="27" name="Shape 25"/>
          <p:cNvSpPr/>
          <p:nvPr/>
        </p:nvSpPr>
        <p:spPr>
          <a:xfrm>
            <a:off x="10498455" y="6652260"/>
            <a:ext cx="144018" cy="45720"/>
          </a:xfrm>
          <a:prstGeom prst="line">
            <a:avLst/>
          </a:prstGeom>
          <a:noFill/>
          <a:ln w="9525">
            <a:solidFill>
              <a:srgbClr val="E2DCD0"/>
            </a:solidFill>
            <a:prstDash val="solid"/>
          </a:ln>
        </p:spPr>
        <p:txBody>
          <a:bodyPr/>
          <a:p/>
        </p:txBody>
      </p:sp>
      <p:sp>
        <p:nvSpPr>
          <p:cNvPr id="28" name="Shape 26"/>
          <p:cNvSpPr/>
          <p:nvPr/>
        </p:nvSpPr>
        <p:spPr>
          <a:xfrm flipV="1">
            <a:off x="10642473" y="6647688"/>
            <a:ext cx="235458" cy="50292"/>
          </a:xfrm>
          <a:prstGeom prst="line">
            <a:avLst/>
          </a:prstGeom>
          <a:noFill/>
          <a:ln w="9525">
            <a:solidFill>
              <a:srgbClr val="E2DCD0"/>
            </a:solidFill>
            <a:prstDash val="solid"/>
          </a:ln>
        </p:spPr>
        <p:txBody>
          <a:bodyPr/>
          <a:p/>
        </p:txBody>
      </p:sp>
      <p:sp>
        <p:nvSpPr>
          <p:cNvPr id="29" name="Shape 27"/>
          <p:cNvSpPr/>
          <p:nvPr/>
        </p:nvSpPr>
        <p:spPr>
          <a:xfrm>
            <a:off x="10877931" y="6647688"/>
            <a:ext cx="162306" cy="41148"/>
          </a:xfrm>
          <a:prstGeom prst="line">
            <a:avLst/>
          </a:prstGeom>
          <a:noFill/>
          <a:ln w="9525">
            <a:solidFill>
              <a:srgbClr val="E2DCD0"/>
            </a:solidFill>
            <a:prstDash val="solid"/>
          </a:ln>
        </p:spPr>
        <p:txBody>
          <a:bodyPr/>
          <a:p/>
        </p:txBody>
      </p:sp>
      <p:sp>
        <p:nvSpPr>
          <p:cNvPr id="30" name="Shape 28"/>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4" name="Shape 32"/>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5" name="Shape 33"/>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6" name="Shape 34"/>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7" name="Shape 35"/>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8" name="Text 36"/>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세 위험 모두 실물에서 터지기 전에 발견 — 각각 다른 방법이 필요했다</a:t>
            </a:r>
            <a:endParaRPr lang="en-US" sz="85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⑤ ★ 자랑하던 것을 의심하다</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'자기 차단'은 정보 부족이었나, 우리 상수였나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4864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우리는 「정보가 없으면 값을 내지 않는다」를 강점으로 보고했다. 그런데 알고리즘을 20cm 실물 격자로 옮겨 다시 재보니, 16노드 전부가 값을 내지 못했다. 자랑하던 기능이 전면 작동한 것인지, 아니면 무언가 잘못된 것인지 구분해야 했다.</a:t>
            </a:r>
            <a:pPr indent="0" marL="0">
              <a:lnSpc>
                <a:spcPct val="120000"/>
              </a:lnSpc>
              <a:buNone/>
            </a:pPr>
            <a:pPr indent="0" marL="0">
              <a:lnSpc>
                <a:spcPct val="120000"/>
              </a:lnSpc>
              <a:buNone/>
            </a:pP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48256"/>
          <a:ext cx="11091672" cy="2139696"/>
        </p:xfrm>
        <a:graphic>
          <a:graphicData uri="http://schemas.openxmlformats.org/drawingml/2006/table">
            <a:tbl>
              <a:tblPr/>
              <a:tblGrid>
                <a:gridCol w="1828800"/>
                <a:gridCol w="1645920"/>
                <a:gridCol w="1737360"/>
                <a:gridCol w="2313432"/>
                <a:gridCol w="3566160"/>
              </a:tblGrid>
              <a:tr h="310896">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창 크기 dt_window (초)</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산출 성공</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전역 방향</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참값 55.67° 대비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실패 원인</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60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2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31.64°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−24.03°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전부 표본 부족</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120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12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51.12°</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−4.55°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전부 표본 부족</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173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15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55.76°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+0.09°</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표본 부족 1건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240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16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55.89°</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+0.22°</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없음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365760">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327</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16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55.92°</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+0.25°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없음  ← 유도값</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8" name="Text 5"/>
          <p:cNvSpPr/>
          <p:nvPr/>
        </p:nvSpPr>
        <p:spPr>
          <a:xfrm>
            <a:off x="548640"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8 s</a:t>
            </a:r>
            <a:endParaRPr lang="en-US" sz="2800" dirty="0"/>
          </a:p>
        </p:txBody>
      </p:sp>
      <p:sp>
        <p:nvSpPr>
          <p:cNvPr id="9" name="Text 6"/>
          <p:cNvSpPr/>
          <p:nvPr/>
        </p:nvSpPr>
        <p:spPr>
          <a:xfrm>
            <a:off x="548640"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설정된 창</a:t>
            </a:r>
            <a:endParaRPr lang="en-US" sz="1200" dirty="0"/>
          </a:p>
        </p:txBody>
      </p:sp>
      <p:sp>
        <p:nvSpPr>
          <p:cNvPr id="10" name="Text 7"/>
          <p:cNvSpPr/>
          <p:nvPr/>
        </p:nvSpPr>
        <p:spPr>
          <a:xfrm>
            <a:off x="548640"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이웃 통과 182 s · 반경 327 s</a:t>
            </a:r>
            <a:endParaRPr lang="en-US" sz="950" dirty="0"/>
          </a:p>
        </p:txBody>
      </p:sp>
      <p:sp>
        <p:nvSpPr>
          <p:cNvPr id="11" name="Shape 8"/>
          <p:cNvSpPr/>
          <p:nvPr/>
        </p:nvSpPr>
        <p:spPr>
          <a:xfrm>
            <a:off x="4334256"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2" name="Text 9"/>
          <p:cNvSpPr/>
          <p:nvPr/>
        </p:nvSpPr>
        <p:spPr>
          <a:xfrm>
            <a:off x="4334256"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0 건</a:t>
            </a:r>
            <a:endParaRPr lang="en-US" sz="2800" dirty="0"/>
          </a:p>
        </p:txBody>
      </p:sp>
      <p:sp>
        <p:nvSpPr>
          <p:cNvPr id="13" name="Text 10"/>
          <p:cNvSpPr/>
          <p:nvPr/>
        </p:nvSpPr>
        <p:spPr>
          <a:xfrm>
            <a:off x="4334256"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기하(공선) 실패</a:t>
            </a:r>
            <a:endParaRPr lang="en-US" sz="1200" dirty="0"/>
          </a:p>
        </p:txBody>
      </p:sp>
      <p:sp>
        <p:nvSpPr>
          <p:cNvPr id="41" name="Text 11"/>
          <p:cNvSpPr/>
          <p:nvPr/>
        </p:nvSpPr>
        <p:spPr>
          <a:xfrm>
            <a:off x="4334256"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실패는 전부 '표본 부족'이었다</a:t>
            </a:r>
            <a:endParaRPr lang="en-US" sz="950" dirty="0"/>
          </a:p>
        </p:txBody>
      </p:sp>
      <p:sp>
        <p:nvSpPr>
          <p:cNvPr id="15" name="Shape 12"/>
          <p:cNvSpPr/>
          <p:nvPr/>
        </p:nvSpPr>
        <p:spPr>
          <a:xfrm>
            <a:off x="8119872"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6" name="Text 13"/>
          <p:cNvSpPr/>
          <p:nvPr/>
        </p:nvSpPr>
        <p:spPr>
          <a:xfrm>
            <a:off x="8119872"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4 건</a:t>
            </a:r>
            <a:endParaRPr lang="en-US" sz="2800" dirty="0"/>
          </a:p>
        </p:txBody>
      </p:sp>
      <p:sp>
        <p:nvSpPr>
          <p:cNvPr id="17" name="Text 14"/>
          <p:cNvSpPr/>
          <p:nvPr/>
        </p:nvSpPr>
        <p:spPr>
          <a:xfrm>
            <a:off x="8119872"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규모 의존 상수</a:t>
            </a:r>
            <a:endParaRPr lang="en-US" sz="1200" dirty="0"/>
          </a:p>
        </p:txBody>
      </p:sp>
      <p:sp>
        <p:nvSpPr>
          <p:cNvPr id="18" name="Text 15"/>
          <p:cNvSpPr/>
          <p:nvPr/>
        </p:nvSpPr>
        <p:spPr>
          <a:xfrm>
            <a:off x="8119872"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dt_window · residual · alert · speed</a:t>
            </a:r>
            <a:endParaRPr lang="en-US" sz="950" dirty="0"/>
          </a:p>
        </p:txBody>
      </p:sp>
      <p:sp>
        <p:nvSpPr>
          <p:cNvPr id="19" name="Text 16"/>
          <p:cNvSpPr/>
          <p:nvPr/>
        </p:nvSpPr>
        <p:spPr>
          <a:xfrm>
            <a:off x="548640" y="5815584"/>
            <a:ext cx="11091672" cy="457200"/>
          </a:xfrm>
          <a:prstGeom prst="rect">
            <a:avLst/>
          </a:prstGeom>
          <a:noFill/>
          <a:ln/>
        </p:spPr>
        <p:txBody>
          <a:bodyPr wrap="square" rtlCol="0" anchor="ctr"/>
          <a:lstStyle/>
          <a:p>
            <a:pPr indent="0" marL="0" eaLnBrk="0" hangingPunct="1">
              <a:lnSpc>
                <a:spcPct val="115000"/>
              </a:lnSpc>
              <a:buNone/>
            </a:pPr>
            <a:r>
              <a:rPr lang="en-US" sz="1200" b="1" dirty="0">
                <a:solidFill>
                  <a:srgbClr val="D35400"/>
                </a:solidFill>
                <a:latin typeface="맑은 고딕" pitchFamily="34" charset="0"/>
                <a:ea typeface="맑은 고딕" pitchFamily="34" charset="-122"/>
                <a:cs typeface="맑은 고딕" pitchFamily="34" charset="-120"/>
              </a:rPr>
              <a:t>dt_window = 8.0 s 는 시뮬 화선 1.5 m/s 기준값이었다. 20cm 벤치의 화선은 1.1 mm/s — 이웃이 한 명도 창에 못 들어와 모든 국소 집합이 자기 자신 하나가 됐다.  값을 새로 고르는 대신 상수를 물리에서 유도하도록 구조를 바꿨다 — dt_window = radio_range / v_front_expected. 시작 로그에 유도식과 계산값을 함께 찍는다.</a:t>
            </a:r>
            <a:pPr indent="0" marL="0">
              <a:lnSpc>
                <a:spcPct val="115000"/>
              </a:lnSpc>
              <a:buNone/>
            </a:pPr>
            <a:endParaRPr lang="en-US" sz="1200" dirty="0"/>
          </a:p>
        </p:txBody>
      </p:sp>
      <p:sp>
        <p:nvSpPr>
          <p:cNvPr id="20"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1"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15</a:t>
            </a:r>
            <a:endParaRPr lang="en-US" sz="900" dirty="0"/>
          </a:p>
        </p:txBody>
      </p:sp>
      <p:sp>
        <p:nvSpPr>
          <p:cNvPr id="22" name="Shape 19"/>
          <p:cNvSpPr/>
          <p:nvPr/>
        </p:nvSpPr>
        <p:spPr>
          <a:xfrm>
            <a:off x="10503027" y="6464808"/>
            <a:ext cx="144018" cy="36576"/>
          </a:xfrm>
          <a:prstGeom prst="line">
            <a:avLst/>
          </a:prstGeom>
          <a:noFill/>
          <a:ln w="9525">
            <a:solidFill>
              <a:srgbClr val="E2DCD0"/>
            </a:solidFill>
            <a:prstDash val="solid"/>
          </a:ln>
        </p:spPr>
        <p:txBody>
          <a:bodyPr/>
          <a:p/>
        </p:txBody>
      </p:sp>
      <p:sp>
        <p:nvSpPr>
          <p:cNvPr id="23" name="Shape 20"/>
          <p:cNvSpPr/>
          <p:nvPr/>
        </p:nvSpPr>
        <p:spPr>
          <a:xfrm flipH="1">
            <a:off x="10498455" y="6464808"/>
            <a:ext cx="4572" cy="187452"/>
          </a:xfrm>
          <a:prstGeom prst="line">
            <a:avLst/>
          </a:prstGeom>
          <a:noFill/>
          <a:ln w="9525">
            <a:solidFill>
              <a:srgbClr val="E2DCD0"/>
            </a:solidFill>
            <a:prstDash val="solid"/>
          </a:ln>
        </p:spPr>
        <p:txBody>
          <a:bodyPr/>
          <a:p/>
        </p:txBody>
      </p:sp>
      <p:sp>
        <p:nvSpPr>
          <p:cNvPr id="24" name="Shape 21"/>
          <p:cNvSpPr/>
          <p:nvPr/>
        </p:nvSpPr>
        <p:spPr>
          <a:xfrm flipV="1">
            <a:off x="10647045" y="6451092"/>
            <a:ext cx="235458" cy="50292"/>
          </a:xfrm>
          <a:prstGeom prst="line">
            <a:avLst/>
          </a:prstGeom>
          <a:noFill/>
          <a:ln w="9525">
            <a:solidFill>
              <a:srgbClr val="E2DCD0"/>
            </a:solidFill>
            <a:prstDash val="solid"/>
          </a:ln>
        </p:spPr>
        <p:txBody>
          <a:bodyPr/>
          <a:p/>
        </p:txBody>
      </p:sp>
      <p:sp>
        <p:nvSpPr>
          <p:cNvPr id="25" name="Shape 22"/>
          <p:cNvSpPr/>
          <p:nvPr/>
        </p:nvSpPr>
        <p:spPr>
          <a:xfrm flipH="1">
            <a:off x="10642473" y="6501384"/>
            <a:ext cx="4572" cy="196596"/>
          </a:xfrm>
          <a:prstGeom prst="line">
            <a:avLst/>
          </a:prstGeom>
          <a:noFill/>
          <a:ln w="9525">
            <a:solidFill>
              <a:srgbClr val="E2DCD0"/>
            </a:solidFill>
            <a:prstDash val="solid"/>
          </a:ln>
        </p:spPr>
        <p:txBody>
          <a:bodyPr/>
          <a:p/>
        </p:txBody>
      </p:sp>
      <p:sp>
        <p:nvSpPr>
          <p:cNvPr id="26" name="Shape 23"/>
          <p:cNvSpPr/>
          <p:nvPr/>
        </p:nvSpPr>
        <p:spPr>
          <a:xfrm>
            <a:off x="10882503" y="6451092"/>
            <a:ext cx="162306" cy="41148"/>
          </a:xfrm>
          <a:prstGeom prst="line">
            <a:avLst/>
          </a:prstGeom>
          <a:noFill/>
          <a:ln w="9525">
            <a:solidFill>
              <a:srgbClr val="E2DCD0"/>
            </a:solidFill>
            <a:prstDash val="solid"/>
          </a:ln>
        </p:spPr>
        <p:txBody>
          <a:bodyPr/>
          <a:p/>
        </p:txBody>
      </p:sp>
      <p:sp>
        <p:nvSpPr>
          <p:cNvPr id="27" name="Shape 24"/>
          <p:cNvSpPr/>
          <p:nvPr/>
        </p:nvSpPr>
        <p:spPr>
          <a:xfrm flipH="1">
            <a:off x="10877931" y="6451092"/>
            <a:ext cx="4572" cy="196596"/>
          </a:xfrm>
          <a:prstGeom prst="line">
            <a:avLst/>
          </a:prstGeom>
          <a:noFill/>
          <a:ln w="9525">
            <a:solidFill>
              <a:srgbClr val="E2DCD0"/>
            </a:solidFill>
            <a:prstDash val="solid"/>
          </a:ln>
        </p:spPr>
        <p:txBody>
          <a:bodyPr/>
          <a:p/>
        </p:txBody>
      </p:sp>
      <p:sp>
        <p:nvSpPr>
          <p:cNvPr id="28" name="Shape 25"/>
          <p:cNvSpPr/>
          <p:nvPr/>
        </p:nvSpPr>
        <p:spPr>
          <a:xfrm flipH="1">
            <a:off x="11040237" y="6492240"/>
            <a:ext cx="4572" cy="196596"/>
          </a:xfrm>
          <a:prstGeom prst="line">
            <a:avLst/>
          </a:prstGeom>
          <a:noFill/>
          <a:ln w="9525">
            <a:solidFill>
              <a:srgbClr val="E2DCD0"/>
            </a:solidFill>
            <a:prstDash val="solid"/>
          </a:ln>
        </p:spPr>
        <p:txBody>
          <a:bodyPr/>
          <a:p/>
        </p:txBody>
      </p:sp>
      <p:sp>
        <p:nvSpPr>
          <p:cNvPr id="29" name="Shape 26"/>
          <p:cNvSpPr/>
          <p:nvPr/>
        </p:nvSpPr>
        <p:spPr>
          <a:xfrm>
            <a:off x="10498455" y="6652260"/>
            <a:ext cx="144018" cy="45720"/>
          </a:xfrm>
          <a:prstGeom prst="line">
            <a:avLst/>
          </a:prstGeom>
          <a:noFill/>
          <a:ln w="9525">
            <a:solidFill>
              <a:srgbClr val="E2DCD0"/>
            </a:solidFill>
            <a:prstDash val="solid"/>
          </a:ln>
        </p:spPr>
        <p:txBody>
          <a:bodyPr/>
          <a:p/>
        </p:txBody>
      </p:sp>
      <p:sp>
        <p:nvSpPr>
          <p:cNvPr id="30" name="Shape 27"/>
          <p:cNvSpPr/>
          <p:nvPr/>
        </p:nvSpPr>
        <p:spPr>
          <a:xfrm flipV="1">
            <a:off x="10642473" y="6647688"/>
            <a:ext cx="235458" cy="50292"/>
          </a:xfrm>
          <a:prstGeom prst="line">
            <a:avLst/>
          </a:prstGeom>
          <a:noFill/>
          <a:ln w="9525">
            <a:solidFill>
              <a:srgbClr val="E2DCD0"/>
            </a:solidFill>
            <a:prstDash val="solid"/>
          </a:ln>
        </p:spPr>
        <p:txBody>
          <a:bodyPr/>
          <a:p/>
        </p:txBody>
      </p:sp>
      <p:sp>
        <p:nvSpPr>
          <p:cNvPr id="31" name="Shape 28"/>
          <p:cNvSpPr/>
          <p:nvPr/>
        </p:nvSpPr>
        <p:spPr>
          <a:xfrm>
            <a:off x="10877931" y="6647688"/>
            <a:ext cx="162306" cy="41148"/>
          </a:xfrm>
          <a:prstGeom prst="line">
            <a:avLst/>
          </a:prstGeom>
          <a:noFill/>
          <a:ln w="9525">
            <a:solidFill>
              <a:srgbClr val="E2DCD0"/>
            </a:solidFill>
            <a:prstDash val="solid"/>
          </a:ln>
        </p:spPr>
        <p:txBody>
          <a:bodyPr/>
          <a:p/>
        </p:txBody>
      </p:sp>
      <p:sp>
        <p:nvSpPr>
          <p:cNvPr id="32"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6"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0" name="Text 37"/>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자기 강점을 스스로 의심해서 잡아낸 결함이다. 지표를 고친 게 아니라 구조를 고쳤다.</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결과물 차별성·우수성 ① 차별성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고장을 '손실'이 아니라 '데이터'로</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737360"/>
                <a:gridCol w="2514600"/>
                <a:gridCol w="2926080"/>
                <a:gridCol w="3913632"/>
              </a:tblGrid>
              <a:tr h="365760">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비교 대상</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그들의 방식</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한계</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우리 (불사)</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온도 스트리밍</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살아있는 노드가 온도 상시 전송</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초저가 대량 노드엔 상시 전송 부담(전력·대역폭)</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교차검증된 '죽음'을 확정 이진 신호로 → 화선 위치·방향·속도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Dryad Silvanet</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불 오기 전 조기 감지(내열, +85℃ 한계)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불 속에선 못 버팀 — 감지 특화, 화선 추적 아님</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타 죽으며 화선을 그림 — 감지(그들)와 추적(우리)은 상보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순정 ESP-MESH</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노드 죽으면 경로 우회(연결성만)</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죽음을 손실로만 처리, 정보로 안 씀</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죽음을 1급 이벤트로 승격 + 도착시각 추정 + 오탐 방어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드론·위성</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상공·우주 광역 개요</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연기·수목 아래 지표 화선·초 단위 변화 못 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지표 실측 레이어 + 지상 통신 백본 — 대체 아니라 상보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6" name="Text 3"/>
          <p:cNvSpPr/>
          <p:nvPr/>
        </p:nvSpPr>
        <p:spPr>
          <a:xfrm>
            <a:off x="548640" y="5852160"/>
            <a:ext cx="11091672" cy="365760"/>
          </a:xfrm>
          <a:prstGeom prst="rect">
            <a:avLst/>
          </a:prstGeom>
          <a:noFill/>
          <a:ln/>
        </p:spPr>
        <p:txBody>
          <a:bodyPr wrap="square" rtlCol="0" anchor="ctr"/>
          <a:lstStyle/>
          <a:p>
            <a:pPr indent="0" marL="0" eaLnBrk="0" hangingPunct="1">
              <a:buNone/>
            </a:pPr>
            <a:r>
              <a:rPr lang="en-US" sz="1300" b="1" dirty="0">
                <a:solidFill>
                  <a:srgbClr val="D35400"/>
                </a:solidFill>
                <a:latin typeface="맑은 고딕" pitchFamily="34" charset="0"/>
                <a:ea typeface="맑은 고딕" pitchFamily="34" charset="-122"/>
                <a:cs typeface="맑은 고딕" pitchFamily="34" charset="-120"/>
              </a:rPr>
              <a:t>★ 헤드라인 차별점  </a:t>
            </a:r>
            <a:pPr indent="0" marL="0">
              <a:buNone/>
            </a:pPr>
            <a:r>
              <a:rPr lang="en-US" sz="1300" dirty="0">
                <a:solidFill>
                  <a:srgbClr val="1F2421"/>
                </a:solidFill>
                <a:latin typeface="맑은 고딕" pitchFamily="34" charset="0"/>
                <a:ea typeface="맑은 고딕" pitchFamily="34" charset="-122"/>
                <a:cs typeface="맑은 고딕" pitchFamily="34" charset="-120"/>
              </a:rPr>
              <a:t>오탐 방어(통신두절 vs 진짜 파괴 구분) = 순정 painlessMesh가 못 하는 우리만의 계층.</a:t>
            </a:r>
            <a:endParaRPr lang="en-US" sz="1300" dirty="0"/>
          </a:p>
        </p:txBody>
      </p:sp>
      <p:sp>
        <p:nvSpPr>
          <p:cNvPr id="7" name="Text 4"/>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8" name="Text 5"/>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16</a:t>
            </a:r>
            <a:endParaRPr lang="en-US" sz="900" dirty="0"/>
          </a:p>
        </p:txBody>
      </p:sp>
      <p:sp>
        <p:nvSpPr>
          <p:cNvPr id="9" name="Shape 6"/>
          <p:cNvSpPr/>
          <p:nvPr/>
        </p:nvSpPr>
        <p:spPr>
          <a:xfrm>
            <a:off x="10503027" y="6464808"/>
            <a:ext cx="144018" cy="36576"/>
          </a:xfrm>
          <a:prstGeom prst="line">
            <a:avLst/>
          </a:prstGeom>
          <a:noFill/>
          <a:ln w="9525">
            <a:solidFill>
              <a:srgbClr val="E2DCD0"/>
            </a:solidFill>
            <a:prstDash val="solid"/>
          </a:ln>
        </p:spPr>
        <p:txBody>
          <a:bodyPr/>
          <a:p/>
        </p:txBody>
      </p:sp>
      <p:sp>
        <p:nvSpPr>
          <p:cNvPr id="10" name="Shape 7"/>
          <p:cNvSpPr/>
          <p:nvPr/>
        </p:nvSpPr>
        <p:spPr>
          <a:xfrm flipH="1">
            <a:off x="10498455" y="6464808"/>
            <a:ext cx="4572" cy="187452"/>
          </a:xfrm>
          <a:prstGeom prst="line">
            <a:avLst/>
          </a:prstGeom>
          <a:noFill/>
          <a:ln w="9525">
            <a:solidFill>
              <a:srgbClr val="E2DCD0"/>
            </a:solidFill>
            <a:prstDash val="solid"/>
          </a:ln>
        </p:spPr>
        <p:txBody>
          <a:bodyPr/>
          <a:p/>
        </p:txBody>
      </p:sp>
      <p:sp>
        <p:nvSpPr>
          <p:cNvPr id="11" name="Shape 8"/>
          <p:cNvSpPr/>
          <p:nvPr/>
        </p:nvSpPr>
        <p:spPr>
          <a:xfrm flipV="1">
            <a:off x="10647045" y="6451092"/>
            <a:ext cx="235458" cy="50292"/>
          </a:xfrm>
          <a:prstGeom prst="line">
            <a:avLst/>
          </a:prstGeom>
          <a:noFill/>
          <a:ln w="9525">
            <a:solidFill>
              <a:srgbClr val="E2DCD0"/>
            </a:solidFill>
            <a:prstDash val="solid"/>
          </a:ln>
        </p:spPr>
        <p:txBody>
          <a:bodyPr/>
          <a:p/>
        </p:txBody>
      </p:sp>
      <p:sp>
        <p:nvSpPr>
          <p:cNvPr id="12" name="Shape 9"/>
          <p:cNvSpPr/>
          <p:nvPr/>
        </p:nvSpPr>
        <p:spPr>
          <a:xfrm flipH="1">
            <a:off x="10642473" y="6501384"/>
            <a:ext cx="4572" cy="196596"/>
          </a:xfrm>
          <a:prstGeom prst="line">
            <a:avLst/>
          </a:prstGeom>
          <a:noFill/>
          <a:ln w="9525">
            <a:solidFill>
              <a:srgbClr val="E2DCD0"/>
            </a:solidFill>
            <a:prstDash val="solid"/>
          </a:ln>
        </p:spPr>
        <p:txBody>
          <a:bodyPr/>
          <a:p/>
        </p:txBody>
      </p:sp>
      <p:sp>
        <p:nvSpPr>
          <p:cNvPr id="13" name="Shape 10"/>
          <p:cNvSpPr/>
          <p:nvPr/>
        </p:nvSpPr>
        <p:spPr>
          <a:xfrm>
            <a:off x="10882503" y="6451092"/>
            <a:ext cx="162306" cy="41148"/>
          </a:xfrm>
          <a:prstGeom prst="line">
            <a:avLst/>
          </a:prstGeom>
          <a:noFill/>
          <a:ln w="9525">
            <a:solidFill>
              <a:srgbClr val="E2DCD0"/>
            </a:solidFill>
            <a:prstDash val="solid"/>
          </a:ln>
        </p:spPr>
        <p:txBody>
          <a:bodyPr/>
          <a:p/>
        </p:txBody>
      </p:sp>
      <p:sp>
        <p:nvSpPr>
          <p:cNvPr id="14" name="Shape 11"/>
          <p:cNvSpPr/>
          <p:nvPr/>
        </p:nvSpPr>
        <p:spPr>
          <a:xfrm flipH="1">
            <a:off x="10877931" y="6451092"/>
            <a:ext cx="4572" cy="196596"/>
          </a:xfrm>
          <a:prstGeom prst="line">
            <a:avLst/>
          </a:prstGeom>
          <a:noFill/>
          <a:ln w="9525">
            <a:solidFill>
              <a:srgbClr val="E2DCD0"/>
            </a:solidFill>
            <a:prstDash val="solid"/>
          </a:ln>
        </p:spPr>
        <p:txBody>
          <a:bodyPr/>
          <a:p/>
        </p:txBody>
      </p:sp>
      <p:sp>
        <p:nvSpPr>
          <p:cNvPr id="15" name="Shape 12"/>
          <p:cNvSpPr/>
          <p:nvPr/>
        </p:nvSpPr>
        <p:spPr>
          <a:xfrm flipH="1">
            <a:off x="11040237" y="6492240"/>
            <a:ext cx="4572" cy="196596"/>
          </a:xfrm>
          <a:prstGeom prst="line">
            <a:avLst/>
          </a:prstGeom>
          <a:noFill/>
          <a:ln w="9525">
            <a:solidFill>
              <a:srgbClr val="E2DCD0"/>
            </a:solidFill>
            <a:prstDash val="solid"/>
          </a:ln>
        </p:spPr>
        <p:txBody>
          <a:bodyPr/>
          <a:p/>
        </p:txBody>
      </p:sp>
      <p:sp>
        <p:nvSpPr>
          <p:cNvPr id="16" name="Shape 13"/>
          <p:cNvSpPr/>
          <p:nvPr/>
        </p:nvSpPr>
        <p:spPr>
          <a:xfrm>
            <a:off x="10498455" y="6652260"/>
            <a:ext cx="144018" cy="45720"/>
          </a:xfrm>
          <a:prstGeom prst="line">
            <a:avLst/>
          </a:prstGeom>
          <a:noFill/>
          <a:ln w="9525">
            <a:solidFill>
              <a:srgbClr val="E2DCD0"/>
            </a:solidFill>
            <a:prstDash val="solid"/>
          </a:ln>
        </p:spPr>
        <p:txBody>
          <a:bodyPr/>
          <a:p/>
        </p:txBody>
      </p:sp>
      <p:sp>
        <p:nvSpPr>
          <p:cNvPr id="27" name="Shape 14"/>
          <p:cNvSpPr/>
          <p:nvPr/>
        </p:nvSpPr>
        <p:spPr>
          <a:xfrm flipV="1">
            <a:off x="10642473" y="6647688"/>
            <a:ext cx="235458" cy="50292"/>
          </a:xfrm>
          <a:prstGeom prst="line">
            <a:avLst/>
          </a:prstGeom>
          <a:noFill/>
          <a:ln w="9525">
            <a:solidFill>
              <a:srgbClr val="E2DCD0"/>
            </a:solidFill>
            <a:prstDash val="solid"/>
          </a:ln>
        </p:spPr>
        <p:txBody>
          <a:bodyPr/>
          <a:p/>
        </p:txBody>
      </p:sp>
      <p:sp>
        <p:nvSpPr>
          <p:cNvPr id="18" name="Shape 15"/>
          <p:cNvSpPr/>
          <p:nvPr/>
        </p:nvSpPr>
        <p:spPr>
          <a:xfrm>
            <a:off x="10877931" y="6647688"/>
            <a:ext cx="162306" cy="41148"/>
          </a:xfrm>
          <a:prstGeom prst="line">
            <a:avLst/>
          </a:prstGeom>
          <a:noFill/>
          <a:ln w="9525">
            <a:solidFill>
              <a:srgbClr val="E2DCD0"/>
            </a:solidFill>
            <a:prstDash val="solid"/>
          </a:ln>
        </p:spPr>
        <p:txBody>
          <a:bodyPr/>
          <a:p/>
        </p:txBody>
      </p:sp>
      <p:sp>
        <p:nvSpPr>
          <p:cNvPr id="19" name="Shape 16"/>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0" name="Shape 17"/>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1" name="Shape 18"/>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2" name="Shape 19"/>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3" name="Shape 20"/>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24" name="Shape 21"/>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25" name="Shape 22"/>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26" name="Shape 23"/>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결과물 차별성·우수성 ② 성능·강건성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정상 성능과 '작동 한계선'을 함께 밝힌다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6" name="Text 4"/>
          <p:cNvSpPr/>
          <p:nvPr/>
        </p:nvSpPr>
        <p:spPr>
          <a:xfrm>
            <a:off x="54864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&lt; 1°</a:t>
            </a:r>
            <a:endParaRPr lang="en-US" sz="2800" dirty="0"/>
          </a:p>
        </p:txBody>
      </p:sp>
      <p:sp>
        <p:nvSpPr>
          <p:cNvPr id="7" name="Text 5"/>
          <p:cNvSpPr/>
          <p:nvPr/>
        </p:nvSpPr>
        <p:spPr>
          <a:xfrm>
            <a:off x="54864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방향오차</a:t>
            </a:r>
            <a:endParaRPr lang="en-US" sz="1200" dirty="0"/>
          </a:p>
        </p:txBody>
      </p:sp>
      <p:sp>
        <p:nvSpPr>
          <p:cNvPr id="8" name="Text 6"/>
          <p:cNvSpPr/>
          <p:nvPr/>
        </p:nvSpPr>
        <p:spPr>
          <a:xfrm>
            <a:off x="548640" y="2468880"/>
            <a:ext cx="26060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직선·정면 조건 (0.03~0.88°)</a:t>
            </a:r>
            <a:endParaRPr lang="en-US" sz="950" dirty="0"/>
          </a:p>
        </p:txBody>
      </p:sp>
      <p:sp>
        <p:nvSpPr>
          <p:cNvPr id="9" name="Shape 7"/>
          <p:cNvSpPr/>
          <p:nvPr/>
        </p:nvSpPr>
        <p:spPr>
          <a:xfrm>
            <a:off x="333756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0" name="Text 8"/>
          <p:cNvSpPr/>
          <p:nvPr/>
        </p:nvSpPr>
        <p:spPr>
          <a:xfrm>
            <a:off x="333756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92.3%</a:t>
            </a:r>
            <a:endParaRPr lang="en-US" sz="2800" dirty="0"/>
          </a:p>
        </p:txBody>
      </p:sp>
      <p:sp>
        <p:nvSpPr>
          <p:cNvPr id="11" name="Text 9"/>
          <p:cNvSpPr/>
          <p:nvPr/>
        </p:nvSpPr>
        <p:spPr>
          <a:xfrm>
            <a:off x="333756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전달률</a:t>
            </a:r>
            <a:endParaRPr lang="en-US" sz="1200" dirty="0"/>
          </a:p>
        </p:txBody>
      </p:sp>
      <p:sp>
        <p:nvSpPr>
          <p:cNvPr id="12" name="Text 10"/>
          <p:cNvSpPr/>
          <p:nvPr/>
        </p:nvSpPr>
        <p:spPr>
          <a:xfrm>
            <a:off x="3337560" y="2468880"/>
            <a:ext cx="26060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자가치유 포함</a:t>
            </a:r>
            <a:endParaRPr lang="en-US" sz="950" dirty="0"/>
          </a:p>
        </p:txBody>
      </p:sp>
      <p:sp>
        <p:nvSpPr>
          <p:cNvPr id="13" name="Shape 11"/>
          <p:cNvSpPr/>
          <p:nvPr/>
        </p:nvSpPr>
        <p:spPr>
          <a:xfrm>
            <a:off x="612648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4" name="Text 12"/>
          <p:cNvSpPr/>
          <p:nvPr/>
        </p:nvSpPr>
        <p:spPr>
          <a:xfrm>
            <a:off x="612648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0%</a:t>
            </a:r>
            <a:endParaRPr lang="en-US" sz="2800" dirty="0"/>
          </a:p>
        </p:txBody>
      </p:sp>
      <p:sp>
        <p:nvSpPr>
          <p:cNvPr id="15" name="Text 13"/>
          <p:cNvSpPr/>
          <p:nvPr/>
        </p:nvSpPr>
        <p:spPr>
          <a:xfrm>
            <a:off x="612648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오탐률</a:t>
            </a:r>
            <a:endParaRPr lang="en-US" sz="1200" dirty="0"/>
          </a:p>
        </p:txBody>
      </p:sp>
      <p:sp>
        <p:nvSpPr>
          <p:cNvPr id="16" name="Text 14"/>
          <p:cNvSpPr/>
          <p:nvPr/>
        </p:nvSpPr>
        <p:spPr>
          <a:xfrm>
            <a:off x="6126480" y="2468880"/>
            <a:ext cx="26060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통신두절 오판</a:t>
            </a:r>
            <a:endParaRPr lang="en-US" sz="950" dirty="0"/>
          </a:p>
        </p:txBody>
      </p:sp>
      <p:sp>
        <p:nvSpPr>
          <p:cNvPr id="17" name="Shape 15"/>
          <p:cNvSpPr/>
          <p:nvPr/>
        </p:nvSpPr>
        <p:spPr>
          <a:xfrm>
            <a:off x="891540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8" name="Text 16"/>
          <p:cNvSpPr/>
          <p:nvPr/>
        </p:nvSpPr>
        <p:spPr>
          <a:xfrm>
            <a:off x="891540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54</a:t>
            </a:r>
            <a:endParaRPr lang="en-US" sz="2800" dirty="0"/>
          </a:p>
        </p:txBody>
      </p:sp>
      <p:sp>
        <p:nvSpPr>
          <p:cNvPr id="19" name="Text 17"/>
          <p:cNvSpPr/>
          <p:nvPr/>
        </p:nvSpPr>
        <p:spPr>
          <a:xfrm>
            <a:off x="891540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자동 테스트</a:t>
            </a:r>
            <a:endParaRPr lang="en-US" sz="1200" dirty="0"/>
          </a:p>
        </p:txBody>
      </p:sp>
      <p:sp>
        <p:nvSpPr>
          <p:cNvPr id="20" name="Text 18"/>
          <p:cNvSpPr/>
          <p:nvPr/>
        </p:nvSpPr>
        <p:spPr>
          <a:xfrm>
            <a:off x="8915400" y="2468880"/>
            <a:ext cx="26060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전건 통과 · 회귀 최대차 0</a:t>
            </a:r>
            <a:endParaRPr lang="en-US" sz="950" dirty="0"/>
          </a:p>
        </p:txBody>
      </p:sp>
      <p:sp>
        <p:nvSpPr>
          <p:cNvPr id="21" name="Text 19"/>
          <p:cNvSpPr/>
          <p:nvPr/>
        </p:nvSpPr>
        <p:spPr>
          <a:xfrm>
            <a:off x="548640" y="3035808"/>
            <a:ext cx="10972800" cy="32004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작동 한계선 (operating envelope) — 어디까지 되고, 어디부터 안 되는가</a:t>
            </a:r>
            <a:endParaRPr lang="en-US" sz="13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3346704"/>
          <a:ext cx="11091672" cy="2157984"/>
        </p:xfrm>
        <a:graphic>
          <a:graphicData uri="http://schemas.openxmlformats.org/drawingml/2006/table">
            <a:tbl>
              <a:tblPr/>
              <a:tblGrid>
                <a:gridCol w="3017520"/>
                <a:gridCol w="3383280"/>
                <a:gridCol w="4690872"/>
              </a:tblGrid>
              <a:tr h="292608">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조건</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결과</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의미</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직선 화선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방향오차 0.03°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정상 운용 영역</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타원 화선 · 정면(head)</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방향오차 0.88°</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데모·실전의 주 조건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강곡률 곡선 화선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방향오차 7.6~13.4°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국소 평면 근사의 한계 — 센서 지연과 무관한 별개 한계</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D35400"/>
                          </a:solidFill>
                          <a:latin typeface="맑은 고딕" pitchFamily="34" charset="0"/>
                          <a:ea typeface="맑은 고딕" pitchFamily="34" charset="-122"/>
                          <a:cs typeface="맑은 고딕" pitchFamily="34" charset="-120"/>
                        </a:rPr>
                        <a:t>타원 측면 · 노드 희소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자기 차단(값 미출력)</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정보 부족과 표본 굶주림을 분리해야 성립 — §4-E</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ETA</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앵커거리와 상관 0.99~1.00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배치 밀도가 지배 — 알고리즘이 아니라 간격</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데모 열원 조건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190.5 ℃ (실측)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예측 190.0 ℃ 적중(0.3%). 설정 400·풍량 10·4 cm·체류 8초</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bl>
          </a:graphicData>
        </a:graphic>
      </p:graphicFrame>
      <p:sp>
        <p:nvSpPr>
          <p:cNvPr id="23" name="Text 20"/>
          <p:cNvSpPr/>
          <p:nvPr/>
        </p:nvSpPr>
        <p:spPr>
          <a:xfrm>
            <a:off x="548640" y="5669280"/>
            <a:ext cx="11091672" cy="685800"/>
          </a:xfrm>
          <a:prstGeom prst="rect">
            <a:avLst/>
          </a:prstGeom>
          <a:noFill/>
          <a:ln/>
        </p:spPr>
        <p:txBody>
          <a:bodyPr wrap="square" rtlCol="0" anchor="ctr"/>
          <a:lstStyle/>
          <a:p>
            <a:pPr indent="0" marL="0" eaLnBrk="0" hangingPunct="1">
              <a:lnSpc>
                <a:spcPct val="110000"/>
              </a:lnSpc>
              <a:buNone/>
            </a:pPr>
            <a:r>
              <a:rPr lang="en-US" sz="1100" b="1" dirty="0">
                <a:solidFill>
                  <a:srgbClr val="2C5F2D"/>
                </a:solidFill>
                <a:latin typeface="맑은 고딕" pitchFamily="34" charset="0"/>
                <a:ea typeface="맑은 고딕" pitchFamily="34" charset="-122"/>
                <a:cs typeface="맑은 고딕" pitchFamily="34" charset="-120"/>
              </a:rPr>
              <a:t>모든 노드에 똑같이 걸리는 센서 지연에는 원리적으로 면역</a:t>
            </a:r>
            <a:pPr indent="0" marL="0">
              <a:buNone/>
            </a:pPr>
            <a:r>
              <a:rPr lang="en-US" sz="1100" dirty="0">
                <a:solidFill>
                  <a:srgbClr val="1F2421"/>
                </a:solidFill>
                <a:latin typeface="맑은 고딕" pitchFamily="34" charset="0"/>
                <a:ea typeface="맑은 고딕" pitchFamily="34" charset="-122"/>
                <a:cs typeface="맑은 고딕" pitchFamily="34" charset="-120"/>
              </a:rPr>
              <a:t> (기울기에서 상쇄 — 수식 증명).  실측에서도 같은 성질이 재현됐다 — 센서 위치가 흔들려 도달 온도가 16.5℃ 변하는 동안 τ는 −0.061 s/℃로만 반응했다.</a:t>
            </a:r>
            <a:endParaRPr lang="en-US" sz="1250" dirty="0"/>
          </a:p>
          <a:p>
            <a:pPr indent="0" marL="0" eaLnBrk="0" hangingPunct="1">
              <a:lnSpc>
                <a:spcPct val="110000"/>
              </a:lnSpc>
              <a:buNone/>
            </a:pPr>
            <a:r>
              <a:rPr lang="en-US" sz="1100" b="1" dirty="0">
                <a:solidFill>
                  <a:srgbClr val="2C5F2D"/>
                </a:solidFill>
                <a:latin typeface="맑은 고딕" pitchFamily="34" charset="0"/>
                <a:ea typeface="맑은 고딕" pitchFamily="34" charset="-122"/>
                <a:cs typeface="맑은 고딕" pitchFamily="34" charset="-120"/>
              </a:rPr>
              <a:t>※ 자기 차단은 유효한 기능이지만, 초기 보고에서 '정보 부족'으로 해석한 것 중 일부는 우리가 설정한 창 크기가 만든 표본 굶주림이었다. 원인 분해와 재발 방지는 §4-E.</a:t>
            </a:r>
            <a:pPr indent="0" marL="0">
              <a:buNone/>
            </a:pPr>
            <a:endParaRPr lang="en-US" sz="1250" dirty="0"/>
          </a:p>
        </p:txBody>
      </p:sp>
      <p:sp>
        <p:nvSpPr>
          <p:cNvPr id="24" name="Text 21"/>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5" name="Text 22"/>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17</a:t>
            </a:r>
            <a:endParaRPr lang="en-US" sz="900" dirty="0"/>
          </a:p>
        </p:txBody>
      </p:sp>
      <p:sp>
        <p:nvSpPr>
          <p:cNvPr id="26" name="Shape 23"/>
          <p:cNvSpPr/>
          <p:nvPr/>
        </p:nvSpPr>
        <p:spPr>
          <a:xfrm>
            <a:off x="10503027" y="6464808"/>
            <a:ext cx="144018" cy="36576"/>
          </a:xfrm>
          <a:prstGeom prst="line">
            <a:avLst/>
          </a:prstGeom>
          <a:noFill/>
          <a:ln w="9525">
            <a:solidFill>
              <a:srgbClr val="E2DCD0"/>
            </a:solidFill>
            <a:prstDash val="solid"/>
          </a:ln>
        </p:spPr>
        <p:txBody>
          <a:bodyPr/>
          <a:p/>
        </p:txBody>
      </p:sp>
      <p:sp>
        <p:nvSpPr>
          <p:cNvPr id="27" name="Shape 24"/>
          <p:cNvSpPr/>
          <p:nvPr/>
        </p:nvSpPr>
        <p:spPr>
          <a:xfrm flipH="1">
            <a:off x="10498455" y="6464808"/>
            <a:ext cx="4572" cy="187452"/>
          </a:xfrm>
          <a:prstGeom prst="line">
            <a:avLst/>
          </a:prstGeom>
          <a:noFill/>
          <a:ln w="9525">
            <a:solidFill>
              <a:srgbClr val="E2DCD0"/>
            </a:solidFill>
            <a:prstDash val="solid"/>
          </a:ln>
        </p:spPr>
        <p:txBody>
          <a:bodyPr/>
          <a:p/>
        </p:txBody>
      </p:sp>
      <p:sp>
        <p:nvSpPr>
          <p:cNvPr id="28" name="Shape 25"/>
          <p:cNvSpPr/>
          <p:nvPr/>
        </p:nvSpPr>
        <p:spPr>
          <a:xfrm flipV="1">
            <a:off x="10647045" y="6451092"/>
            <a:ext cx="235458" cy="50292"/>
          </a:xfrm>
          <a:prstGeom prst="line">
            <a:avLst/>
          </a:prstGeom>
          <a:noFill/>
          <a:ln w="9525">
            <a:solidFill>
              <a:srgbClr val="E2DCD0"/>
            </a:solidFill>
            <a:prstDash val="solid"/>
          </a:ln>
        </p:spPr>
        <p:txBody>
          <a:bodyPr/>
          <a:p/>
        </p:txBody>
      </p:sp>
      <p:sp>
        <p:nvSpPr>
          <p:cNvPr id="29" name="Shape 26"/>
          <p:cNvSpPr/>
          <p:nvPr/>
        </p:nvSpPr>
        <p:spPr>
          <a:xfrm flipH="1">
            <a:off x="10642473" y="6501384"/>
            <a:ext cx="4572" cy="196596"/>
          </a:xfrm>
          <a:prstGeom prst="line">
            <a:avLst/>
          </a:prstGeom>
          <a:noFill/>
          <a:ln w="9525">
            <a:solidFill>
              <a:srgbClr val="E2DCD0"/>
            </a:solidFill>
            <a:prstDash val="solid"/>
          </a:ln>
        </p:spPr>
        <p:txBody>
          <a:bodyPr/>
          <a:p/>
        </p:txBody>
      </p:sp>
      <p:sp>
        <p:nvSpPr>
          <p:cNvPr id="30" name="Shape 27"/>
          <p:cNvSpPr/>
          <p:nvPr/>
        </p:nvSpPr>
        <p:spPr>
          <a:xfrm>
            <a:off x="10882503" y="6451092"/>
            <a:ext cx="162306" cy="41148"/>
          </a:xfrm>
          <a:prstGeom prst="line">
            <a:avLst/>
          </a:prstGeom>
          <a:noFill/>
          <a:ln w="9525">
            <a:solidFill>
              <a:srgbClr val="E2DCD0"/>
            </a:solidFill>
            <a:prstDash val="solid"/>
          </a:ln>
        </p:spPr>
        <p:txBody>
          <a:bodyPr/>
          <a:p/>
        </p:txBody>
      </p:sp>
      <p:sp>
        <p:nvSpPr>
          <p:cNvPr id="31" name="Shape 28"/>
          <p:cNvSpPr/>
          <p:nvPr/>
        </p:nvSpPr>
        <p:spPr>
          <a:xfrm flipH="1">
            <a:off x="10877931" y="6451092"/>
            <a:ext cx="4572" cy="196596"/>
          </a:xfrm>
          <a:prstGeom prst="line">
            <a:avLst/>
          </a:prstGeom>
          <a:noFill/>
          <a:ln w="9525">
            <a:solidFill>
              <a:srgbClr val="E2DCD0"/>
            </a:solidFill>
            <a:prstDash val="solid"/>
          </a:ln>
        </p:spPr>
        <p:txBody>
          <a:bodyPr/>
          <a:p/>
        </p:txBody>
      </p:sp>
      <p:sp>
        <p:nvSpPr>
          <p:cNvPr id="32" name="Shape 29"/>
          <p:cNvSpPr/>
          <p:nvPr/>
        </p:nvSpPr>
        <p:spPr>
          <a:xfrm flipH="1">
            <a:off x="11040237" y="6492240"/>
            <a:ext cx="4572" cy="196596"/>
          </a:xfrm>
          <a:prstGeom prst="line">
            <a:avLst/>
          </a:prstGeom>
          <a:noFill/>
          <a:ln w="9525">
            <a:solidFill>
              <a:srgbClr val="E2DCD0"/>
            </a:solidFill>
            <a:prstDash val="solid"/>
          </a:ln>
        </p:spPr>
        <p:txBody>
          <a:bodyPr/>
          <a:p/>
        </p:txBody>
      </p:sp>
      <p:sp>
        <p:nvSpPr>
          <p:cNvPr id="33" name="Shape 30"/>
          <p:cNvSpPr/>
          <p:nvPr/>
        </p:nvSpPr>
        <p:spPr>
          <a:xfrm>
            <a:off x="10498455" y="6652260"/>
            <a:ext cx="144018" cy="45720"/>
          </a:xfrm>
          <a:prstGeom prst="line">
            <a:avLst/>
          </a:prstGeom>
          <a:noFill/>
          <a:ln w="9525">
            <a:solidFill>
              <a:srgbClr val="E2DCD0"/>
            </a:solidFill>
            <a:prstDash val="solid"/>
          </a:ln>
        </p:spPr>
        <p:txBody>
          <a:bodyPr/>
          <a:p/>
        </p:txBody>
      </p:sp>
      <p:sp>
        <p:nvSpPr>
          <p:cNvPr id="34" name="Shape 31"/>
          <p:cNvSpPr/>
          <p:nvPr/>
        </p:nvSpPr>
        <p:spPr>
          <a:xfrm flipV="1">
            <a:off x="10642473" y="6647688"/>
            <a:ext cx="235458" cy="50292"/>
          </a:xfrm>
          <a:prstGeom prst="line">
            <a:avLst/>
          </a:prstGeom>
          <a:noFill/>
          <a:ln w="9525">
            <a:solidFill>
              <a:srgbClr val="E2DCD0"/>
            </a:solidFill>
            <a:prstDash val="solid"/>
          </a:ln>
        </p:spPr>
        <p:txBody>
          <a:bodyPr/>
          <a:p/>
        </p:txBody>
      </p:sp>
      <p:sp>
        <p:nvSpPr>
          <p:cNvPr id="35" name="Shape 32"/>
          <p:cNvSpPr/>
          <p:nvPr/>
        </p:nvSpPr>
        <p:spPr>
          <a:xfrm>
            <a:off x="10877931" y="6647688"/>
            <a:ext cx="162306" cy="41148"/>
          </a:xfrm>
          <a:prstGeom prst="line">
            <a:avLst/>
          </a:prstGeom>
          <a:noFill/>
          <a:ln w="9525">
            <a:solidFill>
              <a:srgbClr val="E2DCD0"/>
            </a:solidFill>
            <a:prstDash val="solid"/>
          </a:ln>
        </p:spPr>
        <p:txBody>
          <a:bodyPr/>
          <a:p/>
        </p:txBody>
      </p:sp>
      <p:sp>
        <p:nvSpPr>
          <p:cNvPr id="36" name="Shape 33"/>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0" name="Shape 37"/>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1" name="Shape 38"/>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2" name="Shape 39"/>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3" name="Shape 40"/>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4" name="Text 41"/>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한계선을 함께 밝히는 것이 곧 신뢰의 근거다</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파급력·기대효과 ① 활용</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누가 쓰고, 어떻게 배포하나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011680"/>
          </a:xfrm>
          <a:prstGeom prst="roundRect">
            <a:avLst>
              <a:gd name="adj" fmla="val 2727"/>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수요자 1 · 진화 지휘부</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0058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지표 화선의 실시간 위치·방향·속도로 '어디에 자원을 먼저 투입할지' 판단. 자원 배치 정확도↑.</a:t>
            </a:r>
            <a:endParaRPr lang="en-US" sz="1200" dirty="0"/>
          </a:p>
        </p:txBody>
      </p:sp>
      <p:sp>
        <p:nvSpPr>
          <p:cNvPr id="9" name="Shape 7"/>
          <p:cNvSpPr/>
          <p:nvPr/>
        </p:nvSpPr>
        <p:spPr>
          <a:xfrm>
            <a:off x="6153912" y="1508760"/>
            <a:ext cx="5477256" cy="2011680"/>
          </a:xfrm>
          <a:prstGeom prst="roundRect">
            <a:avLst>
              <a:gd name="adj" fmla="val 2727"/>
            </a:avLst>
          </a:prstGeom>
          <a:solidFill>
            <a:srgbClr val="FBEFE2"/>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수요자 2 · 최전선 대원</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0058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'이 구역에 화선 N분 내 도달' 대피 타이밍 제공. 대원 안전과 직결(속도는 안전마진으로 보수적 경보).</a:t>
            </a:r>
            <a:endParaRPr lang="en-US" sz="1200" dirty="0"/>
          </a:p>
        </p:txBody>
      </p:sp>
      <p:sp>
        <p:nvSpPr>
          <p:cNvPr id="13" name="Shape 11"/>
          <p:cNvSpPr/>
          <p:nvPr/>
        </p:nvSpPr>
        <p:spPr>
          <a:xfrm>
            <a:off x="548640" y="3703320"/>
            <a:ext cx="5440680" cy="2148840"/>
          </a:xfrm>
          <a:prstGeom prst="roundRect">
            <a:avLst>
              <a:gd name="adj" fmla="val 2553"/>
            </a:avLst>
          </a:prstGeom>
          <a:solidFill>
            <a:srgbClr val="FFFFFF"/>
          </a:solidFill>
          <a:ln w="12700">
            <a:solidFill>
              <a:srgbClr val="E2DCD0"/>
            </a:solidFill>
            <a:prstDash val="solid"/>
          </a:ln>
        </p:spPr>
        <p:txBody>
          <a:bodyPr/>
          <a:p/>
        </p:txBody>
      </p:sp>
      <p:sp>
        <p:nvSpPr>
          <p:cNvPr id="14" name="Text 12"/>
          <p:cNvSpPr/>
          <p:nvPr/>
        </p:nvSpPr>
        <p:spPr>
          <a:xfrm>
            <a:off x="777240" y="390448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배포 · 고위험 구역 사전 배치</a:t>
            </a:r>
            <a:endParaRPr lang="en-US" sz="1450" dirty="0"/>
          </a:p>
        </p:txBody>
      </p:sp>
      <p:sp>
        <p:nvSpPr>
          <p:cNvPr id="15" name="Shape 13"/>
          <p:cNvSpPr/>
          <p:nvPr/>
        </p:nvSpPr>
        <p:spPr>
          <a:xfrm>
            <a:off x="777240" y="4343400"/>
            <a:ext cx="502920" cy="0"/>
          </a:xfrm>
          <a:prstGeom prst="line">
            <a:avLst/>
          </a:prstGeom>
          <a:noFill/>
          <a:ln w="25400">
            <a:solidFill>
              <a:srgbClr val="D35400"/>
            </a:solidFill>
            <a:prstDash val="solid"/>
          </a:ln>
        </p:spPr>
        <p:txBody>
          <a:bodyPr/>
          <a:p/>
        </p:txBody>
      </p:sp>
      <p:sp>
        <p:nvSpPr>
          <p:cNvPr id="16" name="Text 14"/>
          <p:cNvSpPr/>
          <p:nvPr/>
        </p:nvSpPr>
        <p:spPr>
          <a:xfrm>
            <a:off x="777240" y="448056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상습 발화지, 도시·마을 인접 산림(WUI), 주요 시설·문화재·등산로에 핀포인트. 초저가라 촘촘히 깔아도 부담 적음(사전 배치는 상용 선례로 검증).</a:t>
            </a:r>
            <a:endParaRPr lang="en-US" sz="1200" dirty="0"/>
          </a:p>
          <a:p>
            <a:pPr indent="0" marL="0" eaLnBrk="0" hangingPunct="1">
              <a:lnSpc>
                <a:spcPct val="120000"/>
              </a:lnSpc>
              <a:buNone/>
            </a:pPr>
            <a:endParaRPr lang="en-US" sz="1200" dirty="0"/>
          </a:p>
        </p:txBody>
      </p:sp>
      <p:sp>
        <p:nvSpPr>
          <p:cNvPr id="17" name="Shape 15"/>
          <p:cNvSpPr/>
          <p:nvPr/>
        </p:nvSpPr>
        <p:spPr>
          <a:xfrm>
            <a:off x="6153912" y="370332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8" name="Text 16"/>
          <p:cNvSpPr/>
          <p:nvPr/>
        </p:nvSpPr>
        <p:spPr>
          <a:xfrm>
            <a:off x="6382512" y="390448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기대효과</a:t>
            </a:r>
            <a:endParaRPr lang="en-US" sz="1450" dirty="0"/>
          </a:p>
        </p:txBody>
      </p:sp>
      <p:sp>
        <p:nvSpPr>
          <p:cNvPr id="19" name="Shape 17"/>
          <p:cNvSpPr/>
          <p:nvPr/>
        </p:nvSpPr>
        <p:spPr>
          <a:xfrm>
            <a:off x="6382512" y="4343400"/>
            <a:ext cx="502920" cy="0"/>
          </a:xfrm>
          <a:prstGeom prst="line">
            <a:avLst/>
          </a:prstGeom>
          <a:noFill/>
          <a:ln w="25400">
            <a:solidFill>
              <a:srgbClr val="D35400"/>
            </a:solidFill>
            <a:prstDash val="solid"/>
          </a:ln>
        </p:spPr>
        <p:txBody>
          <a:bodyPr/>
          <a:p/>
        </p:txBody>
      </p:sp>
      <p:sp>
        <p:nvSpPr>
          <p:cNvPr id="20" name="Text 18"/>
          <p:cNvSpPr/>
          <p:nvPr/>
        </p:nvSpPr>
        <p:spPr>
          <a:xfrm>
            <a:off x="6382512" y="448056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상공 관측이 놓치는 지표 화선을 지상에서 실시간화 → 자원 배치 정확도와 대원 안전을 동시에 끌어올린다.</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18</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파급력·기대효과 ② 시장성·발전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저가 소모형의 경제 논리와 확장성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926080"/>
          </a:xfrm>
          <a:prstGeom prst="roundRect">
            <a:avLst>
              <a:gd name="adj" fmla="val 1875"/>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비용 논리</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92024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개당 수천 원 → 불 속에 들어가는 역할엔 내구성을 '살' 수 없으니 저가 소모형이 유일하게 합리적.</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16노드 실물 ≈ 45만 원.</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예방 투자 vs 산불 1회 피해(인명·산림·재산) = 후자가 압도적.</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불날 때마다 갈아끼우는 모델이 오히려 경제적.</a:t>
            </a:r>
            <a:endParaRPr lang="en-US" sz="1200" dirty="0"/>
          </a:p>
        </p:txBody>
      </p:sp>
      <p:sp>
        <p:nvSpPr>
          <p:cNvPr id="9" name="Shape 7"/>
          <p:cNvSpPr/>
          <p:nvPr/>
        </p:nvSpPr>
        <p:spPr>
          <a:xfrm>
            <a:off x="6153912" y="1508760"/>
            <a:ext cx="5477256" cy="2926080"/>
          </a:xfrm>
          <a:prstGeom prst="roundRect">
            <a:avLst>
              <a:gd name="adj" fmla="val 1875"/>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발전 가능성</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18504" y="2286000"/>
            <a:ext cx="5148072" cy="192024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같은 '고장-패턴-데이터화 + 자가치유' 구조를 실내 화재·가스 누출·구조물 붕괴·홍수로 확장 가능.</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온도 상승 궤적·곡선-허용 시공간 정합·다중소스 추정(#2e)이 다음 연구 축.</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드론·위성과 대체가 아니라 상보 레이어로 통합.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전력: 상시 메시 구조상 노드당 90~130 mA [추정 — 데이터시트 기준].</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저전력 모드(평시 deep sleep · 화재 시 메시 기동)는 향후 과제.</a:t>
            </a:r>
            <a:endParaRPr lang="en-US" sz="1200" dirty="0"/>
          </a:p>
        </p:txBody>
      </p:sp>
      <p:sp>
        <p:nvSpPr>
          <p:cNvPr id="13" name="Text 11"/>
          <p:cNvSpPr/>
          <p:nvPr/>
        </p:nvSpPr>
        <p:spPr>
          <a:xfrm>
            <a:off x="548640" y="4663440"/>
            <a:ext cx="11064240" cy="36576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 독창성은 특정 응용이 아니라 '고장을 데이터로 승격하는 아키텍처'에 있어, 재난 전반으로 이식된다.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19</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flipH="1">
            <a:off x="10498455" y="6464808"/>
            <a:ext cx="4572" cy="187452"/>
          </a:xfrm>
          <a:prstGeom prst="line">
            <a:avLst/>
          </a:prstGeom>
          <a:noFill/>
          <a:ln w="9525">
            <a:solidFill>
              <a:srgbClr val="E2DCD0"/>
            </a:solidFill>
            <a:prstDash val="solid"/>
          </a:ln>
        </p:spPr>
        <p:txBody>
          <a:bodyPr/>
          <a:p/>
        </p:txBody>
      </p:sp>
      <p:sp>
        <p:nvSpPr>
          <p:cNvPr id="18" name="Shape 16"/>
          <p:cNvSpPr/>
          <p:nvPr/>
        </p:nvSpPr>
        <p:spPr>
          <a:xfrm flipV="1">
            <a:off x="10647045" y="6451092"/>
            <a:ext cx="235458" cy="50292"/>
          </a:xfrm>
          <a:prstGeom prst="line">
            <a:avLst/>
          </a:prstGeom>
          <a:noFill/>
          <a:ln w="9525">
            <a:solidFill>
              <a:srgbClr val="E2DCD0"/>
            </a:solidFill>
            <a:prstDash val="solid"/>
          </a:ln>
        </p:spPr>
        <p:txBody>
          <a:bodyPr/>
          <a:p/>
        </p:txBody>
      </p:sp>
      <p:sp>
        <p:nvSpPr>
          <p:cNvPr id="19" name="Shape 17"/>
          <p:cNvSpPr/>
          <p:nvPr/>
        </p:nvSpPr>
        <p:spPr>
          <a:xfrm flipH="1">
            <a:off x="10642473"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flipH="1">
            <a:off x="10877931" y="6451092"/>
            <a:ext cx="4572" cy="196596"/>
          </a:xfrm>
          <a:prstGeom prst="line">
            <a:avLst/>
          </a:prstGeom>
          <a:noFill/>
          <a:ln w="9525">
            <a:solidFill>
              <a:srgbClr val="E2DCD0"/>
            </a:solidFill>
            <a:prstDash val="solid"/>
          </a:ln>
        </p:spPr>
        <p:txBody>
          <a:bodyPr/>
          <a:p/>
        </p:txBody>
      </p:sp>
      <p:sp>
        <p:nvSpPr>
          <p:cNvPr id="22" name="Shape 20"/>
          <p:cNvSpPr/>
          <p:nvPr/>
        </p:nvSpPr>
        <p:spPr>
          <a:xfrm flipH="1">
            <a:off x="11040237"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flipV="1">
            <a:off x="10642473" y="6647688"/>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일정·업무 분장</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1인 개발자로 전 영역을 단계적으로 수행</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2743200"/>
        </p:xfrm>
        <a:graphic>
          <a:graphicData uri="http://schemas.openxmlformats.org/drawingml/2006/table">
            <a:tbl>
              <a:tblPr/>
              <a:tblGrid>
                <a:gridCol w="2286000"/>
                <a:gridCol w="1554480"/>
                <a:gridCol w="5422392"/>
                <a:gridCol w="1828800"/>
              </a:tblGrid>
              <a:tr h="310896">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단계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기간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내용</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상태</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① 시뮬·알고리즘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7월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시뮬레이터 · 도착시각 추정 · 스트레스 시험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② 알고리즘 정밀화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8월 상순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집계 결함 교정 · 자기 차단 도입 · 명세 대조</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③ 실측·실물 포팅</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8월 중순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센서 열관성 실측 · 펌웨어 포팅 · 메시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④ 자가치유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8/29~8/30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4노드 메시 · 중계 이탈/복귀 실측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1">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⑤ 조립·교정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8/30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16노드 조립 · 감지부 좌표 · 열원 교정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1">
                          <a:solidFill>
                            <a:srgbClr val="D35400"/>
                          </a:solidFill>
                          <a:latin typeface="맑은 고딕" pitchFamily="34" charset="0"/>
                          <a:ea typeface="맑은 고딕" pitchFamily="34" charset="-122"/>
                          <a:cs typeface="맑은 고딕" pitchFamily="34" charset="-120"/>
                        </a:rPr>
                        <a:t>진행 중</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⑥ 리허설·촬영</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8/31~9/1</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전 구간 리허설 · 시연 촬영</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0">
                          <a:solidFill>
                            <a:srgbClr val="6B6E6A"/>
                          </a:solidFill>
                          <a:latin typeface="맑은 고딕" pitchFamily="34" charset="0"/>
                          <a:ea typeface="맑은 고딕" pitchFamily="34" charset="-122"/>
                          <a:cs typeface="맑은 고딕" pitchFamily="34" charset="-120"/>
                        </a:rPr>
                        <a:t>예정</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⑦ 문서·제출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9/2~9/3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영상 편집 · 보고서 완성 · GitHub 공개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0">
                          <a:solidFill>
                            <a:srgbClr val="6B6E6A"/>
                          </a:solidFill>
                          <a:latin typeface="맑은 고딕" pitchFamily="34" charset="0"/>
                          <a:ea typeface="맑은 고딕" pitchFamily="34" charset="-122"/>
                          <a:cs typeface="맑은 고딕" pitchFamily="34" charset="-120"/>
                        </a:rPr>
                        <a:t>예정</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bl>
          </a:graphicData>
        </a:graphic>
      </p:graphicFrame>
      <p:sp>
        <p:nvSpPr>
          <p:cNvPr id="6" name="Shape 3"/>
          <p:cNvSpPr/>
          <p:nvPr/>
        </p:nvSpPr>
        <p:spPr>
          <a:xfrm>
            <a:off x="548640" y="4389120"/>
            <a:ext cx="11091672" cy="1600200"/>
          </a:xfrm>
          <a:prstGeom prst="roundRect">
            <a:avLst>
              <a:gd name="adj" fmla="val 3429"/>
            </a:avLst>
          </a:prstGeom>
          <a:solidFill>
            <a:srgbClr val="EEF3E6"/>
          </a:solidFill>
          <a:ln w="12700">
            <a:solidFill>
              <a:srgbClr val="E2DCD0"/>
            </a:solidFill>
            <a:prstDash val="solid"/>
          </a:ln>
        </p:spPr>
        <p:txBody>
          <a:bodyPr/>
          <a:p/>
        </p:txBody>
      </p:sp>
      <p:sp>
        <p:nvSpPr>
          <p:cNvPr id="7" name="Text 4"/>
          <p:cNvSpPr/>
          <p:nvPr/>
        </p:nvSpPr>
        <p:spPr>
          <a:xfrm>
            <a:off x="777240" y="4590288"/>
            <a:ext cx="10634472"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1인 업무 분장 (영역별)</a:t>
            </a:r>
            <a:endParaRPr lang="en-US" sz="1450" dirty="0"/>
          </a:p>
        </p:txBody>
      </p:sp>
      <p:sp>
        <p:nvSpPr>
          <p:cNvPr id="8" name="Shape 5"/>
          <p:cNvSpPr/>
          <p:nvPr/>
        </p:nvSpPr>
        <p:spPr>
          <a:xfrm>
            <a:off x="777240" y="5029200"/>
            <a:ext cx="502920" cy="0"/>
          </a:xfrm>
          <a:prstGeom prst="line">
            <a:avLst/>
          </a:prstGeom>
          <a:noFill/>
          <a:ln w="25400">
            <a:solidFill>
              <a:srgbClr val="D35400"/>
            </a:solidFill>
            <a:prstDash val="solid"/>
          </a:ln>
        </p:spPr>
        <p:txBody>
          <a:bodyPr/>
          <a:p/>
        </p:txBody>
      </p:sp>
      <p:sp>
        <p:nvSpPr>
          <p:cNvPr id="9" name="Text 6"/>
          <p:cNvSpPr/>
          <p:nvPr/>
        </p:nvSpPr>
        <p:spPr>
          <a:xfrm>
            <a:off x="777240" y="5166360"/>
            <a:ext cx="10634472" cy="59436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펌웨어(ESP32·painlessMesh) · 알고리즘/게이트웨이(Python 추정기) · 하드웨어(16노드 조립·데모·계측) · 문서/발표(보고서·영상)를 단독으로 단계적 수행. 시뮬 선개발로 리스크를 앞당겨 해소하고, 추정기 동결·사전등록 규율로 범위를 통제 — 1인 개발의 범위 관리·완결 역량을 보인다.</a:t>
            </a:r>
            <a:endParaRPr lang="en-US" sz="1200" dirty="0"/>
          </a:p>
        </p:txBody>
      </p:sp>
      <p:sp>
        <p:nvSpPr>
          <p:cNvPr id="10" name="Text 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1" name="Text 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20</a:t>
            </a:r>
            <a:endParaRPr lang="en-US" sz="900" dirty="0"/>
          </a:p>
        </p:txBody>
      </p:sp>
      <p:sp>
        <p:nvSpPr>
          <p:cNvPr id="12" name="Shape 9"/>
          <p:cNvSpPr/>
          <p:nvPr/>
        </p:nvSpPr>
        <p:spPr>
          <a:xfrm>
            <a:off x="10503027" y="6464808"/>
            <a:ext cx="144018" cy="36576"/>
          </a:xfrm>
          <a:prstGeom prst="line">
            <a:avLst/>
          </a:prstGeom>
          <a:noFill/>
          <a:ln w="9525">
            <a:solidFill>
              <a:srgbClr val="E2DCD0"/>
            </a:solidFill>
            <a:prstDash val="solid"/>
          </a:ln>
        </p:spPr>
        <p:txBody>
          <a:bodyPr/>
          <a:p/>
        </p:txBody>
      </p:sp>
      <p:sp>
        <p:nvSpPr>
          <p:cNvPr id="13" name="Shape 10"/>
          <p:cNvSpPr/>
          <p:nvPr/>
        </p:nvSpPr>
        <p:spPr>
          <a:xfrm flipH="1">
            <a:off x="10498455" y="6464808"/>
            <a:ext cx="4572" cy="187452"/>
          </a:xfrm>
          <a:prstGeom prst="line">
            <a:avLst/>
          </a:prstGeom>
          <a:noFill/>
          <a:ln w="9525">
            <a:solidFill>
              <a:srgbClr val="E2DCD0"/>
            </a:solidFill>
            <a:prstDash val="solid"/>
          </a:ln>
        </p:spPr>
        <p:txBody>
          <a:bodyPr/>
          <a:p/>
        </p:txBody>
      </p:sp>
      <p:sp>
        <p:nvSpPr>
          <p:cNvPr id="14" name="Shape 11"/>
          <p:cNvSpPr/>
          <p:nvPr/>
        </p:nvSpPr>
        <p:spPr>
          <a:xfrm flipV="1">
            <a:off x="10647045" y="6451092"/>
            <a:ext cx="235458" cy="50292"/>
          </a:xfrm>
          <a:prstGeom prst="line">
            <a:avLst/>
          </a:prstGeom>
          <a:noFill/>
          <a:ln w="9525">
            <a:solidFill>
              <a:srgbClr val="E2DCD0"/>
            </a:solidFill>
            <a:prstDash val="solid"/>
          </a:ln>
        </p:spPr>
        <p:txBody>
          <a:bodyPr/>
          <a:p/>
        </p:txBody>
      </p:sp>
      <p:sp>
        <p:nvSpPr>
          <p:cNvPr id="15" name="Shape 12"/>
          <p:cNvSpPr/>
          <p:nvPr/>
        </p:nvSpPr>
        <p:spPr>
          <a:xfrm flipH="1">
            <a:off x="10642473" y="6501384"/>
            <a:ext cx="4572" cy="196596"/>
          </a:xfrm>
          <a:prstGeom prst="line">
            <a:avLst/>
          </a:prstGeom>
          <a:noFill/>
          <a:ln w="9525">
            <a:solidFill>
              <a:srgbClr val="E2DCD0"/>
            </a:solidFill>
            <a:prstDash val="solid"/>
          </a:ln>
        </p:spPr>
        <p:txBody>
          <a:bodyPr/>
          <a:p/>
        </p:txBody>
      </p:sp>
      <p:sp>
        <p:nvSpPr>
          <p:cNvPr id="16" name="Shape 13"/>
          <p:cNvSpPr/>
          <p:nvPr/>
        </p:nvSpPr>
        <p:spPr>
          <a:xfrm>
            <a:off x="10882503" y="6451092"/>
            <a:ext cx="162306" cy="41148"/>
          </a:xfrm>
          <a:prstGeom prst="line">
            <a:avLst/>
          </a:prstGeom>
          <a:noFill/>
          <a:ln w="9525">
            <a:solidFill>
              <a:srgbClr val="E2DCD0"/>
            </a:solidFill>
            <a:prstDash val="solid"/>
          </a:ln>
        </p:spPr>
        <p:txBody>
          <a:bodyPr/>
          <a:p/>
        </p:txBody>
      </p:sp>
      <p:sp>
        <p:nvSpPr>
          <p:cNvPr id="17" name="Shape 14"/>
          <p:cNvSpPr/>
          <p:nvPr/>
        </p:nvSpPr>
        <p:spPr>
          <a:xfrm flipH="1">
            <a:off x="10877931" y="6451092"/>
            <a:ext cx="4572" cy="196596"/>
          </a:xfrm>
          <a:prstGeom prst="line">
            <a:avLst/>
          </a:prstGeom>
          <a:noFill/>
          <a:ln w="9525">
            <a:solidFill>
              <a:srgbClr val="E2DCD0"/>
            </a:solidFill>
            <a:prstDash val="solid"/>
          </a:ln>
        </p:spPr>
        <p:txBody>
          <a:bodyPr/>
          <a:p/>
        </p:txBody>
      </p:sp>
      <p:sp>
        <p:nvSpPr>
          <p:cNvPr id="18" name="Shape 15"/>
          <p:cNvSpPr/>
          <p:nvPr/>
        </p:nvSpPr>
        <p:spPr>
          <a:xfrm flipH="1">
            <a:off x="11040237" y="6492240"/>
            <a:ext cx="4572" cy="196596"/>
          </a:xfrm>
          <a:prstGeom prst="line">
            <a:avLst/>
          </a:prstGeom>
          <a:noFill/>
          <a:ln w="9525">
            <a:solidFill>
              <a:srgbClr val="E2DCD0"/>
            </a:solidFill>
            <a:prstDash val="solid"/>
          </a:ln>
        </p:spPr>
        <p:txBody>
          <a:bodyPr/>
          <a:p/>
        </p:txBody>
      </p:sp>
      <p:sp>
        <p:nvSpPr>
          <p:cNvPr id="19" name="Shape 16"/>
          <p:cNvSpPr/>
          <p:nvPr/>
        </p:nvSpPr>
        <p:spPr>
          <a:xfrm>
            <a:off x="10498455" y="6652260"/>
            <a:ext cx="144018" cy="45720"/>
          </a:xfrm>
          <a:prstGeom prst="line">
            <a:avLst/>
          </a:prstGeom>
          <a:noFill/>
          <a:ln w="9525">
            <a:solidFill>
              <a:srgbClr val="E2DCD0"/>
            </a:solidFill>
            <a:prstDash val="solid"/>
          </a:ln>
        </p:spPr>
        <p:txBody>
          <a:bodyPr/>
          <a:p/>
        </p:txBody>
      </p:sp>
      <p:sp>
        <p:nvSpPr>
          <p:cNvPr id="20" name="Shape 17"/>
          <p:cNvSpPr/>
          <p:nvPr/>
        </p:nvSpPr>
        <p:spPr>
          <a:xfrm flipV="1">
            <a:off x="10642473" y="6647688"/>
            <a:ext cx="235458" cy="50292"/>
          </a:xfrm>
          <a:prstGeom prst="line">
            <a:avLst/>
          </a:prstGeom>
          <a:noFill/>
          <a:ln w="9525">
            <a:solidFill>
              <a:srgbClr val="E2DCD0"/>
            </a:solidFill>
            <a:prstDash val="solid"/>
          </a:ln>
        </p:spPr>
        <p:txBody>
          <a:bodyPr/>
          <a:p/>
        </p:txBody>
      </p:sp>
      <p:sp>
        <p:nvSpPr>
          <p:cNvPr id="30" name="Shape 18"/>
          <p:cNvSpPr/>
          <p:nvPr/>
        </p:nvSpPr>
        <p:spPr>
          <a:xfrm>
            <a:off x="10877931" y="6647688"/>
            <a:ext cx="162306" cy="41148"/>
          </a:xfrm>
          <a:prstGeom prst="line">
            <a:avLst/>
          </a:prstGeom>
          <a:noFill/>
          <a:ln w="9525">
            <a:solidFill>
              <a:srgbClr val="E2DCD0"/>
            </a:solidFill>
            <a:prstDash val="solid"/>
          </a:ln>
        </p:spPr>
        <p:txBody>
          <a:bodyPr/>
          <a:p/>
        </p:txBody>
      </p:sp>
      <p:sp>
        <p:nvSpPr>
          <p:cNvPr id="22" name="Shape 1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3" name="Shape 2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4" name="Shape 2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5" name="Shape 2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6" name="Shape 2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27" name="Shape 2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28" name="Shape 2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29" name="Shape 2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1" name="StatusDot0"/>
          <p:cNvSpPr/>
          <p:nvPr/>
        </p:nvSpPr>
        <p:spPr>
          <a:xfrm>
            <a:off x="9902952" y="1888236"/>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tatusDot1"/>
          <p:cNvSpPr/>
          <p:nvPr/>
        </p:nvSpPr>
        <p:spPr>
          <a:xfrm>
            <a:off x="9902952" y="2235708"/>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tatusDot2"/>
          <p:cNvSpPr/>
          <p:nvPr/>
        </p:nvSpPr>
        <p:spPr>
          <a:xfrm>
            <a:off x="9902952" y="2583180"/>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tusDot3"/>
          <p:cNvSpPr/>
          <p:nvPr/>
        </p:nvSpPr>
        <p:spPr>
          <a:xfrm>
            <a:off x="9902952" y="2930652"/>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tatusDot4"/>
          <p:cNvSpPr/>
          <p:nvPr/>
        </p:nvSpPr>
        <p:spPr>
          <a:xfrm>
            <a:off x="9902952" y="3278124"/>
            <a:ext cx="118872" cy="118872"/>
          </a:xfrm>
          <a:prstGeom prst="ellipse">
            <a:avLst/>
          </a:prstGeom>
          <a:solidFill>
            <a:srgbClr val="D3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atusDot5"/>
          <p:cNvSpPr/>
          <p:nvPr/>
        </p:nvSpPr>
        <p:spPr>
          <a:xfrm>
            <a:off x="9902952" y="3625596"/>
            <a:ext cx="118872" cy="118872"/>
          </a:xfrm>
          <a:prstGeom prst="ellipse">
            <a:avLst/>
          </a:prstGeom>
          <a:solidFill>
            <a:srgbClr val="6B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tatusDot6"/>
          <p:cNvSpPr/>
          <p:nvPr/>
        </p:nvSpPr>
        <p:spPr>
          <a:xfrm>
            <a:off x="9902952" y="3973068"/>
            <a:ext cx="118872" cy="118872"/>
          </a:xfrm>
          <a:prstGeom prst="ellipse">
            <a:avLst/>
          </a:prstGeom>
          <a:solidFill>
            <a:srgbClr val="6B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2026-08-16T22:42:36Z</dcterms:created>
  <dcterms:modified xsi:type="dcterms:W3CDTF">2026-08-16T22:42:36Z</dcterms:modified>
</cp:coreProperties>
</file>