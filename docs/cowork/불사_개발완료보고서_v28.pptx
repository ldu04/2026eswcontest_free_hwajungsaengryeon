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ldu04/2026ESWContest_free_HWAJUNGSAENGRYEO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ldu04/2026ESWContest_free_HWAJUNGSAENGRYEO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486400" y="5907024"/>
            <a:ext cx="6153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sz="900">
                <a:solidFill>
                  <a:srgbClr val="6B6E6A"/>
                </a:solidFill>
                <a:latin typeface="맑은 고딕"/>
              </a:rPr>
              <a:t>GitHub  </a:t>
            </a:r>
            <a:r>
              <a:rPr sz="900" u="sng">
                <a:solidFill>
                  <a:srgbClr val="2C5F2D"/>
                </a:solidFill>
                <a:latin typeface="맑은 고딕"/>
                <a:hlinkClick r:id="rId3"/>
              </a:rPr>
              <a:t>https://github.com/ldu04/2026ESWContest_free_HWAJUNGSAENGRYEON</a:t>
            </a:r>
            <a:endParaRPr lang="en-US" sz="1100" dirty="0"/>
          </a:p>
          <a:p>
            <a:r>
              <a:rPr sz="900">
                <a:solidFill>
                  <a:srgbClr val="6B6E6A"/>
                </a:solidFill>
                <a:latin typeface="맑은 고딕"/>
              </a:rPr>
              <a:t>시연영상  </a:t>
            </a:r>
            <a:r>
              <a:rPr sz="900">
                <a:solidFill>
                  <a:srgbClr val="6B6E6A"/>
                </a:solidFill>
                <a:latin typeface="맑은 고딕"/>
              </a:rPr>
              <a:t>(업로드 후 삽입)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u="sng" sz="1000">
                          <a:solidFill>
                            <a:srgbClr val="2C5F2D"/>
                          </a:solidFill>
                          <a:latin typeface="맑은 고딕"/>
                          <a:hlinkClick r:id="rId3"/>
                        </a:rPr>
                        <a:t>https://github.com/ldu04/2026ESWContest_free_HWAJUNGSAENGRYEON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i="1" sz="1000">
                          <a:solidFill>
                            <a:srgbClr val="6B6E6A"/>
                          </a:solidFill>
                          <a:latin typeface="맑은 고딕"/>
                        </a:rPr>
                        <a:t>(업로드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0772" y="3749040"/>
            <a:ext cx="4846205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81201" y="3749040"/>
            <a:ext cx="483697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785616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785616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  <p:pic>
        <p:nvPicPr>
          <p:cNvPr id="33" name="Picture 32" descr="s05_no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03904"/>
            <a:ext cx="1275159" cy="10881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216991" y="3895344"/>
            <a:ext cx="3589448" cy="822960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ESP32 — 무선·연산</a:t>
            </a:r>
          </a:p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DS18B20 — 온도 센서</a:t>
            </a:r>
          </a:p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WS2812 — 상태 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46904"/>
            <a:ext cx="5029200" cy="219456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세 부품이 전부다 — 잃어도 되도록 가볍게 만들었다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7" name="Shape 3"/>
          <p:cNvSpPr/>
          <p:nvPr/>
        </p:nvSpPr>
        <p:spPr>
          <a:xfrm>
            <a:off x="548640" y="1508760"/>
            <a:ext cx="11091672" cy="95097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82496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31352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5343753"/>
            <a:ext cx="11091672" cy="82021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415075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65556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7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7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3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59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5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Rounded Rectangle 45"/>
          <p:cNvSpPr/>
          <p:nvPr/>
        </p:nvSpPr>
        <p:spPr>
          <a:xfrm>
            <a:off x="8558784" y="5416905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608783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495604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608783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정보가 부족한가, 설정이 좁은가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설정값이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설정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이웃 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66767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원인은 알고리즘이 아니라 설정값이었고,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브리지 중계 병목 — 임종신호가 사라졌다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노드는 초당 15건을 보내는데 브리지는 약 1.3건만 내보냈다(실측). 하트비트 트래픽에 밀려 단발 임종신호의 통과 확률은 9% [계산] — 관측된 노드별 도착률 5~9%와 같은 값이다.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n07 사망 시험이 이것으로 실패했다 — 노드는 죽었는데 게이트웨이는 몰랐다.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하트비트를 1초에서 10초로 늘려 트래픽을 1/10로 줄이고, 임종신호를 1초 간격 3회 반복으로 바꿨다. 게이트웨이는 임종신호가 도착하면 이웃 투표를 기다리지 않고 즉시 사망을 확정한다.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120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본편에서 16대 중 15대의 임종신호를 수신했다.</a:t>
            </a: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남은 1대(n03)는 15쪽에 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31352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사망 시험 실패로,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먼저 밝힌다 — 무엇을 재현했고 무엇을 재현하지 않았나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481328"/>
          <a:ext cx="5257800" cy="3310128"/>
        </p:xfrm>
        <a:graphic>
          <a:graphicData uri="http://schemas.openxmlformats.org/drawingml/2006/table">
            <a:tbl>
              <a:tblPr/>
              <a:tblGrid>
                <a:gridCol w="1051560"/>
                <a:gridCol w="4206240"/>
              </a:tblGrid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열풍기 400℃ · 풍량 10 · 노즐~노드 4 cm → 노드 위치 공기온도 190.5℃ (실측)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노드당 체류 21초 · 참값 방향 55.48° · 참값 속도 0.5785 mm/s  [설정]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 임계 80.0℃ · 경고 60.0℃ — 개발 초기에 동결, 결과를 보고 바꾸지 않았다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하트비트 10초 · 침묵 문턱 30초 · 임종신호 3회 반복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23분 20초 · 1회차를 그대로 본편 촬영 · 재촬영 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무결성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16/16 실측 · 합성 0건 · 시각 역행 0건 · 큐 편차 최대 0.10초(34/34)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5340096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이 실험이 재현한 것과 재현하지 않은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32704"/>
            <a:ext cx="10634472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재현한 것 — 불이 지나가면서 노드가 차례로 파괴되는 과정, 그리고 그 시각과 좌표만으로 하는 추정.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재현하지 않은 것 — 복사·연료 소진·바람·지형. 열풍기의 이동을 화선의 대리물로 삼았다. 0.20 m 격자를 야외 배치의 축소 모형으로 두었고, 그 축척이 성립하는 근거는 16쪽에 있다.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추정기가 볼 수 없는 것 — 참값 대본. 추정기는 대본을 모른 채 죽은 시각만 받는다. 좌표는 전부 실측이다.</a:t>
            </a:r>
          </a:p>
        </p:txBody>
      </p:sp>
      <p:pic>
        <p:nvPicPr>
          <p:cNvPr id="30" name="Picture 29" descr="s14_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42" y="1481328"/>
            <a:ext cx="3354859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4864608"/>
            <a:ext cx="5769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6B6E6A"/>
                </a:solidFill>
                <a:latin typeface="맑은 고딕"/>
              </a:rPr>
              <a:t>4×4 격자 · 0.20 m 간격 · 노드 16 + 브리지 1 + 라즈베리파이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감지 장치 없이, 죽은 시각만으로 참값에 2.85°까지 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7904"/>
            <a:ext cx="4412126" cy="25968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4160519"/>
            <a:ext cx="5897880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0">
                <a:solidFill>
                  <a:srgbClr val="6B6E6A"/>
                </a:solidFill>
                <a:latin typeface="맑은 고딕"/>
              </a:rPr>
              <a:t>[데모 조건] 4×4 · 0.20 m 격자 · 실내 · 열풍기 대리 화선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1517904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6830568" y="1664208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2.85°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691639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방향 오차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1938528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55.48° → 추정 58.33°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258568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6830568" y="240487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+1.67%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432303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속도 오차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679191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0.5785 mm/s → 추정 0.5882 mm/s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999232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TextBox 35"/>
          <p:cNvSpPr txBox="1"/>
          <p:nvPr/>
        </p:nvSpPr>
        <p:spPr>
          <a:xfrm>
            <a:off x="6830568" y="3145534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1,061 / 1,955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172968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추정 프레임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419856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사망 3건이 모이는 t=894초부터 추정이 시작된다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3739896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9" name="TextBox 38"/>
          <p:cNvSpPr txBox="1"/>
          <p:nvPr/>
        </p:nvSpPr>
        <p:spPr>
          <a:xfrm>
            <a:off x="6830568" y="388620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평균 5분 51초 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913632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대피 경보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4160520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불이 닿기 얼마 전에 알렸나 — 13/16 노드 수신 · 최소 1분 27초 · 최대 8분 43초 전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4526279"/>
            <a:ext cx="11091672" cy="17373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2" name="TextBox 41"/>
          <p:cNvSpPr txBox="1"/>
          <p:nvPr/>
        </p:nvSpPr>
        <p:spPr>
          <a:xfrm>
            <a:off x="777240" y="4654295"/>
            <a:ext cx="10634472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센서가 타 죽는 것을 손실로 처리하지 않고 관측으로 썼다. 이 결과에 쓰인 화재 감지 장치는 없다.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946903"/>
            <a:ext cx="10634472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이 시간은 언제부터 주어지나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184647"/>
            <a:ext cx="10634472" cy="62179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발화를 감지한 시간이 아니다. 불이 이미 격자 안에 들어온 뒤의 시간이다.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최소 3대가 타 죽어야 추정이 시작된다. 경보를 못 받은 3대는 그 3대다 — 그들의 죽음이 추정을 만든 재료다.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그 뒤로는 화선 앞쪽에 남은 노드가 「불이 몇 분 뒤 도달」을 받는다.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화선이 대체로 한 방향으로 번진다는 전제 위에서 성립한다. 비화(飛火)로 불씨가 건너뛰면 이 예보는 맞지 않는다.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843016"/>
            <a:ext cx="10634472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리드타임 = 노드 간격 ÷ 화선속도. 관측을 기다리는 값이 아니라 설치 밀도로 정하는 값이다.</a:t>
            </a:r>
          </a:p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17.2 m 간격 기준 — 화선속도 0.05 m/s 에서 5분 44초, 0.10 m/s 에서 2분 52초, 0.01 m/s 에서 28분 40초.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노드는 확실히 탔지만, 증거가 없어 쓰지 않았다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45919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1  실제로 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93391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대본대로 가열됐고 LED 빨강이 육안으로 확인됐다. 이웃 3표로 사망은 확정됐다.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777240" y="2733141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2  그런데 증거가 유실됐다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080613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임종신호 3발이 전부 무선 구간에서 사라졌다. 자기 온도 보고는 25.5℃에서 끊겼다.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3694176"/>
            <a:ext cx="6100419" cy="932688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777240" y="3820363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3  그래서 쓰지 않았다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167835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자기 온도 증거가 없으므로 추정 표본에서 보류했다(branch3_sample_poor).</a:t>
            </a:r>
          </a:p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방향 추정은 남은 15점으로 수행됐다.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3379" y="1883664"/>
          <a:ext cx="4716932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3299612"/>
              </a:tblGrid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분기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branch1_last_gasp 15 · branch3_sample_poor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사망시각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last_gasp_node_stamp 15 · last_heartbeat_node_stamp 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합성 데이터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 역행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16/16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큐 실행 편차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0.10초 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4828032"/>
            <a:ext cx="11091672" cy="8961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TextBox 33"/>
          <p:cNvSpPr txBox="1"/>
          <p:nvPr/>
        </p:nvSpPr>
        <p:spPr>
          <a:xfrm>
            <a:off x="777240" y="4956048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이것은 미탐지 1건이다. 오탐은 0건이다.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66944"/>
            <a:ext cx="10634472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두 방향의 실패 중 어느 쪽을 택할지는 설계 선택이며, 우리는 「증거가 없으면 받지 않는다」를 택했다.</a:t>
            </a:r>
          </a:p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현장에서 없는 화선을 있다고 말하는 쪽이 더 위험하기 때문이다.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3379" y="1517904"/>
            <a:ext cx="47169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1F2421"/>
                </a:solidFill>
                <a:latin typeface="맑은 고딕"/>
              </a:rPr>
              <a:t>런 무결성 점검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거리와 속도가 함께 커지면 시간 상수는 그대로다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1 · 배치가 수십 배 넓어지면?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38528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00" b="1">
                <a:solidFill>
                  <a:srgbClr val="1F2421"/>
                </a:solidFill>
                <a:latin typeface="맑은 고딕"/>
              </a:rPr>
              <a:t>dt_window     = 이웃 반경 ÷ 화선속도</a:t>
            </a:r>
          </a:p>
          <a:p>
            <a:r>
              <a:rPr sz="1200" b="1">
                <a:solidFill>
                  <a:srgbClr val="1F2421"/>
                </a:solidFill>
                <a:latin typeface="맑은 고딕"/>
              </a:rPr>
              <a:t>alert_horizon = 노드 간격 ÷ 화선속도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560320"/>
          <a:ext cx="4864608" cy="1426464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1572768"/>
              </a:tblGrid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/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실험 (실내)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 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이웃 반경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0.36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화선속도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0.5785 mm/s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 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17.2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dt_window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622.3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620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alert_horizon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345.7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344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77240" y="4393455"/>
            <a:ext cx="4864608" cy="40233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1F2421"/>
                </a:solidFill>
                <a:latin typeface="맑은 고딕"/>
              </a:rPr>
              <a:t>길이와 속도가 같은 비율로 바뀌면 두 시간 상수는 변하지 않는다.</a:t>
            </a:r>
          </a:p>
          <a:p>
            <a:r>
              <a:rPr sz="1000" b="1">
                <a:solidFill>
                  <a:srgbClr val="1F2421"/>
                </a:solidFill>
                <a:latin typeface="맑은 고딕"/>
              </a:rPr>
              <a:t>이 실험은 야외 배치의 시간 축척 모형이다.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32367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6B6E6A"/>
                </a:solidFill>
                <a:latin typeface="맑은 고딕"/>
              </a:rPr>
              <a:t>※ 이웃 반경은 통신 도달거리가 아니라 추정기가 「이웃」으로 묶는 공간 반경이다.</a:t>
            </a:r>
          </a:p>
          <a:p>
            <a:r>
              <a:rPr sz="850" b="0">
                <a:solidFill>
                  <a:srgbClr val="6B6E6A"/>
                </a:solidFill>
                <a:latin typeface="맑은 고딕"/>
              </a:rPr>
              <a:t>   통신 자체는 painlessMesh 가 처리하며 이 값과 무관하다.</a:t>
            </a:r>
          </a:p>
        </p:txBody>
      </p:sp>
      <p:sp>
        <p:nvSpPr>
          <p:cNvPr id="5" name="Shape 3"/>
          <p:cNvSpPr/>
          <p:nvPr/>
        </p:nvSpPr>
        <p:spPr>
          <a:xfrm>
            <a:off x="6318504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6547104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2 · 노드가 많아져 경로가 길어지면?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975104"/>
            <a:ext cx="4864608" cy="25670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47104" y="4670195"/>
            <a:ext cx="4864608" cy="7132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50" b="0">
                <a:solidFill>
                  <a:srgbClr val="6B6E6A"/>
                </a:solidFill>
                <a:latin typeface="맑은 고딕"/>
              </a:rPr>
              <a:t>· 하위 11대를 거느린 중계 노드가 이탈하자 브리지가 보던 노드가 15 → 3 으로 떨어졌다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재부팅 없이 15.9초 만에 14노드로 재구성됐다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9개 노드가 다른 부모로 옮겨 붙었다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5596128"/>
            <a:ext cx="11091672" cy="777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TextBox 34"/>
          <p:cNvSpPr txBox="1"/>
          <p:nvPr/>
        </p:nvSpPr>
        <p:spPr>
          <a:xfrm>
            <a:off x="777240" y="5742432"/>
            <a:ext cx="1063447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1F2421"/>
                </a:solidFill>
                <a:latin typeface="맑은 고딕"/>
              </a:rPr>
              <a:t>이 축척 주장은 두 값에 의존한다. 야외 이웃 반경 31 m 는 데이터시트 기반 계산값이며 숲에서 측정하지 않았다.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지표화 속도 0.05 m/s 는 0.01~0.1 m/s 범위 중 택한 가정값이며 문헌 확인을 하지 못했다.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두 값이 달라지면 두 시간 상수가 함께 움직이므로, 비가 유지되는 한 결론은 같다.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73952" y="434340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1045159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