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8"/>
    <p:sldId id="263" r:id="rId9"/>
    <p:sldId id="264" r:id="rId10"/>
    <p:sldId id="265" r:id="rId11"/>
    <p:sldId id="266" r:id="rId12"/>
    <p:sldId id="276" r:id="rId27"/>
    <p:sldId id="270" r:id="rId16"/>
    <p:sldId id="271" r:id="rId17"/>
    <p:sldId id="277" r:id="rId18"/>
    <p:sldId id="278" r:id="rId15"/>
    <p:sldId id="279" r:id="rId14"/>
    <p:sldId id="280" r:id="rId13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7.xml"/><Relationship Id="rId14" Type="http://schemas.openxmlformats.org/officeDocument/2006/relationships/slide" Target="slides/slide16.xml"/><Relationship Id="rId15" Type="http://schemas.openxmlformats.org/officeDocument/2006/relationships/slide" Target="slides/slide15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ldu04/2026ESWContest_free_HWAJUNGSAENGRYEON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github.com/ldu04/2026ESWContest_free_HWAJUNGSAENGRYEON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0134" y="151218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>
            <a:off x="7916418" y="151218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8679942" y="1498473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79942" y="154876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521190" y="149847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521190" y="1498473"/>
            <a:ext cx="9144" cy="77952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10280142" y="1539621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916418" y="226885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7916418" y="226885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flipV="1">
            <a:off x="8684514" y="2277999"/>
            <a:ext cx="845820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8675370" y="231000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530334" y="2277999"/>
            <a:ext cx="74980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9516618" y="2277999"/>
            <a:ext cx="13716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280142" y="2314575"/>
            <a:ext cx="4572" cy="76123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7925562" y="303923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7920990" y="3039237"/>
            <a:ext cx="4572" cy="75666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8675370" y="3034665"/>
            <a:ext cx="84124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675370" y="3084957"/>
            <a:ext cx="13716" cy="75209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516618" y="3034665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9516618" y="3034665"/>
            <a:ext cx="9144" cy="77038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275570" y="3075813"/>
            <a:ext cx="9144" cy="77495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20990" y="3795903"/>
            <a:ext cx="76809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689086" y="3805047"/>
            <a:ext cx="836676" cy="32004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525762" y="3805047"/>
            <a:ext cx="74980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852410" y="1434465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602218" y="147104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443466" y="142074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211562" y="1461897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7838694" y="2191131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8606790" y="22322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452610" y="220027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10202418" y="2236851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847838" y="296151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97646" y="300723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438894" y="2956941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10206990" y="2998089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843266" y="3718179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11362" y="3759327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448038" y="3727323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10197846" y="3773043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spc="1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제24회 임베디드SW경진대회 · 자유공모 부문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777240" y="1965960"/>
            <a:ext cx="5852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88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</a:t>
            </a:r>
            <a:endParaRPr lang="en-US" sz="8800" dirty="0"/>
          </a:p>
        </p:txBody>
      </p:sp>
      <p:sp>
        <p:nvSpPr>
          <p:cNvPr id="66" name="Shape 64"/>
          <p:cNvSpPr/>
          <p:nvPr/>
        </p:nvSpPr>
        <p:spPr>
          <a:xfrm>
            <a:off x="940003" y="3611880"/>
            <a:ext cx="2119579" cy="0"/>
          </a:xfrm>
          <a:prstGeom prst="line">
            <a:avLst/>
          </a:prstGeom>
          <a:noFill/>
          <a:ln w="381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00" b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화중생련  火中生蓮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822960" y="44805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600" dirty="0">
                <a:solidFill>
                  <a:srgbClr val="5054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고장(노드 파괴)을 데이터로 바꾸는 자가치유 산불 감시 메시 네트워크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22960" y="5806440"/>
            <a:ext cx="10515600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0" name="Text 68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이동욱</a:t>
            </a:r>
            <a:pPr indent="0" marL="0">
              <a:buNone/>
            </a:pPr>
            <a:r>
              <a:rPr lang="en-US" sz="13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전자공학전공 · 숭실대학교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0" y="5907024"/>
            <a:ext cx="6153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sz="900">
                <a:solidFill>
                  <a:srgbClr val="6B6E6A"/>
                </a:solidFill>
                <a:latin typeface="맑은 고딕"/>
              </a:rPr>
              <a:t>GitHub  </a:t>
            </a:r>
            <a:r>
              <a:rPr sz="900" u="sng">
                <a:solidFill>
                  <a:srgbClr val="2C5F2D"/>
                </a:solidFill>
                <a:latin typeface="맑은 고딕"/>
                <a:hlinkClick r:id="rId3"/>
              </a:rPr>
              <a:t>https://github.com/ldu04/2026ESWContest_free_HWAJUNGSAENGRYEON</a:t>
            </a:r>
            <a:endParaRPr lang="en-US" sz="1100" dirty="0"/>
          </a:p>
          <a:p>
            <a:r>
              <a:rPr sz="900">
                <a:solidFill>
                  <a:srgbClr val="6B6E6A"/>
                </a:solidFill>
                <a:latin typeface="맑은 고딕"/>
              </a:rPr>
              <a:t>시연영상  </a:t>
            </a:r>
            <a:r>
              <a:rPr sz="900">
                <a:solidFill>
                  <a:srgbClr val="6B6E6A"/>
                </a:solidFill>
                <a:latin typeface="맑은 고딕"/>
              </a:rPr>
              <a:t>(업로드 후 삽입)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① 개발 배경·동기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재난에서 센서는 반드시 죽는다 — 우리는 그 죽음을 버리지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산불·지진·붕괴 현장에서 센서 노드는 파괴된다. 기존 시스템은 그 죽음을 손실로 처리하고 정보를 버린다. 불사는 죽은 노드의 시각과 좌표에서 불의 방향·속도·도달시각을 읽는다.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독창성은 응용(산불)이 아니라 아키텍처에 있다 — 고장을 데이터로, 그리고 자가치유로.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8" name="Shape 2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48640" y="2395728"/>
          <a:ext cx="11091672" cy="2788919"/>
        </p:xfrm>
        <a:graphic>
          <a:graphicData uri="http://schemas.openxmlformats.org/drawingml/2006/table">
            <a:tbl>
              <a:tblPr firstRow="0" bandRow="0" firstCol="0" lastRow="0" lastCol="0"/>
              <a:tblGrid>
                <a:gridCol w="1600200"/>
                <a:gridCol w="9491472"/>
              </a:tblGrid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작품명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불사(不死) — 고장을 데이터로 바꾸는 자가치유 산불 감시 메시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개발 배경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재난 현장에서 센서 노드의 파괴는 예외가 아니라 필연이다. 기존 메시는 죽은 노드를 우회할 뿐, 그 죽음에 담긴 정보를 버린다.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동기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대형 산불 대응 현장에서 지상의 실시간 화선 정보가 없어 판단이 늦어지는 국면을 보았다. 위성은 광역 개요만, 드론은 상공·간헐적이라 연기와 수목 아래 지표 화선의 초 단위 변화를 놓친다.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① 교차검증된 ‘죽음’을 확정 신호로 모아, 죽은 노드의 좌표와 시각에서 화선의 방향·속도·도달시각을 추정한다.</a:t>
                      </a:r>
                      <a:br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② 경로가 끊겨도 남은 노드가 우회로를 다시 짜 관측을 지속한다.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필요성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F2421"/>
                          </a:solidFill>
                          <a:latin typeface="맑은 고딕"/>
                        </a:rPr>
                        <a:t>지상에서 화선을 실측하는 저가 레이어가 없다. 노드 1대 부품비가 1.2만 원(데모 구성 기준)이라, 타 죽는 것을 전제로 촘촘히 깔 수 있다.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소스코드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u="sng" sz="1000">
                          <a:solidFill>
                            <a:srgbClr val="2C5F2D"/>
                          </a:solidFill>
                          <a:latin typeface="맑은 고딕"/>
                          <a:hlinkClick r:id="rId3"/>
                        </a:rPr>
                        <a:t>https://github.com/ldu04/2026ESWContest_free_HWAJUNGSAENGRYEON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  <a:tr h="398417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44483F"/>
                          </a:solidFill>
                          <a:latin typeface="맑은 고딕"/>
                        </a:rPr>
                        <a:t>시연 동영상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i="1" sz="1000">
                          <a:solidFill>
                            <a:srgbClr val="6B6E6A"/>
                          </a:solidFill>
                          <a:latin typeface="맑은 고딕"/>
                        </a:rPr>
                        <a:t>(업로드 후 삽입)</a:t>
                      </a:r>
                    </a:p>
                  </a:txBody>
                  <a:tcPr anchor="ctr" marL="91440" marR="91440" marT="18288" marB="18288">
                    <a:lnL w="12700">
                      <a:solidFill>
                        <a:srgbClr val="E2DCD0"/>
                      </a:solidFill>
                    </a:lnL>
                    <a:lnR w="12700">
                      <a:solidFill>
                        <a:srgbClr val="E2DCD0"/>
                      </a:solidFill>
                    </a:lnR>
                    <a:lnT w="12700">
                      <a:solidFill>
                        <a:srgbClr val="E2DCD0"/>
                      </a:solidFill>
                    </a:lnT>
                    <a:lnB w="12700">
                      <a:solidFill>
                        <a:srgbClr val="E2DCD0"/>
                      </a:solidFill>
                    </a:lnB>
                    <a:solidFill>
                      <a:srgbClr val="FD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② 문제 정의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상공은 지표 화선을 못 본다 — 그 공백이 판단을 늦춘다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안 보이나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연기와 수목 캐노피 아래에서 실제로 번지는 지표 화선의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위치·방향·속도. 위성은 광역 개요만, 드론은 상공·간헐적이라</a:t>
            </a:r>
            <a:br/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 단위 국지 변화를 놓친다.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103120"/>
          </a:xfrm>
          <a:prstGeom prst="roundRect">
            <a:avLst>
              <a:gd name="adj" fmla="val 2609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치명적인가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진화 지휘부의 자원 배치와 최전선 대원의 대피 타이밍이 바로 이 정보에 달려 있다. 공백이 곧 인명·재산 피해로 이어진다.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지상 관측 레이어가 없나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224528"/>
            <a:ext cx="502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43434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위성은 재방문 주기가 있어 초 단위 변화를 못 본다.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드론은 체공 시간이 제한되고 야간·짙은 연기에서 관측이 어렵다.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지상 고정 센서는 불에 타면 끝이라, 화선이 지나가는 구간에는 배치하지 않는다.</a:t>
            </a:r>
            <a:br/>
            <a:r>
              <a:rPr lang="en-US" sz="12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정작 화선이 지나가는 그 자리에 관측이 비어 있다.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5" name="Shape 2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개요 ③ 개발 목표·핵심 아이디어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시각이 곧 불이 도착한 시각이다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노드 파괴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불에 타 죽는 순간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778328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62681" y="1737360"/>
            <a:ext cx="3137411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62681" y="1952244"/>
            <a:ext cx="31374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죽은 시각·좌표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62681" y="2281428"/>
            <a:ext cx="313741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불이 도착한 시각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92369" y="2258568"/>
            <a:ext cx="6920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576722" y="1737360"/>
            <a:ext cx="3045134" cy="1051560"/>
          </a:xfrm>
          <a:prstGeom prst="roundRect">
            <a:avLst>
              <a:gd name="adj" fmla="val 6957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576722" y="1952244"/>
            <a:ext cx="304513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방향·속도·ETA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576722" y="2281428"/>
            <a:ext cx="304513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신뢰도 등급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5490469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79332" y="3310128"/>
            <a:ext cx="50290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1 — 고장의 데이터화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70772" y="3749040"/>
            <a:ext cx="4846205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4738" y="3886200"/>
            <a:ext cx="5158273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교차검증된 '죽음'을 확정 이진 신호로 모아, 흩어진 좌표와 죽은 시각에서 화선의 위치·방향·속도를 추정한다.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59069" y="3108960"/>
            <a:ext cx="548124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389761" y="3310128"/>
            <a:ext cx="50198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2 — 자가치유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481201" y="3749040"/>
            <a:ext cx="483697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389761" y="3886200"/>
            <a:ext cx="50198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경로가 끊겨도 남은 노드들이 자동으로 우회로를 다시 짜, 관측 자체가 계속되게 한다.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5394960"/>
            <a:ext cx="11073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25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목표가 합쳐져: 노드는 죽지만(불에 타도) 시스템의 관측은 '죽지 않는다'. = 불사(不死)의 이중 의미.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4" name="Shape 32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환경 ① 시스템 구성 · 기능 설계도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17대(노드 16 + 브리지 1)와 라즈베리파이 1대로 이뤄진다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785616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센서 노드: ESP32 × 16 (WiFi 메시)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메시 브리지: ESP32 × 1 (id 99) — 메시↔USB 시리얼 중계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감지: DS18B20 디지털 온도센서 (9비트 고속 모드)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상태 표시: WS2812 LED (생사 시각화)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라즈베리파이 4 — 시리얼 수신 · 추정 · 대시보드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전원: USB 5V 급전 (데모) — 배터리 급전은 향후 과제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785616"/>
          </a:xfrm>
          <a:prstGeom prst="roundRect">
            <a:avLst>
              <a:gd name="adj" fmla="val 15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소프트웨어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펌웨어: C/C++ (Arduino-ESP32 + painlessMesh)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메시 자동 구성·우회 + 메시 시각 동기 제공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브리지도 같은 펌웨어를 쓴다(인덱스만 99) — 단일 코드베이스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게이트웨이: Python — 시뮬 추정기 코드 그대로 재사용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관제: 자체완결 웹 대시보드 (HTML, 서버 불필요)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개발·검증: 네트워크 시뮬레이터(Python)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판정 일원화: 화재/비화재 판별을 단일 함수로 — 시뮬과 실물이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같은 코드를 호출한다(시뮬 결과가 실물의 근거가 되도록).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2" name="Shape 20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0292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BEFE2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노드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+ 온도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8036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38328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8328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메시 네트워크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38328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painlessMesh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6364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게이트웨이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6364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RPi · 추정기(Python)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41080" y="5779008"/>
            <a:ext cx="4572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0" y="5303520"/>
            <a:ext cx="2331720" cy="960120"/>
          </a:xfrm>
          <a:prstGeom prst="roundRect">
            <a:avLst>
              <a:gd name="adj" fmla="val 6154"/>
            </a:avLst>
          </a:prstGeom>
          <a:solidFill>
            <a:srgbClr val="EEF3E6"/>
          </a:solidFill>
          <a:ln w="1587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0" y="5468112"/>
            <a:ext cx="2331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대시보드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44000" y="581558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0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화선·경보 관제</a:t>
            </a:r>
            <a:endParaRPr lang="en-US" sz="1000" dirty="0"/>
          </a:p>
        </p:txBody>
      </p:sp>
      <p:pic>
        <p:nvPicPr>
          <p:cNvPr id="33" name="Picture 32" descr="s05_nod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03904"/>
            <a:ext cx="1275159" cy="108813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216991" y="3895344"/>
            <a:ext cx="3589448" cy="822960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ESP32 — 무선·연산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DS18B20 — 온도 센서</a:t>
            </a:r>
          </a:p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· WS2812 — 상태 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946904"/>
            <a:ext cx="5029200" cy="219456"/>
          </a:xfrm>
          <a:prstGeom prst="rect">
            <a:avLst/>
          </a:prstGeom>
          <a:noFill/>
        </p:spPr>
        <p:txBody>
          <a:bodyPr wrap="square" lIns="54864" rIns="54864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세 부품이 전부다 — 잃어도 되도록 가볍게 만들었다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①  네 개의 핵심 모듈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모듈이 죽음을 데이터로 바꾼다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임계온도를 넘겨 죽기 직전 쏘는 마지막 패킷 —</a:t>
            </a:r>
            <a:br/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시각을 확정.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53912" y="15544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373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14032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 라우팅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14032" y="22128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 길이 끊기면 sink 기준 역방향 BFS로 우회로를 자동 재계산.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 (교차검증) ★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 vs 진짜 파괴를 다중이웃 + 온도로 구분 — 순정 painlessMesh가 못 하는 계층.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53912" y="3383280"/>
            <a:ext cx="5468112" cy="1645920"/>
          </a:xfrm>
          <a:prstGeom prst="roundRect">
            <a:avLst>
              <a:gd name="adj" fmla="val 333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566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30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114032" y="36393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도착시각장(場) 추정 ★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14032" y="4041648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15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좌표와 시각에서 최소제곱으로 방향·속도·ETA와 신뢰도를 역산.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② ★ 핵심 알고리즘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죽은 점들에 면을 씌우면 그 기울기가 불의 방향이다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7" name="Shape 3"/>
          <p:cNvSpPr/>
          <p:nvPr/>
        </p:nvSpPr>
        <p:spPr>
          <a:xfrm>
            <a:off x="548640" y="1508760"/>
            <a:ext cx="11091672" cy="95097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682496"/>
            <a:ext cx="106344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노드가 타 죽은 시각 = 불이 그 지점에 도착한 시각. 흩어진 (x, y, 죽은시각)에 면을 맞추면 그 기울기가 곧 화선이다.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구현은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노드마다 국소 적합을 돌리고, 그 결과들을 신뢰도로 가중해 합친다.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지형도에서 등고선이 촘촘한 쪽이 급경사인 것과 같다 — 도착시각의 등고선이 화선이고, 가장 빨리 변하는 방향이 불이 가는 방향이다.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77240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 · 국소 평면 적합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68680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77240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j마다 독립적으로: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무선 이웃 ∩ 창 안의 사망들을 모아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최소제곱으로 평면을 맞추고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기울기 ∇T_j 를 얻는다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노드 수만큼 N개의 추정치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9976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08576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· 집계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700016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08576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N개를 하나로 합친다: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방향 — 신뢰도 가중 벡터합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— 중앙값(강건 통계)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진단 — 유효표본수 n_eff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두 출력이 다른 집계를 쓴다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11312" y="2734056"/>
            <a:ext cx="3429000" cy="2482035"/>
          </a:xfrm>
          <a:prstGeom prst="roundRect">
            <a:avLst>
              <a:gd name="adj" fmla="val 23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9912" y="2935224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531352" y="3374136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439912" y="3511296"/>
            <a:ext cx="297180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방향  n̂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진행 속도  s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지점별 도착예상시각 ETA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신뢰도 등급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부족하면 값을 내지 않고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INSUFFICIENT를 반환한다.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872984" y="3975073"/>
            <a:ext cx="29260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48640" y="5343753"/>
            <a:ext cx="11091672" cy="820216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77240" y="5415075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∇T = n̂ / s  →  방향 n̂ = ∇T/|∇T| ,  속도 s = 1/|∇T|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3232" y="5655564"/>
            <a:ext cx="107624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노드에 똑같이 걸리는 센서 지연은 평면의 절편에만 흡수되어 기울기에서 상쇄된다 —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방향·속도가 센서 지연에 원리적으로 면역인 이유(수식 증명).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0503027" y="6464807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 flipH="1">
            <a:off x="10498455" y="6464807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0642473" y="6501383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3" name="Shape 31"/>
          <p:cNvSpPr/>
          <p:nvPr/>
        </p:nvSpPr>
        <p:spPr>
          <a:xfrm>
            <a:off x="10498455" y="6652259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5303" y="6387083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569321" y="6423659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0564749" y="6620255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6" name="Rounded Rectangle 45"/>
          <p:cNvSpPr/>
          <p:nvPr/>
        </p:nvSpPr>
        <p:spPr>
          <a:xfrm>
            <a:off x="8558784" y="5416905"/>
            <a:ext cx="2852928" cy="402336"/>
          </a:xfrm>
          <a:prstGeom prst="roundRect">
            <a:avLst>
              <a:gd name="adj" fmla="val 28000"/>
            </a:avLst>
          </a:prstGeom>
          <a:solidFill>
            <a:srgbClr val="FBEFE2"/>
          </a:solidFill>
          <a:ln w="9525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pPr algn="ctr"/>
            <a:r>
              <a:rPr sz="950" b="1">
                <a:solidFill>
                  <a:srgbClr val="44483F"/>
                </a:solidFill>
                <a:latin typeface="맑은 고딕"/>
              </a:rPr>
              <a:t>학습 없이 · 라즈베리파이에서 즉시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ounded Rectangle 60"/>
          <p:cNvSpPr/>
          <p:nvPr/>
        </p:nvSpPr>
        <p:spPr>
          <a:xfrm>
            <a:off x="8028431" y="2386584"/>
            <a:ext cx="3785615" cy="18745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③ ★ 오탐 방어 (헤드라인)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통신두절과 진짜 파괴를 가르는 판정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조용해졌다고 다 죽은 게 아니다. 잠깐 끊긴 것(통신두절)이나 불이 아닌 죽음(배터리·고장)을 화재로 오판하면 가짜 화선이 그려진다.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091672" cy="969264"/>
          </a:xfrm>
          <a:prstGeom prst="roundRect">
            <a:avLst>
              <a:gd name="adj" fmla="val 3871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" y="4882896"/>
            <a:ext cx="10607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임종신호는 있으면 증거이고, 없어도 기각 근거가 아니다 — 전소로 신호조차 못 보낸 노드가 바로 진짜 화재이기 때문이다.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77240" y="5358384"/>
            <a:ext cx="10607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5000"/>
              </a:lnSpc>
              <a:buNone/>
            </a:pPr>
            <a:r>
              <a:rPr lang="en-US" sz="900" dirty="0" b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판별은 말단이 아니라 이웃 정보가 모두 모이는 게이트웨이에서 한다.   ·   [시뮬] 오탐률 0% · 비화재 COOL 누수 86.4% → 0%</a:t>
            </a: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pPr indent="0" marL="0">
              <a:lnSpc>
                <a:spcPct val="125000"/>
              </a:lnSpc>
              <a:buNone/>
            </a:pP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2" name="Rounded Rectangle 41"/>
          <p:cNvSpPr/>
          <p:nvPr/>
        </p:nvSpPr>
        <p:spPr>
          <a:xfrm>
            <a:off x="1097280" y="1874519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0">
                <a:solidFill>
                  <a:srgbClr val="1F2421"/>
                </a:solidFill>
                <a:latin typeface="맑은 고딕"/>
              </a:rPr>
              <a:t>노드가 조용해졌다</a:t>
            </a:r>
          </a:p>
        </p:txBody>
      </p:sp>
      <p:sp>
        <p:nvSpPr>
          <p:cNvPr id="43" name="Down Arrow 42"/>
          <p:cNvSpPr/>
          <p:nvPr/>
        </p:nvSpPr>
        <p:spPr>
          <a:xfrm>
            <a:off x="2624328" y="2313432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97280" y="2551176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1F2421"/>
                </a:solidFill>
                <a:latin typeface="맑은 고딕"/>
              </a:rPr>
              <a:t>임종신호가 왔는가?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4498848" y="2679192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26280" y="24688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10912" y="2551176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   [본편 15건]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97280" y="3227832"/>
            <a:ext cx="3291840" cy="548640"/>
          </a:xfrm>
          <a:prstGeom prst="roundRect">
            <a:avLst>
              <a:gd name="adj" fmla="val 12000"/>
            </a:avLst>
          </a:prstGeom>
          <a:solidFill>
            <a:srgbClr val="FBEFE2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이웃 3대가 끊김을 확인했고</a:t>
            </a:r>
          </a:p>
          <a:p>
            <a:pPr algn="ctr"/>
            <a:r>
              <a:rPr sz="1100" b="1">
                <a:solidFill>
                  <a:srgbClr val="1F2421"/>
                </a:solidFill>
                <a:latin typeface="맑은 고딕"/>
              </a:rPr>
              <a:t>온도가 올랐는가?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4498848" y="3429000"/>
            <a:ext cx="384048" cy="146304"/>
          </a:xfrm>
          <a:prstGeom prst="right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26280" y="321868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>
                <a:solidFill>
                  <a:srgbClr val="D35400"/>
                </a:solidFill>
                <a:latin typeface="맑은 고딕"/>
              </a:rPr>
              <a:t>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010912" y="3300984"/>
            <a:ext cx="2926080" cy="402336"/>
          </a:xfrm>
          <a:prstGeom prst="roundRect">
            <a:avLst>
              <a:gd name="adj" fmla="val 12000"/>
            </a:avLst>
          </a:prstGeom>
          <a:solidFill>
            <a:srgbClr val="EEF3E6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50" b="1">
                <a:solidFill>
                  <a:srgbClr val="2C5F2D"/>
                </a:solidFill>
                <a:latin typeface="맑은 고딕"/>
              </a:rPr>
              <a:t>화재 사망 확정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2624328" y="2990088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7792" y="299008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5" name="Down Arrow 54"/>
          <p:cNvSpPr/>
          <p:nvPr/>
        </p:nvSpPr>
        <p:spPr>
          <a:xfrm>
            <a:off x="2624328" y="3831336"/>
            <a:ext cx="237744" cy="201168"/>
          </a:xfrm>
          <a:prstGeom prst="downArrow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07792" y="383133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E6A"/>
                </a:solidFill>
                <a:latin typeface="맑은 고딕"/>
              </a:rPr>
              <a:t>아니오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97280" y="4069080"/>
            <a:ext cx="3291840" cy="4023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DC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0">
                <a:solidFill>
                  <a:srgbClr val="6B6E6A"/>
                </a:solidFill>
                <a:latin typeface="맑은 고딕"/>
              </a:rPr>
              <a:t>증거 부족 — 추정에서 제외   [본편 1건]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11312" y="255117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임종신호 = 죽기 직전 노드가 스스로 쏘는 마지막 패킷. 본인이 낸 증거라 가장 강하다.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11312" y="3227832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이웃 확인 = 한 대가 침묵해도 즉시 죽음으로 보지 않는다. 독립된 3대가 확인해야 후보가 된다.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11312" y="3877056"/>
            <a:ext cx="341985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44483F"/>
                </a:solidFill>
                <a:latin typeface="맑은 고딕"/>
              </a:rPr>
              <a:t>· 온도 = 화선에 의한 죽음이면 온도 상승이 선행한다.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④ 자가치유 라우팅 · 임종신호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노드가 죽어도 경로는 살아난다 — 15.9초 만에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2029968"/>
            <a:ext cx="5440680" cy="30175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했나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578608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153912" y="2029968"/>
            <a:ext cx="5477256" cy="3017520"/>
          </a:xfrm>
          <a:prstGeom prst="roundRect">
            <a:avLst>
              <a:gd name="adj" fmla="val 196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임종신호 (Last-Gasp)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706624"/>
            <a:ext cx="5020056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노드가 임계온도를 넘어 죽기 직전, 마지막 패킷을 방출.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'언제 죽었는가'를 확정 → 도착시각 추정의 입력 시각을 정밀화.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하트비트(주기 신호) 누락과 결합해 침묵을 판정.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죽음의 '시각'이 정확할수록 화선 방향·속도 추정이 정밀해진다.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5175504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자가치유가 관측을 잇고, 임종신호가 죽은 시각을 확정한다 — 죽는 노드가 살아있는 정보가 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노드는 게이트웨이까지 가는 길을 하나씩 갖고 있다.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중간에 있는 노드가 죽으면, 그 길을 쓰던 노드들이 한꺼번에 길을 잃는다.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706624"/>
            <a:ext cx="4983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게이트웨이까지 11대가 지나가던 중계 노드 한 대의 전원을 뽑자, 보이던 노드 수가 15 → 3 으로 무너졌다.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15.9초 뒤 14 로 회복됐다. 9대가 다른 길을 찾아 붙었고, 게이트웨이 바로 아래 노드까지 바뀌었다.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재부팅·브라운아웃·파싱 실패 0건. 다시 켜서 복구된 것이 아니다.</a:t>
            </a:r>
            <a:endParaRPr lang="en-US" sz="1200" dirty="0"/>
          </a:p>
        </p:txBody>
      </p:sp>
      <p:cxnSp>
        <p:nvCxnSpPr>
          <p:cNvPr id="55" name="Connector 54"/>
          <p:cNvCxnSpPr/>
          <p:nvPr/>
        </p:nvCxnSpPr>
        <p:spPr>
          <a:xfrm>
            <a:off x="1988819" y="42336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458467" y="4462272"/>
            <a:ext cx="530352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723643" y="4462272"/>
            <a:ext cx="265176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988819" y="4462272"/>
            <a:ext cx="0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988819" y="4462272"/>
            <a:ext cx="265177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988819" y="4462272"/>
            <a:ext cx="530353" cy="228600"/>
          </a:xfrm>
          <a:prstGeom prst="line">
            <a:avLst/>
          </a:prstGeom>
          <a:ln w="12700">
            <a:solidFill>
              <a:srgbClr val="B9B3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Oval 60"/>
          <p:cNvSpPr/>
          <p:nvPr/>
        </p:nvSpPr>
        <p:spPr>
          <a:xfrm>
            <a:off x="1924812" y="4398264"/>
            <a:ext cx="128016" cy="128016"/>
          </a:xfrm>
          <a:prstGeom prst="ellipse">
            <a:avLst/>
          </a:prstGeom>
          <a:solidFill>
            <a:srgbClr val="D35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915667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15033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680209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9453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21056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47573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제거 전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D35400"/>
                </a:solidFill>
                <a:latin typeface="맑은 고딕"/>
              </a:rPr>
              <a:t>그 아래 11대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3899916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4165092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4430268" y="4233672"/>
            <a:ext cx="0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4430268" y="4233672"/>
            <a:ext cx="265176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4430268" y="4233672"/>
            <a:ext cx="530352" cy="457200"/>
          </a:xfrm>
          <a:prstGeom prst="line">
            <a:avLst/>
          </a:prstGeom>
          <a:ln w="12700">
            <a:solidFill>
              <a:srgbClr val="2C5F2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4370832" y="4402836"/>
            <a:ext cx="118872" cy="118872"/>
          </a:xfrm>
          <a:prstGeom prst="ellipse">
            <a:avLst/>
          </a:prstGeom>
          <a:solidFill>
            <a:srgbClr val="FFFFFF"/>
          </a:solidFill>
          <a:ln w="9525">
            <a:solidFill>
              <a:srgbClr val="B9B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4357116" y="4160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24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856482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4121658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4386834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4652010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4917186" y="4647438"/>
            <a:ext cx="86868" cy="86868"/>
          </a:xfrm>
          <a:prstGeom prst="ellipse">
            <a:avLst/>
          </a:prstGeom>
          <a:solidFill>
            <a:srgbClr val="B9B3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10128" y="4032504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50" b="1">
                <a:solidFill>
                  <a:srgbClr val="1F2421"/>
                </a:solidFill>
                <a:latin typeface="맑은 고딕"/>
              </a:rPr>
              <a:t>재구성 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310128" y="4754880"/>
            <a:ext cx="2240280" cy="1554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00" b="1">
                <a:solidFill>
                  <a:srgbClr val="2C5F2D"/>
                </a:solidFill>
                <a:latin typeface="맑은 고딕"/>
              </a:rPr>
              <a:t>다른 길로 다시 붙음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프로그램 설명 ⑤ 구성 · 개발 규율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나빠도 파라미터를 고치지 않는다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86400" cy="361188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구성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463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50292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sim/  — 시뮬레이터 · 추정기(estimator) · 집계(aggregate)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firmware/  — ESP32 노드 펌웨어(C/C++)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gateway/  — 라즈베리파이 추정기(Python, sim 재사용)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dashboard/  — 자체완결 웹 관제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docs/  — 연구노트(PROGRESS · DECISIONS · 알고리즘 명세)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 로그(D-001~)를 남겨 '왜 그렇게 정했는가'를 전부 추적 가능하게.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게이트웨이가 시뮬레이터의 추정기 코드를 그대로 재사용한다.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화재/비화재 판별도 단일 함수 — 시뮬과 실물이 같은 판정을 쓴다.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3611880"/>
          </a:xfrm>
          <a:prstGeom prst="roundRect">
            <a:avLst>
              <a:gd name="adj" fmla="val 1714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 동결 + 버전 분기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핵심 추정기 파일을 동결(frozen) — 모든 개선은 버전 분기로만.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그래서 어떤 실험도 과거 결과를 훼손할 수 없다.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회귀가 매번 비트 단위 동일함을 확인(최대차 0.000e+00).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자동 테스트 54건 상시 통과.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결과가 나빠도 파라미터를 유리하게 고치지 않는다(기록만).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→ 데모에만 맞춘 과적합을 피한다.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버그는 고친다. 파라미터는 만지지 않는다 — 둘을 구분한다.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예측을 미리 등록하고 맞든 틀리든 기록한다. 기각된 예측 5건이 문서에 남아 있다.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5303520"/>
            <a:ext cx="10835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값을 정하기 전에 먼저 재고, 잰 값에서 파라미터를 유도한다. 완성도는 '보기 좋은 숫자'가 아니라 '재현 가능하고 정직하게 측정된 숫자'에서 나온다.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추정기가 두 번 틀렸고, 두 번 다 원인은 알고리즘이 아니었다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426464"/>
            <a:ext cx="11091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방향을 모르는데 아무 값이나 내면 대원이 화선 쪽으로 간다.</a:t>
            </a:r>
            <a:br/>
            <a:r>
              <a:rPr lang="en-US" sz="13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우리는 두 가지를 고쳤다 — 틀린 답을 내던 것과, 답을 못 내던 것.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029968"/>
            <a:ext cx="5440680" cy="2608783"/>
          </a:xfrm>
          <a:prstGeom prst="roundRect">
            <a:avLst>
              <a:gd name="adj" fmla="val 29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777240" y="2176272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틀린 답 — 82° → 0.03°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2578608"/>
            <a:ext cx="4956048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2706624"/>
            <a:ext cx="513892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타원 화선 측면에서 방향 오차가 82~86° 였다. 90°가 무작위 추측의 한계다.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곡률·채점·표본을 차례로 의심해 전부 측정으로 기각한 뒤 집계에 닿았다.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한 노드가 가중치의 86.4%를 독식했고 그 노드의 오차가 85.21°, 나머지 노드의 오차 중앙값은 1.35°였다.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가중치를 거꾸로 주고 있었다 — 불확실한 노드일수록 크게. 오차 전파식에서 다시 유도해 w = 1/|∇T| 를 w = |∇T|² 로 바로잡았다.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파라미터를 유리하게 조정한 것이 아니다. 식에서 나온 값이다.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53912" y="2029968"/>
            <a:ext cx="5477256" cy="2608783"/>
          </a:xfrm>
          <a:prstGeom prst="roundRect">
            <a:avLst>
              <a:gd name="adj" fmla="val 2927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382512" y="2176272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못 내던 답 — 정보가 부족한가, 설정이 좁은가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473952" y="2578608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382512" y="2706624"/>
            <a:ext cx="5020056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실물로 옮기자 16노드가 전부 값을 내지 못했다. 기능이 작동한 것인지, 설정값이 틀린 것인지 갈라야 했다.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창(window)이란 「얼마나 오래된 죽음까지 한 계산에 넣을 것인가」다. 창이 좁으면 이웃의 죽음이 창에 못 들어와 노드가 자기 하나만 보고 계산한다.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창을 넓히니 산출 성공이 2 → 12 → 15 → 16 으로 올랐다. 설정 상수가 좁았던 것이다.</a:t>
            </a:r>
            <a:endParaRPr lang="en-US" sz="1200" dirty="0"/>
          </a:p>
          <a:p>
            <a:pPr indent="0" marL="0" eaLnBrk="0" hangingPunct="1">
              <a:lnSpc>
                <a:spcPct val="100000"/>
              </a:lnSpc>
              <a:buNone/>
            </a:pPr>
            <a:r>
              <a:rPr lang="en-US" sz="115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값을 새로 고르는 대신 구조를 바꿨다 — 창 = 이웃 반경 ÷ 화선속도. 본편 런에서 이 식이 622.3초를 내놓았고, 증거가 확보된 15건의 죽음에서 방향 오차 2.85도를 냈다.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766767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35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 다 원인은 알고리즘이 아니라 설정값이었고, 두 번 다 식에서 다시 유도해 고쳤다.</a:t>
            </a:r>
            <a:pPr indent="0" marL="0">
              <a:lnSpc>
                <a:spcPct val="120000"/>
              </a:lnSpc>
              <a:buNone/>
            </a:pPr>
            <a:pPr indent="0" marL="0">
              <a:lnSpc>
                <a:spcPct val="120000"/>
              </a:lnSpc>
              <a:buNone/>
            </a:pP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장애요인·해결 ② ★ 하드웨어 괴리 선점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실물에서만 터지는 위험 셋을 터지기 전에 잡았다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 동기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노드의 사망 시각을 빼서 기울기를 만드는 알고리즘이므로 시간축이 같아야 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펌웨어는 보드 부팅 기준 시계를 썼다 — 보드마다 원점이 달라 뺄셈 자체가 무의미해지는 원리적 파탄.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메시 동기 시각으로 교체. 사망 시각도 '루트의 확정 시각'에서 '당사자 노드가 각인한 시각'으로 (확정 시각엔 감지·투표 지연이 섞여 있었다).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9976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608576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브리지 중계 병목 — 임종신호가 사라졌다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700016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608576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노드는 초당 15건을 보내는데 브리지는 약 1.3건만 내보냈다(실측). 하트비트 트래픽에 밀려 단발 임종신호의 통과 확률은 9% [계산] — 관측된 노드별 도착률 5~9%와 같은 값이다.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n07 사망 시험이 이것으로 실패했다 — 노드는 죽었는데 게이트웨이는 몰랐다.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하트비트를 1초에서 10초로 늘려 트래픽을 1/10로 줄이고, 임종신호를 1초 간격 3회 반복으로 바꿨다. 게이트웨이는 임종신호가 도착하면 이웃 투표를 기다리지 않고 즉시 사망을 확정한다.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</a:t>
            </a:r>
            <a:r>
              <a:rPr lang="en-US" sz="1200" dirty="0" b="1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본편에서 16대 중 15대의 임종신호를 수신했다.</a:t>
            </a:r>
            <a:r>
              <a:rPr lang="en-US" sz="1200" dirty="0" b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남은 1대(n03)는 15쪽에 있다.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11312" y="1463040"/>
            <a:ext cx="3429000" cy="4343400"/>
          </a:xfrm>
          <a:prstGeom prst="roundRect">
            <a:avLst>
              <a:gd name="adj" fmla="val 1600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9912" y="1664208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실물 파이프라인 공백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531352" y="2103120"/>
            <a:ext cx="278892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439912" y="2240280"/>
            <a:ext cx="2971800" cy="2670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시뮬에는 화재/비화재 판별이 있는데 실물 경로에는 없었다 — 게이트웨이가 판별기를 아예 호출하지 않고 있었다.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판정 로직을 한 함수로 통합해 시뮬과 실물이 같은 코드를 호출하도록 교정.</a:t>
            </a: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endParaRPr lang="en-US" sz="1200" dirty="0"/>
          </a:p>
          <a:p>
            <a:pPr indent="0" marL="0" eaLnBrk="0" hangingPunct="1">
              <a:lnSpc>
                <a:spcPct val="105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 놓쳤으면 시뮬에서 검증한 방어가 실물에서 통째로 빠진 채 데모를 했을 것이다.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97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위험 모두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실물에서 터지기 전에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발견했다. ①은 코드 검토로, ②는 사망 시험 실패로, ③은 실물 이식 준비 중에 — 각각 다른 방법이 필요했다는 것이 이 문제들의 성격을 보여준다.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7" name="Shape 25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① 차별성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감지는 그들이, 추적은 우리가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514600"/>
                <a:gridCol w="2926080"/>
                <a:gridCol w="3913632"/>
              </a:tblGrid>
              <a:tr h="36576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비교 대상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그들의 방식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한계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우리 (불사)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온도 스트리밍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살아있는 노드가 온도 상시 전송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초저가 대량 노드엔 상시 전송 부담</a:t>
                      </a:r>
                      <a:br/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(전력·대역폭)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교차검증된 '죽음'을 확정 이진 신호로 → 화선 위치·방향·속도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Dryad Silvanet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오기 전 조기 감지(내열, +85℃ 한계)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 속에선 못 버팀 — 감지 특화, 화선 추적 아님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타 죽으며 화선을 그림 — 감지(그들)와 추적(우리)은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순정 ESP-MESH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죽으면 경로 우회(연결성만)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손실로만 처리, 정보로 안 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죽음을 1급 이벤트로 승격 + 도착시각 추정 + 오탐 방어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드론·위성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상공·우주 광역 개요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연기·수목 아래 지표 화선·초 단위 변화 못 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지표 실측 레이어 + 지상 통신 백본 — 대체 아니라 상보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6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헤드라인 차별점  </a:t>
            </a:r>
            <a:pPr indent="0" marL="0">
              <a:buNone/>
            </a:pPr>
            <a:r>
              <a:rPr lang="en-US" sz="1300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오탐 방어(통신두절 vs 진짜 파괴 구분) = 순정 painlessMesh가 못 하는 우리만의 계층.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②  실증 ① 실험 조건과 가정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조건을 먼저 밝힌다 — 무엇을 재현했고 무엇을 재현하지 않았나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2512" y="1481328"/>
          <a:ext cx="5257800" cy="3310128"/>
        </p:xfrm>
        <a:graphic>
          <a:graphicData uri="http://schemas.openxmlformats.org/drawingml/2006/table">
            <a:tbl>
              <a:tblPr/>
              <a:tblGrid>
                <a:gridCol w="1051560"/>
                <a:gridCol w="4206240"/>
              </a:tblGrid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열원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열풍기 400℃ · 풍량 10 · 노즐~노드 4 cm → 노드 위치 공기온도 190.5℃ (실측)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대본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노드당 체류 21초 · 참값 방향 55.4800° · 참값 속도 0.5785 mm/s  [설정]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 임계 80.0℃ · 경고 60.0℃ — 개발 초기에 동결, 결과를 보고 바꾸지 않았다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통신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하트비트 10초 · 침묵 문턱 30초 · 임종신호 3회 반복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23분 20초 · 1회차를 그대로 본편 촬영 · 재촬영 없음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무결성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16/16 실측 · 합성 0건 · 시각 역행 0건 · 큐 편차 최대 0.10초(34/34)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5212080"/>
            <a:ext cx="11091672" cy="10515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5340096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이 실험이 재현한 것과 재현하지 않은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632704"/>
            <a:ext cx="10634472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재현한 것 — 불이 지나가면서 노드가 차례로 파괴되는 과정, 그리고 그 시각과 좌표만으로 하는 추정.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재현하지 않은 것 — 복사·연료 소진·바람·지형. 열풍기의 이동을 화선의 대리물로 삼았다. 0.20 m 격자를 야외 배치의 축소 모형으로 두었고, 그 축척이 성립하는 근거는 16쪽에 있다.</a:t>
            </a:r>
          </a:p>
          <a:p>
            <a:pPr algn="l"/>
            <a:r>
              <a:rPr sz="1000" b="0">
                <a:solidFill>
                  <a:srgbClr val="1F2421"/>
                </a:solidFill>
                <a:latin typeface="맑은 고딕"/>
              </a:rPr>
              <a:t>· 추정기가 볼 수 없는 것 — 참값 대본. 추정기는 대본을 모른 채 죽은 시각만 받는다. 좌표는 전부 실측이다.</a:t>
            </a:r>
          </a:p>
        </p:txBody>
      </p:sp>
      <p:pic>
        <p:nvPicPr>
          <p:cNvPr id="30" name="Picture 29" descr="s14_setu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142" y="1481328"/>
            <a:ext cx="3354859" cy="331012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48640" y="4864608"/>
            <a:ext cx="57698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>
                <a:solidFill>
                  <a:srgbClr val="6B6E6A"/>
                </a:solidFill>
                <a:latin typeface="맑은 고딕"/>
              </a:rPr>
              <a:t>4×4 격자 · 0.20 m 간격 · 노드 16 + 브리지 1 + 라즈베리파이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③  실증 ② 죽음만으로 화선을 그렸다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감지 장치 없이, 죽은 시각만으로 참값에 2.85°까지 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17904"/>
            <a:ext cx="4412126" cy="259689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48640" y="4160519"/>
            <a:ext cx="5897880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900" b="0">
                <a:solidFill>
                  <a:srgbClr val="6B6E6A"/>
                </a:solidFill>
                <a:latin typeface="맑은 고딕"/>
              </a:rPr>
              <a:t>[데모 조건] 4×4 · 0.20 m 격자 · 실내 · 열풍기 대리 화선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1517904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6830568" y="1664208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2.85°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1691639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방향 오차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30568" y="1938528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55.4800° → 추정 58.3293°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258568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TextBox 32"/>
          <p:cNvSpPr txBox="1"/>
          <p:nvPr/>
        </p:nvSpPr>
        <p:spPr>
          <a:xfrm>
            <a:off x="6830568" y="240487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+1.67%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432303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속도 오차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30568" y="2679191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참값 0.5785 mm/s → 추정 0.5882 mm/s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2999232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6" name="TextBox 35"/>
          <p:cNvSpPr txBox="1"/>
          <p:nvPr/>
        </p:nvSpPr>
        <p:spPr>
          <a:xfrm>
            <a:off x="6830568" y="3145534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1,061 / 1,955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172968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추정 프레임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3419856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사망 3건이 모이는 t=894초부터 추정이 시작된다</a:t>
            </a:r>
          </a:p>
        </p:txBody>
      </p:sp>
      <p:sp>
        <p:nvSpPr>
          <p:cNvPr id="5" name="Shape 3"/>
          <p:cNvSpPr/>
          <p:nvPr/>
        </p:nvSpPr>
        <p:spPr>
          <a:xfrm>
            <a:off x="6629400" y="3739896"/>
            <a:ext cx="5010912" cy="6675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9" name="TextBox 38"/>
          <p:cNvSpPr txBox="1"/>
          <p:nvPr/>
        </p:nvSpPr>
        <p:spPr>
          <a:xfrm>
            <a:off x="6830568" y="3886200"/>
            <a:ext cx="2011680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500" b="1">
                <a:solidFill>
                  <a:srgbClr val="2C5F2D"/>
                </a:solidFill>
                <a:latin typeface="맑은 고딕"/>
              </a:rPr>
              <a:t>평균 5분 51초 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15400" y="3913632"/>
            <a:ext cx="2523744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대피 경보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4160520"/>
            <a:ext cx="4608576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불이 닿기 얼마 전에 알렸나 — 13/16 노드 수신 · 최소 1분 27초 · 최대 8분 43초 전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4526279"/>
            <a:ext cx="11091672" cy="173736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42" name="TextBox 41"/>
          <p:cNvSpPr txBox="1"/>
          <p:nvPr/>
        </p:nvSpPr>
        <p:spPr>
          <a:xfrm>
            <a:off x="777240" y="4654295"/>
            <a:ext cx="10634472" cy="21945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100" b="1">
                <a:solidFill>
                  <a:srgbClr val="1F2421"/>
                </a:solidFill>
                <a:latin typeface="맑은 고딕"/>
              </a:rPr>
              <a:t>센서가 타 죽는 것을 손실로 처리하지 않고 관측으로 썼다. 이 결과에 쓰인 화재 감지 장치는 없다.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946903"/>
            <a:ext cx="10634472" cy="20116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1">
                <a:solidFill>
                  <a:srgbClr val="1F2421"/>
                </a:solidFill>
                <a:latin typeface="맑은 고딕"/>
              </a:rPr>
              <a:t>이 시간은 언제부터 주어지나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184647"/>
            <a:ext cx="10634472" cy="62179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발화를 감지한 시간이 아니다. 불이 이미 격자 안에 들어온 뒤의 시간이다.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최소 3대가 타 죽어야 추정이 시작된다. 경보를 못 받은 3대는 그 3대다 — 그들의 죽음이 추정을 만든 재료다.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그 뒤로는 화선 앞쪽에 남은 노드가 「불이 몇 분 뒤 도달」을 받는다.</a:t>
            </a:r>
          </a:p>
          <a:p>
            <a:pPr algn="l"/>
            <a:r>
              <a:rPr sz="850" b="0">
                <a:solidFill>
                  <a:srgbClr val="6B6E6A"/>
                </a:solidFill>
                <a:latin typeface="맑은 고딕"/>
              </a:rPr>
              <a:t>· 화선이 대체로 한 방향으로 번진다는 전제 위에서 성립한다. 비화(飛火)로 불씨가 건너뛰면 이 예보는 맞지 않는다.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843016"/>
            <a:ext cx="10634472" cy="36576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리드타임 = 노드 간격 ÷ 화선속도. 관측을 기다리는 값이 아니라 설치 밀도로 정하는 값이다.</a:t>
            </a:r>
          </a:p>
          <a:p>
            <a:pPr algn="l"/>
            <a:r>
              <a:rPr sz="900" b="0">
                <a:solidFill>
                  <a:srgbClr val="1F2421"/>
                </a:solidFill>
                <a:latin typeface="맑은 고딕"/>
              </a:rPr>
              <a:t>17.2 m 간격 기준 — 화선속도 0.05 m/s 에서 5분 44초, 0.10 m/s 에서 2분 52초, 0.01 m/s 에서 28분 40초.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④  실증 ③ 증거가 없으면 단정하지 않는다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노드는 확실히 탔지만, 증거가 없어 쓰지 않았다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45919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1  실제로 탔다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93391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대본대로 가열됐고 LED 빨강이 육안으로 확인됐다. 이웃 3표로 사망은 확정됐다.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6100419" cy="768096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TextBox 29"/>
          <p:cNvSpPr txBox="1"/>
          <p:nvPr/>
        </p:nvSpPr>
        <p:spPr>
          <a:xfrm>
            <a:off x="777240" y="2733141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1F2421"/>
                </a:solidFill>
                <a:latin typeface="맑은 고딕"/>
              </a:rPr>
              <a:t>2  그런데 증거가 유실됐다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080613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임종신호 3발이 전부 무선 구간에서 사라졌다. 자기 온도 보고는 25.5℃에서 끊겼다.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3694176"/>
            <a:ext cx="6100419" cy="932688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777240" y="3820363"/>
            <a:ext cx="5643219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3  그래서 쓰지 않았다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167835"/>
            <a:ext cx="5643219" cy="566928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자기 온도 증거가 없으므로 추정 표본에서 보류했다(branch3_sample_poor).</a:t>
            </a:r>
          </a:p>
          <a:p>
            <a:pPr algn="l"/>
            <a:r>
              <a:rPr sz="1000" b="0">
                <a:solidFill>
                  <a:srgbClr val="6B6E6A"/>
                </a:solidFill>
                <a:latin typeface="맑은 고딕"/>
              </a:rPr>
              <a:t>방향 추정은 남은 15점으로 수행됐다.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23379" y="1883664"/>
          <a:ext cx="4716932" cy="2743200"/>
        </p:xfrm>
        <a:graphic>
          <a:graphicData uri="http://schemas.openxmlformats.org/drawingml/2006/table">
            <a:tbl>
              <a:tblPr/>
              <a:tblGrid>
                <a:gridCol w="1417320"/>
                <a:gridCol w="3299612"/>
              </a:tblGrid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 분기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0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branch1_last_gasp 15 · branch3_sample_poor 1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사망시각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last_gasp_node_stamp 15 · last_heartbeat_node_stamp 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합성 데이터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시각 역행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좌표 출처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16/16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큐 실행 편차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0.10초 (34/34)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3"/>
          <p:cNvSpPr/>
          <p:nvPr/>
        </p:nvSpPr>
        <p:spPr>
          <a:xfrm>
            <a:off x="548640" y="4828032"/>
            <a:ext cx="11091672" cy="896112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10634472" cy="274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250" b="1">
                <a:solidFill>
                  <a:srgbClr val="D35400"/>
                </a:solidFill>
                <a:latin typeface="맑은 고딕"/>
              </a:rPr>
              <a:t>이것은 미탐지 1건이다. 오탐은 0건이다.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66944"/>
            <a:ext cx="10634472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두 방향의 실패 중 어느 쪽을 택할지는 설계 선택이며, 우리는 「증거가 없으면 받지 않는다」를 택했다.</a:t>
            </a:r>
          </a:p>
          <a:p>
            <a:pPr algn="l"/>
            <a:r>
              <a:rPr sz="1050" b="0">
                <a:solidFill>
                  <a:srgbClr val="1F2421"/>
                </a:solidFill>
                <a:latin typeface="맑은 고딕"/>
              </a:rPr>
              <a:t>현장에서 없는 화선을 있다고 말하는 쪽이 더 위험하기 때문이다.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23379" y="1517904"/>
            <a:ext cx="4716932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50" b="1">
                <a:solidFill>
                  <a:srgbClr val="1F2421"/>
                </a:solidFill>
                <a:latin typeface="맑은 고딕"/>
              </a:rPr>
              <a:t>런 무결성 점검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 차별성·우수성 ⑤  규모가 달라도 성립하는 이유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거리와 속도가 함께 커지면 시간 상수는 그대로다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6" name="Shape 13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14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TextBox 27"/>
          <p:cNvSpPr txBox="1"/>
          <p:nvPr/>
        </p:nvSpPr>
        <p:spPr>
          <a:xfrm>
            <a:off x="777240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1 · 배치가 수십 배 넓어지면?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1938528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200" b="1">
                <a:solidFill>
                  <a:srgbClr val="1F2421"/>
                </a:solidFill>
                <a:latin typeface="맑은 고딕"/>
              </a:rPr>
              <a:t>dt_window     = 이웃 반경 ÷ 화선속도</a:t>
            </a:r>
          </a:p>
          <a:p>
            <a:r>
              <a:rPr sz="1200" b="1">
                <a:solidFill>
                  <a:srgbClr val="1F2421"/>
                </a:solidFill>
                <a:latin typeface="맑은 고딕"/>
              </a:rPr>
              <a:t>alert_horizon = 노드 간격 ÷ 화선속도</a:t>
            </a: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560320"/>
          <a:ext cx="4864608" cy="1426464"/>
        </p:xfrm>
        <a:graphic>
          <a:graphicData uri="http://schemas.openxmlformats.org/drawingml/2006/table">
            <a:tbl>
              <a:tblPr/>
              <a:tblGrid>
                <a:gridCol w="1600200"/>
                <a:gridCol w="1691640"/>
                <a:gridCol w="1572768"/>
              </a:tblGrid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/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실험 (실내)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야외 가정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이웃 반경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0.36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31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화선속도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0.5785 mm/s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0.05 m/s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노드 간격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0.20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17.2 m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dt_window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622.3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620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b="1" dirty="0">
                          <a:solidFill>
                            <a:srgbClr val="1F242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alert_horizon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345.7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900" dirty="0" b="0">
                          <a:solidFill>
                            <a:srgbClr val="2C5F2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344 s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50800" marB="50800" anchor="ctr">
                    <a:solidFill>
                      <a:srgbClr val="EEF3E6"/>
                    </a:solidFill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777240" y="4393455"/>
            <a:ext cx="4864608" cy="402336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1F2421"/>
                </a:solidFill>
                <a:latin typeface="맑은 고딕"/>
              </a:rPr>
              <a:t>길이와 속도가 같은 비율로 바뀌면 두 시간 상수는 변하지 않는다.</a:t>
            </a:r>
          </a:p>
          <a:p>
            <a:r>
              <a:rPr sz="1000" b="1">
                <a:solidFill>
                  <a:srgbClr val="1F2421"/>
                </a:solidFill>
                <a:latin typeface="맑은 고딕"/>
              </a:rPr>
              <a:t>이 실험은 야외 배치의 시간 축척 모형이다.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32367"/>
            <a:ext cx="4864608" cy="51206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6B6E6A"/>
                </a:solidFill>
                <a:latin typeface="맑은 고딕"/>
              </a:rPr>
              <a:t>※ 이웃 반경은 통신 도달거리가 아니라 추정기가 「이웃」으로 묶는 공간 반경이다.</a:t>
            </a:r>
          </a:p>
          <a:p>
            <a:r>
              <a:rPr sz="850" b="0">
                <a:solidFill>
                  <a:srgbClr val="6B6E6A"/>
                </a:solidFill>
                <a:latin typeface="맑은 고딕"/>
              </a:rPr>
              <a:t>   통신 자체는 painlessMesh 가 처리하며 이 값과 무관하다.</a:t>
            </a:r>
          </a:p>
        </p:txBody>
      </p:sp>
      <p:sp>
        <p:nvSpPr>
          <p:cNvPr id="5" name="Shape 3"/>
          <p:cNvSpPr/>
          <p:nvPr/>
        </p:nvSpPr>
        <p:spPr>
          <a:xfrm>
            <a:off x="6318504" y="1517904"/>
            <a:ext cx="5321808" cy="39319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TextBox 31"/>
          <p:cNvSpPr txBox="1"/>
          <p:nvPr/>
        </p:nvSpPr>
        <p:spPr>
          <a:xfrm>
            <a:off x="6547104" y="1664208"/>
            <a:ext cx="4864608" cy="237744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50" b="1">
                <a:solidFill>
                  <a:srgbClr val="2C5F2D"/>
                </a:solidFill>
                <a:latin typeface="맑은 고딕"/>
              </a:rPr>
              <a:t>질문 2 · 노드가 많아져 경로가 길어지면?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975104"/>
            <a:ext cx="4864608" cy="256707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547104" y="4670195"/>
            <a:ext cx="4864608" cy="713232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950" b="0">
                <a:solidFill>
                  <a:srgbClr val="6B6E6A"/>
                </a:solidFill>
                <a:latin typeface="맑은 고딕"/>
              </a:rPr>
              <a:t>· 하위 11대를 거느린 중계 노드가 이탈하자 브리지가 보던 노드가 15 → 3 으로 떨어졌다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재부팅 없이 15.9초 만에 14노드로 재구성됐다</a:t>
            </a:r>
          </a:p>
          <a:p>
            <a:r>
              <a:rPr sz="950" b="0">
                <a:solidFill>
                  <a:srgbClr val="6B6E6A"/>
                </a:solidFill>
                <a:latin typeface="맑은 고딕"/>
              </a:rPr>
              <a:t>· 9개 노드가 다른 부모로 옮겨 붙었다</a:t>
            </a:r>
          </a:p>
        </p:txBody>
      </p:sp>
      <p:sp>
        <p:nvSpPr>
          <p:cNvPr id="5" name="Shape 3"/>
          <p:cNvSpPr/>
          <p:nvPr/>
        </p:nvSpPr>
        <p:spPr>
          <a:xfrm>
            <a:off x="548640" y="5596128"/>
            <a:ext cx="11091672" cy="777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5" name="TextBox 34"/>
          <p:cNvSpPr txBox="1"/>
          <p:nvPr/>
        </p:nvSpPr>
        <p:spPr>
          <a:xfrm>
            <a:off x="777240" y="5742432"/>
            <a:ext cx="10634472" cy="5486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850" b="0">
                <a:solidFill>
                  <a:srgbClr val="1F2421"/>
                </a:solidFill>
                <a:latin typeface="맑은 고딕"/>
              </a:rPr>
              <a:t>이 축척 주장은 두 값에 의존한다. 야외 이웃 반경 31 m 는 데이터시트 기반 계산값이며 숲에서 측정하지 않았다.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지표화 속도 0.05 m/s 는 0.01~0.1 m/s 범위 중 택한 가정값이며 문헌 확인을 하지 못했다.</a:t>
            </a:r>
          </a:p>
          <a:p>
            <a:r>
              <a:rPr sz="850" b="0">
                <a:solidFill>
                  <a:srgbClr val="1F2421"/>
                </a:solidFill>
                <a:latin typeface="맑은 고딕"/>
              </a:rPr>
              <a:t>두 값이 달라지면 두 시간 상수가 함께 움직이므로, 비가 유지되는 한 결론은 같다.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① 활용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지휘부는 배치를, 대원은 대피 시각을 얻는다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1 · 진화 지휘부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지표 화선의 실시간 위치·방향·속도로 '어디에 자원을 먼저 투입할지' 판단. 자원 배치 정확도↑.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011680"/>
          </a:xfrm>
          <a:prstGeom prst="roundRect">
            <a:avLst>
              <a:gd name="adj" fmla="val 2727"/>
            </a:avLst>
          </a:prstGeom>
          <a:solidFill>
            <a:srgbClr val="FBEFE2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수요자 2 · 최전선 대원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82512" y="2286000"/>
            <a:ext cx="502005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'이 구역에 화선 N분 내 도달' 대피 타이밍 제공. 대원 안전과 직결(속도는 안전마진으로 보수적 경보).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544068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77240" y="390448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 · 고위험 구역 사전 배치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68680" y="434340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77240" y="4480560"/>
            <a:ext cx="49834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상습 발화지, 도시·마을 인접 산림(WUI), 주요 시설·문화재·등산로에 핀포인트. 초저가라 촘촘히 깔아도 부담 적음(사전 배치는 상용 선례로 검증).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53912" y="3703320"/>
            <a:ext cx="5477256" cy="2148840"/>
          </a:xfrm>
          <a:prstGeom prst="roundRect">
            <a:avLst>
              <a:gd name="adj" fmla="val 2553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382512" y="390448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기대효과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73952" y="434340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382512" y="4480560"/>
            <a:ext cx="5020056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상공 관측이 놓치는 지표 화선을 지상에서 실시간화 → 자원 배치 정확도와 대원 안전을 동시에 끌어올린다.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30" name="Shape 28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파급력·기대효과 ② 시장성·발전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타 죽는 것을 전제로 하면 경제 논리가 뒤집힌다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7240" y="1709928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논리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2148840"/>
            <a:ext cx="4800600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2286000"/>
            <a:ext cx="49834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 속에 들어가는 역할엔 내구성을 '살' 수 없다 → 저가 소모형이 유일하게 합리적.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불날 때마다 갈아끼우는 모델이 오히려 경제적.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노드 1대 부품비 1.2만 원 [데모 기준 — 케이스·야외전원·거치 제외].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데모 조달 총액 ≈ 45만 원 (예비 보드·공구·라즈베리파이 포함, 부가세 포함).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예방 투자 vs 산불 1회 피해(인명·산림·재산) = 후자가 압도적.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53912" y="1508760"/>
            <a:ext cx="5477256" cy="2926080"/>
          </a:xfrm>
          <a:prstGeom prst="roundRect">
            <a:avLst>
              <a:gd name="adj" fmla="val 1875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382512" y="1709928"/>
            <a:ext cx="5020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발전 가능성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73952" y="2148840"/>
            <a:ext cx="4837176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18504" y="2286000"/>
            <a:ext cx="5148072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같은 '고장-패턴-데이터화 + 자가치유' 구조를 실내 화재·가스 누출·구조물 붕괴·홍수로 확장 가능.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온도 상승 궤적·곡선-허용 시공간 정합·다중소스 추정(#2e)이 다음 연구 축.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드론·위성과 대체가 아니라 상보 레이어로 통합.</a:t>
            </a:r>
            <a:endParaRPr lang="en-US" sz="1200" dirty="0"/>
          </a:p>
          <a:p>
            <a:pPr indent="-146304" marL="146304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전력: 상시 메시 구조상 노드당 90~130 mA [추정 — 데이터시트 기준].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저전력 모드(평시 deep sleep · 화재 시 메시 기동)는 향후 과제.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300" b="1" i="0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독창성은 특정 응용이 아니라 '고장을 데이터로 승격하는 아키텍처'에 있어, 재난 전반으로 이식된다.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23" name="Shape 21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1100" b="1" spc="200" kern="0" dirty="0">
                <a:solidFill>
                  <a:srgbClr val="D354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 일정·업무 분장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91672" cy="566928"/>
          </a:xfrm>
          <a:prstGeom prst="rect">
            <a:avLst/>
          </a:prstGeom>
          <a:noFill/>
          <a:ln/>
        </p:spPr>
        <p:txBody>
          <a:bodyPr wrap="square" rtlCol="0" anchor="ctr" lIns="0"/>
          <a:lstStyle/>
          <a:p>
            <a:pPr indent="0" marL="0" eaLnBrk="0" hangingPunct="1">
              <a:buNone/>
            </a:pPr>
            <a:r>
              <a:rPr lang="en-US" sz="2500" b="1" dirty="0">
                <a:solidFill>
                  <a:srgbClr val="1F24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1인이 네 영역을 병렬로 — 규율과 도구로 범위를 통제했다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2743200"/>
        </p:xfrm>
        <a:graphic>
          <a:graphicData uri="http://schemas.openxmlformats.org/drawingml/2006/table">
            <a:tbl>
              <a:tblPr/>
              <a:tblGrid>
                <a:gridCol w="2926080"/>
                <a:gridCol w="2194560"/>
                <a:gridCol w="5971032"/>
              </a:tblGrid>
              <a:tr h="310896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기간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내용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시뮬·알고리즘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시뮬레이터 · 도착시각 추정 · 스트레스 시험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알고리즘 정밀화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집계 결함 교정 · 자기 차단 도입 · 명세 대조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실측·실물 포팅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센서 열관성 실측 · 펌웨어 포팅 · 메시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④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4노드 메시 · 중계 이탈/복귀 실측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⑤ 조립·교정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조립 · 감지부 좌표 · 열원 교정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⑥ 리허설·촬영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8월 말~9월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16노드 본편 촬영 · 자가치유 실증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b="1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⑦ 문서·제출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 초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 eaLnBrk="0" hangingPunct="1">
                        <a:buNone/>
                      </a:pPr>
                      <a:r>
                        <a:rPr lang="en-US" sz="1050" dirty="0">
                          <a:solidFill>
                            <a:srgbClr val="3A3E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 편집 · 보고서 완성 · GitHub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1672" cy="1600200"/>
          </a:xfrm>
          <a:prstGeom prst="roundRect">
            <a:avLst>
              <a:gd name="adj" fmla="val 3429"/>
            </a:avLst>
          </a:prstGeom>
          <a:solidFill>
            <a:srgbClr val="EEF3E6"/>
          </a:solidFill>
          <a:ln w="12700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4590288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1450" b="1" dirty="0">
                <a:solidFill>
                  <a:srgbClr val="2C5F2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1인 업무 분장 (영역별)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868680" y="5029200"/>
            <a:ext cx="10451592" cy="0"/>
          </a:xfrm>
          <a:prstGeom prst="line">
            <a:avLst/>
          </a:prstGeom>
          <a:noFill/>
          <a:ln w="25400">
            <a:solidFill>
              <a:srgbClr val="D35400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77240" y="5166360"/>
            <a:ext cx="1063447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펌웨어(ESP32·painlessMesh) · 알고리즘/게이트웨이(Python 추정기) · 하드웨어(16노드 조립·데모·계측) · 문서/발표(보고서·영상)를 단독으로 단계적 수행. 시뮬 선개발로 리스크를 앞당겨 해소하고, 추정기 동결·사전등록 규율로 범위를 통제 — 1인 개발의 범위 관리·완결 역량을 보인다.</a:t>
            </a:r>
            <a:endParaRPr lang="en-US" sz="1200" dirty="0"/>
          </a:p>
          <a:p>
            <a:pPr indent="0" marL="0" eaLnBrk="0" hangingPunct="1">
              <a:lnSpc>
                <a:spcPct val="120000"/>
              </a:lnSpc>
              <a:buNone/>
            </a:pPr>
            <a:r>
              <a:rPr lang="en-US" sz="1200" dirty="0">
                <a:solidFill>
                  <a:srgbClr val="44483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설계·판단·실험·검증은 단독 수행. 반복 구현과 문서 정리에 AI 코딩 보조(Claude)를 활용.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불사 · 화중생련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 eaLnBrk="0" hangingPunct="1">
              <a:buNone/>
            </a:pPr>
            <a:r>
              <a:rPr lang="en-US" sz="900" dirty="0">
                <a:solidFill>
                  <a:srgbClr val="6B6E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0503027" y="6464808"/>
            <a:ext cx="144018" cy="3657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flipH="1">
            <a:off x="10498455" y="6464808"/>
            <a:ext cx="4572" cy="18745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 flipV="1">
            <a:off x="10647045" y="6451092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 flipH="1">
            <a:off x="10642473" y="6501384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10882503" y="6451092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 flipH="1">
            <a:off x="10877931" y="6451092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 flipH="1">
            <a:off x="11040237" y="6492240"/>
            <a:ext cx="4572" cy="196596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>
            <a:r>
              <a:t/>
            </a:r>
          </a:p>
        </p:txBody>
      </p:sp>
      <p:sp>
        <p:nvSpPr>
          <p:cNvPr id="19" name="Shape 16"/>
          <p:cNvSpPr/>
          <p:nvPr/>
        </p:nvSpPr>
        <p:spPr>
          <a:xfrm>
            <a:off x="10498455" y="6652260"/>
            <a:ext cx="144018" cy="45720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 flipV="1">
            <a:off x="10642473" y="6647688"/>
            <a:ext cx="235458" cy="50292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30" name="Shape 18"/>
          <p:cNvSpPr/>
          <p:nvPr/>
        </p:nvSpPr>
        <p:spPr>
          <a:xfrm>
            <a:off x="10877931" y="6647688"/>
            <a:ext cx="162306" cy="41148"/>
          </a:xfrm>
          <a:prstGeom prst="line">
            <a:avLst/>
          </a:prstGeom>
          <a:noFill/>
          <a:ln w="9525">
            <a:solidFill>
              <a:srgbClr val="E2DCD0"/>
            </a:solidFill>
            <a:prstDash val="solid"/>
          </a:ln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25303" y="6387084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10569321" y="6423660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10804779" y="6373368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967085" y="6414516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420731" y="6574536"/>
            <a:ext cx="155448" cy="155448"/>
          </a:xfrm>
          <a:prstGeom prst="ellipse">
            <a:avLst/>
          </a:prstGeom>
          <a:solidFill>
            <a:srgbClr val="D35400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10564749" y="6620256"/>
            <a:ext cx="155448" cy="155448"/>
          </a:xfrm>
          <a:prstGeom prst="ellipse">
            <a:avLst/>
          </a:prstGeom>
          <a:solidFill>
            <a:srgbClr val="E8A15C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0800207" y="6569964"/>
            <a:ext cx="155448" cy="155448"/>
          </a:xfrm>
          <a:prstGeom prst="ellipse">
            <a:avLst/>
          </a:prstGeom>
          <a:solidFill>
            <a:srgbClr val="97BC62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962513" y="6611112"/>
            <a:ext cx="155448" cy="155448"/>
          </a:xfrm>
          <a:prstGeom prst="ellipse">
            <a:avLst/>
          </a:prstGeom>
          <a:solidFill>
            <a:srgbClr val="2C5F2D"/>
          </a:solidFill>
          <a:ln w="15875">
            <a:solidFill>
              <a:srgbClr val="FBF9F4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2026-08-16T22:42:36Z</dcterms:created>
  <dcterms:modified xsi:type="dcterms:W3CDTF">2026-08-16T22:42:36Z</dcterms:modified>
</cp:coreProperties>
</file>