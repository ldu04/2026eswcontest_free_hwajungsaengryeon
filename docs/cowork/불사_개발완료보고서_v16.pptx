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6" r:id="rId27"/>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9F4"/>
        </a:solidFill>
      </p:bgPr>
    </p:bg>
    <p:spTree>
      <p:nvGrpSpPr>
        <p:cNvPr id="1" name=""/>
        <p:cNvGrpSpPr/>
        <p:nvPr/>
      </p:nvGrpSpPr>
      <p:grpSpPr>
        <a:xfrm>
          <a:off x="0" y="0"/>
          <a:ext cx="0" cy="0"/>
          <a:chOff x="0" y="0"/>
          <a:chExt cx="0" cy="0"/>
        </a:xfrm>
      </p:grpSpPr>
      <p:sp>
        <p:nvSpPr>
          <p:cNvPr id="2" name="Shape 0"/>
          <p:cNvSpPr/>
          <p:nvPr/>
        </p:nvSpPr>
        <p:spPr>
          <a:xfrm>
            <a:off x="7930134" y="1512189"/>
            <a:ext cx="749808" cy="36576"/>
          </a:xfrm>
          <a:prstGeom prst="line">
            <a:avLst/>
          </a:prstGeom>
          <a:noFill/>
          <a:ln w="9525">
            <a:solidFill>
              <a:srgbClr val="E2DCD0"/>
            </a:solidFill>
            <a:prstDash val="solid"/>
          </a:ln>
        </p:spPr>
        <p:txBody>
          <a:bodyPr/>
          <a:p/>
        </p:txBody>
      </p:sp>
      <p:sp>
        <p:nvSpPr>
          <p:cNvPr id="3" name="Shape 1"/>
          <p:cNvSpPr/>
          <p:nvPr/>
        </p:nvSpPr>
        <p:spPr>
          <a:xfrm flipH="1">
            <a:off x="7916418" y="1512189"/>
            <a:ext cx="13716" cy="756666"/>
          </a:xfrm>
          <a:prstGeom prst="line">
            <a:avLst/>
          </a:prstGeom>
          <a:noFill/>
          <a:ln w="9525">
            <a:solidFill>
              <a:srgbClr val="E2DCD0"/>
            </a:solidFill>
            <a:prstDash val="solid"/>
          </a:ln>
        </p:spPr>
        <p:txBody>
          <a:bodyPr/>
          <a:p/>
        </p:txBody>
      </p:sp>
      <p:sp>
        <p:nvSpPr>
          <p:cNvPr id="4" name="Shape 2"/>
          <p:cNvSpPr/>
          <p:nvPr/>
        </p:nvSpPr>
        <p:spPr>
          <a:xfrm flipV="1">
            <a:off x="8679942" y="1498473"/>
            <a:ext cx="841248" cy="50292"/>
          </a:xfrm>
          <a:prstGeom prst="line">
            <a:avLst/>
          </a:prstGeom>
          <a:noFill/>
          <a:ln w="9525">
            <a:solidFill>
              <a:srgbClr val="E2DCD0"/>
            </a:solidFill>
            <a:prstDash val="solid"/>
          </a:ln>
        </p:spPr>
        <p:txBody>
          <a:bodyPr/>
          <a:p/>
        </p:txBody>
      </p:sp>
      <p:sp>
        <p:nvSpPr>
          <p:cNvPr id="5" name="Shape 3"/>
          <p:cNvSpPr/>
          <p:nvPr/>
        </p:nvSpPr>
        <p:spPr>
          <a:xfrm>
            <a:off x="8679942" y="1548765"/>
            <a:ext cx="4572" cy="761238"/>
          </a:xfrm>
          <a:prstGeom prst="line">
            <a:avLst/>
          </a:prstGeom>
          <a:noFill/>
          <a:ln w="9525">
            <a:solidFill>
              <a:srgbClr val="E2DCD0"/>
            </a:solidFill>
            <a:prstDash val="solid"/>
          </a:ln>
        </p:spPr>
        <p:txBody>
          <a:bodyPr/>
          <a:p/>
        </p:txBody>
      </p:sp>
      <p:sp>
        <p:nvSpPr>
          <p:cNvPr id="6" name="Shape 4"/>
          <p:cNvSpPr/>
          <p:nvPr/>
        </p:nvSpPr>
        <p:spPr>
          <a:xfrm>
            <a:off x="9521190" y="1498473"/>
            <a:ext cx="768096" cy="41148"/>
          </a:xfrm>
          <a:prstGeom prst="line">
            <a:avLst/>
          </a:prstGeom>
          <a:noFill/>
          <a:ln w="9525">
            <a:solidFill>
              <a:srgbClr val="E2DCD0"/>
            </a:solidFill>
            <a:prstDash val="solid"/>
          </a:ln>
        </p:spPr>
        <p:txBody>
          <a:bodyPr/>
          <a:p/>
        </p:txBody>
      </p:sp>
      <p:sp>
        <p:nvSpPr>
          <p:cNvPr id="7" name="Shape 5"/>
          <p:cNvSpPr/>
          <p:nvPr/>
        </p:nvSpPr>
        <p:spPr>
          <a:xfrm>
            <a:off x="9521190" y="1498473"/>
            <a:ext cx="9144" cy="779526"/>
          </a:xfrm>
          <a:prstGeom prst="line">
            <a:avLst/>
          </a:prstGeom>
          <a:noFill/>
          <a:ln w="9525">
            <a:solidFill>
              <a:srgbClr val="E2DCD0"/>
            </a:solidFill>
            <a:prstDash val="solid"/>
          </a:ln>
        </p:spPr>
        <p:txBody>
          <a:bodyPr/>
          <a:p/>
        </p:txBody>
      </p:sp>
      <p:sp>
        <p:nvSpPr>
          <p:cNvPr id="9" name="Shape 7"/>
          <p:cNvSpPr/>
          <p:nvPr/>
        </p:nvSpPr>
        <p:spPr>
          <a:xfrm flipH="1">
            <a:off x="10280142" y="1539621"/>
            <a:ext cx="9144" cy="774954"/>
          </a:xfrm>
          <a:prstGeom prst="line">
            <a:avLst/>
          </a:prstGeom>
          <a:noFill/>
          <a:ln w="9525">
            <a:solidFill>
              <a:srgbClr val="E2DCD0"/>
            </a:solidFill>
            <a:prstDash val="solid"/>
          </a:ln>
        </p:spPr>
        <p:txBody>
          <a:bodyPr/>
          <a:p/>
        </p:txBody>
      </p:sp>
      <p:sp>
        <p:nvSpPr>
          <p:cNvPr id="13" name="Shape 11"/>
          <p:cNvSpPr/>
          <p:nvPr/>
        </p:nvSpPr>
        <p:spPr>
          <a:xfrm>
            <a:off x="7916418" y="2268855"/>
            <a:ext cx="768096" cy="41148"/>
          </a:xfrm>
          <a:prstGeom prst="line">
            <a:avLst/>
          </a:prstGeom>
          <a:noFill/>
          <a:ln w="9525">
            <a:solidFill>
              <a:srgbClr val="E2DCD0"/>
            </a:solidFill>
            <a:prstDash val="solid"/>
          </a:ln>
        </p:spPr>
        <p:txBody>
          <a:bodyPr/>
          <a:p/>
        </p:txBody>
      </p:sp>
      <p:sp>
        <p:nvSpPr>
          <p:cNvPr id="14" name="Shape 12"/>
          <p:cNvSpPr/>
          <p:nvPr/>
        </p:nvSpPr>
        <p:spPr>
          <a:xfrm>
            <a:off x="7916418" y="2268855"/>
            <a:ext cx="9144" cy="770382"/>
          </a:xfrm>
          <a:prstGeom prst="line">
            <a:avLst/>
          </a:prstGeom>
          <a:noFill/>
          <a:ln w="9525">
            <a:solidFill>
              <a:srgbClr val="E2DCD0"/>
            </a:solidFill>
            <a:prstDash val="solid"/>
          </a:ln>
        </p:spPr>
        <p:txBody>
          <a:bodyPr/>
          <a:p/>
        </p:txBody>
      </p:sp>
      <p:sp>
        <p:nvSpPr>
          <p:cNvPr id="15" name="Shape 13"/>
          <p:cNvSpPr/>
          <p:nvPr/>
        </p:nvSpPr>
        <p:spPr>
          <a:xfrm flipV="1">
            <a:off x="8684514" y="2277999"/>
            <a:ext cx="845820" cy="32004"/>
          </a:xfrm>
          <a:prstGeom prst="line">
            <a:avLst/>
          </a:prstGeom>
          <a:noFill/>
          <a:ln w="9525">
            <a:solidFill>
              <a:srgbClr val="E2DCD0"/>
            </a:solidFill>
            <a:prstDash val="solid"/>
          </a:ln>
        </p:spPr>
        <p:txBody>
          <a:bodyPr/>
          <a:p/>
        </p:txBody>
      </p:sp>
      <p:sp>
        <p:nvSpPr>
          <p:cNvPr id="16" name="Shape 14"/>
          <p:cNvSpPr/>
          <p:nvPr/>
        </p:nvSpPr>
        <p:spPr>
          <a:xfrm flipH="1">
            <a:off x="8675370" y="2310003"/>
            <a:ext cx="9144" cy="774954"/>
          </a:xfrm>
          <a:prstGeom prst="line">
            <a:avLst/>
          </a:prstGeom>
          <a:noFill/>
          <a:ln w="9525">
            <a:solidFill>
              <a:srgbClr val="E2DCD0"/>
            </a:solidFill>
            <a:prstDash val="solid"/>
          </a:ln>
        </p:spPr>
        <p:txBody>
          <a:bodyPr/>
          <a:p/>
        </p:txBody>
      </p:sp>
      <p:sp>
        <p:nvSpPr>
          <p:cNvPr id="17" name="Shape 15"/>
          <p:cNvSpPr/>
          <p:nvPr/>
        </p:nvSpPr>
        <p:spPr>
          <a:xfrm>
            <a:off x="9530334" y="2277999"/>
            <a:ext cx="749808" cy="36576"/>
          </a:xfrm>
          <a:prstGeom prst="line">
            <a:avLst/>
          </a:prstGeom>
          <a:noFill/>
          <a:ln w="9525">
            <a:solidFill>
              <a:srgbClr val="E2DCD0"/>
            </a:solidFill>
            <a:prstDash val="solid"/>
          </a:ln>
        </p:spPr>
        <p:txBody>
          <a:bodyPr/>
          <a:p/>
        </p:txBody>
      </p:sp>
      <p:sp>
        <p:nvSpPr>
          <p:cNvPr id="18" name="Shape 16"/>
          <p:cNvSpPr/>
          <p:nvPr/>
        </p:nvSpPr>
        <p:spPr>
          <a:xfrm flipH="1">
            <a:off x="9516618" y="2277999"/>
            <a:ext cx="13716" cy="756666"/>
          </a:xfrm>
          <a:prstGeom prst="line">
            <a:avLst/>
          </a:prstGeom>
          <a:noFill/>
          <a:ln w="9525">
            <a:solidFill>
              <a:srgbClr val="E2DCD0"/>
            </a:solidFill>
            <a:prstDash val="solid"/>
          </a:ln>
        </p:spPr>
        <p:txBody>
          <a:bodyPr/>
          <a:p/>
        </p:txBody>
      </p:sp>
      <p:sp>
        <p:nvSpPr>
          <p:cNvPr id="20" name="Shape 18"/>
          <p:cNvSpPr/>
          <p:nvPr/>
        </p:nvSpPr>
        <p:spPr>
          <a:xfrm>
            <a:off x="10280142" y="2314575"/>
            <a:ext cx="4572" cy="761238"/>
          </a:xfrm>
          <a:prstGeom prst="line">
            <a:avLst/>
          </a:prstGeom>
          <a:noFill/>
          <a:ln w="9525">
            <a:solidFill>
              <a:srgbClr val="E2DCD0"/>
            </a:solidFill>
            <a:prstDash val="solid"/>
          </a:ln>
        </p:spPr>
        <p:txBody>
          <a:bodyPr/>
          <a:p/>
        </p:txBody>
      </p:sp>
      <p:sp>
        <p:nvSpPr>
          <p:cNvPr id="24" name="Shape 22"/>
          <p:cNvSpPr/>
          <p:nvPr/>
        </p:nvSpPr>
        <p:spPr>
          <a:xfrm>
            <a:off x="7925562" y="3039237"/>
            <a:ext cx="749808" cy="45720"/>
          </a:xfrm>
          <a:prstGeom prst="line">
            <a:avLst/>
          </a:prstGeom>
          <a:noFill/>
          <a:ln w="9525">
            <a:solidFill>
              <a:srgbClr val="E2DCD0"/>
            </a:solidFill>
            <a:prstDash val="solid"/>
          </a:ln>
        </p:spPr>
        <p:txBody>
          <a:bodyPr/>
          <a:p/>
        </p:txBody>
      </p:sp>
      <p:sp>
        <p:nvSpPr>
          <p:cNvPr id="25" name="Shape 23"/>
          <p:cNvSpPr/>
          <p:nvPr/>
        </p:nvSpPr>
        <p:spPr>
          <a:xfrm flipH="1">
            <a:off x="7920990" y="3039237"/>
            <a:ext cx="4572" cy="756666"/>
          </a:xfrm>
          <a:prstGeom prst="line">
            <a:avLst/>
          </a:prstGeom>
          <a:noFill/>
          <a:ln w="9525">
            <a:solidFill>
              <a:srgbClr val="E2DCD0"/>
            </a:solidFill>
            <a:prstDash val="solid"/>
          </a:ln>
        </p:spPr>
        <p:txBody>
          <a:bodyPr/>
          <a:p/>
        </p:txBody>
      </p:sp>
      <p:sp>
        <p:nvSpPr>
          <p:cNvPr id="26" name="Shape 24"/>
          <p:cNvSpPr/>
          <p:nvPr/>
        </p:nvSpPr>
        <p:spPr>
          <a:xfrm flipV="1">
            <a:off x="8675370" y="3034665"/>
            <a:ext cx="841248" cy="50292"/>
          </a:xfrm>
          <a:prstGeom prst="line">
            <a:avLst/>
          </a:prstGeom>
          <a:noFill/>
          <a:ln w="9525">
            <a:solidFill>
              <a:srgbClr val="E2DCD0"/>
            </a:solidFill>
            <a:prstDash val="solid"/>
          </a:ln>
        </p:spPr>
        <p:txBody>
          <a:bodyPr/>
          <a:p/>
        </p:txBody>
      </p:sp>
      <p:sp>
        <p:nvSpPr>
          <p:cNvPr id="27" name="Shape 25"/>
          <p:cNvSpPr/>
          <p:nvPr/>
        </p:nvSpPr>
        <p:spPr>
          <a:xfrm>
            <a:off x="8675370" y="3084957"/>
            <a:ext cx="13716" cy="752094"/>
          </a:xfrm>
          <a:prstGeom prst="line">
            <a:avLst/>
          </a:prstGeom>
          <a:noFill/>
          <a:ln w="9525">
            <a:solidFill>
              <a:srgbClr val="E2DCD0"/>
            </a:solidFill>
            <a:prstDash val="solid"/>
          </a:ln>
        </p:spPr>
        <p:txBody>
          <a:bodyPr/>
          <a:p/>
        </p:txBody>
      </p:sp>
      <p:sp>
        <p:nvSpPr>
          <p:cNvPr id="28" name="Shape 26"/>
          <p:cNvSpPr/>
          <p:nvPr/>
        </p:nvSpPr>
        <p:spPr>
          <a:xfrm>
            <a:off x="9516618" y="3034665"/>
            <a:ext cx="768096" cy="41148"/>
          </a:xfrm>
          <a:prstGeom prst="line">
            <a:avLst/>
          </a:prstGeom>
          <a:noFill/>
          <a:ln w="9525">
            <a:solidFill>
              <a:srgbClr val="E2DCD0"/>
            </a:solidFill>
            <a:prstDash val="solid"/>
          </a:ln>
        </p:spPr>
        <p:txBody>
          <a:bodyPr/>
          <a:p/>
        </p:txBody>
      </p:sp>
      <p:sp>
        <p:nvSpPr>
          <p:cNvPr id="29" name="Shape 27"/>
          <p:cNvSpPr/>
          <p:nvPr/>
        </p:nvSpPr>
        <p:spPr>
          <a:xfrm>
            <a:off x="9516618" y="3034665"/>
            <a:ext cx="9144" cy="770382"/>
          </a:xfrm>
          <a:prstGeom prst="line">
            <a:avLst/>
          </a:prstGeom>
          <a:noFill/>
          <a:ln w="9525">
            <a:solidFill>
              <a:srgbClr val="E2DCD0"/>
            </a:solidFill>
            <a:prstDash val="solid"/>
          </a:ln>
        </p:spPr>
        <p:txBody>
          <a:bodyPr/>
          <a:p/>
        </p:txBody>
      </p:sp>
      <p:sp>
        <p:nvSpPr>
          <p:cNvPr id="31" name="Shape 29"/>
          <p:cNvSpPr/>
          <p:nvPr/>
        </p:nvSpPr>
        <p:spPr>
          <a:xfrm flipH="1">
            <a:off x="10275570" y="3075813"/>
            <a:ext cx="9144" cy="774954"/>
          </a:xfrm>
          <a:prstGeom prst="line">
            <a:avLst/>
          </a:prstGeom>
          <a:noFill/>
          <a:ln w="9525">
            <a:solidFill>
              <a:srgbClr val="E2DCD0"/>
            </a:solidFill>
            <a:prstDash val="solid"/>
          </a:ln>
        </p:spPr>
        <p:txBody>
          <a:bodyPr/>
          <a:p/>
        </p:txBody>
      </p:sp>
      <p:sp>
        <p:nvSpPr>
          <p:cNvPr id="35" name="Shape 33"/>
          <p:cNvSpPr/>
          <p:nvPr/>
        </p:nvSpPr>
        <p:spPr>
          <a:xfrm>
            <a:off x="7920990" y="3795903"/>
            <a:ext cx="768096" cy="41148"/>
          </a:xfrm>
          <a:prstGeom prst="line">
            <a:avLst/>
          </a:prstGeom>
          <a:noFill/>
          <a:ln w="9525">
            <a:solidFill>
              <a:srgbClr val="E2DCD0"/>
            </a:solidFill>
            <a:prstDash val="solid"/>
          </a:ln>
        </p:spPr>
        <p:txBody>
          <a:bodyPr/>
          <a:p/>
        </p:txBody>
      </p:sp>
      <p:sp>
        <p:nvSpPr>
          <p:cNvPr id="36" name="Shape 34"/>
          <p:cNvSpPr/>
          <p:nvPr/>
        </p:nvSpPr>
        <p:spPr>
          <a:xfrm flipV="1">
            <a:off x="8689086" y="3805047"/>
            <a:ext cx="836676" cy="32004"/>
          </a:xfrm>
          <a:prstGeom prst="line">
            <a:avLst/>
          </a:prstGeom>
          <a:noFill/>
          <a:ln w="9525">
            <a:solidFill>
              <a:srgbClr val="E2DCD0"/>
            </a:solidFill>
            <a:prstDash val="solid"/>
          </a:ln>
        </p:spPr>
        <p:txBody>
          <a:bodyPr/>
          <a:p/>
        </p:txBody>
      </p:sp>
      <p:sp>
        <p:nvSpPr>
          <p:cNvPr id="37" name="Shape 35"/>
          <p:cNvSpPr/>
          <p:nvPr/>
        </p:nvSpPr>
        <p:spPr>
          <a:xfrm>
            <a:off x="9525762" y="3805047"/>
            <a:ext cx="749808" cy="45720"/>
          </a:xfrm>
          <a:prstGeom prst="line">
            <a:avLst/>
          </a:prstGeom>
          <a:noFill/>
          <a:ln w="9525">
            <a:solidFill>
              <a:srgbClr val="E2DCD0"/>
            </a:solidFill>
            <a:prstDash val="solid"/>
          </a:ln>
        </p:spPr>
        <p:txBody>
          <a:bodyPr/>
          <a:p/>
        </p:txBody>
      </p:sp>
      <p:sp>
        <p:nvSpPr>
          <p:cNvPr id="40" name="Shape 38"/>
          <p:cNvSpPr/>
          <p:nvPr/>
        </p:nvSpPr>
        <p:spPr>
          <a:xfrm>
            <a:off x="7852410" y="1434465"/>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8602218" y="1471041"/>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9443466" y="1420749"/>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211562" y="1461897"/>
            <a:ext cx="155448" cy="155448"/>
          </a:xfrm>
          <a:prstGeom prst="ellipse">
            <a:avLst/>
          </a:prstGeom>
          <a:solidFill>
            <a:srgbClr val="97BC62"/>
          </a:solidFill>
          <a:ln w="15875">
            <a:solidFill>
              <a:srgbClr val="FBF9F4"/>
            </a:solidFill>
            <a:prstDash val="solid"/>
          </a:ln>
        </p:spPr>
        <p:txBody>
          <a:bodyPr/>
          <a:p/>
        </p:txBody>
      </p:sp>
      <p:sp>
        <p:nvSpPr>
          <p:cNvPr id="46" name="Shape 44"/>
          <p:cNvSpPr/>
          <p:nvPr/>
        </p:nvSpPr>
        <p:spPr>
          <a:xfrm>
            <a:off x="7838694" y="2191131"/>
            <a:ext cx="155448" cy="155448"/>
          </a:xfrm>
          <a:prstGeom prst="ellipse">
            <a:avLst/>
          </a:prstGeom>
          <a:solidFill>
            <a:srgbClr val="D35400"/>
          </a:solidFill>
          <a:ln w="15875">
            <a:solidFill>
              <a:srgbClr val="FBF9F4"/>
            </a:solidFill>
            <a:prstDash val="solid"/>
          </a:ln>
        </p:spPr>
        <p:txBody>
          <a:bodyPr/>
          <a:p/>
        </p:txBody>
      </p:sp>
      <p:sp>
        <p:nvSpPr>
          <p:cNvPr id="47" name="Shape 45"/>
          <p:cNvSpPr/>
          <p:nvPr/>
        </p:nvSpPr>
        <p:spPr>
          <a:xfrm>
            <a:off x="8606790" y="2232279"/>
            <a:ext cx="155448" cy="155448"/>
          </a:xfrm>
          <a:prstGeom prst="ellipse">
            <a:avLst/>
          </a:prstGeom>
          <a:solidFill>
            <a:srgbClr val="D35400"/>
          </a:solidFill>
          <a:ln w="15875">
            <a:solidFill>
              <a:srgbClr val="FBF9F4"/>
            </a:solidFill>
            <a:prstDash val="solid"/>
          </a:ln>
        </p:spPr>
        <p:txBody>
          <a:bodyPr/>
          <a:p/>
        </p:txBody>
      </p:sp>
      <p:sp>
        <p:nvSpPr>
          <p:cNvPr id="48" name="Shape 46"/>
          <p:cNvSpPr/>
          <p:nvPr/>
        </p:nvSpPr>
        <p:spPr>
          <a:xfrm>
            <a:off x="9452610" y="2200275"/>
            <a:ext cx="155448" cy="155448"/>
          </a:xfrm>
          <a:prstGeom prst="ellipse">
            <a:avLst/>
          </a:prstGeom>
          <a:solidFill>
            <a:srgbClr val="E8A15C"/>
          </a:solidFill>
          <a:ln w="15875">
            <a:solidFill>
              <a:srgbClr val="FBF9F4"/>
            </a:solidFill>
            <a:prstDash val="solid"/>
          </a:ln>
        </p:spPr>
        <p:txBody>
          <a:bodyPr/>
          <a:p/>
        </p:txBody>
      </p:sp>
      <p:sp>
        <p:nvSpPr>
          <p:cNvPr id="49" name="Shape 47"/>
          <p:cNvSpPr/>
          <p:nvPr/>
        </p:nvSpPr>
        <p:spPr>
          <a:xfrm>
            <a:off x="10202418" y="2236851"/>
            <a:ext cx="155448" cy="155448"/>
          </a:xfrm>
          <a:prstGeom prst="ellipse">
            <a:avLst/>
          </a:prstGeom>
          <a:solidFill>
            <a:srgbClr val="97BC62"/>
          </a:solidFill>
          <a:ln w="15875">
            <a:solidFill>
              <a:srgbClr val="FBF9F4"/>
            </a:solidFill>
            <a:prstDash val="solid"/>
          </a:ln>
        </p:spPr>
        <p:txBody>
          <a:bodyPr/>
          <a:p/>
        </p:txBody>
      </p:sp>
      <p:sp>
        <p:nvSpPr>
          <p:cNvPr id="52" name="Shape 50"/>
          <p:cNvSpPr/>
          <p:nvPr/>
        </p:nvSpPr>
        <p:spPr>
          <a:xfrm>
            <a:off x="7847838" y="2961513"/>
            <a:ext cx="155448" cy="155448"/>
          </a:xfrm>
          <a:prstGeom prst="ellipse">
            <a:avLst/>
          </a:prstGeom>
          <a:solidFill>
            <a:srgbClr val="D35400"/>
          </a:solidFill>
          <a:ln w="15875">
            <a:solidFill>
              <a:srgbClr val="FBF9F4"/>
            </a:solidFill>
            <a:prstDash val="solid"/>
          </a:ln>
        </p:spPr>
        <p:txBody>
          <a:bodyPr/>
          <a:p/>
        </p:txBody>
      </p:sp>
      <p:sp>
        <p:nvSpPr>
          <p:cNvPr id="53" name="Shape 51"/>
          <p:cNvSpPr/>
          <p:nvPr/>
        </p:nvSpPr>
        <p:spPr>
          <a:xfrm>
            <a:off x="8597646" y="3007233"/>
            <a:ext cx="155448" cy="155448"/>
          </a:xfrm>
          <a:prstGeom prst="ellipse">
            <a:avLst/>
          </a:prstGeom>
          <a:solidFill>
            <a:srgbClr val="D35400"/>
          </a:solidFill>
          <a:ln w="15875">
            <a:solidFill>
              <a:srgbClr val="FBF9F4"/>
            </a:solidFill>
            <a:prstDash val="solid"/>
          </a:ln>
        </p:spPr>
        <p:txBody>
          <a:bodyPr/>
          <a:p/>
        </p:txBody>
      </p:sp>
      <p:sp>
        <p:nvSpPr>
          <p:cNvPr id="54" name="Shape 52"/>
          <p:cNvSpPr/>
          <p:nvPr/>
        </p:nvSpPr>
        <p:spPr>
          <a:xfrm>
            <a:off x="9438894" y="2956941"/>
            <a:ext cx="155448" cy="155448"/>
          </a:xfrm>
          <a:prstGeom prst="ellipse">
            <a:avLst/>
          </a:prstGeom>
          <a:solidFill>
            <a:srgbClr val="E8A15C"/>
          </a:solidFill>
          <a:ln w="15875">
            <a:solidFill>
              <a:srgbClr val="FBF9F4"/>
            </a:solidFill>
            <a:prstDash val="solid"/>
          </a:ln>
        </p:spPr>
        <p:txBody>
          <a:bodyPr/>
          <a:p/>
        </p:txBody>
      </p:sp>
      <p:sp>
        <p:nvSpPr>
          <p:cNvPr id="55" name="Shape 53"/>
          <p:cNvSpPr/>
          <p:nvPr/>
        </p:nvSpPr>
        <p:spPr>
          <a:xfrm>
            <a:off x="10206990" y="2998089"/>
            <a:ext cx="155448" cy="155448"/>
          </a:xfrm>
          <a:prstGeom prst="ellipse">
            <a:avLst/>
          </a:prstGeom>
          <a:solidFill>
            <a:srgbClr val="97BC62"/>
          </a:solidFill>
          <a:ln w="15875">
            <a:solidFill>
              <a:srgbClr val="FBF9F4"/>
            </a:solidFill>
            <a:prstDash val="solid"/>
          </a:ln>
        </p:spPr>
        <p:txBody>
          <a:bodyPr/>
          <a:p/>
        </p:txBody>
      </p:sp>
      <p:sp>
        <p:nvSpPr>
          <p:cNvPr id="58" name="Shape 56"/>
          <p:cNvSpPr/>
          <p:nvPr/>
        </p:nvSpPr>
        <p:spPr>
          <a:xfrm>
            <a:off x="7843266" y="3718179"/>
            <a:ext cx="155448" cy="155448"/>
          </a:xfrm>
          <a:prstGeom prst="ellipse">
            <a:avLst/>
          </a:prstGeom>
          <a:solidFill>
            <a:srgbClr val="D35400"/>
          </a:solidFill>
          <a:ln w="15875">
            <a:solidFill>
              <a:srgbClr val="FBF9F4"/>
            </a:solidFill>
            <a:prstDash val="solid"/>
          </a:ln>
        </p:spPr>
        <p:txBody>
          <a:bodyPr/>
          <a:p/>
        </p:txBody>
      </p:sp>
      <p:sp>
        <p:nvSpPr>
          <p:cNvPr id="59" name="Shape 57"/>
          <p:cNvSpPr/>
          <p:nvPr/>
        </p:nvSpPr>
        <p:spPr>
          <a:xfrm>
            <a:off x="8611362" y="3759327"/>
            <a:ext cx="155448" cy="155448"/>
          </a:xfrm>
          <a:prstGeom prst="ellipse">
            <a:avLst/>
          </a:prstGeom>
          <a:solidFill>
            <a:srgbClr val="D35400"/>
          </a:solidFill>
          <a:ln w="15875">
            <a:solidFill>
              <a:srgbClr val="FBF9F4"/>
            </a:solidFill>
            <a:prstDash val="solid"/>
          </a:ln>
        </p:spPr>
        <p:txBody>
          <a:bodyPr/>
          <a:p/>
        </p:txBody>
      </p:sp>
      <p:sp>
        <p:nvSpPr>
          <p:cNvPr id="60" name="Shape 58"/>
          <p:cNvSpPr/>
          <p:nvPr/>
        </p:nvSpPr>
        <p:spPr>
          <a:xfrm>
            <a:off x="9448038" y="3727323"/>
            <a:ext cx="155448" cy="155448"/>
          </a:xfrm>
          <a:prstGeom prst="ellipse">
            <a:avLst/>
          </a:prstGeom>
          <a:solidFill>
            <a:srgbClr val="E8A15C"/>
          </a:solidFill>
          <a:ln w="15875">
            <a:solidFill>
              <a:srgbClr val="FBF9F4"/>
            </a:solidFill>
            <a:prstDash val="solid"/>
          </a:ln>
        </p:spPr>
        <p:txBody>
          <a:bodyPr/>
          <a:p/>
        </p:txBody>
      </p:sp>
      <p:sp>
        <p:nvSpPr>
          <p:cNvPr id="61" name="Shape 59"/>
          <p:cNvSpPr/>
          <p:nvPr/>
        </p:nvSpPr>
        <p:spPr>
          <a:xfrm>
            <a:off x="10197846" y="3773043"/>
            <a:ext cx="155448" cy="155448"/>
          </a:xfrm>
          <a:prstGeom prst="ellipse">
            <a:avLst/>
          </a:prstGeom>
          <a:solidFill>
            <a:srgbClr val="97BC62"/>
          </a:solidFill>
          <a:ln w="15875">
            <a:solidFill>
              <a:srgbClr val="FBF9F4"/>
            </a:solidFill>
            <a:prstDash val="solid"/>
          </a:ln>
        </p:spPr>
        <p:txBody>
          <a:bodyPr/>
          <a:p/>
        </p:txBody>
      </p:sp>
      <p:sp>
        <p:nvSpPr>
          <p:cNvPr id="64" name="Text 62"/>
          <p:cNvSpPr/>
          <p:nvPr/>
        </p:nvSpPr>
        <p:spPr>
          <a:xfrm>
            <a:off x="822960" y="1554480"/>
            <a:ext cx="8229600" cy="320040"/>
          </a:xfrm>
          <a:prstGeom prst="rect">
            <a:avLst/>
          </a:prstGeom>
          <a:noFill/>
          <a:ln/>
        </p:spPr>
        <p:txBody>
          <a:bodyPr wrap="square" rtlCol="0" anchor="ctr"/>
          <a:lstStyle/>
          <a:p>
            <a:pPr indent="0" marL="0" eaLnBrk="0" hangingPunct="1">
              <a:buNone/>
            </a:pPr>
            <a:r>
              <a:rPr lang="en-US" sz="1300" b="1" spc="100" kern="0" dirty="0">
                <a:solidFill>
                  <a:srgbClr val="D35400"/>
                </a:solidFill>
                <a:latin typeface="맑은 고딕" pitchFamily="34" charset="0"/>
                <a:ea typeface="맑은 고딕" pitchFamily="34" charset="-122"/>
                <a:cs typeface="맑은 고딕" pitchFamily="34" charset="-120"/>
              </a:rPr>
              <a:t>제24회 임베디드SW경진대회 · 자유공모 부문</a:t>
            </a:r>
            <a:endParaRPr lang="en-US" sz="1300" dirty="0"/>
          </a:p>
        </p:txBody>
      </p:sp>
      <p:sp>
        <p:nvSpPr>
          <p:cNvPr id="65" name="Text 63"/>
          <p:cNvSpPr/>
          <p:nvPr/>
        </p:nvSpPr>
        <p:spPr>
          <a:xfrm>
            <a:off x="777240" y="1965960"/>
            <a:ext cx="5852160" cy="1463040"/>
          </a:xfrm>
          <a:prstGeom prst="rect">
            <a:avLst/>
          </a:prstGeom>
          <a:noFill/>
          <a:ln/>
        </p:spPr>
        <p:txBody>
          <a:bodyPr wrap="square" rtlCol="0" anchor="ctr"/>
          <a:lstStyle/>
          <a:p>
            <a:pPr indent="0" marL="0" eaLnBrk="0" hangingPunct="1">
              <a:buNone/>
            </a:pPr>
            <a:r>
              <a:rPr lang="en-US" sz="8800" b="1" dirty="0">
                <a:solidFill>
                  <a:srgbClr val="1F2421"/>
                </a:solidFill>
                <a:latin typeface="맑은 고딕" pitchFamily="34" charset="0"/>
                <a:ea typeface="맑은 고딕" pitchFamily="34" charset="-122"/>
                <a:cs typeface="맑은 고딕" pitchFamily="34" charset="-120"/>
              </a:rPr>
              <a:t>불사</a:t>
            </a:r>
            <a:endParaRPr lang="en-US" sz="8800" dirty="0"/>
          </a:p>
        </p:txBody>
      </p:sp>
      <p:sp>
        <p:nvSpPr>
          <p:cNvPr id="66" name="Shape 64"/>
          <p:cNvSpPr/>
          <p:nvPr/>
        </p:nvSpPr>
        <p:spPr>
          <a:xfrm>
            <a:off x="940003" y="3611880"/>
            <a:ext cx="2119579" cy="0"/>
          </a:xfrm>
          <a:prstGeom prst="line">
            <a:avLst/>
          </a:prstGeom>
          <a:noFill/>
          <a:ln w="38100">
            <a:solidFill>
              <a:srgbClr val="D35400"/>
            </a:solidFill>
            <a:prstDash val="solid"/>
          </a:ln>
        </p:spPr>
        <p:txBody>
          <a:bodyPr/>
          <a:p/>
        </p:txBody>
      </p:sp>
      <p:sp>
        <p:nvSpPr>
          <p:cNvPr id="67" name="Text 65"/>
          <p:cNvSpPr/>
          <p:nvPr/>
        </p:nvSpPr>
        <p:spPr>
          <a:xfrm>
            <a:off x="822960" y="3794760"/>
            <a:ext cx="8229600" cy="457200"/>
          </a:xfrm>
          <a:prstGeom prst="rect">
            <a:avLst/>
          </a:prstGeom>
          <a:noFill/>
          <a:ln/>
        </p:spPr>
        <p:txBody>
          <a:bodyPr wrap="square" rtlCol="0" anchor="ctr"/>
          <a:lstStyle/>
          <a:p>
            <a:pPr indent="0" marL="0" eaLnBrk="0" hangingPunct="1">
              <a:buNone/>
            </a:pPr>
            <a:r>
              <a:rPr lang="en-US" sz="1400" b="0" dirty="0">
                <a:solidFill>
                  <a:srgbClr val="2C5F2D"/>
                </a:solidFill>
                <a:latin typeface="맑은 고딕" pitchFamily="34" charset="0"/>
                <a:ea typeface="맑은 고딕" pitchFamily="34" charset="-122"/>
                <a:cs typeface="맑은 고딕" pitchFamily="34" charset="-120"/>
              </a:rPr>
              <a:t>팀 화중생련  火中生蓮</a:t>
            </a:r>
            <a:pPr indent="0" marL="0">
              <a:buNone/>
            </a:pPr>
            <a:endParaRPr lang="en-US" sz="2000" dirty="0"/>
          </a:p>
        </p:txBody>
      </p:sp>
      <p:sp>
        <p:nvSpPr>
          <p:cNvPr id="68" name="Text 66"/>
          <p:cNvSpPr/>
          <p:nvPr/>
        </p:nvSpPr>
        <p:spPr>
          <a:xfrm>
            <a:off x="822960" y="4480560"/>
            <a:ext cx="9601200" cy="457200"/>
          </a:xfrm>
          <a:prstGeom prst="rect">
            <a:avLst/>
          </a:prstGeom>
          <a:noFill/>
          <a:ln/>
        </p:spPr>
        <p:txBody>
          <a:bodyPr wrap="square" rtlCol="0" anchor="ctr"/>
          <a:lstStyle/>
          <a:p>
            <a:pPr indent="0" marL="0" eaLnBrk="0" hangingPunct="1">
              <a:buNone/>
            </a:pPr>
            <a:r>
              <a:rPr lang="en-US" sz="1600" dirty="0">
                <a:solidFill>
                  <a:srgbClr val="50544B"/>
                </a:solidFill>
                <a:latin typeface="맑은 고딕" pitchFamily="34" charset="0"/>
                <a:ea typeface="맑은 고딕" pitchFamily="34" charset="-122"/>
                <a:cs typeface="맑은 고딕" pitchFamily="34" charset="-120"/>
              </a:rPr>
              <a:t>고장(노드 파괴)을 데이터로 바꾸는 자가치유 산불 감시 메시 네트워크</a:t>
            </a:r>
            <a:endParaRPr lang="en-US" sz="1600" dirty="0"/>
          </a:p>
        </p:txBody>
      </p:sp>
      <p:sp>
        <p:nvSpPr>
          <p:cNvPr id="69" name="Shape 67"/>
          <p:cNvSpPr/>
          <p:nvPr/>
        </p:nvSpPr>
        <p:spPr>
          <a:xfrm>
            <a:off x="822960" y="5806440"/>
            <a:ext cx="10515600" cy="0"/>
          </a:xfrm>
          <a:prstGeom prst="line">
            <a:avLst/>
          </a:prstGeom>
          <a:noFill/>
          <a:ln w="12700">
            <a:solidFill>
              <a:srgbClr val="E2DCD0"/>
            </a:solidFill>
            <a:prstDash val="solid"/>
          </a:ln>
        </p:spPr>
        <p:txBody>
          <a:bodyPr/>
          <a:p/>
        </p:txBody>
      </p:sp>
      <p:sp>
        <p:nvSpPr>
          <p:cNvPr id="70" name="Text 68"/>
          <p:cNvSpPr/>
          <p:nvPr/>
        </p:nvSpPr>
        <p:spPr>
          <a:xfrm>
            <a:off x="822960" y="5943600"/>
            <a:ext cx="7315200" cy="36576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이동욱</a:t>
            </a:r>
            <a:pPr indent="0" marL="0">
              <a:buNone/>
            </a:pPr>
            <a:r>
              <a:rPr lang="en-US" sz="1300" dirty="0">
                <a:solidFill>
                  <a:srgbClr val="6B6E6A"/>
                </a:solidFill>
                <a:latin typeface="맑은 고딕" pitchFamily="34" charset="0"/>
                <a:ea typeface="맑은 고딕" pitchFamily="34" charset="-122"/>
                <a:cs typeface="맑은 고딕" pitchFamily="34" charset="-120"/>
              </a:rPr>
              <a:t>  전자공학전공 · 숭실대학교</a:t>
            </a:r>
            <a:endParaRPr lang="en-US" sz="1300" dirty="0"/>
          </a:p>
        </p:txBody>
      </p:sp>
      <p:sp>
        <p:nvSpPr>
          <p:cNvPr id="71" name="Text 69"/>
          <p:cNvSpPr/>
          <p:nvPr/>
        </p:nvSpPr>
        <p:spPr>
          <a:xfrm>
            <a:off x="6766560" y="5943600"/>
            <a:ext cx="4572000" cy="365760"/>
          </a:xfrm>
          <a:prstGeom prst="rect">
            <a:avLst/>
          </a:prstGeom>
          <a:noFill/>
          <a:ln/>
        </p:spPr>
        <p:txBody>
          <a:bodyPr wrap="square" rtlCol="0" anchor="ctr"/>
          <a:lstStyle/>
          <a:p>
            <a:pPr algn="r" indent="0" marL="0" eaLnBrk="0" hangingPunct="1">
              <a:buNone/>
            </a:pPr>
            <a:r>
              <a:rPr lang="en-US" sz="1100" dirty="0">
                <a:solidFill>
                  <a:srgbClr val="6B6E6A"/>
                </a:solidFill>
                <a:latin typeface="맑은 고딕" pitchFamily="34" charset="0"/>
                <a:ea typeface="맑은 고딕" pitchFamily="34" charset="-122"/>
                <a:cs typeface="맑은 고딕" pitchFamily="34" charset="-120"/>
              </a:rPr>
              <a:t>GitHub · 시연영상 링크는 제출본에 삽입</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① 개발 배경·동기</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재난에서 센서는 반드시 죽는다 — 우리는 그 죽음을 버리지 않는다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508760"/>
            <a:ext cx="11064240" cy="868680"/>
          </a:xfrm>
          <a:prstGeom prst="rect">
            <a:avLst/>
          </a:prstGeom>
          <a:noFill/>
          <a:ln/>
        </p:spPr>
        <p:txBody>
          <a:bodyPr wrap="square" rtlCol="0" anchor="ctr"/>
          <a:lstStyle/>
          <a:p>
            <a:pPr indent="0" marL="0" eaLnBrk="0" hangingPunct="1">
              <a:lnSpc>
                <a:spcPct val="125000"/>
              </a:lnSpc>
              <a:buNone/>
            </a:pPr>
            <a:r>
              <a:rPr lang="en-US" sz="1500" dirty="0">
                <a:solidFill>
                  <a:srgbClr val="1F2421"/>
                </a:solidFill>
                <a:latin typeface="맑은 고딕" pitchFamily="34" charset="0"/>
                <a:ea typeface="맑은 고딕" pitchFamily="34" charset="-122"/>
                <a:cs typeface="맑은 고딕" pitchFamily="34" charset="-120"/>
              </a:rPr>
              <a:t>산불·지진·붕괴 현장에서 센서 노드는 파괴된다. 기존 시스템은 그 죽음을 손실로 처리하고 정보를 버린다. 불사는 죽은 노드의 시각과 좌표에서 불의 방향·속도·도달시각을 읽는다.</a:t>
            </a:r>
            <a:pPr indent="0" marL="0">
              <a:lnSpc>
                <a:spcPct val="125000"/>
              </a:lnSpc>
              <a:buNone/>
            </a:pPr>
            <a:pPr indent="0" marL="0">
              <a:lnSpc>
                <a:spcPct val="125000"/>
              </a:lnSpc>
              <a:buNone/>
            </a:pPr>
            <a:pPr indent="0" marL="0">
              <a:lnSpc>
                <a:spcPct val="125000"/>
              </a:lnSpc>
              <a:buNone/>
            </a:pPr>
            <a:pPr indent="0" marL="0">
              <a:lnSpc>
                <a:spcPct val="125000"/>
              </a:lnSpc>
              <a:buNone/>
            </a:pPr>
            <a:endParaRPr lang="en-US" sz="1500" dirty="0"/>
          </a:p>
        </p:txBody>
      </p:sp>
      <p:sp>
        <p:nvSpPr>
          <p:cNvPr id="18" name="Text 16"/>
          <p:cNvSpPr/>
          <p:nvPr/>
        </p:nvSpPr>
        <p:spPr>
          <a:xfrm>
            <a:off x="548640" y="5257800"/>
            <a:ext cx="11064240" cy="36576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독창성은 응용(산불)이 아니라 아키텍처에 있다 — 고장을 데이터로, 그리고 자가치유로.</a:t>
            </a:r>
            <a:endParaRPr lang="en-US" sz="1300" dirty="0"/>
          </a:p>
        </p:txBody>
      </p:sp>
      <p:sp>
        <p:nvSpPr>
          <p:cNvPr id="19"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0"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a:t>
            </a:r>
            <a:endParaRPr lang="en-US" sz="900" dirty="0"/>
          </a:p>
        </p:txBody>
      </p:sp>
      <p:sp>
        <p:nvSpPr>
          <p:cNvPr id="21" name="Shape 19"/>
          <p:cNvSpPr/>
          <p:nvPr/>
        </p:nvSpPr>
        <p:spPr>
          <a:xfrm>
            <a:off x="10503027" y="6464808"/>
            <a:ext cx="144018" cy="36576"/>
          </a:xfrm>
          <a:prstGeom prst="line">
            <a:avLst/>
          </a:prstGeom>
          <a:noFill/>
          <a:ln w="9525">
            <a:solidFill>
              <a:srgbClr val="E2DCD0"/>
            </a:solidFill>
            <a:prstDash val="solid"/>
          </a:ln>
        </p:spPr>
        <p:txBody>
          <a:bodyPr/>
          <a:p/>
        </p:txBody>
      </p:sp>
      <p:sp>
        <p:nvSpPr>
          <p:cNvPr id="22"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3"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4"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5" name="Shape 23"/>
          <p:cNvSpPr/>
          <p:nvPr/>
        </p:nvSpPr>
        <p:spPr>
          <a:xfrm>
            <a:off x="10882503" y="6451092"/>
            <a:ext cx="162306" cy="41148"/>
          </a:xfrm>
          <a:prstGeom prst="line">
            <a:avLst/>
          </a:prstGeom>
          <a:noFill/>
          <a:ln w="9525">
            <a:solidFill>
              <a:srgbClr val="E2DCD0"/>
            </a:solidFill>
            <a:prstDash val="solid"/>
          </a:ln>
        </p:spPr>
        <p:txBody>
          <a:bodyPr/>
          <a:p/>
        </p:txBody>
      </p:sp>
      <p:sp>
        <p:nvSpPr>
          <p:cNvPr id="26"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7"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8" name="Shape 26"/>
          <p:cNvSpPr/>
          <p:nvPr/>
        </p:nvSpPr>
        <p:spPr>
          <a:xfrm>
            <a:off x="10498455" y="6652260"/>
            <a:ext cx="144018" cy="45720"/>
          </a:xfrm>
          <a:prstGeom prst="line">
            <a:avLst/>
          </a:prstGeom>
          <a:noFill/>
          <a:ln w="9525">
            <a:solidFill>
              <a:srgbClr val="E2DCD0"/>
            </a:solidFill>
            <a:prstDash val="solid"/>
          </a:ln>
        </p:spPr>
        <p:txBody>
          <a:bodyPr/>
          <a:p/>
        </p:txBody>
      </p:sp>
      <p:sp>
        <p:nvSpPr>
          <p:cNvPr id="29"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0" name="Shape 28"/>
          <p:cNvSpPr/>
          <p:nvPr/>
        </p:nvSpPr>
        <p:spPr>
          <a:xfrm>
            <a:off x="10877931" y="6647688"/>
            <a:ext cx="162306" cy="41148"/>
          </a:xfrm>
          <a:prstGeom prst="line">
            <a:avLst/>
          </a:prstGeom>
          <a:noFill/>
          <a:ln w="9525">
            <a:solidFill>
              <a:srgbClr val="E2DCD0"/>
            </a:solidFill>
            <a:prstDash val="solid"/>
          </a:ln>
        </p:spPr>
        <p:txBody>
          <a:bodyPr/>
          <a:p/>
        </p:txBody>
      </p:sp>
      <p:sp>
        <p:nvSpPr>
          <p:cNvPr id="31"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2"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3"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4"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5"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6"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7"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8"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graphicFrame>
        <p:nvGraphicFramePr>
          <p:cNvPr id="39" name="Table 38"/>
          <p:cNvGraphicFramePr>
            <a:graphicFrameLocks noGrp="1"/>
          </p:cNvGraphicFramePr>
          <p:nvPr/>
        </p:nvGraphicFramePr>
        <p:xfrm>
          <a:off x="548640" y="2395728"/>
          <a:ext cx="11091672" cy="2788919"/>
        </p:xfrm>
        <a:graphic>
          <a:graphicData uri="http://schemas.openxmlformats.org/drawingml/2006/table">
            <a:tbl>
              <a:tblPr firstRow="0" bandRow="0" firstCol="0" lastRow="0" lastCol="0"/>
              <a:tblGrid>
                <a:gridCol w="1600200"/>
                <a:gridCol w="9491472"/>
              </a:tblGrid>
              <a:tr h="398417">
                <a:tc>
                  <a:txBody>
                    <a:bodyPr wrap="square"/>
                    <a:lstStyle/>
                    <a:p>
                      <a:pPr algn="l"/>
                      <a:r>
                        <a:rPr sz="1100" b="1">
                          <a:solidFill>
                            <a:srgbClr val="44483F"/>
                          </a:solidFill>
                          <a:latin typeface="맑은 고딕"/>
                        </a:rPr>
                        <a:t>작품명</a:t>
                      </a:r>
                    </a:p>
                  </a:txBody>
                  <a:tcPr anchor="ctr" marL="91440" marR="91440" marT="18288" marB="18288">
                    <a:lnL w="12700">
                      <a:solidFill>
                        <a:srgbClr val="E2DCD0"/>
                      </a:solidFill>
                    </a:lnL>
                    <a:lnR w="12700">
                      <a:solidFill>
                        <a:srgbClr val="E2DCD0"/>
                      </a:solidFill>
                    </a:lnR>
                    <a:lnT w="12700">
                      <a:solidFill>
                        <a:srgbClr val="E2DCD0"/>
                      </a:solidFill>
                    </a:lnT>
                    <a:lnB w="12700">
                      <a:solidFill>
                        <a:srgbClr val="E2DCD0"/>
                      </a:solidFill>
                    </a:lnB>
                    <a:solidFill>
                      <a:srgbClr val="F0ECE2"/>
                    </a:solidFill>
                  </a:tcPr>
                </a:tc>
                <a:tc>
                  <a:txBody>
                    <a:bodyPr wrap="square"/>
                    <a:lstStyle/>
                    <a:p>
                      <a:pPr algn="l"/>
                      <a:r>
                        <a:rPr sz="1000" b="0">
                          <a:solidFill>
                            <a:srgbClr val="1F2421"/>
                          </a:solidFill>
                          <a:latin typeface="맑은 고딕"/>
                        </a:rPr>
                        <a:t>불사(不死) — 고장을 데이터로 바꾸는 자가치유 산불 감시 메시</a:t>
                      </a:r>
                    </a:p>
                  </a:txBody>
                  <a:tcPr anchor="ctr" marL="91440" marR="91440" marT="18288" marB="18288">
                    <a:lnL w="12700">
                      <a:solidFill>
                        <a:srgbClr val="E2DCD0"/>
                      </a:solidFill>
                    </a:lnL>
                    <a:lnR w="12700">
                      <a:solidFill>
                        <a:srgbClr val="E2DCD0"/>
                      </a:solidFill>
                    </a:lnR>
                    <a:lnT w="12700">
                      <a:solidFill>
                        <a:srgbClr val="E2DCD0"/>
                      </a:solidFill>
                    </a:lnT>
                    <a:lnB w="12700">
                      <a:solidFill>
                        <a:srgbClr val="E2DCD0"/>
                      </a:solidFill>
                    </a:lnB>
                    <a:solidFill>
                      <a:srgbClr val="FDFCF8"/>
                    </a:solidFill>
                  </a:tcPr>
                </a:tc>
              </a:tr>
              <a:tr h="398417">
                <a:tc>
                  <a:txBody>
                    <a:bodyPr wrap="square"/>
                    <a:lstStyle/>
                    <a:p>
                      <a:pPr algn="l"/>
                      <a:r>
                        <a:rPr sz="1100" b="1">
                          <a:solidFill>
                            <a:srgbClr val="44483F"/>
                          </a:solidFill>
                          <a:latin typeface="맑은 고딕"/>
                        </a:rPr>
                        <a:t>개발 배경</a:t>
                      </a:r>
                    </a:p>
                  </a:txBody>
                  <a:tcPr anchor="ctr" marL="91440" marR="91440" marT="18288" marB="18288">
                    <a:lnL w="12700">
                      <a:solidFill>
                        <a:srgbClr val="E2DCD0"/>
                      </a:solidFill>
                    </a:lnL>
                    <a:lnR w="12700">
                      <a:solidFill>
                        <a:srgbClr val="E2DCD0"/>
                      </a:solidFill>
                    </a:lnR>
                    <a:lnT w="12700">
                      <a:solidFill>
                        <a:srgbClr val="E2DCD0"/>
                      </a:solidFill>
                    </a:lnT>
                    <a:lnB w="12700">
                      <a:solidFill>
                        <a:srgbClr val="E2DCD0"/>
                      </a:solidFill>
                    </a:lnB>
                    <a:solidFill>
                      <a:srgbClr val="F0ECE2"/>
                    </a:solidFill>
                  </a:tcPr>
                </a:tc>
                <a:tc>
                  <a:txBody>
                    <a:bodyPr wrap="square"/>
                    <a:lstStyle/>
                    <a:p>
                      <a:pPr algn="l"/>
                      <a:r>
                        <a:rPr sz="1000" b="0">
                          <a:solidFill>
                            <a:srgbClr val="1F2421"/>
                          </a:solidFill>
                          <a:latin typeface="맑은 고딕"/>
                        </a:rPr>
                        <a:t>재난 현장에서 센서 노드의 파괴는 예외가 아니라 필연이다. 기존 메시는 죽은 노드를 우회할 뿐, 그 죽음에 담긴 정보를 버린다.</a:t>
                      </a:r>
                    </a:p>
                  </a:txBody>
                  <a:tcPr anchor="ctr" marL="91440" marR="91440" marT="18288" marB="18288">
                    <a:lnL w="12700">
                      <a:solidFill>
                        <a:srgbClr val="E2DCD0"/>
                      </a:solidFill>
                    </a:lnL>
                    <a:lnR w="12700">
                      <a:solidFill>
                        <a:srgbClr val="E2DCD0"/>
                      </a:solidFill>
                    </a:lnR>
                    <a:lnT w="12700">
                      <a:solidFill>
                        <a:srgbClr val="E2DCD0"/>
                      </a:solidFill>
                    </a:lnT>
                    <a:lnB w="12700">
                      <a:solidFill>
                        <a:srgbClr val="E2DCD0"/>
                      </a:solidFill>
                    </a:lnB>
                    <a:solidFill>
                      <a:srgbClr val="FDFCF8"/>
                    </a:solidFill>
                  </a:tcPr>
                </a:tc>
              </a:tr>
              <a:tr h="398417">
                <a:tc>
                  <a:txBody>
                    <a:bodyPr wrap="square"/>
                    <a:lstStyle/>
                    <a:p>
                      <a:pPr algn="l"/>
                      <a:r>
                        <a:rPr sz="1100" b="1">
                          <a:solidFill>
                            <a:srgbClr val="44483F"/>
                          </a:solidFill>
                          <a:latin typeface="맑은 고딕"/>
                        </a:rPr>
                        <a:t>동기</a:t>
                      </a:r>
                    </a:p>
                  </a:txBody>
                  <a:tcPr anchor="ctr" marL="91440" marR="91440" marT="18288" marB="18288">
                    <a:lnL w="12700">
                      <a:solidFill>
                        <a:srgbClr val="E2DCD0"/>
                      </a:solidFill>
                    </a:lnL>
                    <a:lnR w="12700">
                      <a:solidFill>
                        <a:srgbClr val="E2DCD0"/>
                      </a:solidFill>
                    </a:lnR>
                    <a:lnT w="12700">
                      <a:solidFill>
                        <a:srgbClr val="E2DCD0"/>
                      </a:solidFill>
                    </a:lnT>
                    <a:lnB w="12700">
                      <a:solidFill>
                        <a:srgbClr val="E2DCD0"/>
                      </a:solidFill>
                    </a:lnB>
                    <a:solidFill>
                      <a:srgbClr val="F0ECE2"/>
                    </a:solidFill>
                  </a:tcPr>
                </a:tc>
                <a:tc>
                  <a:txBody>
                    <a:bodyPr wrap="square"/>
                    <a:lstStyle/>
                    <a:p>
                      <a:pPr algn="l"/>
                      <a:r>
                        <a:rPr sz="1000" b="0">
                          <a:solidFill>
                            <a:srgbClr val="1F2421"/>
                          </a:solidFill>
                          <a:latin typeface="맑은 고딕"/>
                        </a:rPr>
                        <a:t>대형 산불 대응 현장에서 지상의 실시간 화선 정보가 없어 판단이 늦어지는 국면을 보았다. 위성은 광역 개요만, 드론은 상공·간헐적이라 연기와 수목 아래 지표 화선의 초 단위 변화를 놓친다.</a:t>
                      </a:r>
                    </a:p>
                  </a:txBody>
                  <a:tcPr anchor="ctr" marL="91440" marR="91440" marT="18288" marB="18288">
                    <a:lnL w="12700">
                      <a:solidFill>
                        <a:srgbClr val="E2DCD0"/>
                      </a:solidFill>
                    </a:lnL>
                    <a:lnR w="12700">
                      <a:solidFill>
                        <a:srgbClr val="E2DCD0"/>
                      </a:solidFill>
                    </a:lnR>
                    <a:lnT w="12700">
                      <a:solidFill>
                        <a:srgbClr val="E2DCD0"/>
                      </a:solidFill>
                    </a:lnT>
                    <a:lnB w="12700">
                      <a:solidFill>
                        <a:srgbClr val="E2DCD0"/>
                      </a:solidFill>
                    </a:lnB>
                    <a:solidFill>
                      <a:srgbClr val="FDFCF8"/>
                    </a:solidFill>
                  </a:tcPr>
                </a:tc>
              </a:tr>
              <a:tr h="398417">
                <a:tc>
                  <a:txBody>
                    <a:bodyPr wrap="square"/>
                    <a:lstStyle/>
                    <a:p>
                      <a:pPr algn="l"/>
                      <a:r>
                        <a:rPr sz="1100" b="1">
                          <a:solidFill>
                            <a:srgbClr val="44483F"/>
                          </a:solidFill>
                          <a:latin typeface="맑은 고딕"/>
                        </a:rPr>
                        <a:t>목표</a:t>
                      </a:r>
                    </a:p>
                  </a:txBody>
                  <a:tcPr anchor="ctr" marL="91440" marR="91440" marT="18288" marB="18288">
                    <a:lnL w="12700">
                      <a:solidFill>
                        <a:srgbClr val="E2DCD0"/>
                      </a:solidFill>
                    </a:lnL>
                    <a:lnR w="12700">
                      <a:solidFill>
                        <a:srgbClr val="E2DCD0"/>
                      </a:solidFill>
                    </a:lnR>
                    <a:lnT w="12700">
                      <a:solidFill>
                        <a:srgbClr val="E2DCD0"/>
                      </a:solidFill>
                    </a:lnT>
                    <a:lnB w="12700">
                      <a:solidFill>
                        <a:srgbClr val="E2DCD0"/>
                      </a:solidFill>
                    </a:lnB>
                    <a:solidFill>
                      <a:srgbClr val="F0ECE2"/>
                    </a:solidFill>
                  </a:tcPr>
                </a:tc>
                <a:tc>
                  <a:txBody>
                    <a:bodyPr wrap="square"/>
                    <a:lstStyle/>
                    <a:p>
                      <a:pPr algn="l"/>
                      <a:r>
                        <a:rPr sz="1000" b="0">
                          <a:solidFill>
                            <a:srgbClr val="1F2421"/>
                          </a:solidFill>
                          <a:latin typeface="맑은 고딕"/>
                        </a:rPr>
                        <a:t>① 교차검증된 ‘죽음’을 확정 신호로 모아, 죽은 노드의 좌표와 시각에서 화선의 방향·속도·도달시각을 추정한다.</a:t>
                      </a:r>
                      <a:br/>
                      <a:r>
                        <a:rPr sz="1000" b="0">
                          <a:solidFill>
                            <a:srgbClr val="1F2421"/>
                          </a:solidFill>
                          <a:latin typeface="맑은 고딕"/>
                        </a:rPr>
                        <a:t>② 경로가 끊겨도 남은 노드가 우회로를 다시 짜 관측을 지속한다.</a:t>
                      </a:r>
                    </a:p>
                  </a:txBody>
                  <a:tcPr anchor="ctr" marL="91440" marR="91440" marT="18288" marB="18288">
                    <a:lnL w="12700">
                      <a:solidFill>
                        <a:srgbClr val="E2DCD0"/>
                      </a:solidFill>
                    </a:lnL>
                    <a:lnR w="12700">
                      <a:solidFill>
                        <a:srgbClr val="E2DCD0"/>
                      </a:solidFill>
                    </a:lnR>
                    <a:lnT w="12700">
                      <a:solidFill>
                        <a:srgbClr val="E2DCD0"/>
                      </a:solidFill>
                    </a:lnT>
                    <a:lnB w="12700">
                      <a:solidFill>
                        <a:srgbClr val="E2DCD0"/>
                      </a:solidFill>
                    </a:lnB>
                    <a:solidFill>
                      <a:srgbClr val="FDFCF8"/>
                    </a:solidFill>
                  </a:tcPr>
                </a:tc>
              </a:tr>
              <a:tr h="398417">
                <a:tc>
                  <a:txBody>
                    <a:bodyPr wrap="square"/>
                    <a:lstStyle/>
                    <a:p>
                      <a:pPr algn="l"/>
                      <a:r>
                        <a:rPr sz="1100" b="1">
                          <a:solidFill>
                            <a:srgbClr val="44483F"/>
                          </a:solidFill>
                          <a:latin typeface="맑은 고딕"/>
                        </a:rPr>
                        <a:t>필요성</a:t>
                      </a:r>
                    </a:p>
                  </a:txBody>
                  <a:tcPr anchor="ctr" marL="91440" marR="91440" marT="18288" marB="18288">
                    <a:lnL w="12700">
                      <a:solidFill>
                        <a:srgbClr val="E2DCD0"/>
                      </a:solidFill>
                    </a:lnL>
                    <a:lnR w="12700">
                      <a:solidFill>
                        <a:srgbClr val="E2DCD0"/>
                      </a:solidFill>
                    </a:lnR>
                    <a:lnT w="12700">
                      <a:solidFill>
                        <a:srgbClr val="E2DCD0"/>
                      </a:solidFill>
                    </a:lnT>
                    <a:lnB w="12700">
                      <a:solidFill>
                        <a:srgbClr val="E2DCD0"/>
                      </a:solidFill>
                    </a:lnB>
                    <a:solidFill>
                      <a:srgbClr val="F0ECE2"/>
                    </a:solidFill>
                  </a:tcPr>
                </a:tc>
                <a:tc>
                  <a:txBody>
                    <a:bodyPr wrap="square"/>
                    <a:lstStyle/>
                    <a:p>
                      <a:pPr algn="l"/>
                      <a:r>
                        <a:rPr sz="1000" b="0">
                          <a:solidFill>
                            <a:srgbClr val="1F2421"/>
                          </a:solidFill>
                          <a:latin typeface="맑은 고딕"/>
                        </a:rPr>
                        <a:t>지상에서 화선을 실측하는 저가 레이어가 없다. 노드 1대 부품비가 1.2만 원(데모 구성 기준)이라, 타 죽는 것을 전제로 촘촘히 깔 수 있다.</a:t>
                      </a:r>
                    </a:p>
                  </a:txBody>
                  <a:tcPr anchor="ctr" marL="91440" marR="91440" marT="18288" marB="18288">
                    <a:lnL w="12700">
                      <a:solidFill>
                        <a:srgbClr val="E2DCD0"/>
                      </a:solidFill>
                    </a:lnL>
                    <a:lnR w="12700">
                      <a:solidFill>
                        <a:srgbClr val="E2DCD0"/>
                      </a:solidFill>
                    </a:lnR>
                    <a:lnT w="12700">
                      <a:solidFill>
                        <a:srgbClr val="E2DCD0"/>
                      </a:solidFill>
                    </a:lnT>
                    <a:lnB w="12700">
                      <a:solidFill>
                        <a:srgbClr val="E2DCD0"/>
                      </a:solidFill>
                    </a:lnB>
                    <a:solidFill>
                      <a:srgbClr val="FDFCF8"/>
                    </a:solidFill>
                  </a:tcPr>
                </a:tc>
              </a:tr>
              <a:tr h="398417">
                <a:tc>
                  <a:txBody>
                    <a:bodyPr wrap="square"/>
                    <a:lstStyle/>
                    <a:p>
                      <a:pPr algn="l"/>
                      <a:r>
                        <a:rPr sz="1100" b="1">
                          <a:solidFill>
                            <a:srgbClr val="44483F"/>
                          </a:solidFill>
                          <a:latin typeface="맑은 고딕"/>
                        </a:rPr>
                        <a:t>소스코드</a:t>
                      </a:r>
                    </a:p>
                  </a:txBody>
                  <a:tcPr anchor="ctr" marL="91440" marR="91440" marT="18288" marB="18288">
                    <a:lnL w="12700">
                      <a:solidFill>
                        <a:srgbClr val="E2DCD0"/>
                      </a:solidFill>
                    </a:lnL>
                    <a:lnR w="12700">
                      <a:solidFill>
                        <a:srgbClr val="E2DCD0"/>
                      </a:solidFill>
                    </a:lnR>
                    <a:lnT w="12700">
                      <a:solidFill>
                        <a:srgbClr val="E2DCD0"/>
                      </a:solidFill>
                    </a:lnT>
                    <a:lnB w="12700">
                      <a:solidFill>
                        <a:srgbClr val="E2DCD0"/>
                      </a:solidFill>
                    </a:lnB>
                    <a:solidFill>
                      <a:srgbClr val="F0ECE2"/>
                    </a:solidFill>
                  </a:tcPr>
                </a:tc>
                <a:tc>
                  <a:txBody>
                    <a:bodyPr wrap="square"/>
                    <a:lstStyle/>
                    <a:p>
                      <a:pPr algn="l"/>
                      <a:r>
                        <a:rPr sz="1000" b="0" i="1">
                          <a:solidFill>
                            <a:srgbClr val="6B6E6A"/>
                          </a:solidFill>
                          <a:latin typeface="맑은 고딕"/>
                        </a:rPr>
                        <a:t>(URL 확보 후 삽입)</a:t>
                      </a:r>
                    </a:p>
                  </a:txBody>
                  <a:tcPr anchor="ctr" marL="91440" marR="91440" marT="18288" marB="18288">
                    <a:lnL w="12700">
                      <a:solidFill>
                        <a:srgbClr val="E2DCD0"/>
                      </a:solidFill>
                    </a:lnL>
                    <a:lnR w="12700">
                      <a:solidFill>
                        <a:srgbClr val="E2DCD0"/>
                      </a:solidFill>
                    </a:lnR>
                    <a:lnT w="12700">
                      <a:solidFill>
                        <a:srgbClr val="E2DCD0"/>
                      </a:solidFill>
                    </a:lnT>
                    <a:lnB w="12700">
                      <a:solidFill>
                        <a:srgbClr val="E2DCD0"/>
                      </a:solidFill>
                    </a:lnB>
                    <a:solidFill>
                      <a:srgbClr val="FDFCF8"/>
                    </a:solidFill>
                  </a:tcPr>
                </a:tc>
              </a:tr>
              <a:tr h="398417">
                <a:tc>
                  <a:txBody>
                    <a:bodyPr wrap="square"/>
                    <a:lstStyle/>
                    <a:p>
                      <a:pPr algn="l"/>
                      <a:r>
                        <a:rPr sz="1100" b="1">
                          <a:solidFill>
                            <a:srgbClr val="44483F"/>
                          </a:solidFill>
                          <a:latin typeface="맑은 고딕"/>
                        </a:rPr>
                        <a:t>시연 동영상</a:t>
                      </a:r>
                    </a:p>
                  </a:txBody>
                  <a:tcPr anchor="ctr" marL="91440" marR="91440" marT="18288" marB="18288">
                    <a:lnL w="12700">
                      <a:solidFill>
                        <a:srgbClr val="E2DCD0"/>
                      </a:solidFill>
                    </a:lnL>
                    <a:lnR w="12700">
                      <a:solidFill>
                        <a:srgbClr val="E2DCD0"/>
                      </a:solidFill>
                    </a:lnR>
                    <a:lnT w="12700">
                      <a:solidFill>
                        <a:srgbClr val="E2DCD0"/>
                      </a:solidFill>
                    </a:lnT>
                    <a:lnB w="12700">
                      <a:solidFill>
                        <a:srgbClr val="E2DCD0"/>
                      </a:solidFill>
                    </a:lnB>
                    <a:solidFill>
                      <a:srgbClr val="F0ECE2"/>
                    </a:solidFill>
                  </a:tcPr>
                </a:tc>
                <a:tc>
                  <a:txBody>
                    <a:bodyPr wrap="square"/>
                    <a:lstStyle/>
                    <a:p>
                      <a:pPr algn="l"/>
                      <a:r>
                        <a:rPr sz="1000" b="0" i="1">
                          <a:solidFill>
                            <a:srgbClr val="6B6E6A"/>
                          </a:solidFill>
                          <a:latin typeface="맑은 고딕"/>
                        </a:rPr>
                        <a:t>(URL 확보 후 삽입)</a:t>
                      </a:r>
                    </a:p>
                  </a:txBody>
                  <a:tcPr anchor="ctr" marL="91440" marR="91440" marT="18288" marB="18288">
                    <a:lnL w="12700">
                      <a:solidFill>
                        <a:srgbClr val="E2DCD0"/>
                      </a:solidFill>
                    </a:lnL>
                    <a:lnR w="12700">
                      <a:solidFill>
                        <a:srgbClr val="E2DCD0"/>
                      </a:solidFill>
                    </a:lnR>
                    <a:lnT w="12700">
                      <a:solidFill>
                        <a:srgbClr val="E2DCD0"/>
                      </a:solidFill>
                    </a:lnT>
                    <a:lnB w="12700">
                      <a:solidFill>
                        <a:srgbClr val="E2DCD0"/>
                      </a:solidFill>
                    </a:lnB>
                    <a:solidFill>
                      <a:srgbClr val="FDFCF8"/>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② 문제 정의</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상공은 지표 화선을 못 본다 — 그 공백이 판단을 늦춘다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무엇이 안 보이나</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연기와 수목 캐노피 아래에서 실제로 번지는 지표 화선(fire front)의 위치·방향·속도. 위성은 광역 개요만, 드론은 상공·간헐적이라 초 단위 국지 변화를 놓친다.</a:t>
            </a:r>
            <a:endParaRPr lang="en-US" sz="1200" dirty="0"/>
          </a:p>
        </p:txBody>
      </p:sp>
      <p:sp>
        <p:nvSpPr>
          <p:cNvPr id="9" name="Shape 7"/>
          <p:cNvSpPr/>
          <p:nvPr/>
        </p:nvSpPr>
        <p:spPr>
          <a:xfrm>
            <a:off x="6153912" y="1508760"/>
            <a:ext cx="5477256" cy="2103120"/>
          </a:xfrm>
          <a:prstGeom prst="roundRect">
            <a:avLst>
              <a:gd name="adj" fmla="val 2609"/>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왜 치명적인가</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진화 지휘부의 자원 배치와 최전선 대원의 대피 타이밍이 바로 이 정보에 달려 있다. 공백이 곧 인명·재산 피해로 이어진다.</a:t>
            </a:r>
            <a:endParaRPr lang="en-US" sz="1200" dirty="0"/>
          </a:p>
        </p:txBody>
      </p:sp>
      <p:sp>
        <p:nvSpPr>
          <p:cNvPr id="13" name="Text 11"/>
          <p:cNvSpPr/>
          <p:nvPr/>
        </p:nvSpPr>
        <p:spPr>
          <a:xfrm>
            <a:off x="548640" y="3886200"/>
            <a:ext cx="10972800" cy="32004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현장 동기 (2025 의성 산불)</a:t>
            </a:r>
            <a:endParaRPr lang="en-US" sz="1300" dirty="0"/>
          </a:p>
        </p:txBody>
      </p:sp>
      <p:sp>
        <p:nvSpPr>
          <p:cNvPr id="14" name="Shape 12"/>
          <p:cNvSpPr/>
          <p:nvPr/>
        </p:nvSpPr>
        <p:spPr>
          <a:xfrm>
            <a:off x="548640" y="4224528"/>
            <a:ext cx="502920" cy="0"/>
          </a:xfrm>
          <a:prstGeom prst="line">
            <a:avLst/>
          </a:prstGeom>
          <a:noFill/>
          <a:ln w="25400">
            <a:solidFill>
              <a:srgbClr val="D35400"/>
            </a:solidFill>
            <a:prstDash val="solid"/>
          </a:ln>
        </p:spPr>
        <p:txBody>
          <a:bodyPr/>
          <a:p/>
        </p:txBody>
      </p:sp>
      <p:sp>
        <p:nvSpPr>
          <p:cNvPr id="15" name="Text 13"/>
          <p:cNvSpPr/>
          <p:nvPr/>
        </p:nvSpPr>
        <p:spPr>
          <a:xfrm>
            <a:off x="548640" y="4343400"/>
            <a:ext cx="11064240" cy="822960"/>
          </a:xfrm>
          <a:prstGeom prst="rect">
            <a:avLst/>
          </a:prstGeom>
          <a:noFill/>
          <a:ln/>
        </p:spPr>
        <p:txBody>
          <a:bodyPr wrap="square" rtlCol="0" anchor="ctr"/>
          <a:lstStyle/>
          <a:p>
            <a:pPr indent="0" marL="0" eaLnBrk="0" hangingPunct="1">
              <a:lnSpc>
                <a:spcPct val="125000"/>
              </a:lnSpc>
              <a:buNone/>
            </a:pPr>
            <a:r>
              <a:rPr lang="en-US" sz="1250" dirty="0">
                <a:solidFill>
                  <a:srgbClr val="44483F"/>
                </a:solidFill>
                <a:latin typeface="맑은 고딕" pitchFamily="34" charset="0"/>
                <a:ea typeface="맑은 고딕" pitchFamily="34" charset="-122"/>
                <a:cs typeface="맑은 고딕" pitchFamily="34" charset="-120"/>
              </a:rPr>
              <a:t>2025년 의성 산불에 군 복무 중 지원 인력으로 출동했다. 지상 현장에는 화선이</a:t>
            </a:r>
            <a:br/>
            <a:r>
              <a:rPr lang="en-US" sz="1250" dirty="0">
                <a:solidFill>
                  <a:srgbClr val="44483F"/>
                </a:solidFill>
                <a:latin typeface="맑은 고딕" pitchFamily="34" charset="0"/>
                <a:ea typeface="맑은 고딕" pitchFamily="34" charset="-122"/>
                <a:cs typeface="맑은 고딕" pitchFamily="34" charset="-120"/>
              </a:rPr>
              <a:t>어디까지 왔는지 실시간으로 알려주는 수단이 없었다. 그 공백에서 이 프로젝트가 시작됐다.</a:t>
            </a:r>
            <a:endParaRPr lang="en-US" sz="1250" dirty="0"/>
          </a:p>
        </p:txBody>
      </p:sp>
      <p:sp>
        <p:nvSpPr>
          <p:cNvPr id="16" name="Text 14"/>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5"/>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2</a:t>
            </a:r>
            <a:endParaRPr lang="en-US" sz="900" dirty="0"/>
          </a:p>
        </p:txBody>
      </p:sp>
      <p:sp>
        <p:nvSpPr>
          <p:cNvPr id="18" name="Shape 16"/>
          <p:cNvSpPr/>
          <p:nvPr/>
        </p:nvSpPr>
        <p:spPr>
          <a:xfrm>
            <a:off x="10503027" y="6464808"/>
            <a:ext cx="144018" cy="36576"/>
          </a:xfrm>
          <a:prstGeom prst="line">
            <a:avLst/>
          </a:prstGeom>
          <a:noFill/>
          <a:ln w="9525">
            <a:solidFill>
              <a:srgbClr val="E2DCD0"/>
            </a:solidFill>
            <a:prstDash val="solid"/>
          </a:ln>
        </p:spPr>
        <p:txBody>
          <a:bodyPr/>
          <a:p/>
        </p:txBody>
      </p:sp>
      <p:sp>
        <p:nvSpPr>
          <p:cNvPr id="19" name="Shape 17"/>
          <p:cNvSpPr/>
          <p:nvPr/>
        </p:nvSpPr>
        <p:spPr>
          <a:xfrm flipH="1">
            <a:off x="10498455" y="6464808"/>
            <a:ext cx="4572" cy="187452"/>
          </a:xfrm>
          <a:prstGeom prst="line">
            <a:avLst/>
          </a:prstGeom>
          <a:noFill/>
          <a:ln w="9525">
            <a:solidFill>
              <a:srgbClr val="E2DCD0"/>
            </a:solidFill>
            <a:prstDash val="solid"/>
          </a:ln>
        </p:spPr>
        <p:txBody>
          <a:bodyPr/>
          <a:p/>
        </p:txBody>
      </p:sp>
      <p:sp>
        <p:nvSpPr>
          <p:cNvPr id="20" name="Shape 18"/>
          <p:cNvSpPr/>
          <p:nvPr/>
        </p:nvSpPr>
        <p:spPr>
          <a:xfrm flipV="1">
            <a:off x="10647045" y="6451092"/>
            <a:ext cx="235458" cy="50292"/>
          </a:xfrm>
          <a:prstGeom prst="line">
            <a:avLst/>
          </a:prstGeom>
          <a:noFill/>
          <a:ln w="9525">
            <a:solidFill>
              <a:srgbClr val="E2DCD0"/>
            </a:solidFill>
            <a:prstDash val="solid"/>
          </a:ln>
        </p:spPr>
        <p:txBody>
          <a:bodyPr/>
          <a:p/>
        </p:txBody>
      </p:sp>
      <p:sp>
        <p:nvSpPr>
          <p:cNvPr id="21" name="Shape 19"/>
          <p:cNvSpPr/>
          <p:nvPr/>
        </p:nvSpPr>
        <p:spPr>
          <a:xfrm flipH="1">
            <a:off x="10642473" y="6501384"/>
            <a:ext cx="4572" cy="196596"/>
          </a:xfrm>
          <a:prstGeom prst="line">
            <a:avLst/>
          </a:prstGeom>
          <a:noFill/>
          <a:ln w="9525">
            <a:solidFill>
              <a:srgbClr val="E2DCD0"/>
            </a:solidFill>
            <a:prstDash val="solid"/>
          </a:ln>
        </p:spPr>
        <p:txBody>
          <a:bodyPr/>
          <a:p/>
        </p:txBody>
      </p:sp>
      <p:sp>
        <p:nvSpPr>
          <p:cNvPr id="22" name="Shape 20"/>
          <p:cNvSpPr/>
          <p:nvPr/>
        </p:nvSpPr>
        <p:spPr>
          <a:xfrm>
            <a:off x="10882503" y="6451092"/>
            <a:ext cx="162306" cy="41148"/>
          </a:xfrm>
          <a:prstGeom prst="line">
            <a:avLst/>
          </a:prstGeom>
          <a:noFill/>
          <a:ln w="9525">
            <a:solidFill>
              <a:srgbClr val="E2DCD0"/>
            </a:solidFill>
            <a:prstDash val="solid"/>
          </a:ln>
        </p:spPr>
        <p:txBody>
          <a:bodyPr/>
          <a:p/>
        </p:txBody>
      </p:sp>
      <p:sp>
        <p:nvSpPr>
          <p:cNvPr id="23" name="Shape 21"/>
          <p:cNvSpPr/>
          <p:nvPr/>
        </p:nvSpPr>
        <p:spPr>
          <a:xfrm flipH="1">
            <a:off x="10877931" y="6451092"/>
            <a:ext cx="4572" cy="196596"/>
          </a:xfrm>
          <a:prstGeom prst="line">
            <a:avLst/>
          </a:prstGeom>
          <a:noFill/>
          <a:ln w="9525">
            <a:solidFill>
              <a:srgbClr val="E2DCD0"/>
            </a:solidFill>
            <a:prstDash val="solid"/>
          </a:ln>
        </p:spPr>
        <p:txBody>
          <a:bodyPr/>
          <a:p/>
        </p:txBody>
      </p:sp>
      <p:sp>
        <p:nvSpPr>
          <p:cNvPr id="24" name="Shape 22"/>
          <p:cNvSpPr/>
          <p:nvPr/>
        </p:nvSpPr>
        <p:spPr>
          <a:xfrm flipH="1">
            <a:off x="11040237" y="6492240"/>
            <a:ext cx="4572" cy="196596"/>
          </a:xfrm>
          <a:prstGeom prst="line">
            <a:avLst/>
          </a:prstGeom>
          <a:noFill/>
          <a:ln w="9525">
            <a:solidFill>
              <a:srgbClr val="E2DCD0"/>
            </a:solidFill>
            <a:prstDash val="solid"/>
          </a:ln>
        </p:spPr>
        <p:txBody>
          <a:bodyPr/>
          <a:p/>
        </p:txBody>
      </p:sp>
      <p:sp>
        <p:nvSpPr>
          <p:cNvPr id="25" name="Shape 23"/>
          <p:cNvSpPr/>
          <p:nvPr/>
        </p:nvSpPr>
        <p:spPr>
          <a:xfrm>
            <a:off x="10498455" y="6652260"/>
            <a:ext cx="144018" cy="45720"/>
          </a:xfrm>
          <a:prstGeom prst="line">
            <a:avLst/>
          </a:prstGeom>
          <a:noFill/>
          <a:ln w="9525">
            <a:solidFill>
              <a:srgbClr val="E2DCD0"/>
            </a:solidFill>
            <a:prstDash val="solid"/>
          </a:ln>
        </p:spPr>
        <p:txBody>
          <a:bodyPr/>
          <a:p/>
        </p:txBody>
      </p:sp>
      <p:sp>
        <p:nvSpPr>
          <p:cNvPr id="26" name="Shape 24"/>
          <p:cNvSpPr/>
          <p:nvPr/>
        </p:nvSpPr>
        <p:spPr>
          <a:xfrm flipV="1">
            <a:off x="10642473" y="6647688"/>
            <a:ext cx="235458" cy="50292"/>
          </a:xfrm>
          <a:prstGeom prst="line">
            <a:avLst/>
          </a:prstGeom>
          <a:noFill/>
          <a:ln w="9525">
            <a:solidFill>
              <a:srgbClr val="E2DCD0"/>
            </a:solidFill>
            <a:prstDash val="solid"/>
          </a:ln>
        </p:spPr>
        <p:txBody>
          <a:bodyPr/>
          <a:p/>
        </p:txBody>
      </p:sp>
      <p:sp>
        <p:nvSpPr>
          <p:cNvPr id="27" name="Shape 25"/>
          <p:cNvSpPr/>
          <p:nvPr/>
        </p:nvSpPr>
        <p:spPr>
          <a:xfrm>
            <a:off x="10877931" y="6647688"/>
            <a:ext cx="162306" cy="41148"/>
          </a:xfrm>
          <a:prstGeom prst="line">
            <a:avLst/>
          </a:prstGeom>
          <a:noFill/>
          <a:ln w="9525">
            <a:solidFill>
              <a:srgbClr val="E2DCD0"/>
            </a:solidFill>
            <a:prstDash val="solid"/>
          </a:ln>
        </p:spPr>
        <p:txBody>
          <a:bodyPr/>
          <a:p/>
        </p:txBody>
      </p:sp>
      <p:sp>
        <p:nvSpPr>
          <p:cNvPr id="28" name="Shape 2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3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4"/>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동기는 삽화로만 · 근거는 일반 산불대응 공백</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③ 개발 목표·핵심 아이디어</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죽은 시각이 곧 불이 도착한 시각이다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640080" y="1737360"/>
            <a:ext cx="3108960" cy="1051560"/>
          </a:xfrm>
          <a:prstGeom prst="roundRect">
            <a:avLst>
              <a:gd name="adj" fmla="val 6957"/>
            </a:avLst>
          </a:prstGeom>
          <a:solidFill>
            <a:srgbClr val="FBEFE2"/>
          </a:solidFill>
          <a:ln w="15875">
            <a:solidFill>
              <a:srgbClr val="E2DCD0"/>
            </a:solidFill>
            <a:prstDash val="solid"/>
          </a:ln>
        </p:spPr>
        <p:txBody>
          <a:bodyPr/>
          <a:p/>
        </p:txBody>
      </p:sp>
      <p:sp>
        <p:nvSpPr>
          <p:cNvPr id="6" name="Text 4"/>
          <p:cNvSpPr/>
          <p:nvPr/>
        </p:nvSpPr>
        <p:spPr>
          <a:xfrm>
            <a:off x="640080" y="1952244"/>
            <a:ext cx="3108960" cy="365760"/>
          </a:xfrm>
          <a:prstGeom prst="rect">
            <a:avLst/>
          </a:prstGeom>
          <a:noFill/>
          <a:ln/>
        </p:spPr>
        <p:txBody>
          <a:bodyPr wrap="square" rtlCol="0" anchor="ctr"/>
          <a:lstStyle/>
          <a:p>
            <a:pPr algn="ctr" indent="0" marL="0" eaLnBrk="0" hangingPunct="1">
              <a:buNone/>
            </a:pPr>
            <a:r>
              <a:rPr lang="en-US" sz="1350" b="1" dirty="0">
                <a:solidFill>
                  <a:srgbClr val="D35400"/>
                </a:solidFill>
                <a:latin typeface="맑은 고딕" pitchFamily="34" charset="0"/>
                <a:ea typeface="맑은 고딕" pitchFamily="34" charset="-122"/>
                <a:cs typeface="맑은 고딕" pitchFamily="34" charset="-120"/>
              </a:rPr>
              <a:t>① 노드 파괴</a:t>
            </a:r>
            <a:endParaRPr lang="en-US" sz="1350" dirty="0"/>
          </a:p>
        </p:txBody>
      </p:sp>
      <p:sp>
        <p:nvSpPr>
          <p:cNvPr id="7" name="Text 5"/>
          <p:cNvSpPr/>
          <p:nvPr/>
        </p:nvSpPr>
        <p:spPr>
          <a:xfrm>
            <a:off x="640080" y="2281428"/>
            <a:ext cx="310896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불에 타 죽는 순간</a:t>
            </a:r>
            <a:endParaRPr lang="en-US" sz="1000" dirty="0"/>
          </a:p>
        </p:txBody>
      </p:sp>
      <p:sp>
        <p:nvSpPr>
          <p:cNvPr id="8" name="Shape 6"/>
          <p:cNvSpPr/>
          <p:nvPr/>
        </p:nvSpPr>
        <p:spPr>
          <a:xfrm>
            <a:off x="3840480" y="2258568"/>
            <a:ext cx="685800" cy="0"/>
          </a:xfrm>
          <a:prstGeom prst="line">
            <a:avLst/>
          </a:prstGeom>
          <a:noFill/>
          <a:ln w="25400">
            <a:solidFill>
              <a:srgbClr val="D35400"/>
            </a:solidFill>
            <a:prstDash val="solid"/>
            <a:tailEnd type="triangle"/>
          </a:ln>
        </p:spPr>
        <p:txBody>
          <a:bodyPr/>
          <a:p/>
        </p:txBody>
      </p:sp>
      <p:sp>
        <p:nvSpPr>
          <p:cNvPr id="9" name="Shape 7"/>
          <p:cNvSpPr/>
          <p:nvPr/>
        </p:nvSpPr>
        <p:spPr>
          <a:xfrm>
            <a:off x="4617720" y="1737360"/>
            <a:ext cx="3108960" cy="1051560"/>
          </a:xfrm>
          <a:prstGeom prst="roundRect">
            <a:avLst>
              <a:gd name="adj" fmla="val 6957"/>
            </a:avLst>
          </a:prstGeom>
          <a:solidFill>
            <a:srgbClr val="FFFFFF"/>
          </a:solidFill>
          <a:ln w="15875">
            <a:solidFill>
              <a:srgbClr val="E2DCD0"/>
            </a:solidFill>
            <a:prstDash val="solid"/>
          </a:ln>
        </p:spPr>
        <p:txBody>
          <a:bodyPr/>
          <a:p/>
        </p:txBody>
      </p:sp>
      <p:sp>
        <p:nvSpPr>
          <p:cNvPr id="10" name="Text 8"/>
          <p:cNvSpPr/>
          <p:nvPr/>
        </p:nvSpPr>
        <p:spPr>
          <a:xfrm>
            <a:off x="4617720" y="1952244"/>
            <a:ext cx="310896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② 죽은 시각·좌표</a:t>
            </a:r>
            <a:endParaRPr lang="en-US" sz="1350" dirty="0"/>
          </a:p>
        </p:txBody>
      </p:sp>
      <p:sp>
        <p:nvSpPr>
          <p:cNvPr id="11" name="Text 9"/>
          <p:cNvSpPr/>
          <p:nvPr/>
        </p:nvSpPr>
        <p:spPr>
          <a:xfrm>
            <a:off x="4617720" y="2281428"/>
            <a:ext cx="310896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 불이 도착한 시각</a:t>
            </a:r>
            <a:endParaRPr lang="en-US" sz="1000" dirty="0"/>
          </a:p>
        </p:txBody>
      </p:sp>
      <p:sp>
        <p:nvSpPr>
          <p:cNvPr id="12" name="Shape 10"/>
          <p:cNvSpPr/>
          <p:nvPr/>
        </p:nvSpPr>
        <p:spPr>
          <a:xfrm>
            <a:off x="7818120" y="2258568"/>
            <a:ext cx="685800" cy="0"/>
          </a:xfrm>
          <a:prstGeom prst="line">
            <a:avLst/>
          </a:prstGeom>
          <a:noFill/>
          <a:ln w="25400">
            <a:solidFill>
              <a:srgbClr val="D35400"/>
            </a:solidFill>
            <a:prstDash val="solid"/>
            <a:tailEnd type="triangle"/>
          </a:ln>
        </p:spPr>
        <p:txBody>
          <a:bodyPr/>
          <a:p/>
        </p:txBody>
      </p:sp>
      <p:sp>
        <p:nvSpPr>
          <p:cNvPr id="13" name="Shape 11"/>
          <p:cNvSpPr/>
          <p:nvPr/>
        </p:nvSpPr>
        <p:spPr>
          <a:xfrm>
            <a:off x="8595360" y="1737360"/>
            <a:ext cx="3017520" cy="1051560"/>
          </a:xfrm>
          <a:prstGeom prst="roundRect">
            <a:avLst>
              <a:gd name="adj" fmla="val 6957"/>
            </a:avLst>
          </a:prstGeom>
          <a:solidFill>
            <a:srgbClr val="EEF3E6"/>
          </a:solidFill>
          <a:ln w="15875">
            <a:solidFill>
              <a:srgbClr val="E2DCD0"/>
            </a:solidFill>
            <a:prstDash val="solid"/>
          </a:ln>
        </p:spPr>
        <p:txBody>
          <a:bodyPr/>
          <a:p/>
        </p:txBody>
      </p:sp>
      <p:sp>
        <p:nvSpPr>
          <p:cNvPr id="14" name="Text 12"/>
          <p:cNvSpPr/>
          <p:nvPr/>
        </p:nvSpPr>
        <p:spPr>
          <a:xfrm>
            <a:off x="8595360" y="1952244"/>
            <a:ext cx="3017520" cy="365760"/>
          </a:xfrm>
          <a:prstGeom prst="rect">
            <a:avLst/>
          </a:prstGeom>
          <a:noFill/>
          <a:ln/>
        </p:spPr>
        <p:txBody>
          <a:bodyPr wrap="square" rtlCol="0" anchor="ctr"/>
          <a:lstStyle/>
          <a:p>
            <a:pPr algn="ct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③ 방향·속도·ETA</a:t>
            </a:r>
            <a:endParaRPr lang="en-US" sz="1350" dirty="0"/>
          </a:p>
        </p:txBody>
      </p:sp>
      <p:sp>
        <p:nvSpPr>
          <p:cNvPr id="15" name="Text 13"/>
          <p:cNvSpPr/>
          <p:nvPr/>
        </p:nvSpPr>
        <p:spPr>
          <a:xfrm>
            <a:off x="8595360" y="2281428"/>
            <a:ext cx="30175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 신뢰도 등급</a:t>
            </a:r>
            <a:endParaRPr lang="en-US" sz="1000" dirty="0"/>
          </a:p>
        </p:txBody>
      </p:sp>
      <p:sp>
        <p:nvSpPr>
          <p:cNvPr id="16" name="Shape 14"/>
          <p:cNvSpPr/>
          <p:nvPr/>
        </p:nvSpPr>
        <p:spPr>
          <a:xfrm>
            <a:off x="640080" y="31089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17" name="Text 15"/>
          <p:cNvSpPr/>
          <p:nvPr/>
        </p:nvSpPr>
        <p:spPr>
          <a:xfrm>
            <a:off x="868680" y="33101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목표 1 — 고장의 데이터화</a:t>
            </a:r>
            <a:endParaRPr lang="en-US" sz="1450" dirty="0"/>
          </a:p>
        </p:txBody>
      </p:sp>
      <p:sp>
        <p:nvSpPr>
          <p:cNvPr id="18" name="Shape 16"/>
          <p:cNvSpPr/>
          <p:nvPr/>
        </p:nvSpPr>
        <p:spPr>
          <a:xfrm>
            <a:off x="868680" y="3749040"/>
            <a:ext cx="502920" cy="0"/>
          </a:xfrm>
          <a:prstGeom prst="line">
            <a:avLst/>
          </a:prstGeom>
          <a:noFill/>
          <a:ln w="25400">
            <a:solidFill>
              <a:srgbClr val="D35400"/>
            </a:solidFill>
            <a:prstDash val="solid"/>
          </a:ln>
        </p:spPr>
        <p:txBody>
          <a:bodyPr/>
          <a:p/>
        </p:txBody>
      </p:sp>
      <p:sp>
        <p:nvSpPr>
          <p:cNvPr id="19" name="Text 17"/>
          <p:cNvSpPr/>
          <p:nvPr/>
        </p:nvSpPr>
        <p:spPr>
          <a:xfrm>
            <a:off x="804672" y="3886200"/>
            <a:ext cx="511149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교차검증된 '죽음'을 확정 이진 신호로 모아, 흩어진 좌표와 죽은 시각에서 화선의 위치·방향·속도를 추정한다.</a:t>
            </a:r>
            <a:endParaRPr lang="en-US" sz="1200" dirty="0"/>
          </a:p>
        </p:txBody>
      </p:sp>
      <p:sp>
        <p:nvSpPr>
          <p:cNvPr id="20" name="Shape 18"/>
          <p:cNvSpPr/>
          <p:nvPr/>
        </p:nvSpPr>
        <p:spPr>
          <a:xfrm>
            <a:off x="6199632" y="3108960"/>
            <a:ext cx="5431536" cy="2103120"/>
          </a:xfrm>
          <a:prstGeom prst="roundRect">
            <a:avLst>
              <a:gd name="adj" fmla="val 2609"/>
            </a:avLst>
          </a:prstGeom>
          <a:solidFill>
            <a:srgbClr val="FFFFFF"/>
          </a:solidFill>
          <a:ln w="12700">
            <a:solidFill>
              <a:srgbClr val="E2DCD0"/>
            </a:solidFill>
            <a:prstDash val="solid"/>
          </a:ln>
        </p:spPr>
        <p:txBody>
          <a:bodyPr/>
          <a:p/>
        </p:txBody>
      </p:sp>
      <p:sp>
        <p:nvSpPr>
          <p:cNvPr id="21" name="Text 19"/>
          <p:cNvSpPr/>
          <p:nvPr/>
        </p:nvSpPr>
        <p:spPr>
          <a:xfrm>
            <a:off x="6428232" y="3310128"/>
            <a:ext cx="4974336"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목표 2 — 자가치유</a:t>
            </a:r>
            <a:endParaRPr lang="en-US" sz="1450" dirty="0"/>
          </a:p>
        </p:txBody>
      </p:sp>
      <p:sp>
        <p:nvSpPr>
          <p:cNvPr id="22" name="Shape 20"/>
          <p:cNvSpPr/>
          <p:nvPr/>
        </p:nvSpPr>
        <p:spPr>
          <a:xfrm>
            <a:off x="6428232" y="3749040"/>
            <a:ext cx="502920" cy="0"/>
          </a:xfrm>
          <a:prstGeom prst="line">
            <a:avLst/>
          </a:prstGeom>
          <a:noFill/>
          <a:ln w="25400">
            <a:solidFill>
              <a:srgbClr val="D35400"/>
            </a:solidFill>
            <a:prstDash val="solid"/>
          </a:ln>
        </p:spPr>
        <p:txBody>
          <a:bodyPr/>
          <a:p/>
        </p:txBody>
      </p:sp>
      <p:sp>
        <p:nvSpPr>
          <p:cNvPr id="23" name="Text 21"/>
          <p:cNvSpPr/>
          <p:nvPr/>
        </p:nvSpPr>
        <p:spPr>
          <a:xfrm>
            <a:off x="6428232" y="3886200"/>
            <a:ext cx="497433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노드가 죽어 경로가 끊겨도 남은 노드들이 자동으로 우회로를 다시 짜, 관측 자체가 계속되게 한다.</a:t>
            </a:r>
            <a:endParaRPr lang="en-US" sz="1200" dirty="0"/>
          </a:p>
        </p:txBody>
      </p:sp>
      <p:sp>
        <p:nvSpPr>
          <p:cNvPr id="24" name="Text 22"/>
          <p:cNvSpPr/>
          <p:nvPr/>
        </p:nvSpPr>
        <p:spPr>
          <a:xfrm>
            <a:off x="640080" y="5394960"/>
            <a:ext cx="10972800" cy="320040"/>
          </a:xfrm>
          <a:prstGeom prst="rect">
            <a:avLst/>
          </a:prstGeom>
          <a:noFill/>
          <a:ln/>
        </p:spPr>
        <p:txBody>
          <a:bodyPr wrap="square" rtlCol="0" anchor="ctr"/>
          <a:lstStyle/>
          <a:p>
            <a:pPr indent="0" marL="0" eaLnBrk="0" hangingPunct="1">
              <a:buNone/>
            </a:pPr>
            <a:r>
              <a:rPr lang="en-US" sz="1250" b="1" i="0" dirty="0">
                <a:solidFill>
                  <a:srgbClr val="2C5F2D"/>
                </a:solidFill>
                <a:latin typeface="맑은 고딕" pitchFamily="34" charset="0"/>
                <a:ea typeface="맑은 고딕" pitchFamily="34" charset="-122"/>
                <a:cs typeface="맑은 고딕" pitchFamily="34" charset="-120"/>
              </a:rPr>
              <a:t>→ 두 목표가 합쳐져: 노드는 죽지만(불에 타도) 시스템의 관측은 '죽지 않는다'. = 불사(不死)의 이중 의미.</a:t>
            </a:r>
            <a:endParaRPr lang="en-US" sz="1250" dirty="0"/>
          </a:p>
        </p:txBody>
      </p:sp>
      <p:sp>
        <p:nvSpPr>
          <p:cNvPr id="25" name="Text 2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3</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flipH="1">
            <a:off x="10498455" y="6464808"/>
            <a:ext cx="4572" cy="187452"/>
          </a:xfrm>
          <a:prstGeom prst="line">
            <a:avLst/>
          </a:prstGeom>
          <a:noFill/>
          <a:ln w="9525">
            <a:solidFill>
              <a:srgbClr val="E2DCD0"/>
            </a:solidFill>
            <a:prstDash val="solid"/>
          </a:ln>
        </p:spPr>
        <p:txBody>
          <a:bodyPr/>
          <a:p/>
        </p:txBody>
      </p:sp>
      <p:sp>
        <p:nvSpPr>
          <p:cNvPr id="29" name="Shape 27"/>
          <p:cNvSpPr/>
          <p:nvPr/>
        </p:nvSpPr>
        <p:spPr>
          <a:xfrm flipV="1">
            <a:off x="10647045" y="6451092"/>
            <a:ext cx="235458" cy="50292"/>
          </a:xfrm>
          <a:prstGeom prst="line">
            <a:avLst/>
          </a:prstGeom>
          <a:noFill/>
          <a:ln w="9525">
            <a:solidFill>
              <a:srgbClr val="E2DCD0"/>
            </a:solidFill>
            <a:prstDash val="solid"/>
          </a:ln>
        </p:spPr>
        <p:txBody>
          <a:bodyPr/>
          <a:p/>
        </p:txBody>
      </p:sp>
      <p:sp>
        <p:nvSpPr>
          <p:cNvPr id="30" name="Shape 28"/>
          <p:cNvSpPr/>
          <p:nvPr/>
        </p:nvSpPr>
        <p:spPr>
          <a:xfrm flipH="1">
            <a:off x="10642473"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flipH="1">
            <a:off x="10877931" y="6451092"/>
            <a:ext cx="4572" cy="196596"/>
          </a:xfrm>
          <a:prstGeom prst="line">
            <a:avLst/>
          </a:prstGeom>
          <a:noFill/>
          <a:ln w="9525">
            <a:solidFill>
              <a:srgbClr val="E2DCD0"/>
            </a:solidFill>
            <a:prstDash val="solid"/>
          </a:ln>
        </p:spPr>
        <p:txBody>
          <a:bodyPr/>
          <a:p/>
        </p:txBody>
      </p:sp>
      <p:sp>
        <p:nvSpPr>
          <p:cNvPr id="33" name="Shape 31"/>
          <p:cNvSpPr/>
          <p:nvPr/>
        </p:nvSpPr>
        <p:spPr>
          <a:xfrm flipH="1">
            <a:off x="11040237"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flipV="1">
            <a:off x="10642473" y="6647688"/>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환경 ① 시스템 구성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ESP32 17대(노드 16 + 브리지 1)와 라즈베리파이 1대로 이뤄진다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657600"/>
          </a:xfrm>
          <a:prstGeom prst="roundRect">
            <a:avLst>
              <a:gd name="adj" fmla="val 1500"/>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하드웨어</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6517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센서 노드: ESP32 × 16 (WiFi 메시)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메시 브리지: ESP32 × 1 (id 99) — 메시↔USB 시리얼 중계</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감지: DS18B20 디지털 온도센서 (9비트 고속 모드)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상태 표시: WS2812 LED (생사 시각화)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라즈베리파이 4 — 시리얼 수신 · 추정 · 대시보드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 USB 5V 급전 (데모) — 배터리 급전은 향후 과제</a:t>
            </a:r>
            <a:endParaRPr lang="en-US" sz="1200" dirty="0"/>
          </a:p>
          <a:p>
            <a:pPr indent="0" marL="0" eaLnBrk="0" hangingPunct="1">
              <a:lnSpc>
                <a:spcPct val="120000"/>
              </a:lnSpc>
              <a:buNone/>
            </a:pPr>
            <a:endParaRPr lang="en-US" sz="1200" dirty="0"/>
          </a:p>
        </p:txBody>
      </p:sp>
      <p:sp>
        <p:nvSpPr>
          <p:cNvPr id="9" name="Shape 7"/>
          <p:cNvSpPr/>
          <p:nvPr/>
        </p:nvSpPr>
        <p:spPr>
          <a:xfrm>
            <a:off x="6153912" y="1508760"/>
            <a:ext cx="5477256" cy="3657600"/>
          </a:xfrm>
          <a:prstGeom prst="roundRect">
            <a:avLst>
              <a:gd name="adj" fmla="val 1500"/>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소프트웨어</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6517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펌웨어: C/C++ (Arduino-ESP32 + painlessMesh)</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메시 자동 구성·우회 + 메시 시각 동기 제공</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브리지도 같은 펌웨어를 쓴다(인덱스만 99) — 단일 코드베이스</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Python — 시뮬 추정기 코드 그대로 재사용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관제: 자체완결 웹 대시보드 (HTML, 서버 불필요)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개발·검증: 네트워크 시뮬레이터(Python)</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판정 일원화: 화재/비화재 판별을 단일 함수로 — 시뮬과 실물이</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코드를 호출한다(시뮬 결과가 실물의 근거가 되도록).</a:t>
            </a:r>
            <a:endParaRPr lang="en-US" sz="1200" dirty="0"/>
          </a:p>
        </p:txBody>
      </p:sp>
      <p:sp>
        <p:nvSpPr>
          <p:cNvPr id="13" name="Text 11"/>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4" name="Text 12"/>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4</a:t>
            </a:r>
            <a:endParaRPr lang="en-US" sz="900" dirty="0"/>
          </a:p>
        </p:txBody>
      </p:sp>
      <p:sp>
        <p:nvSpPr>
          <p:cNvPr id="15" name="Shape 13"/>
          <p:cNvSpPr/>
          <p:nvPr/>
        </p:nvSpPr>
        <p:spPr>
          <a:xfrm>
            <a:off x="10503027" y="6464808"/>
            <a:ext cx="144018" cy="36576"/>
          </a:xfrm>
          <a:prstGeom prst="line">
            <a:avLst/>
          </a:prstGeom>
          <a:noFill/>
          <a:ln w="9525">
            <a:solidFill>
              <a:srgbClr val="E2DCD0"/>
            </a:solidFill>
            <a:prstDash val="solid"/>
          </a:ln>
        </p:spPr>
        <p:txBody>
          <a:bodyPr/>
          <a:p/>
        </p:txBody>
      </p:sp>
      <p:sp>
        <p:nvSpPr>
          <p:cNvPr id="16" name="Shape 14"/>
          <p:cNvSpPr/>
          <p:nvPr/>
        </p:nvSpPr>
        <p:spPr>
          <a:xfrm flipH="1">
            <a:off x="10498455" y="6464808"/>
            <a:ext cx="4572" cy="187452"/>
          </a:xfrm>
          <a:prstGeom prst="line">
            <a:avLst/>
          </a:prstGeom>
          <a:noFill/>
          <a:ln w="9525">
            <a:solidFill>
              <a:srgbClr val="E2DCD0"/>
            </a:solidFill>
            <a:prstDash val="solid"/>
          </a:ln>
        </p:spPr>
        <p:txBody>
          <a:bodyPr/>
          <a:p/>
        </p:txBody>
      </p:sp>
      <p:sp>
        <p:nvSpPr>
          <p:cNvPr id="17" name="Shape 15"/>
          <p:cNvSpPr/>
          <p:nvPr/>
        </p:nvSpPr>
        <p:spPr>
          <a:xfrm flipV="1">
            <a:off x="10647045" y="6451092"/>
            <a:ext cx="235458" cy="50292"/>
          </a:xfrm>
          <a:prstGeom prst="line">
            <a:avLst/>
          </a:prstGeom>
          <a:noFill/>
          <a:ln w="9525">
            <a:solidFill>
              <a:srgbClr val="E2DCD0"/>
            </a:solidFill>
            <a:prstDash val="solid"/>
          </a:ln>
        </p:spPr>
        <p:txBody>
          <a:bodyPr/>
          <a:p/>
        </p:txBody>
      </p:sp>
      <p:sp>
        <p:nvSpPr>
          <p:cNvPr id="18" name="Shape 16"/>
          <p:cNvSpPr/>
          <p:nvPr/>
        </p:nvSpPr>
        <p:spPr>
          <a:xfrm flipH="1">
            <a:off x="10642473" y="6501384"/>
            <a:ext cx="4572" cy="196596"/>
          </a:xfrm>
          <a:prstGeom prst="line">
            <a:avLst/>
          </a:prstGeom>
          <a:noFill/>
          <a:ln w="9525">
            <a:solidFill>
              <a:srgbClr val="E2DCD0"/>
            </a:solidFill>
            <a:prstDash val="solid"/>
          </a:ln>
        </p:spPr>
        <p:txBody>
          <a:bodyPr/>
          <a:p/>
        </p:txBody>
      </p:sp>
      <p:sp>
        <p:nvSpPr>
          <p:cNvPr id="19" name="Shape 17"/>
          <p:cNvSpPr/>
          <p:nvPr/>
        </p:nvSpPr>
        <p:spPr>
          <a:xfrm>
            <a:off x="10882503" y="6451092"/>
            <a:ext cx="162306" cy="41148"/>
          </a:xfrm>
          <a:prstGeom prst="line">
            <a:avLst/>
          </a:prstGeom>
          <a:noFill/>
          <a:ln w="9525">
            <a:solidFill>
              <a:srgbClr val="E2DCD0"/>
            </a:solidFill>
            <a:prstDash val="solid"/>
          </a:ln>
        </p:spPr>
        <p:txBody>
          <a:bodyPr/>
          <a:p/>
        </p:txBody>
      </p:sp>
      <p:sp>
        <p:nvSpPr>
          <p:cNvPr id="20" name="Shape 18"/>
          <p:cNvSpPr/>
          <p:nvPr/>
        </p:nvSpPr>
        <p:spPr>
          <a:xfrm flipH="1">
            <a:off x="10877931" y="6451092"/>
            <a:ext cx="4572" cy="196596"/>
          </a:xfrm>
          <a:prstGeom prst="line">
            <a:avLst/>
          </a:prstGeom>
          <a:noFill/>
          <a:ln w="9525">
            <a:solidFill>
              <a:srgbClr val="E2DCD0"/>
            </a:solidFill>
            <a:prstDash val="solid"/>
          </a:ln>
        </p:spPr>
        <p:txBody>
          <a:bodyPr/>
          <a:p/>
        </p:txBody>
      </p:sp>
      <p:sp>
        <p:nvSpPr>
          <p:cNvPr id="21" name="Shape 19"/>
          <p:cNvSpPr/>
          <p:nvPr/>
        </p:nvSpPr>
        <p:spPr>
          <a:xfrm flipH="1">
            <a:off x="11040237" y="6492240"/>
            <a:ext cx="4572" cy="196596"/>
          </a:xfrm>
          <a:prstGeom prst="line">
            <a:avLst/>
          </a:prstGeom>
          <a:noFill/>
          <a:ln w="9525">
            <a:solidFill>
              <a:srgbClr val="E2DCD0"/>
            </a:solidFill>
            <a:prstDash val="solid"/>
          </a:ln>
        </p:spPr>
        <p:txBody>
          <a:bodyPr/>
          <a:p/>
        </p:txBody>
      </p:sp>
      <p:sp>
        <p:nvSpPr>
          <p:cNvPr id="22" name="Shape 20"/>
          <p:cNvSpPr/>
          <p:nvPr/>
        </p:nvSpPr>
        <p:spPr>
          <a:xfrm>
            <a:off x="10498455" y="6652260"/>
            <a:ext cx="144018" cy="45720"/>
          </a:xfrm>
          <a:prstGeom prst="line">
            <a:avLst/>
          </a:prstGeom>
          <a:noFill/>
          <a:ln w="9525">
            <a:solidFill>
              <a:srgbClr val="E2DCD0"/>
            </a:solidFill>
            <a:prstDash val="solid"/>
          </a:ln>
        </p:spPr>
        <p:txBody>
          <a:bodyPr/>
          <a:p/>
        </p:txBody>
      </p:sp>
      <p:sp>
        <p:nvSpPr>
          <p:cNvPr id="23" name="Shape 21"/>
          <p:cNvSpPr/>
          <p:nvPr/>
        </p:nvSpPr>
        <p:spPr>
          <a:xfrm flipV="1">
            <a:off x="10642473" y="6647688"/>
            <a:ext cx="235458" cy="50292"/>
          </a:xfrm>
          <a:prstGeom prst="line">
            <a:avLst/>
          </a:prstGeom>
          <a:noFill/>
          <a:ln w="9525">
            <a:solidFill>
              <a:srgbClr val="E2DCD0"/>
            </a:solidFill>
            <a:prstDash val="solid"/>
          </a:ln>
        </p:spPr>
        <p:txBody>
          <a:bodyPr/>
          <a:p/>
        </p:txBody>
      </p:sp>
      <p:sp>
        <p:nvSpPr>
          <p:cNvPr id="24" name="Shape 22"/>
          <p:cNvSpPr/>
          <p:nvPr/>
        </p:nvSpPr>
        <p:spPr>
          <a:xfrm>
            <a:off x="10877931" y="6647688"/>
            <a:ext cx="162306" cy="41148"/>
          </a:xfrm>
          <a:prstGeom prst="line">
            <a:avLst/>
          </a:prstGeom>
          <a:noFill/>
          <a:ln w="9525">
            <a:solidFill>
              <a:srgbClr val="E2DCD0"/>
            </a:solidFill>
            <a:prstDash val="solid"/>
          </a:ln>
        </p:spPr>
        <p:txBody>
          <a:bodyPr/>
          <a:p/>
        </p:txBody>
      </p:sp>
      <p:sp>
        <p:nvSpPr>
          <p:cNvPr id="25" name="Shape 2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6" name="Shape 2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7" name="Shape 2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8" name="Shape 2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9" name="Shape 2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0" name="Shape 2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1" name="Shape 2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2" name="Shape 3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환경 ② 기능 설계도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데이터 흐름 아키텍처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02920" y="2286000"/>
            <a:ext cx="2331720" cy="1188720"/>
          </a:xfrm>
          <a:prstGeom prst="roundRect">
            <a:avLst>
              <a:gd name="adj" fmla="val 6154"/>
            </a:avLst>
          </a:prstGeom>
          <a:solidFill>
            <a:srgbClr val="FBEFE2"/>
          </a:solidFill>
          <a:ln w="15875">
            <a:solidFill>
              <a:srgbClr val="E2DCD0"/>
            </a:solidFill>
            <a:prstDash val="solid"/>
          </a:ln>
        </p:spPr>
        <p:txBody>
          <a:bodyPr/>
          <a:p/>
        </p:txBody>
      </p:sp>
      <p:sp>
        <p:nvSpPr>
          <p:cNvPr id="6" name="Text 4"/>
          <p:cNvSpPr/>
          <p:nvPr/>
        </p:nvSpPr>
        <p:spPr>
          <a:xfrm>
            <a:off x="502920" y="2569464"/>
            <a:ext cx="2331720" cy="365760"/>
          </a:xfrm>
          <a:prstGeom prst="rect">
            <a:avLst/>
          </a:prstGeom>
          <a:noFill/>
          <a:ln/>
        </p:spPr>
        <p:txBody>
          <a:bodyPr wrap="square" rtlCol="0" anchor="ctr"/>
          <a:lstStyle/>
          <a:p>
            <a:pPr algn="ctr" indent="0" marL="0" eaLnBrk="0" hangingPunct="1">
              <a:buNone/>
            </a:pPr>
            <a:r>
              <a:rPr lang="en-US" sz="1350" b="1" dirty="0">
                <a:solidFill>
                  <a:srgbClr val="D35400"/>
                </a:solidFill>
                <a:latin typeface="맑은 고딕" pitchFamily="34" charset="0"/>
                <a:ea typeface="맑은 고딕" pitchFamily="34" charset="-122"/>
                <a:cs typeface="맑은 고딕" pitchFamily="34" charset="-120"/>
              </a:rPr>
              <a:t>센서 노드</a:t>
            </a:r>
            <a:endParaRPr lang="en-US" sz="1350" dirty="0"/>
          </a:p>
        </p:txBody>
      </p:sp>
      <p:sp>
        <p:nvSpPr>
          <p:cNvPr id="7" name="Text 5"/>
          <p:cNvSpPr/>
          <p:nvPr/>
        </p:nvSpPr>
        <p:spPr>
          <a:xfrm>
            <a:off x="50292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ESP32 + 온도</a:t>
            </a:r>
            <a:endParaRPr lang="en-US" sz="1000" dirty="0"/>
          </a:p>
        </p:txBody>
      </p:sp>
      <p:sp>
        <p:nvSpPr>
          <p:cNvPr id="8" name="Shape 6"/>
          <p:cNvSpPr/>
          <p:nvPr/>
        </p:nvSpPr>
        <p:spPr>
          <a:xfrm>
            <a:off x="2880360" y="2880360"/>
            <a:ext cx="457200" cy="0"/>
          </a:xfrm>
          <a:prstGeom prst="line">
            <a:avLst/>
          </a:prstGeom>
          <a:noFill/>
          <a:ln w="25400">
            <a:solidFill>
              <a:srgbClr val="D35400"/>
            </a:solidFill>
            <a:prstDash val="solid"/>
            <a:tailEnd type="triangle"/>
          </a:ln>
        </p:spPr>
        <p:txBody>
          <a:bodyPr/>
          <a:p/>
        </p:txBody>
      </p:sp>
      <p:sp>
        <p:nvSpPr>
          <p:cNvPr id="9" name="Shape 7"/>
          <p:cNvSpPr/>
          <p:nvPr/>
        </p:nvSpPr>
        <p:spPr>
          <a:xfrm>
            <a:off x="338328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0" name="Text 8"/>
          <p:cNvSpPr/>
          <p:nvPr/>
        </p:nvSpPr>
        <p:spPr>
          <a:xfrm>
            <a:off x="3383280" y="2569464"/>
            <a:ext cx="233172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메시 네트워크</a:t>
            </a:r>
            <a:endParaRPr lang="en-US" sz="1350" dirty="0"/>
          </a:p>
        </p:txBody>
      </p:sp>
      <p:sp>
        <p:nvSpPr>
          <p:cNvPr id="11" name="Text 9"/>
          <p:cNvSpPr/>
          <p:nvPr/>
        </p:nvSpPr>
        <p:spPr>
          <a:xfrm>
            <a:off x="338328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painlessMesh</a:t>
            </a:r>
            <a:endParaRPr lang="en-US" sz="1000" dirty="0"/>
          </a:p>
        </p:txBody>
      </p:sp>
      <p:sp>
        <p:nvSpPr>
          <p:cNvPr id="12" name="Shape 10"/>
          <p:cNvSpPr/>
          <p:nvPr/>
        </p:nvSpPr>
        <p:spPr>
          <a:xfrm>
            <a:off x="5760720" y="2880360"/>
            <a:ext cx="457200" cy="0"/>
          </a:xfrm>
          <a:prstGeom prst="line">
            <a:avLst/>
          </a:prstGeom>
          <a:noFill/>
          <a:ln w="25400">
            <a:solidFill>
              <a:srgbClr val="D35400"/>
            </a:solidFill>
            <a:prstDash val="solid"/>
            <a:tailEnd type="triangle"/>
          </a:ln>
        </p:spPr>
        <p:txBody>
          <a:bodyPr/>
          <a:p/>
        </p:txBody>
      </p:sp>
      <p:sp>
        <p:nvSpPr>
          <p:cNvPr id="13" name="Shape 11"/>
          <p:cNvSpPr/>
          <p:nvPr/>
        </p:nvSpPr>
        <p:spPr>
          <a:xfrm>
            <a:off x="626364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4" name="Text 12"/>
          <p:cNvSpPr/>
          <p:nvPr/>
        </p:nvSpPr>
        <p:spPr>
          <a:xfrm>
            <a:off x="6263640" y="2569464"/>
            <a:ext cx="233172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게이트웨이</a:t>
            </a:r>
            <a:endParaRPr lang="en-US" sz="1350" dirty="0"/>
          </a:p>
        </p:txBody>
      </p:sp>
      <p:sp>
        <p:nvSpPr>
          <p:cNvPr id="15" name="Text 13"/>
          <p:cNvSpPr/>
          <p:nvPr/>
        </p:nvSpPr>
        <p:spPr>
          <a:xfrm>
            <a:off x="626364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RPi · 추정기(Python)</a:t>
            </a:r>
            <a:endParaRPr lang="en-US" sz="1000" dirty="0"/>
          </a:p>
        </p:txBody>
      </p:sp>
      <p:sp>
        <p:nvSpPr>
          <p:cNvPr id="16" name="Shape 14"/>
          <p:cNvSpPr/>
          <p:nvPr/>
        </p:nvSpPr>
        <p:spPr>
          <a:xfrm>
            <a:off x="8641080" y="2880360"/>
            <a:ext cx="457200" cy="0"/>
          </a:xfrm>
          <a:prstGeom prst="line">
            <a:avLst/>
          </a:prstGeom>
          <a:noFill/>
          <a:ln w="25400">
            <a:solidFill>
              <a:srgbClr val="D35400"/>
            </a:solidFill>
            <a:prstDash val="solid"/>
            <a:tailEnd type="triangle"/>
          </a:ln>
        </p:spPr>
        <p:txBody>
          <a:bodyPr/>
          <a:p/>
        </p:txBody>
      </p:sp>
      <p:sp>
        <p:nvSpPr>
          <p:cNvPr id="17" name="Shape 15"/>
          <p:cNvSpPr/>
          <p:nvPr/>
        </p:nvSpPr>
        <p:spPr>
          <a:xfrm>
            <a:off x="9144000" y="2286000"/>
            <a:ext cx="2331720" cy="1188720"/>
          </a:xfrm>
          <a:prstGeom prst="roundRect">
            <a:avLst>
              <a:gd name="adj" fmla="val 6154"/>
            </a:avLst>
          </a:prstGeom>
          <a:solidFill>
            <a:srgbClr val="EEF3E6"/>
          </a:solidFill>
          <a:ln w="15875">
            <a:solidFill>
              <a:srgbClr val="E2DCD0"/>
            </a:solidFill>
            <a:prstDash val="solid"/>
          </a:ln>
        </p:spPr>
        <p:txBody>
          <a:bodyPr/>
          <a:p/>
        </p:txBody>
      </p:sp>
      <p:sp>
        <p:nvSpPr>
          <p:cNvPr id="18" name="Text 16"/>
          <p:cNvSpPr/>
          <p:nvPr/>
        </p:nvSpPr>
        <p:spPr>
          <a:xfrm>
            <a:off x="9144000" y="2569464"/>
            <a:ext cx="2331720" cy="365760"/>
          </a:xfrm>
          <a:prstGeom prst="rect">
            <a:avLst/>
          </a:prstGeom>
          <a:noFill/>
          <a:ln/>
        </p:spPr>
        <p:txBody>
          <a:bodyPr wrap="square" rtlCol="0" anchor="ctr"/>
          <a:lstStyle/>
          <a:p>
            <a:pPr algn="ct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웹 대시보드</a:t>
            </a:r>
            <a:endParaRPr lang="en-US" sz="1350" dirty="0"/>
          </a:p>
        </p:txBody>
      </p:sp>
      <p:sp>
        <p:nvSpPr>
          <p:cNvPr id="19" name="Text 17"/>
          <p:cNvSpPr/>
          <p:nvPr/>
        </p:nvSpPr>
        <p:spPr>
          <a:xfrm>
            <a:off x="914400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화선·경보 관제</a:t>
            </a:r>
            <a:endParaRPr lang="en-US" sz="1000" dirty="0"/>
          </a:p>
        </p:txBody>
      </p:sp>
      <p:sp>
        <p:nvSpPr>
          <p:cNvPr id="20" name="Text 18"/>
          <p:cNvSpPr/>
          <p:nvPr/>
        </p:nvSpPr>
        <p:spPr>
          <a:xfrm>
            <a:off x="548640" y="3977640"/>
            <a:ext cx="11064240" cy="731520"/>
          </a:xfrm>
          <a:prstGeom prst="rect">
            <a:avLst/>
          </a:prstGeom>
          <a:noFill/>
          <a:ln/>
        </p:spPr>
        <p:txBody>
          <a:bodyPr wrap="square" rtlCol="0" anchor="ctr"/>
          <a:lstStyle/>
          <a:p>
            <a:pPr algn="ctr" indent="0" marL="0" eaLnBrk="0" hangingPunct="1">
              <a:lnSpc>
                <a:spcPct val="130000"/>
              </a:lnSpc>
              <a:buNone/>
            </a:pPr>
            <a:r>
              <a:rPr lang="en-US" sz="1300" dirty="0">
                <a:solidFill>
                  <a:srgbClr val="44483F"/>
                </a:solidFill>
                <a:latin typeface="맑은 고딕" pitchFamily="34" charset="0"/>
                <a:ea typeface="맑은 고딕" pitchFamily="34" charset="-122"/>
                <a:cs typeface="맑은 고딕" pitchFamily="34" charset="-120"/>
              </a:rPr>
              <a:t>노드가 임종신호·하트비트를 메시로 흘리면, 게이트웨이가 죽은 노드의 시공간 패턴에서 화선을 추정하고,</a:t>
            </a:r>
            <a:br/>
            <a:r>
              <a:rPr lang="en-US" sz="1300" dirty="0">
                <a:solidFill>
                  <a:srgbClr val="44483F"/>
                </a:solidFill>
                <a:latin typeface="맑은 고딕" pitchFamily="34" charset="0"/>
                <a:ea typeface="맑은 고딕" pitchFamily="34" charset="-122"/>
                <a:cs typeface="맑은 고딕" pitchFamily="34" charset="-120"/>
              </a:rPr>
              <a:t>대시보드가 생사·자가치유 경로·참/추정 화선·대피경보를 실시간 재생한다.</a:t>
            </a:r>
            <a:endParaRPr lang="en-US" sz="1300" dirty="0"/>
          </a:p>
        </p:txBody>
      </p:sp>
      <p:sp>
        <p:nvSpPr>
          <p:cNvPr id="21" name="Shape 19"/>
          <p:cNvSpPr/>
          <p:nvPr/>
        </p:nvSpPr>
        <p:spPr>
          <a:xfrm>
            <a:off x="1371600" y="4745736"/>
            <a:ext cx="9418320" cy="1463040"/>
          </a:xfrm>
          <a:prstGeom prst="roundRect">
            <a:avLst>
              <a:gd name="adj" fmla="val 5217"/>
            </a:avLst>
          </a:prstGeom>
          <a:solidFill>
            <a:srgbClr val="EEF3E6"/>
          </a:solidFill>
          <a:ln w="12700">
            <a:solidFill>
              <a:srgbClr val="E2DCD0"/>
            </a:solidFill>
            <a:prstDash val="solid"/>
          </a:ln>
        </p:spPr>
        <p:txBody>
          <a:bodyPr/>
          <a:p/>
        </p:txBody>
      </p:sp>
      <p:sp>
        <p:nvSpPr>
          <p:cNvPr id="22" name="Text 20"/>
          <p:cNvSpPr/>
          <p:nvPr/>
        </p:nvSpPr>
        <p:spPr>
          <a:xfrm>
            <a:off x="1600200" y="5020056"/>
            <a:ext cx="896112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핵심 이식성 증명 · 판정 일원화</a:t>
            </a:r>
            <a:endParaRPr lang="en-US" sz="1450" dirty="0"/>
          </a:p>
        </p:txBody>
      </p:sp>
      <p:sp>
        <p:nvSpPr>
          <p:cNvPr id="23" name="Shape 21"/>
          <p:cNvSpPr/>
          <p:nvPr/>
        </p:nvSpPr>
        <p:spPr>
          <a:xfrm>
            <a:off x="1600200" y="5458968"/>
            <a:ext cx="502920" cy="0"/>
          </a:xfrm>
          <a:prstGeom prst="line">
            <a:avLst/>
          </a:prstGeom>
          <a:noFill/>
          <a:ln w="25400">
            <a:solidFill>
              <a:srgbClr val="D35400"/>
            </a:solidFill>
            <a:prstDash val="solid"/>
          </a:ln>
        </p:spPr>
        <p:txBody>
          <a:bodyPr/>
          <a:p/>
        </p:txBody>
      </p:sp>
      <p:sp>
        <p:nvSpPr>
          <p:cNvPr id="24" name="Text 22"/>
          <p:cNvSpPr/>
          <p:nvPr/>
        </p:nvSpPr>
        <p:spPr>
          <a:xfrm>
            <a:off x="1600200" y="5596128"/>
            <a:ext cx="8961120" cy="45720"/>
          </a:xfrm>
          <a:prstGeom prst="rect">
            <a:avLst/>
          </a:prstGeom>
          <a:noFill/>
          <a:ln/>
        </p:spPr>
        <p:txBody>
          <a:bodyPr wrap="square" rtlCol="0" anchor="t"/>
          <a:lstStyle/>
          <a:p>
            <a:pPr indent="0" marL="0" eaLnBrk="0" hangingPunct="1">
              <a:lnSpc>
                <a:spcPct val="110000"/>
              </a:lnSpc>
              <a:buNone/>
            </a:pPr>
            <a:r>
              <a:rPr lang="en-US" sz="1050" dirty="0">
                <a:solidFill>
                  <a:srgbClr val="44483F"/>
                </a:solidFill>
                <a:latin typeface="맑은 고딕" pitchFamily="34" charset="0"/>
                <a:ea typeface="맑은 고딕" pitchFamily="34" charset="-122"/>
                <a:cs typeface="맑은 고딕" pitchFamily="34" charset="-120"/>
              </a:rPr>
              <a:t>게이트웨이가 시뮬레이터의 추정기 코드를 그대로 재사용 → 모의 데이터에서 시뮬 직접값과 완전 일치. 나아가 화재/비화재 판별도 단일 함수로 통합해 시뮬·실물이 같은 판정을 쓴다 — 두 경로가 다른 판정을 쓰면 시뮬 결과가 실물의 근거가 되지 못하기 때문.</a:t>
            </a:r>
            <a:endParaRPr lang="en-US" sz="1200" dirty="0"/>
          </a:p>
        </p:txBody>
      </p:sp>
      <p:sp>
        <p:nvSpPr>
          <p:cNvPr id="25" name="Text 2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5</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flipH="1">
            <a:off x="10498455" y="6464808"/>
            <a:ext cx="4572" cy="187452"/>
          </a:xfrm>
          <a:prstGeom prst="line">
            <a:avLst/>
          </a:prstGeom>
          <a:noFill/>
          <a:ln w="9525">
            <a:solidFill>
              <a:srgbClr val="E2DCD0"/>
            </a:solidFill>
            <a:prstDash val="solid"/>
          </a:ln>
        </p:spPr>
        <p:txBody>
          <a:bodyPr/>
          <a:p/>
        </p:txBody>
      </p:sp>
      <p:sp>
        <p:nvSpPr>
          <p:cNvPr id="29" name="Shape 27"/>
          <p:cNvSpPr/>
          <p:nvPr/>
        </p:nvSpPr>
        <p:spPr>
          <a:xfrm flipV="1">
            <a:off x="10647045" y="6451092"/>
            <a:ext cx="235458" cy="50292"/>
          </a:xfrm>
          <a:prstGeom prst="line">
            <a:avLst/>
          </a:prstGeom>
          <a:noFill/>
          <a:ln w="9525">
            <a:solidFill>
              <a:srgbClr val="E2DCD0"/>
            </a:solidFill>
            <a:prstDash val="solid"/>
          </a:ln>
        </p:spPr>
        <p:txBody>
          <a:bodyPr/>
          <a:p/>
        </p:txBody>
      </p:sp>
      <p:sp>
        <p:nvSpPr>
          <p:cNvPr id="30" name="Shape 28"/>
          <p:cNvSpPr/>
          <p:nvPr/>
        </p:nvSpPr>
        <p:spPr>
          <a:xfrm flipH="1">
            <a:off x="10642473"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flipH="1">
            <a:off x="10877931" y="6451092"/>
            <a:ext cx="4572" cy="196596"/>
          </a:xfrm>
          <a:prstGeom prst="line">
            <a:avLst/>
          </a:prstGeom>
          <a:noFill/>
          <a:ln w="9525">
            <a:solidFill>
              <a:srgbClr val="E2DCD0"/>
            </a:solidFill>
            <a:prstDash val="solid"/>
          </a:ln>
        </p:spPr>
        <p:txBody>
          <a:bodyPr/>
          <a:p/>
        </p:txBody>
      </p:sp>
      <p:sp>
        <p:nvSpPr>
          <p:cNvPr id="33" name="Shape 31"/>
          <p:cNvSpPr/>
          <p:nvPr/>
        </p:nvSpPr>
        <p:spPr>
          <a:xfrm flipH="1">
            <a:off x="11040237"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flipV="1">
            <a:off x="10642473" y="6647688"/>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①  네 개의 핵심 모듈</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네 모듈이 죽음을 데이터로 바꾼다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6" name="Text 4"/>
          <p:cNvSpPr/>
          <p:nvPr/>
        </p:nvSpPr>
        <p:spPr>
          <a:xfrm>
            <a:off x="777240" y="17373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①</a:t>
            </a:r>
            <a:endParaRPr lang="en-US" sz="3000" dirty="0"/>
          </a:p>
        </p:txBody>
      </p:sp>
      <p:sp>
        <p:nvSpPr>
          <p:cNvPr id="7" name="Text 5"/>
          <p:cNvSpPr/>
          <p:nvPr/>
        </p:nvSpPr>
        <p:spPr>
          <a:xfrm>
            <a:off x="1508760" y="1810512"/>
            <a:ext cx="434340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임종신호 (Last-Gasp)</a:t>
            </a:r>
            <a:endParaRPr lang="en-US" sz="1500" dirty="0"/>
          </a:p>
        </p:txBody>
      </p:sp>
      <p:sp>
        <p:nvSpPr>
          <p:cNvPr id="8" name="Text 6"/>
          <p:cNvSpPr/>
          <p:nvPr/>
        </p:nvSpPr>
        <p:spPr>
          <a:xfrm>
            <a:off x="1508760" y="22128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임계온도를 넘겨 죽기 직전 쏘는 마지막 패킷 — 죽음의 시각을 확정.</a:t>
            </a:r>
            <a:endParaRPr lang="en-US" sz="1150" dirty="0"/>
          </a:p>
        </p:txBody>
      </p:sp>
      <p:sp>
        <p:nvSpPr>
          <p:cNvPr id="9" name="Shape 7"/>
          <p:cNvSpPr/>
          <p:nvPr/>
        </p:nvSpPr>
        <p:spPr>
          <a:xfrm>
            <a:off x="6153912"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10" name="Text 8"/>
          <p:cNvSpPr/>
          <p:nvPr/>
        </p:nvSpPr>
        <p:spPr>
          <a:xfrm>
            <a:off x="6382512" y="17373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②</a:t>
            </a:r>
            <a:endParaRPr lang="en-US" sz="3000" dirty="0"/>
          </a:p>
        </p:txBody>
      </p:sp>
      <p:sp>
        <p:nvSpPr>
          <p:cNvPr id="11" name="Text 9"/>
          <p:cNvSpPr/>
          <p:nvPr/>
        </p:nvSpPr>
        <p:spPr>
          <a:xfrm>
            <a:off x="7114032" y="1810512"/>
            <a:ext cx="434340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자가치유 라우팅</a:t>
            </a:r>
            <a:endParaRPr lang="en-US" sz="1500" dirty="0"/>
          </a:p>
        </p:txBody>
      </p:sp>
      <p:sp>
        <p:nvSpPr>
          <p:cNvPr id="12" name="Text 10"/>
          <p:cNvSpPr/>
          <p:nvPr/>
        </p:nvSpPr>
        <p:spPr>
          <a:xfrm>
            <a:off x="7114032" y="22128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죽어 길이 끊기면 sink 기준 역방향 BFS로 우회로를 자동 재계산.</a:t>
            </a:r>
            <a:endParaRPr lang="en-US" sz="1150" dirty="0"/>
          </a:p>
        </p:txBody>
      </p:sp>
      <p:sp>
        <p:nvSpPr>
          <p:cNvPr id="13" name="Shape 11"/>
          <p:cNvSpPr/>
          <p:nvPr/>
        </p:nvSpPr>
        <p:spPr>
          <a:xfrm>
            <a:off x="548640" y="3383280"/>
            <a:ext cx="5468112" cy="1645920"/>
          </a:xfrm>
          <a:prstGeom prst="roundRect">
            <a:avLst>
              <a:gd name="adj" fmla="val 3333"/>
            </a:avLst>
          </a:prstGeom>
          <a:solidFill>
            <a:srgbClr val="FBEFE2"/>
          </a:solidFill>
          <a:ln w="12700">
            <a:solidFill>
              <a:srgbClr val="E2DCD0"/>
            </a:solidFill>
            <a:prstDash val="solid"/>
          </a:ln>
        </p:spPr>
        <p:txBody>
          <a:bodyPr/>
          <a:p/>
        </p:txBody>
      </p:sp>
      <p:sp>
        <p:nvSpPr>
          <p:cNvPr id="14" name="Text 12"/>
          <p:cNvSpPr/>
          <p:nvPr/>
        </p:nvSpPr>
        <p:spPr>
          <a:xfrm>
            <a:off x="777240" y="35661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③</a:t>
            </a:r>
            <a:endParaRPr lang="en-US" sz="3000" dirty="0"/>
          </a:p>
        </p:txBody>
      </p:sp>
      <p:sp>
        <p:nvSpPr>
          <p:cNvPr id="15" name="Text 13"/>
          <p:cNvSpPr/>
          <p:nvPr/>
        </p:nvSpPr>
        <p:spPr>
          <a:xfrm>
            <a:off x="1508760" y="3639312"/>
            <a:ext cx="4343400" cy="365760"/>
          </a:xfrm>
          <a:prstGeom prst="rect">
            <a:avLst/>
          </a:prstGeom>
          <a:noFill/>
          <a:ln/>
        </p:spPr>
        <p:txBody>
          <a:bodyPr wrap="square" rtlCol="0" anchor="ctr"/>
          <a:lstStyle/>
          <a:p>
            <a:pPr indent="0" marL="0" eaLnBrk="0" hangingPunct="1">
              <a:buNone/>
            </a:pPr>
            <a:r>
              <a:rPr lang="en-US" sz="1500" b="1" dirty="0">
                <a:solidFill>
                  <a:srgbClr val="D35400"/>
                </a:solidFill>
                <a:latin typeface="맑은 고딕" pitchFamily="34" charset="0"/>
                <a:ea typeface="맑은 고딕" pitchFamily="34" charset="-122"/>
                <a:cs typeface="맑은 고딕" pitchFamily="34" charset="-120"/>
              </a:rPr>
              <a:t>오탐 방어 (교차검증) ★</a:t>
            </a:r>
            <a:endParaRPr lang="en-US" sz="1500" dirty="0"/>
          </a:p>
        </p:txBody>
      </p:sp>
      <p:sp>
        <p:nvSpPr>
          <p:cNvPr id="16" name="Text 14"/>
          <p:cNvSpPr/>
          <p:nvPr/>
        </p:nvSpPr>
        <p:spPr>
          <a:xfrm>
            <a:off x="1508760" y="40416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통신두절 vs 진짜 파괴를 다중이웃 + 온도로 구분 — 순정 painlessMesh가 못 하는 계층.</a:t>
            </a:r>
            <a:endParaRPr lang="en-US" sz="1150" dirty="0"/>
          </a:p>
        </p:txBody>
      </p:sp>
      <p:sp>
        <p:nvSpPr>
          <p:cNvPr id="17" name="Shape 15"/>
          <p:cNvSpPr/>
          <p:nvPr/>
        </p:nvSpPr>
        <p:spPr>
          <a:xfrm>
            <a:off x="6153912" y="3383280"/>
            <a:ext cx="5468112" cy="1645920"/>
          </a:xfrm>
          <a:prstGeom prst="roundRect">
            <a:avLst>
              <a:gd name="adj" fmla="val 3333"/>
            </a:avLst>
          </a:prstGeom>
          <a:solidFill>
            <a:srgbClr val="EEF3E6"/>
          </a:solidFill>
          <a:ln w="12700">
            <a:solidFill>
              <a:srgbClr val="E2DCD0"/>
            </a:solidFill>
            <a:prstDash val="solid"/>
          </a:ln>
        </p:spPr>
        <p:txBody>
          <a:bodyPr/>
          <a:p/>
        </p:txBody>
      </p:sp>
      <p:sp>
        <p:nvSpPr>
          <p:cNvPr id="18" name="Text 16"/>
          <p:cNvSpPr/>
          <p:nvPr/>
        </p:nvSpPr>
        <p:spPr>
          <a:xfrm>
            <a:off x="6382512" y="35661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④</a:t>
            </a:r>
            <a:endParaRPr lang="en-US" sz="3000" dirty="0"/>
          </a:p>
        </p:txBody>
      </p:sp>
      <p:sp>
        <p:nvSpPr>
          <p:cNvPr id="19" name="Text 17"/>
          <p:cNvSpPr/>
          <p:nvPr/>
        </p:nvSpPr>
        <p:spPr>
          <a:xfrm>
            <a:off x="7114032" y="3639312"/>
            <a:ext cx="4343400" cy="365760"/>
          </a:xfrm>
          <a:prstGeom prst="rect">
            <a:avLst/>
          </a:prstGeom>
          <a:noFill/>
          <a:ln/>
        </p:spPr>
        <p:txBody>
          <a:bodyPr wrap="square" rtlCol="0" anchor="ctr"/>
          <a:lstStyle/>
          <a:p>
            <a:pPr indent="0" marL="0" eaLnBrk="0" hangingPunct="1">
              <a:buNone/>
            </a:pPr>
            <a:r>
              <a:rPr lang="en-US" sz="1500" b="1" dirty="0">
                <a:solidFill>
                  <a:srgbClr val="2C5F2D"/>
                </a:solidFill>
                <a:latin typeface="맑은 고딕" pitchFamily="34" charset="0"/>
                <a:ea typeface="맑은 고딕" pitchFamily="34" charset="-122"/>
                <a:cs typeface="맑은 고딕" pitchFamily="34" charset="-120"/>
              </a:rPr>
              <a:t>도착시각장(場) 추정 ★</a:t>
            </a:r>
            <a:endParaRPr lang="en-US" sz="1500" dirty="0"/>
          </a:p>
        </p:txBody>
      </p:sp>
      <p:sp>
        <p:nvSpPr>
          <p:cNvPr id="20" name="Text 18"/>
          <p:cNvSpPr/>
          <p:nvPr/>
        </p:nvSpPr>
        <p:spPr>
          <a:xfrm>
            <a:off x="7114032" y="40416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죽은 좌표와 시각에서 최소제곱으로 방향·속도·ETA와 신뢰도를 역산.</a:t>
            </a:r>
            <a:endParaRPr lang="en-US" sz="115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6</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② ★ 핵심 알고리즘</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죽은 점들에 면을 씌우면 그 기울기가 불의 방향이다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44752"/>
            <a:ext cx="11091672" cy="566928"/>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각 노드가 타 죽은 시각 = 불이 그 지점에 도착한 시각. 흩어진 (x, y, 죽은시각)에 면을 맞추면 그 기울기가 곧 화선이다.</a:t>
            </a:r>
            <a:br/>
            <a:r>
              <a:rPr lang="en-US" sz="1350" dirty="0">
                <a:solidFill>
                  <a:srgbClr val="1F2421"/>
                </a:solidFill>
                <a:latin typeface="맑은 고딕" pitchFamily="34" charset="0"/>
                <a:ea typeface="맑은 고딕" pitchFamily="34" charset="-122"/>
                <a:cs typeface="맑은 고딕" pitchFamily="34" charset="-120"/>
              </a:rPr>
              <a:t>실제 구현은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2단 구조</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 노드마다 국소 적합을 돌리고, 그 결과들을 신뢰도로 가중해 합친다.</a:t>
            </a:r>
            <a:br/>
            <a:r>
              <a:rPr lang="en-US" sz="1350" dirty="0">
                <a:solidFill>
                  <a:srgbClr val="1F2421"/>
                </a:solidFill>
                <a:latin typeface="맑은 고딕" pitchFamily="34" charset="0"/>
                <a:ea typeface="맑은 고딕" pitchFamily="34" charset="-122"/>
                <a:cs typeface="맑은 고딕" pitchFamily="34" charset="-120"/>
              </a:rPr>
              <a:t>지형도에서 등고선이 촘촘한 쪽이 급경사인 것과 같다 — 도착시각의 등고선이 화선이고, 가장 빨리 변하는 방향이 불이 가는 방향이다.</a:t>
            </a:r>
            <a:endParaRPr lang="en-US" sz="1350" dirty="0"/>
          </a:p>
        </p:txBody>
      </p:sp>
      <p:sp>
        <p:nvSpPr>
          <p:cNvPr id="6" name="Shape 4"/>
          <p:cNvSpPr/>
          <p:nvPr/>
        </p:nvSpPr>
        <p:spPr>
          <a:xfrm>
            <a:off x="548640" y="2121408"/>
            <a:ext cx="3429000" cy="2487168"/>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322576"/>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1단 · 국소 평면 적합</a:t>
            </a:r>
            <a:endParaRPr lang="en-US" sz="1450" dirty="0"/>
          </a:p>
        </p:txBody>
      </p:sp>
      <p:sp>
        <p:nvSpPr>
          <p:cNvPr id="8" name="Shape 6"/>
          <p:cNvSpPr/>
          <p:nvPr/>
        </p:nvSpPr>
        <p:spPr>
          <a:xfrm>
            <a:off x="777240" y="2761488"/>
            <a:ext cx="502920" cy="0"/>
          </a:xfrm>
          <a:prstGeom prst="line">
            <a:avLst/>
          </a:prstGeom>
          <a:noFill/>
          <a:ln w="25400">
            <a:solidFill>
              <a:srgbClr val="D35400"/>
            </a:solidFill>
            <a:prstDash val="solid"/>
          </a:ln>
        </p:spPr>
        <p:txBody>
          <a:bodyPr/>
          <a:p/>
        </p:txBody>
      </p:sp>
      <p:sp>
        <p:nvSpPr>
          <p:cNvPr id="9" name="Text 7"/>
          <p:cNvSpPr/>
          <p:nvPr/>
        </p:nvSpPr>
        <p:spPr>
          <a:xfrm>
            <a:off x="777240" y="2898648"/>
            <a:ext cx="297180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 j마다 독립적으로:</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무선 이웃 ∩ 창 안의 사망들을 모아</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최소제곱으로 평면을 맞추고</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기울기 ∇T_j 를 얻는다</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수만큼 N개의 추정치</a:t>
            </a:r>
            <a:endParaRPr lang="en-US" sz="1200" dirty="0"/>
          </a:p>
        </p:txBody>
      </p:sp>
      <p:sp>
        <p:nvSpPr>
          <p:cNvPr id="10" name="Shape 8"/>
          <p:cNvSpPr/>
          <p:nvPr/>
        </p:nvSpPr>
        <p:spPr>
          <a:xfrm>
            <a:off x="4379976" y="2121408"/>
            <a:ext cx="3429000" cy="2487168"/>
          </a:xfrm>
          <a:prstGeom prst="roundRect">
            <a:avLst>
              <a:gd name="adj" fmla="val 2353"/>
            </a:avLst>
          </a:prstGeom>
          <a:solidFill>
            <a:srgbClr val="FBEFE2"/>
          </a:solidFill>
          <a:ln w="12700">
            <a:solidFill>
              <a:srgbClr val="E2DCD0"/>
            </a:solidFill>
            <a:prstDash val="solid"/>
          </a:ln>
        </p:spPr>
        <p:txBody>
          <a:bodyPr/>
          <a:p/>
        </p:txBody>
      </p:sp>
      <p:sp>
        <p:nvSpPr>
          <p:cNvPr id="11" name="Text 9"/>
          <p:cNvSpPr/>
          <p:nvPr/>
        </p:nvSpPr>
        <p:spPr>
          <a:xfrm>
            <a:off x="4608576" y="2322576"/>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2단 · 집계</a:t>
            </a:r>
            <a:endParaRPr lang="en-US" sz="1450" dirty="0"/>
          </a:p>
        </p:txBody>
      </p:sp>
      <p:sp>
        <p:nvSpPr>
          <p:cNvPr id="12" name="Shape 10"/>
          <p:cNvSpPr/>
          <p:nvPr/>
        </p:nvSpPr>
        <p:spPr>
          <a:xfrm>
            <a:off x="4608576" y="2761488"/>
            <a:ext cx="502920" cy="0"/>
          </a:xfrm>
          <a:prstGeom prst="line">
            <a:avLst/>
          </a:prstGeom>
          <a:noFill/>
          <a:ln w="25400">
            <a:solidFill>
              <a:srgbClr val="D35400"/>
            </a:solidFill>
            <a:prstDash val="solid"/>
          </a:ln>
        </p:spPr>
        <p:txBody>
          <a:bodyPr/>
          <a:p/>
        </p:txBody>
      </p:sp>
      <p:sp>
        <p:nvSpPr>
          <p:cNvPr id="13" name="Text 11"/>
          <p:cNvSpPr/>
          <p:nvPr/>
        </p:nvSpPr>
        <p:spPr>
          <a:xfrm>
            <a:off x="4608576" y="2898648"/>
            <a:ext cx="297180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N개를 하나로 합친다:</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방향 — 신뢰도 가중 벡터합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속도 — 중앙값(강건 통계)</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진단 — 유효표본수 n_eff</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두 출력이 다른 집계를 쓴다</a:t>
            </a:r>
            <a:endParaRPr lang="en-US" sz="1200" dirty="0"/>
          </a:p>
        </p:txBody>
      </p:sp>
      <p:sp>
        <p:nvSpPr>
          <p:cNvPr id="14" name="Shape 12"/>
          <p:cNvSpPr/>
          <p:nvPr/>
        </p:nvSpPr>
        <p:spPr>
          <a:xfrm>
            <a:off x="8211312" y="2121408"/>
            <a:ext cx="3429000" cy="2487168"/>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439912" y="2322576"/>
            <a:ext cx="297180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출력</a:t>
            </a:r>
            <a:endParaRPr lang="en-US" sz="1450" dirty="0"/>
          </a:p>
        </p:txBody>
      </p:sp>
      <p:sp>
        <p:nvSpPr>
          <p:cNvPr id="16" name="Shape 14"/>
          <p:cNvSpPr/>
          <p:nvPr/>
        </p:nvSpPr>
        <p:spPr>
          <a:xfrm>
            <a:off x="8439912" y="2761488"/>
            <a:ext cx="502920" cy="0"/>
          </a:xfrm>
          <a:prstGeom prst="line">
            <a:avLst/>
          </a:prstGeom>
          <a:noFill/>
          <a:ln w="25400">
            <a:solidFill>
              <a:srgbClr val="D35400"/>
            </a:solidFill>
            <a:prstDash val="solid"/>
          </a:ln>
        </p:spPr>
        <p:txBody>
          <a:bodyPr/>
          <a:p/>
        </p:txBody>
      </p:sp>
      <p:sp>
        <p:nvSpPr>
          <p:cNvPr id="17" name="Text 15"/>
          <p:cNvSpPr/>
          <p:nvPr/>
        </p:nvSpPr>
        <p:spPr>
          <a:xfrm>
            <a:off x="8439912" y="2898648"/>
            <a:ext cx="2971800" cy="13258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방향  n̂</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속도  s</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지점별 도착예상시각 ETA</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신뢰도 등급</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정보가 부족하면 값을 내지 않고</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INSUFFICIENT를 반환한다.</a:t>
            </a:r>
            <a:endParaRPr lang="en-US" sz="1200" dirty="0"/>
          </a:p>
        </p:txBody>
      </p:sp>
      <p:sp>
        <p:nvSpPr>
          <p:cNvPr id="18" name="Shape 16"/>
          <p:cNvSpPr/>
          <p:nvPr/>
        </p:nvSpPr>
        <p:spPr>
          <a:xfrm>
            <a:off x="4041648" y="3287268"/>
            <a:ext cx="292608" cy="0"/>
          </a:xfrm>
          <a:prstGeom prst="line">
            <a:avLst/>
          </a:prstGeom>
          <a:noFill/>
          <a:ln w="25400">
            <a:solidFill>
              <a:srgbClr val="D35400"/>
            </a:solidFill>
            <a:prstDash val="solid"/>
            <a:tailEnd type="triangle"/>
          </a:ln>
        </p:spPr>
        <p:txBody>
          <a:bodyPr/>
          <a:p/>
        </p:txBody>
      </p:sp>
      <p:sp>
        <p:nvSpPr>
          <p:cNvPr id="19" name="Shape 17"/>
          <p:cNvSpPr/>
          <p:nvPr/>
        </p:nvSpPr>
        <p:spPr>
          <a:xfrm>
            <a:off x="7872984" y="3287268"/>
            <a:ext cx="292608" cy="0"/>
          </a:xfrm>
          <a:prstGeom prst="line">
            <a:avLst/>
          </a:prstGeom>
          <a:noFill/>
          <a:ln w="25400">
            <a:solidFill>
              <a:srgbClr val="D35400"/>
            </a:solidFill>
            <a:prstDash val="solid"/>
            <a:tailEnd type="triangle"/>
          </a:ln>
        </p:spPr>
        <p:txBody>
          <a:bodyPr/>
          <a:p/>
        </p:txBody>
      </p:sp>
      <p:sp>
        <p:nvSpPr>
          <p:cNvPr id="20" name="Shape 18"/>
          <p:cNvSpPr/>
          <p:nvPr/>
        </p:nvSpPr>
        <p:spPr>
          <a:xfrm>
            <a:off x="548640" y="4809744"/>
            <a:ext cx="11091672" cy="1298448"/>
          </a:xfrm>
          <a:prstGeom prst="roundRect">
            <a:avLst>
              <a:gd name="adj" fmla="val 4225"/>
            </a:avLst>
          </a:prstGeom>
          <a:solidFill>
            <a:srgbClr val="FFFFFF"/>
          </a:solidFill>
          <a:ln w="12700">
            <a:solidFill>
              <a:srgbClr val="E2DCD0"/>
            </a:solidFill>
            <a:prstDash val="solid"/>
          </a:ln>
        </p:spPr>
        <p:txBody>
          <a:bodyPr/>
          <a:p/>
        </p:txBody>
      </p:sp>
      <p:sp>
        <p:nvSpPr>
          <p:cNvPr id="21" name="Text 19"/>
          <p:cNvSpPr/>
          <p:nvPr/>
        </p:nvSpPr>
        <p:spPr>
          <a:xfrm>
            <a:off x="777240" y="4919472"/>
            <a:ext cx="585216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∇T = n̂ / s  →  방향 n̂ = ∇T/|∇T| ,  속도 s = 1/|∇T|</a:t>
            </a:r>
            <a:endParaRPr lang="en-US" sz="1500" dirty="0"/>
          </a:p>
        </p:txBody>
      </p:sp>
      <p:sp>
        <p:nvSpPr>
          <p:cNvPr id="22" name="Text 20"/>
          <p:cNvSpPr/>
          <p:nvPr/>
        </p:nvSpPr>
        <p:spPr>
          <a:xfrm>
            <a:off x="713232" y="5358384"/>
            <a:ext cx="10762488" cy="548640"/>
          </a:xfrm>
          <a:prstGeom prst="rect">
            <a:avLst/>
          </a:prstGeom>
          <a:noFill/>
          <a:ln/>
        </p:spPr>
        <p:txBody>
          <a:bodyPr wrap="square" rtlCol="0" anchor="ctr"/>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모든 노드에 똑같이 걸리는 센서 지연은 평면의 절편에만 흡수되어 기울기에서 상쇄된다 — </a:t>
            </a:r>
            <a:pPr indent="0" marL="0">
              <a:lnSpc>
                <a:spcPct val="120000"/>
              </a:lnSpc>
              <a:buNone/>
            </a:pPr>
            <a:r>
              <a:rPr lang="en-US" sz="1200" b="1" dirty="0">
                <a:solidFill>
                  <a:srgbClr val="2C5F2D"/>
                </a:solidFill>
                <a:latin typeface="맑은 고딕" pitchFamily="34" charset="0"/>
                <a:ea typeface="맑은 고딕" pitchFamily="34" charset="-122"/>
                <a:cs typeface="맑은 고딕" pitchFamily="34" charset="-120"/>
              </a:rPr>
              <a:t>방향·속도가 센서 지연에 원리적으로 면역인 이유(수식 증명).</a:t>
            </a:r>
            <a:endParaRPr lang="en-US" sz="1200" dirty="0"/>
          </a:p>
        </p:txBody>
      </p:sp>
      <p:sp>
        <p:nvSpPr>
          <p:cNvPr id="23" name="Text 21"/>
          <p:cNvSpPr/>
          <p:nvPr/>
        </p:nvSpPr>
        <p:spPr>
          <a:xfrm>
            <a:off x="8439912" y="4919472"/>
            <a:ext cx="2971800" cy="402336"/>
          </a:xfrm>
          <a:prstGeom prst="rect">
            <a:avLst/>
          </a:prstGeom>
          <a:noFill/>
          <a:ln/>
        </p:spPr>
        <p:txBody>
          <a:bodyPr wrap="square" rtlCol="0" anchor="ctr"/>
          <a:lstStyle/>
          <a:p>
            <a:pPr algn="r" indent="0" marL="0" eaLnBrk="0" hangingPunct="1">
              <a:buNone/>
            </a:pPr>
            <a:r>
              <a:rPr lang="en-US" sz="1100" dirty="0">
                <a:solidFill>
                  <a:srgbClr val="6B6E6A"/>
                </a:solidFill>
                <a:latin typeface="맑은 고딕" pitchFamily="34" charset="0"/>
                <a:ea typeface="맑은 고딕" pitchFamily="34" charset="-122"/>
                <a:cs typeface="맑은 고딕" pitchFamily="34" charset="-120"/>
              </a:rPr>
              <a:t>학습 데이터 불필요 · 라즈베리파이에서 즉시 계산되는 가벼운 최소제곱</a:t>
            </a:r>
            <a:endParaRPr lang="en-US" sz="1100" dirty="0"/>
          </a:p>
        </p:txBody>
      </p:sp>
      <p:sp>
        <p:nvSpPr>
          <p:cNvPr id="24" name="Text 2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7</a:t>
            </a:r>
            <a:endParaRPr lang="en-US" sz="900" dirty="0"/>
          </a:p>
        </p:txBody>
      </p:sp>
      <p:sp>
        <p:nvSpPr>
          <p:cNvPr id="26" name="Shape 24"/>
          <p:cNvSpPr/>
          <p:nvPr/>
        </p:nvSpPr>
        <p:spPr>
          <a:xfrm>
            <a:off x="10503027" y="6464808"/>
            <a:ext cx="144018" cy="36576"/>
          </a:xfrm>
          <a:prstGeom prst="line">
            <a:avLst/>
          </a:prstGeom>
          <a:noFill/>
          <a:ln w="9525">
            <a:solidFill>
              <a:srgbClr val="E2DCD0"/>
            </a:solidFill>
            <a:prstDash val="solid"/>
          </a:ln>
        </p:spPr>
        <p:txBody>
          <a:bodyPr/>
          <a:p/>
        </p:txBody>
      </p:sp>
      <p:sp>
        <p:nvSpPr>
          <p:cNvPr id="27" name="Shape 25"/>
          <p:cNvSpPr/>
          <p:nvPr/>
        </p:nvSpPr>
        <p:spPr>
          <a:xfrm flipH="1">
            <a:off x="10498455" y="6464808"/>
            <a:ext cx="4572" cy="187452"/>
          </a:xfrm>
          <a:prstGeom prst="line">
            <a:avLst/>
          </a:prstGeom>
          <a:noFill/>
          <a:ln w="9525">
            <a:solidFill>
              <a:srgbClr val="E2DCD0"/>
            </a:solidFill>
            <a:prstDash val="solid"/>
          </a:ln>
        </p:spPr>
        <p:txBody>
          <a:bodyPr/>
          <a:p/>
        </p:txBody>
      </p:sp>
      <p:sp>
        <p:nvSpPr>
          <p:cNvPr id="28" name="Shape 26"/>
          <p:cNvSpPr/>
          <p:nvPr/>
        </p:nvSpPr>
        <p:spPr>
          <a:xfrm flipV="1">
            <a:off x="10647045" y="6451092"/>
            <a:ext cx="235458" cy="50292"/>
          </a:xfrm>
          <a:prstGeom prst="line">
            <a:avLst/>
          </a:prstGeom>
          <a:noFill/>
          <a:ln w="9525">
            <a:solidFill>
              <a:srgbClr val="E2DCD0"/>
            </a:solidFill>
            <a:prstDash val="solid"/>
          </a:ln>
        </p:spPr>
        <p:txBody>
          <a:bodyPr/>
          <a:p/>
        </p:txBody>
      </p:sp>
      <p:sp>
        <p:nvSpPr>
          <p:cNvPr id="29" name="Shape 27"/>
          <p:cNvSpPr/>
          <p:nvPr/>
        </p:nvSpPr>
        <p:spPr>
          <a:xfrm flipH="1">
            <a:off x="10642473" y="6501384"/>
            <a:ext cx="4572" cy="196596"/>
          </a:xfrm>
          <a:prstGeom prst="line">
            <a:avLst/>
          </a:prstGeom>
          <a:noFill/>
          <a:ln w="9525">
            <a:solidFill>
              <a:srgbClr val="E2DCD0"/>
            </a:solidFill>
            <a:prstDash val="solid"/>
          </a:ln>
        </p:spPr>
        <p:txBody>
          <a:bodyPr/>
          <a:p/>
        </p:txBody>
      </p:sp>
      <p:sp>
        <p:nvSpPr>
          <p:cNvPr id="30" name="Shape 28"/>
          <p:cNvSpPr/>
          <p:nvPr/>
        </p:nvSpPr>
        <p:spPr>
          <a:xfrm>
            <a:off x="10882503" y="6451092"/>
            <a:ext cx="162306" cy="41148"/>
          </a:xfrm>
          <a:prstGeom prst="line">
            <a:avLst/>
          </a:prstGeom>
          <a:noFill/>
          <a:ln w="9525">
            <a:solidFill>
              <a:srgbClr val="E2DCD0"/>
            </a:solidFill>
            <a:prstDash val="solid"/>
          </a:ln>
        </p:spPr>
        <p:txBody>
          <a:bodyPr/>
          <a:p/>
        </p:txBody>
      </p:sp>
      <p:sp>
        <p:nvSpPr>
          <p:cNvPr id="31" name="Shape 29"/>
          <p:cNvSpPr/>
          <p:nvPr/>
        </p:nvSpPr>
        <p:spPr>
          <a:xfrm flipH="1">
            <a:off x="10877931" y="6451092"/>
            <a:ext cx="4572" cy="196596"/>
          </a:xfrm>
          <a:prstGeom prst="line">
            <a:avLst/>
          </a:prstGeom>
          <a:noFill/>
          <a:ln w="9525">
            <a:solidFill>
              <a:srgbClr val="E2DCD0"/>
            </a:solidFill>
            <a:prstDash val="solid"/>
          </a:ln>
        </p:spPr>
        <p:txBody>
          <a:bodyPr/>
          <a:p/>
        </p:txBody>
      </p:sp>
      <p:sp>
        <p:nvSpPr>
          <p:cNvPr id="32" name="Shape 30"/>
          <p:cNvSpPr/>
          <p:nvPr/>
        </p:nvSpPr>
        <p:spPr>
          <a:xfrm flipH="1">
            <a:off x="11040237" y="6492240"/>
            <a:ext cx="4572" cy="196596"/>
          </a:xfrm>
          <a:prstGeom prst="line">
            <a:avLst/>
          </a:prstGeom>
          <a:noFill/>
          <a:ln w="9525">
            <a:solidFill>
              <a:srgbClr val="E2DCD0"/>
            </a:solidFill>
            <a:prstDash val="solid"/>
          </a:ln>
        </p:spPr>
        <p:txBody>
          <a:bodyPr/>
          <a:p/>
        </p:txBody>
      </p:sp>
      <p:sp>
        <p:nvSpPr>
          <p:cNvPr id="33" name="Shape 31"/>
          <p:cNvSpPr/>
          <p:nvPr/>
        </p:nvSpPr>
        <p:spPr>
          <a:xfrm>
            <a:off x="10498455" y="6652260"/>
            <a:ext cx="144018" cy="45720"/>
          </a:xfrm>
          <a:prstGeom prst="line">
            <a:avLst/>
          </a:prstGeom>
          <a:noFill/>
          <a:ln w="9525">
            <a:solidFill>
              <a:srgbClr val="E2DCD0"/>
            </a:solidFill>
            <a:prstDash val="solid"/>
          </a:ln>
        </p:spPr>
        <p:txBody>
          <a:bodyPr/>
          <a:p/>
        </p:txBody>
      </p:sp>
      <p:sp>
        <p:nvSpPr>
          <p:cNvPr id="34" name="Shape 32"/>
          <p:cNvSpPr/>
          <p:nvPr/>
        </p:nvSpPr>
        <p:spPr>
          <a:xfrm flipV="1">
            <a:off x="10642473" y="6647688"/>
            <a:ext cx="235458" cy="50292"/>
          </a:xfrm>
          <a:prstGeom prst="line">
            <a:avLst/>
          </a:prstGeom>
          <a:noFill/>
          <a:ln w="9525">
            <a:solidFill>
              <a:srgbClr val="E2DCD0"/>
            </a:solidFill>
            <a:prstDash val="solid"/>
          </a:ln>
        </p:spPr>
        <p:txBody>
          <a:bodyPr/>
          <a:p/>
        </p:txBody>
      </p:sp>
      <p:sp>
        <p:nvSpPr>
          <p:cNvPr id="35" name="Shape 33"/>
          <p:cNvSpPr/>
          <p:nvPr/>
        </p:nvSpPr>
        <p:spPr>
          <a:xfrm>
            <a:off x="10877931" y="6647688"/>
            <a:ext cx="162306" cy="41148"/>
          </a:xfrm>
          <a:prstGeom prst="line">
            <a:avLst/>
          </a:prstGeom>
          <a:noFill/>
          <a:ln w="9525">
            <a:solidFill>
              <a:srgbClr val="E2DCD0"/>
            </a:solidFill>
            <a:prstDash val="solid"/>
          </a:ln>
        </p:spPr>
        <p:txBody>
          <a:bodyPr/>
          <a:p/>
        </p:txBody>
      </p:sp>
      <p:sp>
        <p:nvSpPr>
          <p:cNvPr id="36" name="Shape 3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4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2"/>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명세↔코드 1:1 대조 완료</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③ ★ 오탐 방어 (헤드라인)</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통신두절과 진짜 파괴를 구분한다 — 침묵만으로는 죽었다 하지 않는다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66928"/>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노드가 조용해졌다고 다 죽은 게 아니다. 잠깐 끊긴 것(통신두절)이나 불이 아닌 죽음(배터리·고장)을 화재로 오판하면 가짜 화선이 그려진다.</a:t>
            </a:r>
            <a:br/>
            <a:r>
              <a:rPr lang="en-US" sz="1350" dirty="0">
                <a:solidFill>
                  <a:srgbClr val="1F2421"/>
                </a:solidFill>
                <a:latin typeface="맑은 고딕" pitchFamily="34" charset="0"/>
                <a:ea typeface="맑은 고딕" pitchFamily="34" charset="-122"/>
                <a:cs typeface="맑은 고딕" pitchFamily="34" charset="-120"/>
              </a:rPr>
              <a:t>세 겹으로 확인한다.</a:t>
            </a:r>
            <a:endParaRPr lang="en-US" sz="1350" dirty="0"/>
          </a:p>
        </p:txBody>
      </p:sp>
      <p:sp>
        <p:nvSpPr>
          <p:cNvPr id="6" name="Shape 4"/>
          <p:cNvSpPr/>
          <p:nvPr/>
        </p:nvSpPr>
        <p:spPr>
          <a:xfrm>
            <a:off x="548640"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7" name="Text 5"/>
          <p:cNvSpPr/>
          <p:nvPr/>
        </p:nvSpPr>
        <p:spPr>
          <a:xfrm>
            <a:off x="777240" y="2286000"/>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첫째 겹 · 다중 이웃 교차검증</a:t>
            </a:r>
            <a:endParaRPr lang="en-US" sz="1450" dirty="0"/>
          </a:p>
        </p:txBody>
      </p:sp>
      <p:sp>
        <p:nvSpPr>
          <p:cNvPr id="8" name="Shape 6"/>
          <p:cNvSpPr/>
          <p:nvPr/>
        </p:nvSpPr>
        <p:spPr>
          <a:xfrm>
            <a:off x="777240" y="2724912"/>
            <a:ext cx="502920" cy="0"/>
          </a:xfrm>
          <a:prstGeom prst="line">
            <a:avLst/>
          </a:prstGeom>
          <a:noFill/>
          <a:ln w="25400">
            <a:solidFill>
              <a:srgbClr val="D35400"/>
            </a:solidFill>
            <a:prstDash val="solid"/>
          </a:ln>
        </p:spPr>
        <p:txBody>
          <a:bodyPr/>
          <a:p/>
        </p:txBody>
      </p:sp>
      <p:sp>
        <p:nvSpPr>
          <p:cNvPr id="9" name="Text 7"/>
          <p:cNvSpPr/>
          <p:nvPr/>
        </p:nvSpPr>
        <p:spPr>
          <a:xfrm>
            <a:off x="777240"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한 노드가 침묵해도 즉시 죽음으로 보지 않는다. K개 이웃(K_confirm=3)이 독립적으로 '연결 끊김'을 확인해야 사망 후보로 승격 — 일시적 링크 노이즈를 걸러낸다.</a:t>
            </a:r>
            <a:endParaRPr lang="en-US" sz="1200" dirty="0"/>
          </a:p>
        </p:txBody>
      </p:sp>
      <p:sp>
        <p:nvSpPr>
          <p:cNvPr id="10" name="Shape 8"/>
          <p:cNvSpPr/>
          <p:nvPr/>
        </p:nvSpPr>
        <p:spPr>
          <a:xfrm>
            <a:off x="4379976"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11" name="Text 9"/>
          <p:cNvSpPr/>
          <p:nvPr/>
        </p:nvSpPr>
        <p:spPr>
          <a:xfrm>
            <a:off x="4608576" y="2286000"/>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둘째 겹 · 온도 교차검증</a:t>
            </a:r>
            <a:endParaRPr lang="en-US" sz="1450" dirty="0"/>
          </a:p>
        </p:txBody>
      </p:sp>
      <p:sp>
        <p:nvSpPr>
          <p:cNvPr id="12" name="Shape 10"/>
          <p:cNvSpPr/>
          <p:nvPr/>
        </p:nvSpPr>
        <p:spPr>
          <a:xfrm>
            <a:off x="4608576" y="2724912"/>
            <a:ext cx="502920" cy="0"/>
          </a:xfrm>
          <a:prstGeom prst="line">
            <a:avLst/>
          </a:prstGeom>
          <a:noFill/>
          <a:ln w="25400">
            <a:solidFill>
              <a:srgbClr val="D35400"/>
            </a:solidFill>
            <a:prstDash val="solid"/>
          </a:ln>
        </p:spPr>
        <p:txBody>
          <a:bodyPr/>
          <a:p/>
        </p:txBody>
      </p:sp>
      <p:sp>
        <p:nvSpPr>
          <p:cNvPr id="13" name="Text 11"/>
          <p:cNvSpPr/>
          <p:nvPr/>
        </p:nvSpPr>
        <p:spPr>
          <a:xfrm>
            <a:off x="4480560" y="2862072"/>
            <a:ext cx="3227832"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사망 후보가 직전에 고온을 겪었는가? 화선에 의한 죽음이면 온도 상승이 선행한다. 온도 정황이 뒷받침될 때만 '화선 사망'으로 확정.</a:t>
            </a:r>
            <a:endParaRPr lang="en-US" sz="1200" dirty="0"/>
          </a:p>
        </p:txBody>
      </p:sp>
      <p:sp>
        <p:nvSpPr>
          <p:cNvPr id="14" name="Shape 12"/>
          <p:cNvSpPr/>
          <p:nvPr/>
        </p:nvSpPr>
        <p:spPr>
          <a:xfrm>
            <a:off x="8211312" y="2084832"/>
            <a:ext cx="3429000" cy="2240280"/>
          </a:xfrm>
          <a:prstGeom prst="roundRect">
            <a:avLst>
              <a:gd name="adj" fmla="val 2449"/>
            </a:avLst>
          </a:prstGeom>
          <a:solidFill>
            <a:srgbClr val="FBEFE2"/>
          </a:solidFill>
          <a:ln w="12700">
            <a:solidFill>
              <a:srgbClr val="E2DCD0"/>
            </a:solidFill>
            <a:prstDash val="solid"/>
          </a:ln>
        </p:spPr>
        <p:txBody>
          <a:bodyPr/>
          <a:p/>
        </p:txBody>
      </p:sp>
      <p:sp>
        <p:nvSpPr>
          <p:cNvPr id="15" name="Text 13"/>
          <p:cNvSpPr/>
          <p:nvPr/>
        </p:nvSpPr>
        <p:spPr>
          <a:xfrm>
            <a:off x="8439912" y="2286000"/>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셋째 겹 · 임종신호 (비대칭)</a:t>
            </a:r>
            <a:endParaRPr lang="en-US" sz="1450" dirty="0"/>
          </a:p>
        </p:txBody>
      </p:sp>
      <p:sp>
        <p:nvSpPr>
          <p:cNvPr id="16" name="Shape 14"/>
          <p:cNvSpPr/>
          <p:nvPr/>
        </p:nvSpPr>
        <p:spPr>
          <a:xfrm>
            <a:off x="8439912" y="2724912"/>
            <a:ext cx="502920" cy="0"/>
          </a:xfrm>
          <a:prstGeom prst="line">
            <a:avLst/>
          </a:prstGeom>
          <a:noFill/>
          <a:ln w="25400">
            <a:solidFill>
              <a:srgbClr val="D35400"/>
            </a:solidFill>
            <a:prstDash val="solid"/>
          </a:ln>
        </p:spPr>
        <p:txBody>
          <a:bodyPr/>
          <a:p/>
        </p:txBody>
      </p:sp>
      <p:sp>
        <p:nvSpPr>
          <p:cNvPr id="17" name="Text 15"/>
          <p:cNvSpPr/>
          <p:nvPr/>
        </p:nvSpPr>
        <p:spPr>
          <a:xfrm>
            <a:off x="8439912"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임종신호는 있으면 화재 증거, 없어도 기각 근거가 아니다 — 전소로 신호조차 못 보낸 노드가 바로 진짜 화재이므로. 이 비대칭성은 테스트 2개로 고정.</a:t>
            </a:r>
            <a:endParaRPr lang="en-US" sz="1200" dirty="0"/>
          </a:p>
        </p:txBody>
      </p:sp>
      <p:sp>
        <p:nvSpPr>
          <p:cNvPr id="18" name="Shape 16"/>
          <p:cNvSpPr/>
          <p:nvPr/>
        </p:nvSpPr>
        <p:spPr>
          <a:xfrm>
            <a:off x="548640" y="4553712"/>
            <a:ext cx="11091672" cy="1417320"/>
          </a:xfrm>
          <a:prstGeom prst="roundRect">
            <a:avLst>
              <a:gd name="adj" fmla="val 3871"/>
            </a:avLst>
          </a:prstGeom>
          <a:solidFill>
            <a:srgbClr val="EEF3E6"/>
          </a:solidFill>
          <a:ln w="12700">
            <a:solidFill>
              <a:srgbClr val="E2DCD0"/>
            </a:solidFill>
            <a:prstDash val="solid"/>
          </a:ln>
        </p:spPr>
        <p:txBody>
          <a:bodyPr/>
          <a:p/>
        </p:txBody>
      </p:sp>
      <p:sp>
        <p:nvSpPr>
          <p:cNvPr id="19" name="Text 17"/>
          <p:cNvSpPr/>
          <p:nvPr/>
        </p:nvSpPr>
        <p:spPr>
          <a:xfrm>
            <a:off x="777240" y="4681728"/>
            <a:ext cx="10607040" cy="320040"/>
          </a:xfrm>
          <a:prstGeom prst="rect">
            <a:avLst/>
          </a:prstGeom>
          <a:noFill/>
          <a:ln/>
        </p:spPr>
        <p:txBody>
          <a:bodyPr wrap="square" rtlCol="0" anchor="ctr"/>
          <a:lstStyle/>
          <a:p>
            <a:pP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설계 원칙 — 판별은 정보가 가장 많은 곳에서</a:t>
            </a:r>
            <a:endParaRPr lang="en-US" sz="1350" dirty="0"/>
          </a:p>
        </p:txBody>
      </p:sp>
      <p:sp>
        <p:nvSpPr>
          <p:cNvPr id="20" name="Text 18"/>
          <p:cNvSpPr/>
          <p:nvPr/>
        </p:nvSpPr>
        <p:spPr>
          <a:xfrm>
            <a:off x="777240" y="5029200"/>
            <a:ext cx="10607040" cy="822960"/>
          </a:xfrm>
          <a:prstGeom prst="rect">
            <a:avLst/>
          </a:prstGeom>
          <a:noFill/>
          <a:ln/>
        </p:spPr>
        <p:txBody>
          <a:bodyPr wrap="square" rtlCol="0" anchor="ctr"/>
          <a:lstStyle/>
          <a:p>
            <a:pPr indent="0" marL="0" eaLnBrk="0" hangingPunct="1">
              <a:lnSpc>
                <a:spcPct val="125000"/>
              </a:lnSpc>
              <a:buNone/>
            </a:pPr>
            <a:r>
              <a:rPr lang="en-US" sz="1200" dirty="0">
                <a:solidFill>
                  <a:srgbClr val="44483F"/>
                </a:solidFill>
                <a:latin typeface="맑은 고딕" pitchFamily="34" charset="0"/>
                <a:ea typeface="맑은 고딕" pitchFamily="34" charset="-122"/>
                <a:cs typeface="맑은 고딕" pitchFamily="34" charset="-120"/>
              </a:rPr>
              <a:t>말단 노드의 게이트는 </a:t>
            </a:r>
            <a:pPr indent="0" marL="0">
              <a:lnSpc>
                <a:spcPct val="125000"/>
              </a:lnSpc>
              <a:buNone/>
            </a:pPr>
            <a:r>
              <a:rPr lang="en-US" sz="1200" b="1" dirty="0">
                <a:solidFill>
                  <a:srgbClr val="1F2421"/>
                </a:solidFill>
                <a:latin typeface="맑은 고딕" pitchFamily="34" charset="0"/>
                <a:ea typeface="맑은 고딕" pitchFamily="34" charset="-122"/>
                <a:cs typeface="맑은 고딕" pitchFamily="34" charset="-120"/>
              </a:rPr>
              <a:t>의도적으로 느슨하게</a:t>
            </a:r>
            <a:pPr indent="0" marL="0">
              <a:lnSpc>
                <a:spcPct val="125000"/>
              </a:lnSpc>
              <a:buNone/>
            </a:pPr>
            <a:r>
              <a:rPr lang="en-US" sz="1200" dirty="0">
                <a:solidFill>
                  <a:srgbClr val="44483F"/>
                </a:solidFill>
                <a:latin typeface="맑은 고딕" pitchFamily="34" charset="0"/>
                <a:ea typeface="맑은 고딕" pitchFamily="34" charset="-122"/>
                <a:cs typeface="맑은 고딕" pitchFamily="34" charset="-120"/>
              </a:rPr>
              <a:t> 두고, 최종 판별은 이웃 정보가 모두 모이는 게이트웨이에서 한다. 말단에서 조이면 게이트웨이가 볼 표본 자체가 굶기 때문. </a:t>
            </a:r>
            <a:pPr indent="0" marL="0">
              <a:lnSpc>
                <a:spcPct val="125000"/>
              </a:lnSpc>
              <a:buNone/>
            </a:pPr>
            <a:r>
              <a:rPr lang="en-US" sz="1200" b="1" dirty="0">
                <a:solidFill>
                  <a:srgbClr val="2C5F2D"/>
                </a:solidFill>
                <a:latin typeface="맑은 고딕" pitchFamily="34" charset="0"/>
                <a:ea typeface="맑은 고딕" pitchFamily="34" charset="-122"/>
                <a:cs typeface="맑은 고딕" pitchFamily="34" charset="-120"/>
              </a:rPr>
              <a:t>결과: 측정 전 구간(통신두절 0.30까지) [시뮬] 오탐률 0%, 비화재 COOL 누수 86.4% → 0%.</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순정 painlessMesh가 갖지 못한 계층</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④ 자가치유 라우팅 · 임종신호</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노드가 죽어도 경로는 살아난다 — 15.9초 만에 재구성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3337560"/>
          </a:xfrm>
          <a:prstGeom prst="roundRect">
            <a:avLst>
              <a:gd name="adj" fmla="val 196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자가치유 라우팅</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121408"/>
            <a:ext cx="4983480" cy="26974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브리지(id 99) 기준 역방향 BFS로 각 노드의 상행 경로를 구성.</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DEAD로 확정되면 영향 구역만 경로를 즉시 재계산.</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연결성이 유지되는 한, 죽은 노드를 우회해 데이터가 계속 sink에 도달.</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메시는 노드들을 나무처럼 잇는다. 가지 중간의 노드가 죽으면 그 아래 노드들은 게이트웨이로 가는 길을 잃는다.</a:t>
            </a:r>
            <a:endParaRPr lang="en-US" sz="1200" dirty="0"/>
          </a:p>
          <a:p>
            <a:pPr indent="-146304" marL="146304" eaLnBrk="0" hangingPunct="1">
              <a:lnSpc>
                <a:spcPct val="120000"/>
              </a:lnSpc>
              <a:buNone/>
            </a:pPr>
            <a:r>
              <a:rPr lang="en-US" sz="1100" dirty="0" b="1">
                <a:solidFill>
                  <a:srgbClr val="44483F"/>
                </a:solidFill>
                <a:latin typeface="맑은 고딕" pitchFamily="34" charset="0"/>
                <a:ea typeface="맑은 고딕" pitchFamily="34" charset="-122"/>
                <a:cs typeface="맑은 고딕" pitchFamily="34" charset="-120"/>
              </a:rPr>
              <a:t>· 실물 메시 실측 (16대 중 15대 합류 상태 · 2026-09-01)</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하위 11대를 거느린 중계 노드 1대를 물리 제거 → 재부팅 없이 15.9초 만에 경로 재구성.</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9개 노드가 부모를 바꿨고, 남은 14대가 70~80초 내 전송 재개.</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시뮬의 100ms는 틱값(성능 아님).</a:t>
            </a:r>
            <a:endParaRPr lang="en-US" sz="1200" dirty="0"/>
          </a:p>
        </p:txBody>
      </p:sp>
      <p:sp>
        <p:nvSpPr>
          <p:cNvPr id="9" name="Shape 7"/>
          <p:cNvSpPr/>
          <p:nvPr/>
        </p:nvSpPr>
        <p:spPr>
          <a:xfrm>
            <a:off x="6153912" y="1508760"/>
            <a:ext cx="5477256" cy="3337560"/>
          </a:xfrm>
          <a:prstGeom prst="roundRect">
            <a:avLst>
              <a:gd name="adj" fmla="val 1967"/>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임종신호 (Last-Gasp)</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37744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임계온도를 넘어 죽기 직전, 마지막 패킷을 방출.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'언제 죽었는가'를 확정 → 도착시각 추정의 입력 시각을 정밀화.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하트비트(주기 신호) 누락과 결합해 침묵을 판정.</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죽음의 '시각'이 정확할수록 화선 방향·속도 추정이 정밀해진다.</a:t>
            </a:r>
            <a:endParaRPr lang="en-US" sz="1200" dirty="0"/>
          </a:p>
        </p:txBody>
      </p:sp>
      <p:sp>
        <p:nvSpPr>
          <p:cNvPr id="13" name="Text 11"/>
          <p:cNvSpPr/>
          <p:nvPr/>
        </p:nvSpPr>
        <p:spPr>
          <a:xfrm>
            <a:off x="548640" y="5047488"/>
            <a:ext cx="11064240" cy="457200"/>
          </a:xfrm>
          <a:prstGeom prst="rect">
            <a:avLst/>
          </a:prstGeom>
          <a:noFill/>
          <a:ln/>
        </p:spPr>
        <p:txBody>
          <a:bodyPr wrap="square" rtlCol="0" anchor="ctr"/>
          <a:lstStyle/>
          <a:p>
            <a:pPr algn="ct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자가치유(관측 지속) + 임종신호(죽음의 시각 확정)가 만나, '죽는 노드'가 '살아있는 정보'가 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⑤ 구성 · 개발 규율</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결과가 나빠도 파라미터를 고치지 않는다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200400"/>
          </a:xfrm>
          <a:prstGeom prst="roundRect">
            <a:avLst>
              <a:gd name="adj" fmla="val 1714"/>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저장소 구성</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1945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sim/  — 시뮬레이터 · 추정기(estimator) · 집계(aggregate)</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firmware/  — ESP32 노드 펌웨어(C/C++)</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gateway/  — 라즈베리파이 추정기(Python, sim 재사용)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dashboard/  — 자체완결 웹 관제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docs/  — 연구노트(PROGRESS · DECISIONS · 알고리즘 명세)</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결정 로그(D-001~)를 남겨 '왜 그렇게 정했는가'를 전부 추적 가능하게.</a:t>
            </a:r>
            <a:endParaRPr lang="en-US" sz="1200" dirty="0"/>
          </a:p>
        </p:txBody>
      </p:sp>
      <p:sp>
        <p:nvSpPr>
          <p:cNvPr id="9" name="Shape 7"/>
          <p:cNvSpPr/>
          <p:nvPr/>
        </p:nvSpPr>
        <p:spPr>
          <a:xfrm>
            <a:off x="6153912" y="1508760"/>
            <a:ext cx="5477256" cy="3200400"/>
          </a:xfrm>
          <a:prstGeom prst="roundRect">
            <a:avLst>
              <a:gd name="adj" fmla="val 1714"/>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추정기 동결 + 버전 분기</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1945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핵심 추정기 파일을 동결(frozen) — 모든 개선은 버전 분기로만.</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그래서 어떤 실험도 과거 결과를 훼손할 수 없다.</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회귀가 매번 비트 단위 동일함을 확인(최대차 0.000e+00).</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자동 테스트 54건 상시 통과.</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결과가 나빠도 파라미터를 유리하게 고치지 않는다(기록만).</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데모에만 맞춘 과적합을 피한다.</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버그는 고친다. 파라미터는 만지지 않는다 — 둘을 구분한다.</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예측을 미리 등록하고 맞든 틀리든 기록한다. 기각된 예측 5건이 문서에 남아 있다.</a:t>
            </a:r>
            <a:endParaRPr lang="en-US" sz="1200" dirty="0"/>
          </a:p>
        </p:txBody>
      </p:sp>
      <p:sp>
        <p:nvSpPr>
          <p:cNvPr id="13" name="Text 11"/>
          <p:cNvSpPr/>
          <p:nvPr/>
        </p:nvSpPr>
        <p:spPr>
          <a:xfrm>
            <a:off x="777240" y="4892040"/>
            <a:ext cx="10835640" cy="68580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값을 정하기 전에 먼저 재고, 잰 값에서 파라미터를 유도한다. 완성도는 '보기 좋은 숫자'가 아니라 '재현 가능하고 정직하게 측정된 숫자'에서 나온다.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10</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①</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하드웨어 없이 먼저 검증하고, 정직하게 교정</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장애 · 하드웨어 리스크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부품 도착 전 알고리즘을 못 짜면 개발이 지연되고, 실물에서 처음 검증하면 리스크가 크다.</a:t>
            </a:r>
            <a:endParaRPr lang="en-US" sz="1200" dirty="0"/>
          </a:p>
        </p:txBody>
      </p:sp>
      <p:sp>
        <p:nvSpPr>
          <p:cNvPr id="9" name="Shape 7"/>
          <p:cNvSpPr/>
          <p:nvPr/>
        </p:nvSpPr>
        <p:spPr>
          <a:xfrm>
            <a:off x="6153912" y="150876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해결 · 시뮬 선(先)개발</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네트워크 시뮬레이터로 4대 기능을 먼저 구현·검증. 정상 조건에서 방향 2.12°·속도 0.10%·전달률 92.3%·오탐 0% 확보.</a:t>
            </a:r>
            <a:endParaRPr lang="en-US" sz="1200" dirty="0"/>
          </a:p>
        </p:txBody>
      </p:sp>
      <p:sp>
        <p:nvSpPr>
          <p:cNvPr id="13" name="Shape 11"/>
          <p:cNvSpPr/>
          <p:nvPr/>
        </p:nvSpPr>
        <p:spPr>
          <a:xfrm>
            <a:off x="548640" y="384048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14" name="Text 12"/>
          <p:cNvSpPr/>
          <p:nvPr/>
        </p:nvSpPr>
        <p:spPr>
          <a:xfrm>
            <a:off x="777240" y="4041648"/>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장애 · 가짜로 좋은 수치</a:t>
            </a:r>
            <a:endParaRPr lang="en-US" sz="1450" dirty="0"/>
          </a:p>
        </p:txBody>
      </p:sp>
      <p:sp>
        <p:nvSpPr>
          <p:cNvPr id="15" name="Shape 13"/>
          <p:cNvSpPr/>
          <p:nvPr/>
        </p:nvSpPr>
        <p:spPr>
          <a:xfrm>
            <a:off x="777240" y="4480560"/>
            <a:ext cx="502920" cy="0"/>
          </a:xfrm>
          <a:prstGeom prst="line">
            <a:avLst/>
          </a:prstGeom>
          <a:noFill/>
          <a:ln w="25400">
            <a:solidFill>
              <a:srgbClr val="D35400"/>
            </a:solidFill>
            <a:prstDash val="solid"/>
          </a:ln>
        </p:spPr>
        <p:txBody>
          <a:bodyPr/>
          <a:p/>
        </p:txBody>
      </p:sp>
      <p:sp>
        <p:nvSpPr>
          <p:cNvPr id="16" name="Text 14"/>
          <p:cNvSpPr/>
          <p:nvPr/>
        </p:nvSpPr>
        <p:spPr>
          <a:xfrm>
            <a:off x="777240" y="461772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초기엔 바람이 고정 파형이라 시드를 바꿔도 오차가 안 변해 에러바가 가짜로 0에 가까웠다. 좋아 보이는 숫자가 사실은 측정이 아니었다.</a:t>
            </a:r>
            <a:endParaRPr lang="en-US" sz="1200" dirty="0"/>
          </a:p>
        </p:txBody>
      </p:sp>
      <p:sp>
        <p:nvSpPr>
          <p:cNvPr id="17" name="Shape 15"/>
          <p:cNvSpPr/>
          <p:nvPr/>
        </p:nvSpPr>
        <p:spPr>
          <a:xfrm>
            <a:off x="6153912" y="384048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404164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해결 · 사전등록 제도</a:t>
            </a:r>
            <a:endParaRPr lang="en-US" sz="1450" dirty="0"/>
          </a:p>
        </p:txBody>
      </p:sp>
      <p:sp>
        <p:nvSpPr>
          <p:cNvPr id="19" name="Shape 17"/>
          <p:cNvSpPr/>
          <p:nvPr/>
        </p:nvSpPr>
        <p:spPr>
          <a:xfrm>
            <a:off x="6382512" y="4480560"/>
            <a:ext cx="502920" cy="0"/>
          </a:xfrm>
          <a:prstGeom prst="line">
            <a:avLst/>
          </a:prstGeom>
          <a:noFill/>
          <a:ln w="25400">
            <a:solidFill>
              <a:srgbClr val="D35400"/>
            </a:solidFill>
            <a:prstDash val="solid"/>
          </a:ln>
        </p:spPr>
        <p:txBody>
          <a:bodyPr/>
          <a:p/>
        </p:txBody>
      </p:sp>
      <p:sp>
        <p:nvSpPr>
          <p:cNvPr id="20" name="Text 18"/>
          <p:cNvSpPr/>
          <p:nvPr/>
        </p:nvSpPr>
        <p:spPr>
          <a:xfrm>
            <a:off x="6382512" y="461772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바람을 시드마다 다른 실현으로 바꿔 진짜 통계로. 나아가 물리 예측을 미리 등록하고 맞든 틀리든 전부 기록하는 규칙을 세웠다 — 기각된 예측 5건이 문서에 그대로 남아 있다(단조성·취약성·곡률·채점·ETA 게이트).</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11</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② ★ 하나의 증상, 세 번의 오진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가중치의 부호 하나가 방향을 무너뜨리고 있었다 — 82° → 0.03°</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타원 화선의 측면 조건에서 방향오차가 82~86°. 90°가 무작위 추측의 한계이므로 사실상 아무 정보도 못 주는 상태였다.</a:t>
            </a:r>
            <a:br/>
            <a:r>
              <a:rPr lang="en-US" sz="1350" dirty="0">
                <a:solidFill>
                  <a:srgbClr val="1F2421"/>
                </a:solidFill>
                <a:latin typeface="맑은 고딕" pitchFamily="34" charset="0"/>
                <a:ea typeface="맑은 고딕" pitchFamily="34" charset="-122"/>
                <a:cs typeface="맑은 고딕" pitchFamily="34" charset="-120"/>
              </a:rPr>
              <a:t>세 번의 진단이 전부 측정으로 기각된 뒤에야 원인에 닿았다.</a:t>
            </a:r>
            <a:pPr indent="0" marL="0">
              <a:lnSpc>
                <a:spcPct val="120000"/>
              </a:lnSpc>
              <a:buNone/>
            </a:pPr>
            <a:pPr indent="0" marL="0">
              <a:lnSpc>
                <a:spcPct val="120000"/>
              </a:lnSpc>
              <a:buNone/>
            </a:pP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1883664"/>
        </p:xfrm>
        <a:graphic>
          <a:graphicData uri="http://schemas.openxmlformats.org/drawingml/2006/table">
            <a:tbl>
              <a:tblPr/>
              <a:tblGrid>
                <a:gridCol w="502920"/>
                <a:gridCol w="3520440"/>
                <a:gridCol w="3291840"/>
                <a:gridCol w="3776472"/>
              </a:tblGrid>
              <a:tr h="292608">
                <a:tc>
                  <a:txBody>
                    <a:bodyPr/>
                    <a:lstStyle/>
                    <a:p>
                      <a:pPr algn="l" indent="0" marL="0" eaLnBrk="0" hangingPunct="1">
                        <a:buNone/>
                      </a:pP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가설</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검정 방법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곡률 탓 — 화선이 굽어 평면 근사가 깨짐</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창을 넓혀 곡률 영향을 분리</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기각 — 창을 넓히자 81.8° → 5.6°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채점 방식 탓 — 국소 법선 vs 전역 축 혼동</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채점 코드를 직접 확인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기각 — 이미 국소 법선 기준이었다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③</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표본 부족 탓 — 창 안에 이웃이 모자람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표본 수·조건수 진단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부분 기각 — 13개인데도 실패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38912">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④</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집계 가중치가 원인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노드별 개별 오차와 가중치 분포를 분해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 확정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+0.986</a:t>
            </a:r>
            <a:endParaRPr lang="en-US" sz="2800" dirty="0"/>
          </a:p>
        </p:txBody>
      </p:sp>
      <p:sp>
        <p:nvSpPr>
          <p:cNvPr id="9" name="Text 6"/>
          <p:cNvSpPr/>
          <p:nvPr/>
        </p:nvSpPr>
        <p:spPr>
          <a:xfrm>
            <a:off x="548640"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corr(속도, 방향오차)</a:t>
            </a:r>
            <a:endParaRPr lang="en-US" sz="1200" dirty="0"/>
          </a:p>
        </p:txBody>
      </p:sp>
      <p:sp>
        <p:nvSpPr>
          <p:cNvPr id="10" name="Text 7"/>
          <p:cNvSpPr/>
          <p:nvPr/>
        </p:nvSpPr>
        <p:spPr>
          <a:xfrm>
            <a:off x="548640"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속도가 큰 노드가 곧 틀린 노드</a:t>
            </a:r>
            <a:endParaRPr lang="en-US" sz="950" dirty="0"/>
          </a:p>
        </p:txBody>
      </p:sp>
      <p:sp>
        <p:nvSpPr>
          <p:cNvPr id="11" name="Shape 8"/>
          <p:cNvSpPr/>
          <p:nvPr/>
        </p:nvSpPr>
        <p:spPr>
          <a:xfrm>
            <a:off x="4334256"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86.4%</a:t>
            </a:r>
            <a:endParaRPr lang="en-US" sz="2800" dirty="0"/>
          </a:p>
        </p:txBody>
      </p:sp>
      <p:sp>
        <p:nvSpPr>
          <p:cNvPr id="13" name="Text 10"/>
          <p:cNvSpPr/>
          <p:nvPr/>
        </p:nvSpPr>
        <p:spPr>
          <a:xfrm>
            <a:off x="4334256"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한 노드의 가중치 비중</a:t>
            </a:r>
            <a:endParaRPr lang="en-US" sz="1200" dirty="0"/>
          </a:p>
        </p:txBody>
      </p:sp>
      <p:sp>
        <p:nvSpPr>
          <p:cNvPr id="41" name="Text 11"/>
          <p:cNvSpPr/>
          <p:nvPr/>
        </p:nvSpPr>
        <p:spPr>
          <a:xfrm>
            <a:off x="4334256"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그 노드의 개별 오차 85.21°</a:t>
            </a:r>
            <a:endParaRPr lang="en-US" sz="950" dirty="0"/>
          </a:p>
        </p:txBody>
      </p:sp>
      <p:sp>
        <p:nvSpPr>
          <p:cNvPr id="15" name="Shape 12"/>
          <p:cNvSpPr/>
          <p:nvPr/>
        </p:nvSpPr>
        <p:spPr>
          <a:xfrm>
            <a:off x="8119872"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1.35°</a:t>
            </a:r>
            <a:endParaRPr lang="en-US" sz="2800" dirty="0"/>
          </a:p>
        </p:txBody>
      </p:sp>
      <p:sp>
        <p:nvSpPr>
          <p:cNvPr id="17" name="Text 14"/>
          <p:cNvSpPr/>
          <p:nvPr/>
        </p:nvSpPr>
        <p:spPr>
          <a:xfrm>
            <a:off x="8119872"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개별 오차의 중앙값</a:t>
            </a:r>
            <a:endParaRPr lang="en-US" sz="1200" dirty="0"/>
          </a:p>
        </p:txBody>
      </p:sp>
      <p:sp>
        <p:nvSpPr>
          <p:cNvPr id="18" name="Text 15"/>
          <p:cNvSpPr/>
          <p:nvPr/>
        </p:nvSpPr>
        <p:spPr>
          <a:xfrm>
            <a:off x="8119872"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나머지 노드들은 맞히고 있었다</a:t>
            </a:r>
            <a:endParaRPr lang="en-US" sz="950" dirty="0"/>
          </a:p>
        </p:txBody>
      </p:sp>
      <p:sp>
        <p:nvSpPr>
          <p:cNvPr id="19" name="Text 16"/>
          <p:cNvSpPr/>
          <p:nvPr/>
        </p:nvSpPr>
        <p:spPr>
          <a:xfrm>
            <a:off x="548640" y="5541264"/>
            <a:ext cx="11091672" cy="868680"/>
          </a:xfrm>
          <a:prstGeom prst="rect">
            <a:avLst/>
          </a:prstGeom>
          <a:noFill/>
          <a:ln/>
        </p:spPr>
        <p:txBody>
          <a:bodyPr wrap="square" rtlCol="0" anchor="ctr"/>
          <a:lstStyle/>
          <a:p>
            <a:pPr indent="0" marL="0" eaLnBrk="0" hangingPunct="1">
              <a:lnSpc>
                <a:spcPct val="105000"/>
              </a:lnSpc>
              <a:buNone/>
            </a:pPr>
            <a:r>
              <a:rPr lang="en-US" sz="1000" b="0" dirty="0">
                <a:solidFill>
                  <a:srgbClr val="44483F"/>
                </a:solidFill>
                <a:latin typeface="맑은 고딕" pitchFamily="34" charset="0"/>
                <a:ea typeface="맑은 고딕" pitchFamily="34" charset="-122"/>
                <a:cs typeface="맑은 고딕" pitchFamily="34" charset="-120"/>
              </a:rPr>
              <a:t>값을 조정한 것이 아니다 — 오차 전파식에서 다시 유도하니 부호가 반대였다.</a:t>
            </a:r>
            <a:pPr indent="0" marL="0">
              <a:lnSpc>
                <a:spcPct val="115000"/>
              </a:lnSpc>
              <a:buNone/>
            </a:pPr>
            <a:endParaRPr lang="en-US" sz="1200" dirty="0"/>
          </a:p>
          <a:p>
            <a:pPr indent="0" marL="0" eaLnBrk="0" hangingPunct="1">
              <a:lnSpc>
                <a:spcPct val="105000"/>
              </a:lnSpc>
              <a:buNone/>
            </a:pPr>
            <a:r>
              <a:rPr lang="en-US" sz="1000" b="0" dirty="0">
                <a:solidFill>
                  <a:srgbClr val="44483F"/>
                </a:solidFill>
                <a:latin typeface="맑은 고딕" pitchFamily="34" charset="0"/>
                <a:ea typeface="맑은 고딕" pitchFamily="34" charset="-122"/>
                <a:cs typeface="맑은 고딕" pitchFamily="34" charset="-120"/>
              </a:rPr>
              <a:t>정답은 표본 안에 있었다 — 집계가 그것을 버리고 최악의 노드 하나를 골랐다. 가중치가 w = 1/|∇T| (불확실할수록 크게)로 부호가 반대였다. 오차 전파식에서 다시 유도해 w = |∇T|² 로 교정.</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12</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4"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5"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8"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③ ★ 모르면 '모른다'고 말하는 시스템</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가중치를 고쳐도, 정보가 원래 없는 조건은 남는다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45720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희소한 측면 조건에서는 창 안에 쓸 만한 관측 자체가 없다. 어떤 알고리즘도 못 푼다.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그때 시스템은 무엇을 해야 하는가?</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11091672" cy="1828800"/>
        </p:xfrm>
        <a:graphic>
          <a:graphicData uri="http://schemas.openxmlformats.org/drawingml/2006/table">
            <a:tbl>
              <a:tblPr/>
              <a:tblGrid>
                <a:gridCol w="3108960"/>
                <a:gridCol w="4023360"/>
                <a:gridCol w="3959352"/>
              </a:tblGrid>
              <a:tr h="292608">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집계 방식</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출력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판정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기존(가중 결함)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85.05°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표본 부족을 감지하지 못하고 값을 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균일 가중</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집계 방식을 바꿔도 결과는 같다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중앙값</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집계 방식을 바꿔도 결과는 같다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38912">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역분산 (채택)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값 없음 — INSUFFICIENT</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 표본 부족을 감지해 판정을 보류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3931920"/>
            <a:ext cx="5440680" cy="2075688"/>
          </a:xfrm>
          <a:prstGeom prst="roundRect">
            <a:avLst>
              <a:gd name="adj" fmla="val 2927"/>
            </a:avLst>
          </a:prstGeom>
          <a:solidFill>
            <a:srgbClr val="FBEFE2"/>
          </a:solidFill>
          <a:ln w="12700">
            <a:solidFill>
              <a:srgbClr val="E2DCD0"/>
            </a:solidFill>
            <a:prstDash val="solid"/>
          </a:ln>
        </p:spPr>
        <p:txBody>
          <a:bodyPr/>
          <a:p/>
        </p:txBody>
      </p:sp>
      <p:sp>
        <p:nvSpPr>
          <p:cNvPr id="8" name="Text 5"/>
          <p:cNvSpPr/>
          <p:nvPr/>
        </p:nvSpPr>
        <p:spPr>
          <a:xfrm>
            <a:off x="777240" y="4261104"/>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설계 결정 — 폴백을 넣지 않는다</a:t>
            </a:r>
            <a:endParaRPr lang="en-US" sz="1450" dirty="0"/>
          </a:p>
        </p:txBody>
      </p:sp>
      <p:sp>
        <p:nvSpPr>
          <p:cNvPr id="9" name="Shape 6"/>
          <p:cNvSpPr/>
          <p:nvPr/>
        </p:nvSpPr>
        <p:spPr>
          <a:xfrm>
            <a:off x="777240" y="4700016"/>
            <a:ext cx="502920" cy="0"/>
          </a:xfrm>
          <a:prstGeom prst="line">
            <a:avLst/>
          </a:prstGeom>
          <a:noFill/>
          <a:ln w="25400">
            <a:solidFill>
              <a:srgbClr val="D35400"/>
            </a:solidFill>
            <a:prstDash val="solid"/>
          </a:ln>
        </p:spPr>
        <p:txBody>
          <a:bodyPr/>
          <a:p/>
        </p:txBody>
      </p:sp>
      <p:sp>
        <p:nvSpPr>
          <p:cNvPr id="10" name="Text 7"/>
          <p:cNvSpPr/>
          <p:nvPr/>
        </p:nvSpPr>
        <p:spPr>
          <a:xfrm>
            <a:off x="777240" y="4837176"/>
            <a:ext cx="4983480" cy="868680"/>
          </a:xfrm>
          <a:prstGeom prst="rect">
            <a:avLst/>
          </a:prstGeom>
          <a:noFill/>
          <a:ln/>
        </p:spPr>
        <p:txBody>
          <a:bodyPr wrap="square" rtlCol="0" anchor="t"/>
          <a:lstStyle/>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산불 대응에서 '모른다'와 '정반대를 확신한다'의 비용은 대칭이 아니다. 방향을 모르면 판단을 보류하지만, 90° 틀린 방향을 믿으면 대원을 화선 쪽으로 보낸다.</a:t>
            </a:r>
            <a:endParaRPr lang="en-US" sz="1200" dirty="0"/>
          </a:p>
          <a:p>
            <a:pPr indent="0" marL="0" eaLnBrk="0" hangingPunct="1">
              <a:lnSpc>
                <a:spcPct val="100000"/>
              </a:lnSpc>
              <a:buNone/>
            </a:pPr>
            <a:endParaRPr lang="en-US" sz="1200" dirty="0"/>
          </a:p>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실제 로그에는 "냈다면 틀렸을 것: True"가 함께 남는다.</a:t>
            </a:r>
            <a:endParaRPr lang="en-US" sz="1200" dirty="0"/>
          </a:p>
        </p:txBody>
      </p:sp>
      <p:sp>
        <p:nvSpPr>
          <p:cNvPr id="11" name="Shape 8"/>
          <p:cNvSpPr/>
          <p:nvPr/>
        </p:nvSpPr>
        <p:spPr>
          <a:xfrm>
            <a:off x="6153912" y="3931920"/>
            <a:ext cx="5477256" cy="2075688"/>
          </a:xfrm>
          <a:prstGeom prst="roundRect">
            <a:avLst>
              <a:gd name="adj" fmla="val 2927"/>
            </a:avLst>
          </a:prstGeom>
          <a:solidFill>
            <a:srgbClr val="EEF3E6"/>
          </a:solidFill>
          <a:ln w="12700">
            <a:solidFill>
              <a:srgbClr val="E2DCD0"/>
            </a:solidFill>
            <a:prstDash val="solid"/>
          </a:ln>
        </p:spPr>
        <p:txBody>
          <a:bodyPr/>
          <a:p/>
        </p:txBody>
      </p:sp>
      <p:sp>
        <p:nvSpPr>
          <p:cNvPr id="12" name="Text 9"/>
          <p:cNvSpPr/>
          <p:nvPr/>
        </p:nvSpPr>
        <p:spPr>
          <a:xfrm>
            <a:off x="6382512" y="4261104"/>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진단량 · 유효표본수 n_eff</a:t>
            </a:r>
            <a:endParaRPr lang="en-US" sz="1450" dirty="0"/>
          </a:p>
        </p:txBody>
      </p:sp>
      <p:sp>
        <p:nvSpPr>
          <p:cNvPr id="13" name="Shape 10"/>
          <p:cNvSpPr/>
          <p:nvPr/>
        </p:nvSpPr>
        <p:spPr>
          <a:xfrm>
            <a:off x="6382512" y="4700016"/>
            <a:ext cx="502920" cy="0"/>
          </a:xfrm>
          <a:prstGeom prst="line">
            <a:avLst/>
          </a:prstGeom>
          <a:noFill/>
          <a:ln w="25400">
            <a:solidFill>
              <a:srgbClr val="D35400"/>
            </a:solidFill>
            <a:prstDash val="solid"/>
          </a:ln>
        </p:spPr>
        <p:txBody>
          <a:bodyPr/>
          <a:p/>
        </p:txBody>
      </p:sp>
      <p:sp>
        <p:nvSpPr>
          <p:cNvPr id="14" name="Text 11"/>
          <p:cNvSpPr/>
          <p:nvPr/>
        </p:nvSpPr>
        <p:spPr>
          <a:xfrm>
            <a:off x="6382512" y="4837176"/>
            <a:ext cx="5020056" cy="868680"/>
          </a:xfrm>
          <a:prstGeom prst="rect">
            <a:avLst/>
          </a:prstGeom>
          <a:noFill/>
          <a:ln/>
        </p:spPr>
        <p:txBody>
          <a:bodyPr wrap="square" rtlCol="0" anchor="t"/>
          <a:lstStyle/>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표본이 13개여도 하나가 가중치를 독식하면 n_eff는 1.33까지 떨어진다.</a:t>
            </a:r>
            <a:endParaRPr lang="en-US" sz="1200" dirty="0"/>
          </a:p>
          <a:p>
            <a:pPr indent="0" marL="0" eaLnBrk="0" hangingPunct="1">
              <a:lnSpc>
                <a:spcPct val="100000"/>
              </a:lnSpc>
              <a:buNone/>
            </a:pPr>
            <a:endParaRPr lang="en-US" sz="1200" dirty="0"/>
          </a:p>
          <a:p>
            <a:pPr indent="-146304" marL="146304"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 정상 12.7~13.0  · 가중치 독식 1.33~1.74  · 진짜 표본 굶주림 1.04</a:t>
            </a:r>
            <a:endParaRPr lang="en-US" sz="1200" dirty="0"/>
          </a:p>
          <a:p>
            <a:pPr indent="0" marL="0" eaLnBrk="0" hangingPunct="1">
              <a:lnSpc>
                <a:spcPct val="100000"/>
              </a:lnSpc>
              <a:buNone/>
            </a:pPr>
            <a:endParaRPr lang="en-US" sz="1200" dirty="0"/>
          </a:p>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원표본 수와 짝지어 표기해야 두 실패가 구분된다.</a:t>
            </a:r>
            <a:endParaRPr lang="en-US" sz="1200" dirty="0"/>
          </a:p>
        </p:txBody>
      </p:sp>
      <p:sp>
        <p:nvSpPr>
          <p:cNvPr id="37" name="Text 12"/>
          <p:cNvSpPr/>
          <p:nvPr/>
        </p:nvSpPr>
        <p:spPr>
          <a:xfrm>
            <a:off x="548640" y="6016752"/>
            <a:ext cx="11091672" cy="384048"/>
          </a:xfrm>
          <a:prstGeom prst="rect">
            <a:avLst/>
          </a:prstGeom>
          <a:noFill/>
          <a:ln/>
        </p:spPr>
        <p:txBody>
          <a:bodyPr wrap="square" rtlCol="0" anchor="ctr"/>
          <a:lstStyle/>
          <a:p>
            <a:pPr indent="0" marL="0" eaLnBrk="0" hangingPunct="1">
              <a:lnSpc>
                <a:spcPct val="105000"/>
              </a:lnSpc>
              <a:buNone/>
            </a:pPr>
            <a:r>
              <a:rPr lang="en-US" sz="1050" b="1" dirty="0">
                <a:solidFill>
                  <a:srgbClr val="D35400"/>
                </a:solidFill>
                <a:latin typeface="맑은 고딕" pitchFamily="34" charset="0"/>
                <a:ea typeface="맑은 고딕" pitchFamily="34" charset="-122"/>
                <a:cs typeface="맑은 고딕" pitchFamily="34" charset="-120"/>
              </a:rPr>
              <a:t>★ 같은 원칙을 우리 계측 도구가 어겼다 — </a:t>
            </a:r>
            <a:pPr indent="0" marL="0">
              <a:buNone/>
            </a:pPr>
            <a:r>
              <a:rPr lang="en-US" sz="1050" dirty="0">
                <a:solidFill>
                  <a:srgbClr val="1F2421"/>
                </a:solidFill>
                <a:latin typeface="맑은 고딕" pitchFamily="34" charset="0"/>
                <a:ea typeface="맑은 고딕" pitchFamily="34" charset="-122"/>
                <a:cs typeface="맑은 고딕" pitchFamily="34" charset="-120"/>
              </a:rPr>
              <a:t>센서를 못 찾은 로거가 오류 한 줄 뒤 영구히 침묵해, 배선을 고쳐도 정상과 구별되지 않았다. 침묵 대신 상태를 계속 출력하도록 고쳤다.</a:t>
            </a:r>
            <a:endParaRPr lang="en-US" sz="1200" dirty="0"/>
          </a:p>
        </p:txBody>
      </p:sp>
      <p:sp>
        <p:nvSpPr>
          <p:cNvPr id="16" name="Text 1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13</a:t>
            </a:r>
            <a:endParaRPr lang="en-US" sz="900" dirty="0"/>
          </a:p>
        </p:txBody>
      </p:sp>
      <p:sp>
        <p:nvSpPr>
          <p:cNvPr id="18" name="Shape 15"/>
          <p:cNvSpPr/>
          <p:nvPr/>
        </p:nvSpPr>
        <p:spPr>
          <a:xfrm>
            <a:off x="10503027" y="6464808"/>
            <a:ext cx="144018" cy="36576"/>
          </a:xfrm>
          <a:prstGeom prst="line">
            <a:avLst/>
          </a:prstGeom>
          <a:noFill/>
          <a:ln w="9525">
            <a:solidFill>
              <a:srgbClr val="E2DCD0"/>
            </a:solidFill>
            <a:prstDash val="solid"/>
          </a:ln>
        </p:spPr>
        <p:txBody>
          <a:bodyPr/>
          <a:p/>
        </p:txBody>
      </p:sp>
      <p:sp>
        <p:nvSpPr>
          <p:cNvPr id="19" name="Shape 16"/>
          <p:cNvSpPr/>
          <p:nvPr/>
        </p:nvSpPr>
        <p:spPr>
          <a:xfrm flipH="1">
            <a:off x="10498455" y="6464808"/>
            <a:ext cx="4572" cy="187452"/>
          </a:xfrm>
          <a:prstGeom prst="line">
            <a:avLst/>
          </a:prstGeom>
          <a:noFill/>
          <a:ln w="9525">
            <a:solidFill>
              <a:srgbClr val="E2DCD0"/>
            </a:solidFill>
            <a:prstDash val="solid"/>
          </a:ln>
        </p:spPr>
        <p:txBody>
          <a:bodyPr/>
          <a:p/>
        </p:txBody>
      </p:sp>
      <p:sp>
        <p:nvSpPr>
          <p:cNvPr id="20" name="Shape 17"/>
          <p:cNvSpPr/>
          <p:nvPr/>
        </p:nvSpPr>
        <p:spPr>
          <a:xfrm flipV="1">
            <a:off x="10647045" y="6451092"/>
            <a:ext cx="235458" cy="50292"/>
          </a:xfrm>
          <a:prstGeom prst="line">
            <a:avLst/>
          </a:prstGeom>
          <a:noFill/>
          <a:ln w="9525">
            <a:solidFill>
              <a:srgbClr val="E2DCD0"/>
            </a:solidFill>
            <a:prstDash val="solid"/>
          </a:ln>
        </p:spPr>
        <p:txBody>
          <a:bodyPr/>
          <a:p/>
        </p:txBody>
      </p:sp>
      <p:sp>
        <p:nvSpPr>
          <p:cNvPr id="21" name="Shape 18"/>
          <p:cNvSpPr/>
          <p:nvPr/>
        </p:nvSpPr>
        <p:spPr>
          <a:xfrm flipH="1">
            <a:off x="10642473" y="6501384"/>
            <a:ext cx="4572" cy="196596"/>
          </a:xfrm>
          <a:prstGeom prst="line">
            <a:avLst/>
          </a:prstGeom>
          <a:noFill/>
          <a:ln w="9525">
            <a:solidFill>
              <a:srgbClr val="E2DCD0"/>
            </a:solidFill>
            <a:prstDash val="solid"/>
          </a:ln>
        </p:spPr>
        <p:txBody>
          <a:bodyPr/>
          <a:p/>
        </p:txBody>
      </p:sp>
      <p:sp>
        <p:nvSpPr>
          <p:cNvPr id="22" name="Shape 19"/>
          <p:cNvSpPr/>
          <p:nvPr/>
        </p:nvSpPr>
        <p:spPr>
          <a:xfrm>
            <a:off x="10882503" y="6451092"/>
            <a:ext cx="162306" cy="41148"/>
          </a:xfrm>
          <a:prstGeom prst="line">
            <a:avLst/>
          </a:prstGeom>
          <a:noFill/>
          <a:ln w="9525">
            <a:solidFill>
              <a:srgbClr val="E2DCD0"/>
            </a:solidFill>
            <a:prstDash val="solid"/>
          </a:ln>
        </p:spPr>
        <p:txBody>
          <a:bodyPr/>
          <a:p/>
        </p:txBody>
      </p:sp>
      <p:sp>
        <p:nvSpPr>
          <p:cNvPr id="23" name="Shape 20"/>
          <p:cNvSpPr/>
          <p:nvPr/>
        </p:nvSpPr>
        <p:spPr>
          <a:xfrm flipH="1">
            <a:off x="10877931" y="6451092"/>
            <a:ext cx="4572" cy="196596"/>
          </a:xfrm>
          <a:prstGeom prst="line">
            <a:avLst/>
          </a:prstGeom>
          <a:noFill/>
          <a:ln w="9525">
            <a:solidFill>
              <a:srgbClr val="E2DCD0"/>
            </a:solidFill>
            <a:prstDash val="solid"/>
          </a:ln>
        </p:spPr>
        <p:txBody>
          <a:bodyPr/>
          <a:p/>
        </p:txBody>
      </p:sp>
      <p:sp>
        <p:nvSpPr>
          <p:cNvPr id="24" name="Shape 21"/>
          <p:cNvSpPr/>
          <p:nvPr/>
        </p:nvSpPr>
        <p:spPr>
          <a:xfrm flipH="1">
            <a:off x="11040237" y="6492240"/>
            <a:ext cx="4572" cy="196596"/>
          </a:xfrm>
          <a:prstGeom prst="line">
            <a:avLst/>
          </a:prstGeom>
          <a:noFill/>
          <a:ln w="9525">
            <a:solidFill>
              <a:srgbClr val="E2DCD0"/>
            </a:solidFill>
            <a:prstDash val="solid"/>
          </a:ln>
        </p:spPr>
        <p:txBody>
          <a:bodyPr/>
          <a:p/>
        </p:txBody>
      </p:sp>
      <p:sp>
        <p:nvSpPr>
          <p:cNvPr id="25" name="Shape 22"/>
          <p:cNvSpPr/>
          <p:nvPr/>
        </p:nvSpPr>
        <p:spPr>
          <a:xfrm>
            <a:off x="10498455" y="6652260"/>
            <a:ext cx="144018" cy="45720"/>
          </a:xfrm>
          <a:prstGeom prst="line">
            <a:avLst/>
          </a:prstGeom>
          <a:noFill/>
          <a:ln w="9525">
            <a:solidFill>
              <a:srgbClr val="E2DCD0"/>
            </a:solidFill>
            <a:prstDash val="solid"/>
          </a:ln>
        </p:spPr>
        <p:txBody>
          <a:bodyPr/>
          <a:p/>
        </p:txBody>
      </p:sp>
      <p:sp>
        <p:nvSpPr>
          <p:cNvPr id="26" name="Shape 23"/>
          <p:cNvSpPr/>
          <p:nvPr/>
        </p:nvSpPr>
        <p:spPr>
          <a:xfrm flipV="1">
            <a:off x="10642473" y="6647688"/>
            <a:ext cx="235458" cy="50292"/>
          </a:xfrm>
          <a:prstGeom prst="line">
            <a:avLst/>
          </a:prstGeom>
          <a:noFill/>
          <a:ln w="9525">
            <a:solidFill>
              <a:srgbClr val="E2DCD0"/>
            </a:solidFill>
            <a:prstDash val="solid"/>
          </a:ln>
        </p:spPr>
        <p:txBody>
          <a:bodyPr/>
          <a:p/>
        </p:txBody>
      </p:sp>
      <p:sp>
        <p:nvSpPr>
          <p:cNvPr id="27" name="Shape 24"/>
          <p:cNvSpPr/>
          <p:nvPr/>
        </p:nvSpPr>
        <p:spPr>
          <a:xfrm>
            <a:off x="10877931" y="6647688"/>
            <a:ext cx="162306" cy="41148"/>
          </a:xfrm>
          <a:prstGeom prst="line">
            <a:avLst/>
          </a:prstGeom>
          <a:noFill/>
          <a:ln w="9525">
            <a:solidFill>
              <a:srgbClr val="E2DCD0"/>
            </a:solidFill>
            <a:prstDash val="solid"/>
          </a:ln>
        </p:spPr>
        <p:txBody>
          <a:bodyPr/>
          <a:p/>
        </p:txBody>
      </p:sp>
      <p:sp>
        <p:nvSpPr>
          <p:cNvPr id="28" name="Shape 2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2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3"/>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④ ★ 하드웨어 괴리 선점</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실물에서만 터지는 위험 셋을 터지기 전에 잡았다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63040"/>
            <a:ext cx="3429000" cy="4343400"/>
          </a:xfrm>
          <a:prstGeom prst="roundRect">
            <a:avLst>
              <a:gd name="adj" fmla="val 1600"/>
            </a:avLst>
          </a:prstGeom>
          <a:solidFill>
            <a:srgbClr val="FFFFFF"/>
          </a:solidFill>
          <a:ln w="12700">
            <a:solidFill>
              <a:srgbClr val="E2DCD0"/>
            </a:solidFill>
            <a:prstDash val="solid"/>
          </a:ln>
        </p:spPr>
        <p:txBody>
          <a:bodyPr/>
          <a:p/>
        </p:txBody>
      </p:sp>
      <p:sp>
        <p:nvSpPr>
          <p:cNvPr id="6" name="Text 4"/>
          <p:cNvSpPr/>
          <p:nvPr/>
        </p:nvSpPr>
        <p:spPr>
          <a:xfrm>
            <a:off x="777240" y="1664208"/>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① 시계 동기</a:t>
            </a:r>
            <a:endParaRPr lang="en-US" sz="1450" dirty="0"/>
          </a:p>
        </p:txBody>
      </p:sp>
      <p:sp>
        <p:nvSpPr>
          <p:cNvPr id="7" name="Shape 5"/>
          <p:cNvSpPr/>
          <p:nvPr/>
        </p:nvSpPr>
        <p:spPr>
          <a:xfrm>
            <a:off x="777240" y="2103120"/>
            <a:ext cx="502920" cy="0"/>
          </a:xfrm>
          <a:prstGeom prst="line">
            <a:avLst/>
          </a:prstGeom>
          <a:noFill/>
          <a:ln w="25400">
            <a:solidFill>
              <a:srgbClr val="D35400"/>
            </a:solidFill>
            <a:prstDash val="solid"/>
          </a:ln>
        </p:spPr>
        <p:txBody>
          <a:bodyPr/>
          <a:p/>
        </p:txBody>
      </p:sp>
      <p:sp>
        <p:nvSpPr>
          <p:cNvPr id="8" name="Text 6"/>
          <p:cNvSpPr/>
          <p:nvPr/>
        </p:nvSpPr>
        <p:spPr>
          <a:xfrm>
            <a:off x="777240" y="2240280"/>
            <a:ext cx="2971800" cy="2670048"/>
          </a:xfrm>
          <a:prstGeom prst="rect">
            <a:avLst/>
          </a:prstGeom>
          <a:noFill/>
          <a:ln/>
        </p:spPr>
        <p:txBody>
          <a:bodyPr wrap="square" rtlCol="0" anchor="t"/>
          <a:lstStyle/>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서로 다른 노드의 사망 시각을 빼서 기울기를 만드는 알고리즘이므로 시간축이 같아야 한다.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초기 펌웨어는 보드 부팅 기준 시계를 썼다 — 보드마다 원점이 달라 뺄셈 자체가 무의미해지는 원리적 파탄.</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 메시 동기 시각으로 교체. 사망 시각도 '루트의 확정 시각'에서 '당사자 노드가 각인한 시각'으로 (확정 시각엔 감지·투표 지연이 섞여 있었다).</a:t>
            </a:r>
            <a:endParaRPr lang="en-US" sz="1200" dirty="0"/>
          </a:p>
        </p:txBody>
      </p:sp>
      <p:sp>
        <p:nvSpPr>
          <p:cNvPr id="9" name="Shape 7"/>
          <p:cNvSpPr/>
          <p:nvPr/>
        </p:nvSpPr>
        <p:spPr>
          <a:xfrm>
            <a:off x="4379976" y="1463040"/>
            <a:ext cx="3429000" cy="4343400"/>
          </a:xfrm>
          <a:prstGeom prst="roundRect">
            <a:avLst>
              <a:gd name="adj" fmla="val 1600"/>
            </a:avLst>
          </a:prstGeom>
          <a:solidFill>
            <a:srgbClr val="FBEFE2"/>
          </a:solidFill>
          <a:ln w="12700">
            <a:solidFill>
              <a:srgbClr val="E2DCD0"/>
            </a:solidFill>
            <a:prstDash val="solid"/>
          </a:ln>
        </p:spPr>
        <p:txBody>
          <a:bodyPr/>
          <a:p/>
        </p:txBody>
      </p:sp>
      <p:sp>
        <p:nvSpPr>
          <p:cNvPr id="10" name="Text 8"/>
          <p:cNvSpPr/>
          <p:nvPr/>
        </p:nvSpPr>
        <p:spPr>
          <a:xfrm>
            <a:off x="4608576" y="1664208"/>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② 센서 열관성 τ</a:t>
            </a:r>
            <a:endParaRPr lang="en-US" sz="1450" dirty="0"/>
          </a:p>
        </p:txBody>
      </p:sp>
      <p:sp>
        <p:nvSpPr>
          <p:cNvPr id="11" name="Shape 9"/>
          <p:cNvSpPr/>
          <p:nvPr/>
        </p:nvSpPr>
        <p:spPr>
          <a:xfrm>
            <a:off x="4608576" y="2103120"/>
            <a:ext cx="502920" cy="0"/>
          </a:xfrm>
          <a:prstGeom prst="line">
            <a:avLst/>
          </a:prstGeom>
          <a:noFill/>
          <a:ln w="25400">
            <a:solidFill>
              <a:srgbClr val="D35400"/>
            </a:solidFill>
            <a:prstDash val="solid"/>
          </a:ln>
        </p:spPr>
        <p:txBody>
          <a:bodyPr/>
          <a:p/>
        </p:txBody>
      </p:sp>
      <p:sp>
        <p:nvSpPr>
          <p:cNvPr id="12" name="Text 10"/>
          <p:cNvSpPr/>
          <p:nvPr/>
        </p:nvSpPr>
        <p:spPr>
          <a:xfrm>
            <a:off x="4608576" y="2240280"/>
            <a:ext cx="2971800" cy="3840480"/>
          </a:xfrm>
          <a:prstGeom prst="rect">
            <a:avLst/>
          </a:prstGeom>
          <a:noFill/>
          <a:ln/>
        </p:spPr>
        <p:txBody>
          <a:bodyPr wrap="square" rtlCol="0" anchor="t"/>
          <a:lstStyle/>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센서는 공기 온도를 즉시 따라가지 못한다. 이 지연이 곧 사망 시각의 오차가 된다.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시뮬 시험 범위  0 ~ 10초</a:t>
            </a: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실측 범위  11 ~ 92초</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 검증했다고 믿은 범위 밖에 실제가 있었다.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 τ는 온도가 아니라 유속의 함수 — 같은 센서·같은 시행 안에서 제트 21.5초 / 실내 92초로 4.1배 차이. 바뀐 것은 공기가 움직이느냐뿐이었다.</a:t>
            </a:r>
            <a:endParaRPr lang="en-US" sz="1200" dirty="0"/>
          </a:p>
          <a:p>
            <a:pPr indent="0" marL="0" eaLnBrk="0" hangingPunct="1">
              <a:lnSpc>
                <a:spcPct val="105000"/>
              </a:lnSpc>
              <a:buNone/>
            </a:pPr>
            <a:endParaRPr lang="en-US" sz="1200" dirty="0"/>
          </a:p>
        </p:txBody>
      </p:sp>
      <p:sp>
        <p:nvSpPr>
          <p:cNvPr id="13" name="Shape 11"/>
          <p:cNvSpPr/>
          <p:nvPr/>
        </p:nvSpPr>
        <p:spPr>
          <a:xfrm>
            <a:off x="8211312" y="1463040"/>
            <a:ext cx="3429000" cy="4343400"/>
          </a:xfrm>
          <a:prstGeom prst="roundRect">
            <a:avLst>
              <a:gd name="adj" fmla="val 1600"/>
            </a:avLst>
          </a:prstGeom>
          <a:solidFill>
            <a:srgbClr val="EEF3E6"/>
          </a:solidFill>
          <a:ln w="12700">
            <a:solidFill>
              <a:srgbClr val="E2DCD0"/>
            </a:solidFill>
            <a:prstDash val="solid"/>
          </a:ln>
        </p:spPr>
        <p:txBody>
          <a:bodyPr/>
          <a:p/>
        </p:txBody>
      </p:sp>
      <p:sp>
        <p:nvSpPr>
          <p:cNvPr id="14" name="Text 12"/>
          <p:cNvSpPr/>
          <p:nvPr/>
        </p:nvSpPr>
        <p:spPr>
          <a:xfrm>
            <a:off x="8439912" y="1664208"/>
            <a:ext cx="297180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③ 실물 파이프라인 공백</a:t>
            </a:r>
            <a:endParaRPr lang="en-US" sz="1450" dirty="0"/>
          </a:p>
        </p:txBody>
      </p:sp>
      <p:sp>
        <p:nvSpPr>
          <p:cNvPr id="15" name="Shape 13"/>
          <p:cNvSpPr/>
          <p:nvPr/>
        </p:nvSpPr>
        <p:spPr>
          <a:xfrm>
            <a:off x="8439912" y="2103120"/>
            <a:ext cx="502920" cy="0"/>
          </a:xfrm>
          <a:prstGeom prst="line">
            <a:avLst/>
          </a:prstGeom>
          <a:noFill/>
          <a:ln w="25400">
            <a:solidFill>
              <a:srgbClr val="D35400"/>
            </a:solidFill>
            <a:prstDash val="solid"/>
          </a:ln>
        </p:spPr>
        <p:txBody>
          <a:bodyPr/>
          <a:p/>
        </p:txBody>
      </p:sp>
      <p:sp>
        <p:nvSpPr>
          <p:cNvPr id="16" name="Text 14"/>
          <p:cNvSpPr/>
          <p:nvPr/>
        </p:nvSpPr>
        <p:spPr>
          <a:xfrm>
            <a:off x="8439912" y="2240280"/>
            <a:ext cx="2971800" cy="2670048"/>
          </a:xfrm>
          <a:prstGeom prst="rect">
            <a:avLst/>
          </a:prstGeom>
          <a:noFill/>
          <a:ln/>
        </p:spPr>
        <p:txBody>
          <a:bodyPr wrap="square" rtlCol="0" anchor="t"/>
          <a:lstStyle/>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시뮬에는 화재/비화재 판별이 있는데 실물 경로에는 없었다 — 게이트웨이가 판별기를 아예 호출하지 않고 있었다.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 판정 로직을 한 함수로 통합해 시뮬과 실물이 같은 코드를 호출하도록 교정.</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이걸 놓쳤으면 시뮬에서 검증한 방어가 실물에서 통째로 빠진 채 데모를 했을 것이다.</a:t>
            </a:r>
            <a:endParaRPr lang="en-US" sz="1200" dirty="0"/>
          </a:p>
        </p:txBody>
      </p:sp>
      <p:sp>
        <p:nvSpPr>
          <p:cNvPr id="17" name="Text 15"/>
          <p:cNvSpPr/>
          <p:nvPr/>
        </p:nvSpPr>
        <p:spPr>
          <a:xfrm>
            <a:off x="548640" y="5897880"/>
            <a:ext cx="11091672" cy="457200"/>
          </a:xfrm>
          <a:prstGeom prst="rect">
            <a:avLst/>
          </a:prstGeom>
          <a:noFill/>
          <a:ln/>
        </p:spPr>
        <p:txBody>
          <a:bodyPr wrap="square" rtlCol="0" anchor="ctr"/>
          <a:lstStyle/>
          <a:p>
            <a:pPr indent="0" marL="0" eaLnBrk="0" hangingPunct="1">
              <a:lnSpc>
                <a:spcPct val="120000"/>
              </a:lnSpc>
              <a:buNone/>
            </a:pPr>
            <a:r>
              <a:rPr lang="en-US" sz="1250" dirty="0">
                <a:solidFill>
                  <a:srgbClr val="1F2421"/>
                </a:solidFill>
                <a:latin typeface="맑은 고딕" pitchFamily="34" charset="0"/>
                <a:ea typeface="맑은 고딕" pitchFamily="34" charset="-122"/>
                <a:cs typeface="맑은 고딕" pitchFamily="34" charset="-120"/>
              </a:rPr>
              <a:t>세 위험 모두 </a:t>
            </a:r>
            <a:pPr indent="0" marL="0">
              <a:lnSpc>
                <a:spcPct val="120000"/>
              </a:lnSpc>
              <a:buNone/>
            </a:pPr>
            <a:r>
              <a:rPr lang="en-US" sz="1250" b="1" dirty="0">
                <a:solidFill>
                  <a:srgbClr val="D35400"/>
                </a:solidFill>
                <a:latin typeface="맑은 고딕" pitchFamily="34" charset="0"/>
                <a:ea typeface="맑은 고딕" pitchFamily="34" charset="-122"/>
                <a:cs typeface="맑은 고딕" pitchFamily="34" charset="-120"/>
              </a:rPr>
              <a:t>실물에서 터지기 전에</a:t>
            </a:r>
            <a:pPr indent="0" marL="0">
              <a:lnSpc>
                <a:spcPct val="120000"/>
              </a:lnSpc>
              <a:buNone/>
            </a:pPr>
            <a:r>
              <a:rPr lang="en-US" sz="1250" dirty="0">
                <a:solidFill>
                  <a:srgbClr val="1F2421"/>
                </a:solidFill>
                <a:latin typeface="맑은 고딕" pitchFamily="34" charset="0"/>
                <a:ea typeface="맑은 고딕" pitchFamily="34" charset="-122"/>
                <a:cs typeface="맑은 고딕" pitchFamily="34" charset="-120"/>
              </a:rPr>
              <a:t> 발견했다. ①은 코드 검토로, ②는 실측으로, ③은 실물 이식 준비 중에 — 각각 다른 방법이 필요했다는 것이 이 문제들의 성격을 보여준다.</a:t>
            </a:r>
            <a:endParaRPr lang="en-US" sz="1250" dirty="0"/>
          </a:p>
        </p:txBody>
      </p:sp>
      <p:sp>
        <p:nvSpPr>
          <p:cNvPr id="18" name="Text 16"/>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9" name="Text 17"/>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14</a:t>
            </a:r>
            <a:endParaRPr lang="en-US" sz="900" dirty="0"/>
          </a:p>
        </p:txBody>
      </p:sp>
      <p:sp>
        <p:nvSpPr>
          <p:cNvPr id="20" name="Shape 18"/>
          <p:cNvSpPr/>
          <p:nvPr/>
        </p:nvSpPr>
        <p:spPr>
          <a:xfrm>
            <a:off x="10503027" y="6464808"/>
            <a:ext cx="144018" cy="36576"/>
          </a:xfrm>
          <a:prstGeom prst="line">
            <a:avLst/>
          </a:prstGeom>
          <a:noFill/>
          <a:ln w="9525">
            <a:solidFill>
              <a:srgbClr val="E2DCD0"/>
            </a:solidFill>
            <a:prstDash val="solid"/>
          </a:ln>
        </p:spPr>
        <p:txBody>
          <a:bodyPr/>
          <a:p/>
        </p:txBody>
      </p:sp>
      <p:sp>
        <p:nvSpPr>
          <p:cNvPr id="21" name="Shape 19"/>
          <p:cNvSpPr/>
          <p:nvPr/>
        </p:nvSpPr>
        <p:spPr>
          <a:xfrm flipH="1">
            <a:off x="10498455" y="6464808"/>
            <a:ext cx="4572" cy="187452"/>
          </a:xfrm>
          <a:prstGeom prst="line">
            <a:avLst/>
          </a:prstGeom>
          <a:noFill/>
          <a:ln w="9525">
            <a:solidFill>
              <a:srgbClr val="E2DCD0"/>
            </a:solidFill>
            <a:prstDash val="solid"/>
          </a:ln>
        </p:spPr>
        <p:txBody>
          <a:bodyPr/>
          <a:p/>
        </p:txBody>
      </p:sp>
      <p:sp>
        <p:nvSpPr>
          <p:cNvPr id="22" name="Shape 20"/>
          <p:cNvSpPr/>
          <p:nvPr/>
        </p:nvSpPr>
        <p:spPr>
          <a:xfrm flipV="1">
            <a:off x="10647045" y="6451092"/>
            <a:ext cx="235458" cy="50292"/>
          </a:xfrm>
          <a:prstGeom prst="line">
            <a:avLst/>
          </a:prstGeom>
          <a:noFill/>
          <a:ln w="9525">
            <a:solidFill>
              <a:srgbClr val="E2DCD0"/>
            </a:solidFill>
            <a:prstDash val="solid"/>
          </a:ln>
        </p:spPr>
        <p:txBody>
          <a:bodyPr/>
          <a:p/>
        </p:txBody>
      </p:sp>
      <p:sp>
        <p:nvSpPr>
          <p:cNvPr id="23" name="Shape 21"/>
          <p:cNvSpPr/>
          <p:nvPr/>
        </p:nvSpPr>
        <p:spPr>
          <a:xfrm flipH="1">
            <a:off x="10642473" y="6501384"/>
            <a:ext cx="4572" cy="196596"/>
          </a:xfrm>
          <a:prstGeom prst="line">
            <a:avLst/>
          </a:prstGeom>
          <a:noFill/>
          <a:ln w="9525">
            <a:solidFill>
              <a:srgbClr val="E2DCD0"/>
            </a:solidFill>
            <a:prstDash val="solid"/>
          </a:ln>
        </p:spPr>
        <p:txBody>
          <a:bodyPr/>
          <a:p/>
        </p:txBody>
      </p:sp>
      <p:sp>
        <p:nvSpPr>
          <p:cNvPr id="24" name="Shape 22"/>
          <p:cNvSpPr/>
          <p:nvPr/>
        </p:nvSpPr>
        <p:spPr>
          <a:xfrm>
            <a:off x="10882503" y="6451092"/>
            <a:ext cx="162306" cy="41148"/>
          </a:xfrm>
          <a:prstGeom prst="line">
            <a:avLst/>
          </a:prstGeom>
          <a:noFill/>
          <a:ln w="9525">
            <a:solidFill>
              <a:srgbClr val="E2DCD0"/>
            </a:solidFill>
            <a:prstDash val="solid"/>
          </a:ln>
        </p:spPr>
        <p:txBody>
          <a:bodyPr/>
          <a:p/>
        </p:txBody>
      </p:sp>
      <p:sp>
        <p:nvSpPr>
          <p:cNvPr id="25" name="Shape 23"/>
          <p:cNvSpPr/>
          <p:nvPr/>
        </p:nvSpPr>
        <p:spPr>
          <a:xfrm flipH="1">
            <a:off x="10877931" y="6451092"/>
            <a:ext cx="4572" cy="196596"/>
          </a:xfrm>
          <a:prstGeom prst="line">
            <a:avLst/>
          </a:prstGeom>
          <a:noFill/>
          <a:ln w="9525">
            <a:solidFill>
              <a:srgbClr val="E2DCD0"/>
            </a:solidFill>
            <a:prstDash val="solid"/>
          </a:ln>
        </p:spPr>
        <p:txBody>
          <a:bodyPr/>
          <a:p/>
        </p:txBody>
      </p:sp>
      <p:sp>
        <p:nvSpPr>
          <p:cNvPr id="26" name="Shape 24"/>
          <p:cNvSpPr/>
          <p:nvPr/>
        </p:nvSpPr>
        <p:spPr>
          <a:xfrm flipH="1">
            <a:off x="11040237" y="6492240"/>
            <a:ext cx="4572" cy="196596"/>
          </a:xfrm>
          <a:prstGeom prst="line">
            <a:avLst/>
          </a:prstGeom>
          <a:noFill/>
          <a:ln w="9525">
            <a:solidFill>
              <a:srgbClr val="E2DCD0"/>
            </a:solidFill>
            <a:prstDash val="solid"/>
          </a:ln>
        </p:spPr>
        <p:txBody>
          <a:bodyPr/>
          <a:p/>
        </p:txBody>
      </p:sp>
      <p:sp>
        <p:nvSpPr>
          <p:cNvPr id="27" name="Shape 25"/>
          <p:cNvSpPr/>
          <p:nvPr/>
        </p:nvSpPr>
        <p:spPr>
          <a:xfrm>
            <a:off x="10498455" y="6652260"/>
            <a:ext cx="144018" cy="45720"/>
          </a:xfrm>
          <a:prstGeom prst="line">
            <a:avLst/>
          </a:prstGeom>
          <a:noFill/>
          <a:ln w="9525">
            <a:solidFill>
              <a:srgbClr val="E2DCD0"/>
            </a:solidFill>
            <a:prstDash val="solid"/>
          </a:ln>
        </p:spPr>
        <p:txBody>
          <a:bodyPr/>
          <a:p/>
        </p:txBody>
      </p:sp>
      <p:sp>
        <p:nvSpPr>
          <p:cNvPr id="28" name="Shape 26"/>
          <p:cNvSpPr/>
          <p:nvPr/>
        </p:nvSpPr>
        <p:spPr>
          <a:xfrm flipV="1">
            <a:off x="10642473" y="6647688"/>
            <a:ext cx="235458" cy="50292"/>
          </a:xfrm>
          <a:prstGeom prst="line">
            <a:avLst/>
          </a:prstGeom>
          <a:noFill/>
          <a:ln w="9525">
            <a:solidFill>
              <a:srgbClr val="E2DCD0"/>
            </a:solidFill>
            <a:prstDash val="solid"/>
          </a:ln>
        </p:spPr>
        <p:txBody>
          <a:bodyPr/>
          <a:p/>
        </p:txBody>
      </p:sp>
      <p:sp>
        <p:nvSpPr>
          <p:cNvPr id="29" name="Shape 27"/>
          <p:cNvSpPr/>
          <p:nvPr/>
        </p:nvSpPr>
        <p:spPr>
          <a:xfrm>
            <a:off x="10877931" y="6647688"/>
            <a:ext cx="162306" cy="41148"/>
          </a:xfrm>
          <a:prstGeom prst="line">
            <a:avLst/>
          </a:prstGeom>
          <a:noFill/>
          <a:ln w="9525">
            <a:solidFill>
              <a:srgbClr val="E2DCD0"/>
            </a:solidFill>
            <a:prstDash val="solid"/>
          </a:ln>
        </p:spPr>
        <p:txBody>
          <a:bodyPr/>
          <a:p/>
        </p:txBody>
      </p:sp>
      <p:sp>
        <p:nvSpPr>
          <p:cNvPr id="30" name="Shape 28"/>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4" name="Shape 32"/>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5" name="Shape 33"/>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6" name="Shape 34"/>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7" name="Shape 35"/>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8" name="Text 36"/>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세 위험 모두 실물에서 터지기 전에 발견 — 각각 다른 방법이 필요했다</a:t>
            </a:r>
            <a:endParaRPr lang="en-US" sz="85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⑤ ★ 자랑하던 것을 의심하다</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'자기 차단'은 정보 부족이었나, 우리 상수였나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우리는 「정보가 없으면 값을 내지 않는다」를 강점으로 보고했다. 그런데 알고리즘을 20cm 실물 격자로 옮겨 다시 재보니, 16노드 전부가 값을 내지 못했다. 자랑하던 기능이 전면 작동한 것인지, 아니면 무언가 잘못된 것인지 구분해야 했다.</a:t>
            </a:r>
            <a:pPr indent="0" marL="0">
              <a:lnSpc>
                <a:spcPct val="120000"/>
              </a:lnSpc>
              <a:buNone/>
            </a:pPr>
            <a:pPr indent="0" marL="0">
              <a:lnSpc>
                <a:spcPct val="120000"/>
              </a:lnSpc>
              <a:buNone/>
            </a:pP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2139696"/>
        </p:xfrm>
        <a:graphic>
          <a:graphicData uri="http://schemas.openxmlformats.org/drawingml/2006/table">
            <a:tbl>
              <a:tblPr/>
              <a:tblGrid>
                <a:gridCol w="1828800"/>
                <a:gridCol w="1645920"/>
                <a:gridCol w="1737360"/>
                <a:gridCol w="2313432"/>
                <a:gridCol w="3566160"/>
              </a:tblGrid>
              <a:tr h="310896">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창 크기 dt_window (초)</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산출 성공</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전역 방향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참값 55.48° 대비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실패 원인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60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30.94°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−24.54°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120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42.17°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−13.31°</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173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15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56.26°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+0.78°</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표본 부족 1건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240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55.76°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+0.27°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없음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365760">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327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55.83°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+0.35°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없음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8 s</a:t>
            </a:r>
            <a:endParaRPr lang="en-US" sz="2800" dirty="0"/>
          </a:p>
        </p:txBody>
      </p:sp>
      <p:sp>
        <p:nvSpPr>
          <p:cNvPr id="9" name="Text 6"/>
          <p:cNvSpPr/>
          <p:nvPr/>
        </p:nvSpPr>
        <p:spPr>
          <a:xfrm>
            <a:off x="548640"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설정된 창</a:t>
            </a:r>
            <a:endParaRPr lang="en-US" sz="1200" dirty="0"/>
          </a:p>
        </p:txBody>
      </p:sp>
      <p:sp>
        <p:nvSpPr>
          <p:cNvPr id="10" name="Text 7"/>
          <p:cNvSpPr/>
          <p:nvPr/>
        </p:nvSpPr>
        <p:spPr>
          <a:xfrm>
            <a:off x="548640"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이웃 통과 182 s · 반경 327 s</a:t>
            </a:r>
            <a:endParaRPr lang="en-US" sz="950" dirty="0"/>
          </a:p>
        </p:txBody>
      </p:sp>
      <p:sp>
        <p:nvSpPr>
          <p:cNvPr id="11" name="Shape 8"/>
          <p:cNvSpPr/>
          <p:nvPr/>
        </p:nvSpPr>
        <p:spPr>
          <a:xfrm>
            <a:off x="4334256"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 건</a:t>
            </a:r>
            <a:endParaRPr lang="en-US" sz="2800" dirty="0"/>
          </a:p>
        </p:txBody>
      </p:sp>
      <p:sp>
        <p:nvSpPr>
          <p:cNvPr id="13" name="Text 10"/>
          <p:cNvSpPr/>
          <p:nvPr/>
        </p:nvSpPr>
        <p:spPr>
          <a:xfrm>
            <a:off x="4334256"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기하(공선) 실패</a:t>
            </a:r>
            <a:endParaRPr lang="en-US" sz="1200" dirty="0"/>
          </a:p>
        </p:txBody>
      </p:sp>
      <p:sp>
        <p:nvSpPr>
          <p:cNvPr id="41" name="Text 11"/>
          <p:cNvSpPr/>
          <p:nvPr/>
        </p:nvSpPr>
        <p:spPr>
          <a:xfrm>
            <a:off x="4334256"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실패는 전부 '표본 부족'이었다</a:t>
            </a:r>
            <a:endParaRPr lang="en-US" sz="950" dirty="0"/>
          </a:p>
        </p:txBody>
      </p:sp>
      <p:sp>
        <p:nvSpPr>
          <p:cNvPr id="15" name="Shape 12"/>
          <p:cNvSpPr/>
          <p:nvPr/>
        </p:nvSpPr>
        <p:spPr>
          <a:xfrm>
            <a:off x="8119872"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4 건</a:t>
            </a:r>
            <a:endParaRPr lang="en-US" sz="2800" dirty="0"/>
          </a:p>
        </p:txBody>
      </p:sp>
      <p:sp>
        <p:nvSpPr>
          <p:cNvPr id="17" name="Text 14"/>
          <p:cNvSpPr/>
          <p:nvPr/>
        </p:nvSpPr>
        <p:spPr>
          <a:xfrm>
            <a:off x="8119872"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규모 의존 상수</a:t>
            </a:r>
            <a:endParaRPr lang="en-US" sz="1200" dirty="0"/>
          </a:p>
        </p:txBody>
      </p:sp>
      <p:sp>
        <p:nvSpPr>
          <p:cNvPr id="18" name="Text 15"/>
          <p:cNvSpPr/>
          <p:nvPr/>
        </p:nvSpPr>
        <p:spPr>
          <a:xfrm>
            <a:off x="8119872"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dt_window · residual · alert · speed</a:t>
            </a:r>
            <a:endParaRPr lang="en-US" sz="950" dirty="0"/>
          </a:p>
        </p:txBody>
      </p:sp>
      <p:sp>
        <p:nvSpPr>
          <p:cNvPr id="19" name="Text 16"/>
          <p:cNvSpPr/>
          <p:nvPr/>
        </p:nvSpPr>
        <p:spPr>
          <a:xfrm>
            <a:off x="548640" y="5815584"/>
            <a:ext cx="11091672" cy="457200"/>
          </a:xfrm>
          <a:prstGeom prst="rect">
            <a:avLst/>
          </a:prstGeom>
          <a:noFill/>
          <a:ln/>
        </p:spPr>
        <p:txBody>
          <a:bodyPr wrap="square" rtlCol="0" anchor="ctr"/>
          <a:lstStyle/>
          <a:p>
            <a:pPr indent="0" marL="0" eaLnBrk="0" hangingPunct="1">
              <a:lnSpc>
                <a:spcPct val="115000"/>
              </a:lnSpc>
              <a:buNone/>
            </a:pPr>
            <a:r>
              <a:rPr lang="en-US" sz="1200" b="1" dirty="0">
                <a:solidFill>
                  <a:srgbClr val="D35400"/>
                </a:solidFill>
                <a:latin typeface="맑은 고딕" pitchFamily="34" charset="0"/>
                <a:ea typeface="맑은 고딕" pitchFamily="34" charset="-122"/>
                <a:cs typeface="맑은 고딕" pitchFamily="34" charset="-120"/>
              </a:rPr>
              <a:t>dt_window = 8.0 s 는 시뮬 화선 1.5 m/s 기준값이었다. 20cm 벤치의 화선은 1.1 mm/s — 이웃이 한 명도 창에 못 들어와 모든 국소 집합이 자기 자신 하나가 됐다.  값을 새로 고르는 대신 상수를 물리에서 유도하도록 구조를 바꿨다 — dt_window = radio_range / v_front_expected. 시작 로그에 유도식과 계산값을 함께 찍는다.</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15</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4"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5"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8"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자기 강점을 스스로 의심해서 잡아낸 결함이다. 지표를 고친 게 아니라 구조를 고쳤다.</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① 차별성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감지는 그들이, 추적은 우리가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737360"/>
                <a:gridCol w="2514600"/>
                <a:gridCol w="2926080"/>
                <a:gridCol w="3913632"/>
              </a:tblGrid>
              <a:tr h="365760">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비교 대상</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그들의 방식</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한계</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우리 (불사)</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온도 스트리밍</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살아있는 노드가 온도 상시 전송</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초저가 대량 노드엔 상시 전송 부담</a:t>
                      </a:r>
                      <a:br/>
                      <a:r>
                        <a:rPr lang="en-US" sz="1050" dirty="0">
                          <a:solidFill>
                            <a:srgbClr val="3A3E37"/>
                          </a:solidFill>
                          <a:latin typeface="맑은 고딕" pitchFamily="34" charset="0"/>
                          <a:ea typeface="맑은 고딕" pitchFamily="34" charset="-122"/>
                          <a:cs typeface="맑은 고딕" pitchFamily="34" charset="-120"/>
                        </a:rPr>
                        <a:t>(전력·대역폭)</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교차검증된 '죽음'을 확정 이진 신호로 → 화선 위치·방향·속도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Dryad Silvanet</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불 오기 전 조기 감지(내열, +85℃ 한계)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불 속에선 못 버팀 — 감지 특화, 화선 추적 아님</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타 죽으며 화선을 그림 — 감지(그들)와 추적(우리)은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순정 ESP-MESH</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노드 죽으면 경로 우회(연결성만)</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죽음을 손실로만 처리, 정보로 안 씀</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죽음을 1급 이벤트로 승격 + 도착시각 추정 + 오탐 방어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드론·위성</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상공·우주 광역 개요</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연기·수목 아래 지표 화선·초 단위 변화 못 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지표 실측 레이어 + 지상 통신 백본 — 대체 아니라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6" name="Text 3"/>
          <p:cNvSpPr/>
          <p:nvPr/>
        </p:nvSpPr>
        <p:spPr>
          <a:xfrm>
            <a:off x="548640" y="5852160"/>
            <a:ext cx="11091672" cy="365760"/>
          </a:xfrm>
          <a:prstGeom prst="rect">
            <a:avLst/>
          </a:prstGeom>
          <a:noFill/>
          <a:ln/>
        </p:spPr>
        <p:txBody>
          <a:bodyPr wrap="square" rtlCol="0" anchor="ctr"/>
          <a:lstStyle/>
          <a:p>
            <a:pPr indent="0" marL="0" eaLnBrk="0" hangingPunct="1">
              <a:buNone/>
            </a:pPr>
            <a:r>
              <a:rPr lang="en-US" sz="1300" b="1" dirty="0">
                <a:solidFill>
                  <a:srgbClr val="D35400"/>
                </a:solidFill>
                <a:latin typeface="맑은 고딕" pitchFamily="34" charset="0"/>
                <a:ea typeface="맑은 고딕" pitchFamily="34" charset="-122"/>
                <a:cs typeface="맑은 고딕" pitchFamily="34" charset="-120"/>
              </a:rPr>
              <a:t>★ 헤드라인 차별점  </a:t>
            </a:r>
            <a:pPr indent="0" marL="0">
              <a:buNone/>
            </a:pPr>
            <a:r>
              <a:rPr lang="en-US" sz="1300" dirty="0">
                <a:solidFill>
                  <a:srgbClr val="1F2421"/>
                </a:solidFill>
                <a:latin typeface="맑은 고딕" pitchFamily="34" charset="0"/>
                <a:ea typeface="맑은 고딕" pitchFamily="34" charset="-122"/>
                <a:cs typeface="맑은 고딕" pitchFamily="34" charset="-120"/>
              </a:rPr>
              <a:t>오탐 방어(통신두절 vs 진짜 파괴 구분) = 순정 painlessMesh가 못 하는 우리만의 계층.</a:t>
            </a:r>
            <a:endParaRPr lang="en-US" sz="1300" dirty="0"/>
          </a:p>
        </p:txBody>
      </p:sp>
      <p:sp>
        <p:nvSpPr>
          <p:cNvPr id="7" name="Text 4"/>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8" name="Text 5"/>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16</a:t>
            </a:r>
            <a:endParaRPr lang="en-US" sz="900" dirty="0"/>
          </a:p>
        </p:txBody>
      </p:sp>
      <p:sp>
        <p:nvSpPr>
          <p:cNvPr id="9" name="Shape 6"/>
          <p:cNvSpPr/>
          <p:nvPr/>
        </p:nvSpPr>
        <p:spPr>
          <a:xfrm>
            <a:off x="10503027" y="6464808"/>
            <a:ext cx="144018" cy="36576"/>
          </a:xfrm>
          <a:prstGeom prst="line">
            <a:avLst/>
          </a:prstGeom>
          <a:noFill/>
          <a:ln w="9525">
            <a:solidFill>
              <a:srgbClr val="E2DCD0"/>
            </a:solidFill>
            <a:prstDash val="solid"/>
          </a:ln>
        </p:spPr>
        <p:txBody>
          <a:bodyPr/>
          <a:p/>
        </p:txBody>
      </p:sp>
      <p:sp>
        <p:nvSpPr>
          <p:cNvPr id="10" name="Shape 7"/>
          <p:cNvSpPr/>
          <p:nvPr/>
        </p:nvSpPr>
        <p:spPr>
          <a:xfrm flipH="1">
            <a:off x="10498455" y="6464808"/>
            <a:ext cx="4572" cy="187452"/>
          </a:xfrm>
          <a:prstGeom prst="line">
            <a:avLst/>
          </a:prstGeom>
          <a:noFill/>
          <a:ln w="9525">
            <a:solidFill>
              <a:srgbClr val="E2DCD0"/>
            </a:solidFill>
            <a:prstDash val="solid"/>
          </a:ln>
        </p:spPr>
        <p:txBody>
          <a:bodyPr/>
          <a:p/>
        </p:txBody>
      </p:sp>
      <p:sp>
        <p:nvSpPr>
          <p:cNvPr id="11" name="Shape 8"/>
          <p:cNvSpPr/>
          <p:nvPr/>
        </p:nvSpPr>
        <p:spPr>
          <a:xfrm flipV="1">
            <a:off x="10647045" y="6451092"/>
            <a:ext cx="235458" cy="50292"/>
          </a:xfrm>
          <a:prstGeom prst="line">
            <a:avLst/>
          </a:prstGeom>
          <a:noFill/>
          <a:ln w="9525">
            <a:solidFill>
              <a:srgbClr val="E2DCD0"/>
            </a:solidFill>
            <a:prstDash val="solid"/>
          </a:ln>
        </p:spPr>
        <p:txBody>
          <a:bodyPr/>
          <a:p/>
        </p:txBody>
      </p:sp>
      <p:sp>
        <p:nvSpPr>
          <p:cNvPr id="12" name="Shape 9"/>
          <p:cNvSpPr/>
          <p:nvPr/>
        </p:nvSpPr>
        <p:spPr>
          <a:xfrm flipH="1">
            <a:off x="10642473" y="6501384"/>
            <a:ext cx="4572" cy="196596"/>
          </a:xfrm>
          <a:prstGeom prst="line">
            <a:avLst/>
          </a:prstGeom>
          <a:noFill/>
          <a:ln w="9525">
            <a:solidFill>
              <a:srgbClr val="E2DCD0"/>
            </a:solidFill>
            <a:prstDash val="solid"/>
          </a:ln>
        </p:spPr>
        <p:txBody>
          <a:bodyPr/>
          <a:p/>
        </p:txBody>
      </p:sp>
      <p:sp>
        <p:nvSpPr>
          <p:cNvPr id="13" name="Shape 10"/>
          <p:cNvSpPr/>
          <p:nvPr/>
        </p:nvSpPr>
        <p:spPr>
          <a:xfrm>
            <a:off x="10882503" y="6451092"/>
            <a:ext cx="162306" cy="41148"/>
          </a:xfrm>
          <a:prstGeom prst="line">
            <a:avLst/>
          </a:prstGeom>
          <a:noFill/>
          <a:ln w="9525">
            <a:solidFill>
              <a:srgbClr val="E2DCD0"/>
            </a:solidFill>
            <a:prstDash val="solid"/>
          </a:ln>
        </p:spPr>
        <p:txBody>
          <a:bodyPr/>
          <a:p/>
        </p:txBody>
      </p:sp>
      <p:sp>
        <p:nvSpPr>
          <p:cNvPr id="14" name="Shape 11"/>
          <p:cNvSpPr/>
          <p:nvPr/>
        </p:nvSpPr>
        <p:spPr>
          <a:xfrm flipH="1">
            <a:off x="10877931" y="6451092"/>
            <a:ext cx="4572" cy="196596"/>
          </a:xfrm>
          <a:prstGeom prst="line">
            <a:avLst/>
          </a:prstGeom>
          <a:noFill/>
          <a:ln w="9525">
            <a:solidFill>
              <a:srgbClr val="E2DCD0"/>
            </a:solidFill>
            <a:prstDash val="solid"/>
          </a:ln>
        </p:spPr>
        <p:txBody>
          <a:bodyPr/>
          <a:p/>
        </p:txBody>
      </p:sp>
      <p:sp>
        <p:nvSpPr>
          <p:cNvPr id="15" name="Shape 12"/>
          <p:cNvSpPr/>
          <p:nvPr/>
        </p:nvSpPr>
        <p:spPr>
          <a:xfrm flipH="1">
            <a:off x="11040237" y="6492240"/>
            <a:ext cx="4572" cy="196596"/>
          </a:xfrm>
          <a:prstGeom prst="line">
            <a:avLst/>
          </a:prstGeom>
          <a:noFill/>
          <a:ln w="9525">
            <a:solidFill>
              <a:srgbClr val="E2DCD0"/>
            </a:solidFill>
            <a:prstDash val="solid"/>
          </a:ln>
        </p:spPr>
        <p:txBody>
          <a:bodyPr/>
          <a:p/>
        </p:txBody>
      </p:sp>
      <p:sp>
        <p:nvSpPr>
          <p:cNvPr id="16" name="Shape 13"/>
          <p:cNvSpPr/>
          <p:nvPr/>
        </p:nvSpPr>
        <p:spPr>
          <a:xfrm>
            <a:off x="10498455" y="6652260"/>
            <a:ext cx="144018" cy="45720"/>
          </a:xfrm>
          <a:prstGeom prst="line">
            <a:avLst/>
          </a:prstGeom>
          <a:noFill/>
          <a:ln w="9525">
            <a:solidFill>
              <a:srgbClr val="E2DCD0"/>
            </a:solidFill>
            <a:prstDash val="solid"/>
          </a:ln>
        </p:spPr>
        <p:txBody>
          <a:bodyPr/>
          <a:p/>
        </p:txBody>
      </p:sp>
      <p:sp>
        <p:nvSpPr>
          <p:cNvPr id="27" name="Shape 14"/>
          <p:cNvSpPr/>
          <p:nvPr/>
        </p:nvSpPr>
        <p:spPr>
          <a:xfrm flipV="1">
            <a:off x="10642473" y="6647688"/>
            <a:ext cx="235458" cy="50292"/>
          </a:xfrm>
          <a:prstGeom prst="line">
            <a:avLst/>
          </a:prstGeom>
          <a:noFill/>
          <a:ln w="9525">
            <a:solidFill>
              <a:srgbClr val="E2DCD0"/>
            </a:solidFill>
            <a:prstDash val="solid"/>
          </a:ln>
        </p:spPr>
        <p:txBody>
          <a:bodyPr/>
          <a:p/>
        </p:txBody>
      </p:sp>
      <p:sp>
        <p:nvSpPr>
          <p:cNvPr id="18" name="Shape 15"/>
          <p:cNvSpPr/>
          <p:nvPr/>
        </p:nvSpPr>
        <p:spPr>
          <a:xfrm>
            <a:off x="10877931" y="6647688"/>
            <a:ext cx="162306" cy="41148"/>
          </a:xfrm>
          <a:prstGeom prst="line">
            <a:avLst/>
          </a:prstGeom>
          <a:noFill/>
          <a:ln w="9525">
            <a:solidFill>
              <a:srgbClr val="E2DCD0"/>
            </a:solidFill>
            <a:prstDash val="solid"/>
          </a:ln>
        </p:spPr>
        <p:txBody>
          <a:bodyPr/>
          <a:p/>
        </p:txBody>
      </p:sp>
      <p:sp>
        <p:nvSpPr>
          <p:cNvPr id="19" name="Shape 1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0" name="Shape 1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1" name="Shape 1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2" name="Shape 1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3" name="Shape 2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4" name="Shape 2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5" name="Shape 2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6" name="Shape 2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② 성능·강건성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16노드 실물 런에서 잰 값</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6" name="Text 4"/>
          <p:cNvSpPr/>
          <p:nvPr/>
        </p:nvSpPr>
        <p:spPr>
          <a:xfrm>
            <a:off x="54864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16/16</a:t>
            </a:r>
            <a:endParaRPr lang="en-US" sz="2800" dirty="0"/>
          </a:p>
        </p:txBody>
      </p:sp>
      <p:sp>
        <p:nvSpPr>
          <p:cNvPr id="7" name="Text 5"/>
          <p:cNvSpPr/>
          <p:nvPr/>
        </p:nvSpPr>
        <p:spPr>
          <a:xfrm>
            <a:off x="54864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사망 노드</a:t>
            </a:r>
            <a:endParaRPr lang="en-US" sz="1200" dirty="0"/>
          </a:p>
        </p:txBody>
      </p:sp>
      <p:sp>
        <p:nvSpPr>
          <p:cNvPr id="8" name="Text 6"/>
          <p:cNvSpPr/>
          <p:nvPr/>
        </p:nvSpPr>
        <p:spPr>
          <a:xfrm>
            <a:off x="548640" y="2468880"/>
            <a:ext cx="2606040" cy="274320"/>
          </a:xfrm>
          <a:prstGeom prst="rect">
            <a:avLst/>
          </a:prstGeom>
          <a:noFill/>
          <a:ln/>
        </p:spPr>
        <p:txBody>
          <a:bodyPr wrap="square" rtlCol="0" anchor="ctr"/>
          <a:lstStyle/>
          <a:p>
            <a:pPr algn="ctr" indent="0" marL="0" eaLnBrk="0" hangingPunct="1">
              <a:buNone/>
            </a:pPr>
            <a:r>
              <a:rPr lang="en-US" sz="950" dirty="0">
                <a:solidFill>
                  <a:srgbClr val="D35400"/>
                </a:solidFill>
                <a:latin typeface="맑은 고딕" pitchFamily="34" charset="0"/>
                <a:ea typeface="맑은 고딕" pitchFamily="34" charset="-122"/>
                <a:cs typeface="맑은 고딕" pitchFamily="34" charset="-120"/>
              </a:rPr>
              <a:t>[실물] 전 노드 소손 · 재촬영 없음</a:t>
            </a:r>
            <a:endParaRPr lang="en-US" sz="950" dirty="0"/>
          </a:p>
        </p:txBody>
      </p:sp>
      <p:sp>
        <p:nvSpPr>
          <p:cNvPr id="9" name="Shape 7"/>
          <p:cNvSpPr/>
          <p:nvPr/>
        </p:nvSpPr>
        <p:spPr>
          <a:xfrm>
            <a:off x="333756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0" name="Text 8"/>
          <p:cNvSpPr/>
          <p:nvPr/>
        </p:nvSpPr>
        <p:spPr>
          <a:xfrm>
            <a:off x="333756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2.85°</a:t>
            </a:r>
            <a:endParaRPr lang="en-US" sz="2800" dirty="0"/>
          </a:p>
        </p:txBody>
      </p:sp>
      <p:sp>
        <p:nvSpPr>
          <p:cNvPr id="11" name="Text 9"/>
          <p:cNvSpPr/>
          <p:nvPr/>
        </p:nvSpPr>
        <p:spPr>
          <a:xfrm>
            <a:off x="333756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방향 추정 오차</a:t>
            </a:r>
            <a:endParaRPr lang="en-US" sz="1200" dirty="0"/>
          </a:p>
        </p:txBody>
      </p:sp>
      <p:sp>
        <p:nvSpPr>
          <p:cNvPr id="12" name="Text 10"/>
          <p:cNvSpPr/>
          <p:nvPr/>
        </p:nvSpPr>
        <p:spPr>
          <a:xfrm>
            <a:off x="3337560" y="2468880"/>
            <a:ext cx="2606040" cy="274320"/>
          </a:xfrm>
          <a:prstGeom prst="rect">
            <a:avLst/>
          </a:prstGeom>
          <a:noFill/>
          <a:ln/>
        </p:spPr>
        <p:txBody>
          <a:bodyPr wrap="square" rtlCol="0" anchor="ctr"/>
          <a:lstStyle/>
          <a:p>
            <a:pPr algn="ctr" indent="0" marL="0" eaLnBrk="0" hangingPunct="1">
              <a:buNone/>
            </a:pPr>
            <a:r>
              <a:rPr lang="en-US" sz="950" dirty="0">
                <a:solidFill>
                  <a:srgbClr val="D35400"/>
                </a:solidFill>
                <a:latin typeface="맑은 고딕" pitchFamily="34" charset="0"/>
                <a:ea typeface="맑은 고딕" pitchFamily="34" charset="-122"/>
                <a:cs typeface="맑은 고딕" pitchFamily="34" charset="-120"/>
              </a:rPr>
              <a:t>[실물] 참값 55.48° → 58.33°</a:t>
            </a:r>
            <a:endParaRPr lang="en-US" sz="950" dirty="0"/>
          </a:p>
        </p:txBody>
      </p:sp>
      <p:sp>
        <p:nvSpPr>
          <p:cNvPr id="13" name="Shape 11"/>
          <p:cNvSpPr/>
          <p:nvPr/>
        </p:nvSpPr>
        <p:spPr>
          <a:xfrm>
            <a:off x="612648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4" name="Text 12"/>
          <p:cNvSpPr/>
          <p:nvPr/>
        </p:nvSpPr>
        <p:spPr>
          <a:xfrm>
            <a:off x="612648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+1.67%</a:t>
            </a:r>
            <a:endParaRPr lang="en-US" sz="2800" dirty="0"/>
          </a:p>
        </p:txBody>
      </p:sp>
      <p:sp>
        <p:nvSpPr>
          <p:cNvPr id="15" name="Text 13"/>
          <p:cNvSpPr/>
          <p:nvPr/>
        </p:nvSpPr>
        <p:spPr>
          <a:xfrm>
            <a:off x="612648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속도 추정 오차</a:t>
            </a:r>
            <a:endParaRPr lang="en-US" sz="1200" dirty="0"/>
          </a:p>
        </p:txBody>
      </p:sp>
      <p:sp>
        <p:nvSpPr>
          <p:cNvPr id="16" name="Text 14"/>
          <p:cNvSpPr/>
          <p:nvPr/>
        </p:nvSpPr>
        <p:spPr>
          <a:xfrm>
            <a:off x="6126480" y="2468880"/>
            <a:ext cx="2606040" cy="274320"/>
          </a:xfrm>
          <a:prstGeom prst="rect">
            <a:avLst/>
          </a:prstGeom>
          <a:noFill/>
          <a:ln/>
        </p:spPr>
        <p:txBody>
          <a:bodyPr wrap="square" rtlCol="0" anchor="ctr"/>
          <a:lstStyle/>
          <a:p>
            <a:pPr algn="ctr" indent="0" marL="0" eaLnBrk="0" hangingPunct="1">
              <a:buNone/>
            </a:pPr>
            <a:r>
              <a:rPr lang="en-US" sz="950" dirty="0">
                <a:solidFill>
                  <a:srgbClr val="D35400"/>
                </a:solidFill>
                <a:latin typeface="맑은 고딕" pitchFamily="34" charset="0"/>
                <a:ea typeface="맑은 고딕" pitchFamily="34" charset="-122"/>
                <a:cs typeface="맑은 고딕" pitchFamily="34" charset="-120"/>
              </a:rPr>
              <a:t>[실물] 참값 0.5785 → 0.5882 mm/s</a:t>
            </a:r>
            <a:endParaRPr lang="en-US" sz="950" dirty="0"/>
          </a:p>
        </p:txBody>
      </p:sp>
      <p:sp>
        <p:nvSpPr>
          <p:cNvPr id="17" name="Shape 15"/>
          <p:cNvSpPr/>
          <p:nvPr/>
        </p:nvSpPr>
        <p:spPr>
          <a:xfrm>
            <a:off x="891540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8" name="Text 16"/>
          <p:cNvSpPr/>
          <p:nvPr/>
        </p:nvSpPr>
        <p:spPr>
          <a:xfrm>
            <a:off x="891540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13/16</a:t>
            </a:r>
            <a:endParaRPr lang="en-US" sz="2800" dirty="0"/>
          </a:p>
        </p:txBody>
      </p:sp>
      <p:sp>
        <p:nvSpPr>
          <p:cNvPr id="19" name="Text 17"/>
          <p:cNvSpPr/>
          <p:nvPr/>
        </p:nvSpPr>
        <p:spPr>
          <a:xfrm>
            <a:off x="891540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사망 전 경보 수신</a:t>
            </a:r>
            <a:endParaRPr lang="en-US" sz="1200" dirty="0"/>
          </a:p>
        </p:txBody>
      </p:sp>
      <p:sp>
        <p:nvSpPr>
          <p:cNvPr id="20" name="Text 18"/>
          <p:cNvSpPr/>
          <p:nvPr/>
        </p:nvSpPr>
        <p:spPr>
          <a:xfrm>
            <a:off x="8915400" y="2468880"/>
            <a:ext cx="2606040" cy="274320"/>
          </a:xfrm>
          <a:prstGeom prst="rect">
            <a:avLst/>
          </a:prstGeom>
          <a:noFill/>
          <a:ln/>
        </p:spPr>
        <p:txBody>
          <a:bodyPr wrap="square" rtlCol="0" anchor="ctr"/>
          <a:lstStyle/>
          <a:p>
            <a:pPr algn="ctr" indent="0" marL="0" eaLnBrk="0" hangingPunct="1">
              <a:buNone/>
            </a:pPr>
            <a:r>
              <a:rPr lang="en-US" sz="950" dirty="0">
                <a:solidFill>
                  <a:srgbClr val="D35400"/>
                </a:solidFill>
                <a:latin typeface="맑은 고딕" pitchFamily="34" charset="0"/>
                <a:ea typeface="맑은 고딕" pitchFamily="34" charset="-122"/>
                <a:cs typeface="맑은 고딕" pitchFamily="34" charset="-120"/>
              </a:rPr>
              <a:t>[실물] 평균 351초 전 · 최대 523초</a:t>
            </a:r>
            <a:endParaRPr lang="en-US" sz="950" dirty="0"/>
          </a:p>
        </p:txBody>
      </p:sp>
      <p:sp>
        <p:nvSpPr>
          <p:cNvPr id="21" name="Text 19"/>
          <p:cNvSpPr/>
          <p:nvPr/>
        </p:nvSpPr>
        <p:spPr>
          <a:xfrm>
            <a:off x="548640" y="3035808"/>
            <a:ext cx="10972800" cy="32004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작동 한계선 (operating envelope) — 어디까지 되고, 어디부터 안 되는가</a:t>
            </a:r>
            <a:endParaRPr lang="en-US" sz="13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3346704"/>
          <a:ext cx="11091672" cy="2157984"/>
        </p:xfrm>
        <a:graphic>
          <a:graphicData uri="http://schemas.openxmlformats.org/drawingml/2006/table">
            <a:tbl>
              <a:tblPr/>
              <a:tblGrid>
                <a:gridCol w="3017520"/>
                <a:gridCol w="3383280"/>
                <a:gridCol w="4690872"/>
              </a:tblGrid>
              <a:tr h="292608">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조건</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결과 (출처)</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의미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직선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6B6E6A"/>
                          </a:solidFill>
                          <a:latin typeface="맑은 고딕" pitchFamily="34" charset="0"/>
                          <a:ea typeface="맑은 고딕" pitchFamily="34" charset="-122"/>
                          <a:cs typeface="맑은 고딕" pitchFamily="34" charset="-120"/>
                        </a:rPr>
                        <a:t>[시뮬] 방향오차 0.03°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정상 운용 영역</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타원 화선 · 정면(head)</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6B6E6A"/>
                          </a:solidFill>
                          <a:latin typeface="맑은 고딕" pitchFamily="34" charset="0"/>
                          <a:ea typeface="맑은 고딕" pitchFamily="34" charset="-122"/>
                          <a:cs typeface="맑은 고딕" pitchFamily="34" charset="-120"/>
                        </a:rPr>
                        <a:t>[시뮬] 방향오차 0.88°</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데모·실전의 주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강곡률 곡선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6B6E6A"/>
                          </a:solidFill>
                          <a:latin typeface="맑은 고딕" pitchFamily="34" charset="0"/>
                          <a:ea typeface="맑은 고딕" pitchFamily="34" charset="-122"/>
                          <a:cs typeface="맑은 고딕" pitchFamily="34" charset="-120"/>
                        </a:rPr>
                        <a:t>[시뮬] 방향오차 7.6~13.4°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국소 평면 근사의 한계 — 센서 지연과 무관한 별개 한계</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D35400"/>
                          </a:solidFill>
                          <a:latin typeface="맑은 고딕" pitchFamily="34" charset="0"/>
                          <a:ea typeface="맑은 고딕" pitchFamily="34" charset="-122"/>
                          <a:cs typeface="맑은 고딕" pitchFamily="34" charset="-120"/>
                        </a:rPr>
                        <a:t>타원 측면 · 노드 희소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[시뮬] 자기 차단(값 미출력)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정보 부족과 표본 굶주림을 분리해야 성립 — §4-E</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ETA</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6B6E6A"/>
                          </a:solidFill>
                          <a:latin typeface="맑은 고딕" pitchFamily="34" charset="0"/>
                          <a:ea typeface="맑은 고딕" pitchFamily="34" charset="-122"/>
                          <a:cs typeface="맑은 고딕" pitchFamily="34" charset="-120"/>
                        </a:rPr>
                        <a:t>[시뮬] 앵커거리와 상관 0.99~1.00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배치 밀도가 지배 — 알고리즘이 아니라 간격</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데모 열원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D35400"/>
                          </a:solidFill>
                          <a:latin typeface="맑은 고딕" pitchFamily="34" charset="0"/>
                          <a:ea typeface="맑은 고딕" pitchFamily="34" charset="-122"/>
                          <a:cs typeface="맑은 고딕" pitchFamily="34" charset="-120"/>
                        </a:rPr>
                        <a:t>[실물] 190.5 ℃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예측 190.0 ℃ 적중(0.3%). 설정 400·풍량 10·4 cm·체류 8초</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23" name="Text 20"/>
          <p:cNvSpPr/>
          <p:nvPr/>
        </p:nvSpPr>
        <p:spPr>
          <a:xfrm>
            <a:off x="548640" y="5669280"/>
            <a:ext cx="11091672" cy="685800"/>
          </a:xfrm>
          <a:prstGeom prst="rect">
            <a:avLst/>
          </a:prstGeom>
          <a:noFill/>
          <a:ln/>
        </p:spPr>
        <p:txBody>
          <a:bodyPr wrap="square" rtlCol="0" anchor="ctr"/>
          <a:lstStyle/>
          <a:p>
            <a:pPr indent="0" marL="0" eaLnBrk="0" hangingPunct="1">
              <a:lnSpc>
                <a:spcPct val="110000"/>
              </a:lnSpc>
              <a:buNone/>
            </a:pPr>
            <a:r>
              <a:rPr lang="en-US" sz="1100" b="1" dirty="0">
                <a:solidFill>
                  <a:srgbClr val="2C5F2D"/>
                </a:solidFill>
                <a:latin typeface="맑은 고딕" pitchFamily="34" charset="0"/>
                <a:ea typeface="맑은 고딕" pitchFamily="34" charset="-122"/>
                <a:cs typeface="맑은 고딕" pitchFamily="34" charset="-120"/>
              </a:rPr>
              <a:t>모든 노드에 똑같이 걸리는 센서 지연에는 원리적으로 면역</a:t>
            </a:r>
            <a:pPr indent="0" marL="0">
              <a:buNone/>
            </a:pPr>
            <a:r>
              <a:rPr lang="en-US" sz="1100" dirty="0">
                <a:solidFill>
                  <a:srgbClr val="1F2421"/>
                </a:solidFill>
                <a:latin typeface="맑은 고딕" pitchFamily="34" charset="0"/>
                <a:ea typeface="맑은 고딕" pitchFamily="34" charset="-122"/>
                <a:cs typeface="맑은 고딕" pitchFamily="34" charset="-120"/>
              </a:rPr>
              <a:t> (기울기에서 상쇄 — 수식 증명).  실측에서도 같은 성질이 재현됐다 — 센서 위치가 흔들려 도달 온도가 16.5℃ 변하는 동안 τ는 −0.061 s/℃로만 반응했다.</a:t>
            </a:r>
            <a:endParaRPr lang="en-US" sz="1250" dirty="0"/>
          </a:p>
          <a:p>
            <a:pPr indent="0" marL="0" eaLnBrk="0" hangingPunct="1">
              <a:lnSpc>
                <a:spcPct val="110000"/>
              </a:lnSpc>
              <a:buNone/>
            </a:pPr>
            <a:r>
              <a:rPr lang="en-US" sz="1100" b="1" dirty="0">
                <a:solidFill>
                  <a:srgbClr val="2C5F2D"/>
                </a:solidFill>
                <a:latin typeface="맑은 고딕" pitchFamily="34" charset="0"/>
                <a:ea typeface="맑은 고딕" pitchFamily="34" charset="-122"/>
                <a:cs typeface="맑은 고딕" pitchFamily="34" charset="-120"/>
              </a:rPr>
              <a:t>※ 자기 차단은 유효한 기능이지만, 초기 보고에서 '정보 부족'으로 해석한 것 중 일부는 우리가 설정한 창 크기가 만든 표본 굶주림이었다. 원인 분해와 재발 방지는 §4-E.</a:t>
            </a:r>
            <a:pPr indent="0" marL="0">
              <a:buNone/>
            </a:pPr>
            <a:endParaRPr lang="en-US" sz="1250" dirty="0"/>
          </a:p>
        </p:txBody>
      </p:sp>
      <p:sp>
        <p:nvSpPr>
          <p:cNvPr id="24" name="Text 21"/>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2"/>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17</a:t>
            </a:r>
            <a:endParaRPr lang="en-US" sz="900" dirty="0"/>
          </a:p>
        </p:txBody>
      </p:sp>
      <p:sp>
        <p:nvSpPr>
          <p:cNvPr id="26" name="Shape 23"/>
          <p:cNvSpPr/>
          <p:nvPr/>
        </p:nvSpPr>
        <p:spPr>
          <a:xfrm>
            <a:off x="10503027" y="6464808"/>
            <a:ext cx="144018" cy="36576"/>
          </a:xfrm>
          <a:prstGeom prst="line">
            <a:avLst/>
          </a:prstGeom>
          <a:noFill/>
          <a:ln w="9525">
            <a:solidFill>
              <a:srgbClr val="E2DCD0"/>
            </a:solidFill>
            <a:prstDash val="solid"/>
          </a:ln>
        </p:spPr>
        <p:txBody>
          <a:bodyPr/>
          <a:p/>
        </p:txBody>
      </p:sp>
      <p:sp>
        <p:nvSpPr>
          <p:cNvPr id="27" name="Shape 24"/>
          <p:cNvSpPr/>
          <p:nvPr/>
        </p:nvSpPr>
        <p:spPr>
          <a:xfrm flipH="1">
            <a:off x="10498455" y="6464808"/>
            <a:ext cx="4572" cy="187452"/>
          </a:xfrm>
          <a:prstGeom prst="line">
            <a:avLst/>
          </a:prstGeom>
          <a:noFill/>
          <a:ln w="9525">
            <a:solidFill>
              <a:srgbClr val="E2DCD0"/>
            </a:solidFill>
            <a:prstDash val="solid"/>
          </a:ln>
        </p:spPr>
        <p:txBody>
          <a:bodyPr/>
          <a:p/>
        </p:txBody>
      </p:sp>
      <p:sp>
        <p:nvSpPr>
          <p:cNvPr id="28" name="Shape 25"/>
          <p:cNvSpPr/>
          <p:nvPr/>
        </p:nvSpPr>
        <p:spPr>
          <a:xfrm flipV="1">
            <a:off x="10647045" y="6451092"/>
            <a:ext cx="235458" cy="50292"/>
          </a:xfrm>
          <a:prstGeom prst="line">
            <a:avLst/>
          </a:prstGeom>
          <a:noFill/>
          <a:ln w="9525">
            <a:solidFill>
              <a:srgbClr val="E2DCD0"/>
            </a:solidFill>
            <a:prstDash val="solid"/>
          </a:ln>
        </p:spPr>
        <p:txBody>
          <a:bodyPr/>
          <a:p/>
        </p:txBody>
      </p:sp>
      <p:sp>
        <p:nvSpPr>
          <p:cNvPr id="29" name="Shape 26"/>
          <p:cNvSpPr/>
          <p:nvPr/>
        </p:nvSpPr>
        <p:spPr>
          <a:xfrm flipH="1">
            <a:off x="10642473" y="6501384"/>
            <a:ext cx="4572" cy="196596"/>
          </a:xfrm>
          <a:prstGeom prst="line">
            <a:avLst/>
          </a:prstGeom>
          <a:noFill/>
          <a:ln w="9525">
            <a:solidFill>
              <a:srgbClr val="E2DCD0"/>
            </a:solidFill>
            <a:prstDash val="solid"/>
          </a:ln>
        </p:spPr>
        <p:txBody>
          <a:bodyPr/>
          <a:p/>
        </p:txBody>
      </p:sp>
      <p:sp>
        <p:nvSpPr>
          <p:cNvPr id="30" name="Shape 27"/>
          <p:cNvSpPr/>
          <p:nvPr/>
        </p:nvSpPr>
        <p:spPr>
          <a:xfrm>
            <a:off x="10882503" y="6451092"/>
            <a:ext cx="162306" cy="41148"/>
          </a:xfrm>
          <a:prstGeom prst="line">
            <a:avLst/>
          </a:prstGeom>
          <a:noFill/>
          <a:ln w="9525">
            <a:solidFill>
              <a:srgbClr val="E2DCD0"/>
            </a:solidFill>
            <a:prstDash val="solid"/>
          </a:ln>
        </p:spPr>
        <p:txBody>
          <a:bodyPr/>
          <a:p/>
        </p:txBody>
      </p:sp>
      <p:sp>
        <p:nvSpPr>
          <p:cNvPr id="31" name="Shape 28"/>
          <p:cNvSpPr/>
          <p:nvPr/>
        </p:nvSpPr>
        <p:spPr>
          <a:xfrm flipH="1">
            <a:off x="10877931" y="6451092"/>
            <a:ext cx="4572" cy="196596"/>
          </a:xfrm>
          <a:prstGeom prst="line">
            <a:avLst/>
          </a:prstGeom>
          <a:noFill/>
          <a:ln w="9525">
            <a:solidFill>
              <a:srgbClr val="E2DCD0"/>
            </a:solidFill>
            <a:prstDash val="solid"/>
          </a:ln>
        </p:spPr>
        <p:txBody>
          <a:bodyPr/>
          <a:p/>
        </p:txBody>
      </p:sp>
      <p:sp>
        <p:nvSpPr>
          <p:cNvPr id="32" name="Shape 29"/>
          <p:cNvSpPr/>
          <p:nvPr/>
        </p:nvSpPr>
        <p:spPr>
          <a:xfrm flipH="1">
            <a:off x="11040237" y="6492240"/>
            <a:ext cx="4572" cy="196596"/>
          </a:xfrm>
          <a:prstGeom prst="line">
            <a:avLst/>
          </a:prstGeom>
          <a:noFill/>
          <a:ln w="9525">
            <a:solidFill>
              <a:srgbClr val="E2DCD0"/>
            </a:solidFill>
            <a:prstDash val="solid"/>
          </a:ln>
        </p:spPr>
        <p:txBody>
          <a:bodyPr/>
          <a:p/>
        </p:txBody>
      </p:sp>
      <p:sp>
        <p:nvSpPr>
          <p:cNvPr id="33" name="Shape 30"/>
          <p:cNvSpPr/>
          <p:nvPr/>
        </p:nvSpPr>
        <p:spPr>
          <a:xfrm>
            <a:off x="10498455" y="6652260"/>
            <a:ext cx="144018" cy="45720"/>
          </a:xfrm>
          <a:prstGeom prst="line">
            <a:avLst/>
          </a:prstGeom>
          <a:noFill/>
          <a:ln w="9525">
            <a:solidFill>
              <a:srgbClr val="E2DCD0"/>
            </a:solidFill>
            <a:prstDash val="solid"/>
          </a:ln>
        </p:spPr>
        <p:txBody>
          <a:bodyPr/>
          <a:p/>
        </p:txBody>
      </p:sp>
      <p:sp>
        <p:nvSpPr>
          <p:cNvPr id="34" name="Shape 31"/>
          <p:cNvSpPr/>
          <p:nvPr/>
        </p:nvSpPr>
        <p:spPr>
          <a:xfrm flipV="1">
            <a:off x="10642473" y="6647688"/>
            <a:ext cx="235458" cy="50292"/>
          </a:xfrm>
          <a:prstGeom prst="line">
            <a:avLst/>
          </a:prstGeom>
          <a:noFill/>
          <a:ln w="9525">
            <a:solidFill>
              <a:srgbClr val="E2DCD0"/>
            </a:solidFill>
            <a:prstDash val="solid"/>
          </a:ln>
        </p:spPr>
        <p:txBody>
          <a:bodyPr/>
          <a:p/>
        </p:txBody>
      </p:sp>
      <p:sp>
        <p:nvSpPr>
          <p:cNvPr id="35" name="Shape 32"/>
          <p:cNvSpPr/>
          <p:nvPr/>
        </p:nvSpPr>
        <p:spPr>
          <a:xfrm>
            <a:off x="10877931" y="6647688"/>
            <a:ext cx="162306" cy="41148"/>
          </a:xfrm>
          <a:prstGeom prst="line">
            <a:avLst/>
          </a:prstGeom>
          <a:noFill/>
          <a:ln w="9525">
            <a:solidFill>
              <a:srgbClr val="E2DCD0"/>
            </a:solidFill>
            <a:prstDash val="solid"/>
          </a:ln>
        </p:spPr>
        <p:txBody>
          <a:bodyPr/>
          <a:p/>
        </p:txBody>
      </p:sp>
      <p:sp>
        <p:nvSpPr>
          <p:cNvPr id="36" name="Shape 3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3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1"/>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시뮬 검증: 자동 테스트 54건 전건 통과 · 전달률 92.3% · 오탐률 0% (네트워크 시뮬레이터 기준)</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① 활용</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지휘부는 배치를, 대원은 대피 시각을 얻는다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011680"/>
          </a:xfrm>
          <a:prstGeom prst="roundRect">
            <a:avLst>
              <a:gd name="adj" fmla="val 272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수요자 1 · 진화 지휘부</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058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지표 화선의 실시간 위치·방향·속도로 '어디에 자원을 먼저 투입할지' 판단. 자원 배치 정확도↑.</a:t>
            </a:r>
            <a:endParaRPr lang="en-US" sz="1200" dirty="0"/>
          </a:p>
        </p:txBody>
      </p:sp>
      <p:sp>
        <p:nvSpPr>
          <p:cNvPr id="9" name="Shape 7"/>
          <p:cNvSpPr/>
          <p:nvPr/>
        </p:nvSpPr>
        <p:spPr>
          <a:xfrm>
            <a:off x="6153912" y="1508760"/>
            <a:ext cx="5477256" cy="2011680"/>
          </a:xfrm>
          <a:prstGeom prst="roundRect">
            <a:avLst>
              <a:gd name="adj" fmla="val 2727"/>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수요자 2 · 최전선 대원</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058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'이 구역에 화선 N분 내 도달' 대피 타이밍 제공. 대원 안전과 직결(속도는 안전마진으로 보수적 경보).</a:t>
            </a:r>
            <a:endParaRPr lang="en-US" sz="1200" dirty="0"/>
          </a:p>
        </p:txBody>
      </p:sp>
      <p:sp>
        <p:nvSpPr>
          <p:cNvPr id="13" name="Shape 11"/>
          <p:cNvSpPr/>
          <p:nvPr/>
        </p:nvSpPr>
        <p:spPr>
          <a:xfrm>
            <a:off x="548640" y="3703320"/>
            <a:ext cx="5440680" cy="2148840"/>
          </a:xfrm>
          <a:prstGeom prst="roundRect">
            <a:avLst>
              <a:gd name="adj" fmla="val 2553"/>
            </a:avLst>
          </a:prstGeom>
          <a:solidFill>
            <a:srgbClr val="FFFFFF"/>
          </a:solidFill>
          <a:ln w="12700">
            <a:solidFill>
              <a:srgbClr val="E2DCD0"/>
            </a:solidFill>
            <a:prstDash val="solid"/>
          </a:ln>
        </p:spPr>
        <p:txBody>
          <a:bodyPr/>
          <a:p/>
        </p:txBody>
      </p:sp>
      <p:sp>
        <p:nvSpPr>
          <p:cNvPr id="14" name="Text 12"/>
          <p:cNvSpPr/>
          <p:nvPr/>
        </p:nvSpPr>
        <p:spPr>
          <a:xfrm>
            <a:off x="777240" y="390448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배포 · 고위험 구역 사전 배치</a:t>
            </a:r>
            <a:endParaRPr lang="en-US" sz="1450" dirty="0"/>
          </a:p>
        </p:txBody>
      </p:sp>
      <p:sp>
        <p:nvSpPr>
          <p:cNvPr id="15" name="Shape 13"/>
          <p:cNvSpPr/>
          <p:nvPr/>
        </p:nvSpPr>
        <p:spPr>
          <a:xfrm>
            <a:off x="777240" y="4343400"/>
            <a:ext cx="502920" cy="0"/>
          </a:xfrm>
          <a:prstGeom prst="line">
            <a:avLst/>
          </a:prstGeom>
          <a:noFill/>
          <a:ln w="25400">
            <a:solidFill>
              <a:srgbClr val="D35400"/>
            </a:solidFill>
            <a:prstDash val="solid"/>
          </a:ln>
        </p:spPr>
        <p:txBody>
          <a:bodyPr/>
          <a:p/>
        </p:txBody>
      </p:sp>
      <p:sp>
        <p:nvSpPr>
          <p:cNvPr id="16" name="Text 14"/>
          <p:cNvSpPr/>
          <p:nvPr/>
        </p:nvSpPr>
        <p:spPr>
          <a:xfrm>
            <a:off x="777240" y="448056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상습 발화지, 도시·마을 인접 산림(WUI), 주요 시설·문화재·등산로에 핀포인트. 초저가라 촘촘히 깔아도 부담 적음(사전 배치는 상용 선례로 검증).</a:t>
            </a:r>
            <a:endParaRPr lang="en-US" sz="1200" dirty="0"/>
          </a:p>
          <a:p>
            <a:pPr indent="0" marL="0" eaLnBrk="0" hangingPunct="1">
              <a:lnSpc>
                <a:spcPct val="120000"/>
              </a:lnSpc>
              <a:buNone/>
            </a:pPr>
            <a:endParaRPr lang="en-US" sz="1200" dirty="0"/>
          </a:p>
        </p:txBody>
      </p:sp>
      <p:sp>
        <p:nvSpPr>
          <p:cNvPr id="17" name="Shape 15"/>
          <p:cNvSpPr/>
          <p:nvPr/>
        </p:nvSpPr>
        <p:spPr>
          <a:xfrm>
            <a:off x="6153912" y="370332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390448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기대효과</a:t>
            </a:r>
            <a:endParaRPr lang="en-US" sz="1450" dirty="0"/>
          </a:p>
        </p:txBody>
      </p:sp>
      <p:sp>
        <p:nvSpPr>
          <p:cNvPr id="19" name="Shape 17"/>
          <p:cNvSpPr/>
          <p:nvPr/>
        </p:nvSpPr>
        <p:spPr>
          <a:xfrm>
            <a:off x="6382512" y="4343400"/>
            <a:ext cx="502920" cy="0"/>
          </a:xfrm>
          <a:prstGeom prst="line">
            <a:avLst/>
          </a:prstGeom>
          <a:noFill/>
          <a:ln w="25400">
            <a:solidFill>
              <a:srgbClr val="D35400"/>
            </a:solidFill>
            <a:prstDash val="solid"/>
          </a:ln>
        </p:spPr>
        <p:txBody>
          <a:bodyPr/>
          <a:p/>
        </p:txBody>
      </p:sp>
      <p:sp>
        <p:nvSpPr>
          <p:cNvPr id="20" name="Text 18"/>
          <p:cNvSpPr/>
          <p:nvPr/>
        </p:nvSpPr>
        <p:spPr>
          <a:xfrm>
            <a:off x="6382512" y="448056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상공 관측이 놓치는 지표 화선을 지상에서 실시간화 → 자원 배치 정확도와 대원 안전을 동시에 끌어올린다.</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② 시장성·발전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타 죽는 것을 전제로 하면 경제 논리가 뒤집힌다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926080"/>
          </a:xfrm>
          <a:prstGeom prst="roundRect">
            <a:avLst>
              <a:gd name="adj" fmla="val 1875"/>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비용 논리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92024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불 속에 들어가는 역할엔 내구성을 '살' 수 없다 → 저가 소모형이 유일하게 합리적.</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불날 때마다 갈아끼우는 모델이 오히려 경제적.</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1대 부품비 1.2만 원 [데모 기준 — 케이스·야외전원·거치 제외].</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데모 조달 총액 ≈ 45만 원 (예비 보드·공구·라즈베리파이 포함, 부가세 포함).</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예방 투자 vs 산불 1회 피해(인명·산림·재산) = 후자가 압도적.</a:t>
            </a:r>
            <a:endParaRPr lang="en-US" sz="1200" dirty="0"/>
          </a:p>
        </p:txBody>
      </p:sp>
      <p:sp>
        <p:nvSpPr>
          <p:cNvPr id="9" name="Shape 7"/>
          <p:cNvSpPr/>
          <p:nvPr/>
        </p:nvSpPr>
        <p:spPr>
          <a:xfrm>
            <a:off x="6153912" y="1508760"/>
            <a:ext cx="5477256" cy="2926080"/>
          </a:xfrm>
          <a:prstGeom prst="roundRect">
            <a:avLst>
              <a:gd name="adj" fmla="val 1875"/>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발전 가능성</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18504" y="2286000"/>
            <a:ext cx="5148072" cy="192024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'고장-패턴-데이터화 + 자가치유' 구조를 실내 화재·가스 누출·구조물 붕괴·홍수로 확장 가능.</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상승 궤적·곡선-허용 시공간 정합·다중소스 추정(#2e)이 다음 연구 축.</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드론·위성과 대체가 아니라 상보 레이어로 통합.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전력: 상시 메시 구조상 노드당 90~130 mA [추정 — 데이터시트 기준].</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저전력 모드(평시 deep sleep · 화재 시 메시 기동)는 향후 과제.</a:t>
            </a:r>
            <a:endParaRPr lang="en-US" sz="1200" dirty="0"/>
          </a:p>
        </p:txBody>
      </p:sp>
      <p:sp>
        <p:nvSpPr>
          <p:cNvPr id="13" name="Text 11"/>
          <p:cNvSpPr/>
          <p:nvPr/>
        </p:nvSpPr>
        <p:spPr>
          <a:xfrm>
            <a:off x="548640" y="4663440"/>
            <a:ext cx="11064240" cy="36576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독창성은 특정 응용이 아니라 '고장을 데이터로 승격하는 아키텍처'에 있어, 재난 전반으로 이식된다.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일정·업무 분장</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1인이 네 영역을 병렬로 — 규율과 도구로 범위를 통제했다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2743200"/>
        </p:xfrm>
        <a:graphic>
          <a:graphicData uri="http://schemas.openxmlformats.org/drawingml/2006/table">
            <a:tbl>
              <a:tblPr/>
              <a:tblGrid>
                <a:gridCol w="2926080"/>
                <a:gridCol w="2194560"/>
                <a:gridCol w="5971032"/>
              </a:tblGrid>
              <a:tr h="310896">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단계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기간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내용</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① 시뮬·알고리즘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7월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시뮬레이터 · 도착시각 추정 · 스트레스 시험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② 알고리즘 정밀화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초</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집계 결함 교정 · 자기 차단 도입 · 명세 대조</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③ 실측·실물 포팅</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중</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센서 열관성 실측 · 펌웨어 포팅 · 메시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④ 자가치유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말</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4노드 메시 · 중계 이탈/복귀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⑤ 조립·교정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말</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16노드 조립 · 감지부 좌표 · 열원 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⑥ 리허설·촬영</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말~9월 초</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16노드 본편 촬영 · 자가치유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⑦ 문서·제출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9월 초</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영상 편집 · 보고서 완성 · GitHub 공개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6" name="Shape 3"/>
          <p:cNvSpPr/>
          <p:nvPr/>
        </p:nvSpPr>
        <p:spPr>
          <a:xfrm>
            <a:off x="548640" y="4389120"/>
            <a:ext cx="11091672" cy="1600200"/>
          </a:xfrm>
          <a:prstGeom prst="roundRect">
            <a:avLst>
              <a:gd name="adj" fmla="val 3429"/>
            </a:avLst>
          </a:prstGeom>
          <a:solidFill>
            <a:srgbClr val="EEF3E6"/>
          </a:solidFill>
          <a:ln w="12700">
            <a:solidFill>
              <a:srgbClr val="E2DCD0"/>
            </a:solidFill>
            <a:prstDash val="solid"/>
          </a:ln>
        </p:spPr>
        <p:txBody>
          <a:bodyPr/>
          <a:p/>
        </p:txBody>
      </p:sp>
      <p:sp>
        <p:nvSpPr>
          <p:cNvPr id="7" name="Text 4"/>
          <p:cNvSpPr/>
          <p:nvPr/>
        </p:nvSpPr>
        <p:spPr>
          <a:xfrm>
            <a:off x="777240" y="4590288"/>
            <a:ext cx="10634472"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1인 업무 분장 (영역별)</a:t>
            </a:r>
            <a:endParaRPr lang="en-US" sz="1450" dirty="0"/>
          </a:p>
        </p:txBody>
      </p:sp>
      <p:sp>
        <p:nvSpPr>
          <p:cNvPr id="8" name="Shape 5"/>
          <p:cNvSpPr/>
          <p:nvPr/>
        </p:nvSpPr>
        <p:spPr>
          <a:xfrm>
            <a:off x="777240" y="5029200"/>
            <a:ext cx="502920" cy="0"/>
          </a:xfrm>
          <a:prstGeom prst="line">
            <a:avLst/>
          </a:prstGeom>
          <a:noFill/>
          <a:ln w="25400">
            <a:solidFill>
              <a:srgbClr val="D35400"/>
            </a:solidFill>
            <a:prstDash val="solid"/>
          </a:ln>
        </p:spPr>
        <p:txBody>
          <a:bodyPr/>
          <a:p/>
        </p:txBody>
      </p:sp>
      <p:sp>
        <p:nvSpPr>
          <p:cNvPr id="9" name="Text 6"/>
          <p:cNvSpPr/>
          <p:nvPr/>
        </p:nvSpPr>
        <p:spPr>
          <a:xfrm>
            <a:off x="777240" y="5166360"/>
            <a:ext cx="10634472" cy="59436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펌웨어(ESP32·painlessMesh) · 알고리즘/게이트웨이(Python 추정기) · 하드웨어(16노드 조립·데모·계측) · 문서/발표(보고서·영상)를 단독으로 단계적 수행. 시뮬 선개발로 리스크를 앞당겨 해소하고, 추정기 동결·사전등록 규율로 범위를 통제 — 1인 개발의 범위 관리·완결 역량을 보인다.</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설계·판단·실험·검증은 단독 수행. 반복 구현과 문서 정리에 AI 코딩 보조(Claude)를 활용.</a:t>
            </a:r>
            <a:endParaRPr lang="en-US" sz="1200" dirty="0"/>
          </a:p>
        </p:txBody>
      </p:sp>
      <p:sp>
        <p:nvSpPr>
          <p:cNvPr id="10" name="Text 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1" name="Text 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20</a:t>
            </a:r>
            <a:endParaRPr lang="en-US" sz="900" dirty="0"/>
          </a:p>
        </p:txBody>
      </p:sp>
      <p:sp>
        <p:nvSpPr>
          <p:cNvPr id="12" name="Shape 9"/>
          <p:cNvSpPr/>
          <p:nvPr/>
        </p:nvSpPr>
        <p:spPr>
          <a:xfrm>
            <a:off x="10503027" y="6464808"/>
            <a:ext cx="144018" cy="36576"/>
          </a:xfrm>
          <a:prstGeom prst="line">
            <a:avLst/>
          </a:prstGeom>
          <a:noFill/>
          <a:ln w="9525">
            <a:solidFill>
              <a:srgbClr val="E2DCD0"/>
            </a:solidFill>
            <a:prstDash val="solid"/>
          </a:ln>
        </p:spPr>
        <p:txBody>
          <a:bodyPr/>
          <a:p/>
        </p:txBody>
      </p:sp>
      <p:sp>
        <p:nvSpPr>
          <p:cNvPr id="13" name="Shape 10"/>
          <p:cNvSpPr/>
          <p:nvPr/>
        </p:nvSpPr>
        <p:spPr>
          <a:xfrm flipH="1">
            <a:off x="10498455" y="6464808"/>
            <a:ext cx="4572" cy="187452"/>
          </a:xfrm>
          <a:prstGeom prst="line">
            <a:avLst/>
          </a:prstGeom>
          <a:noFill/>
          <a:ln w="9525">
            <a:solidFill>
              <a:srgbClr val="E2DCD0"/>
            </a:solidFill>
            <a:prstDash val="solid"/>
          </a:ln>
        </p:spPr>
        <p:txBody>
          <a:bodyPr/>
          <a:p/>
        </p:txBody>
      </p:sp>
      <p:sp>
        <p:nvSpPr>
          <p:cNvPr id="14" name="Shape 11"/>
          <p:cNvSpPr/>
          <p:nvPr/>
        </p:nvSpPr>
        <p:spPr>
          <a:xfrm flipV="1">
            <a:off x="10647045" y="6451092"/>
            <a:ext cx="235458" cy="50292"/>
          </a:xfrm>
          <a:prstGeom prst="line">
            <a:avLst/>
          </a:prstGeom>
          <a:noFill/>
          <a:ln w="9525">
            <a:solidFill>
              <a:srgbClr val="E2DCD0"/>
            </a:solidFill>
            <a:prstDash val="solid"/>
          </a:ln>
        </p:spPr>
        <p:txBody>
          <a:bodyPr/>
          <a:p/>
        </p:txBody>
      </p:sp>
      <p:sp>
        <p:nvSpPr>
          <p:cNvPr id="15" name="Shape 12"/>
          <p:cNvSpPr/>
          <p:nvPr/>
        </p:nvSpPr>
        <p:spPr>
          <a:xfrm flipH="1">
            <a:off x="10642473" y="6501384"/>
            <a:ext cx="4572" cy="196596"/>
          </a:xfrm>
          <a:prstGeom prst="line">
            <a:avLst/>
          </a:prstGeom>
          <a:noFill/>
          <a:ln w="9525">
            <a:solidFill>
              <a:srgbClr val="E2DCD0"/>
            </a:solidFill>
            <a:prstDash val="solid"/>
          </a:ln>
        </p:spPr>
        <p:txBody>
          <a:bodyPr/>
          <a:p/>
        </p:txBody>
      </p:sp>
      <p:sp>
        <p:nvSpPr>
          <p:cNvPr id="16" name="Shape 13"/>
          <p:cNvSpPr/>
          <p:nvPr/>
        </p:nvSpPr>
        <p:spPr>
          <a:xfrm>
            <a:off x="10882503" y="6451092"/>
            <a:ext cx="162306" cy="41148"/>
          </a:xfrm>
          <a:prstGeom prst="line">
            <a:avLst/>
          </a:prstGeom>
          <a:noFill/>
          <a:ln w="9525">
            <a:solidFill>
              <a:srgbClr val="E2DCD0"/>
            </a:solidFill>
            <a:prstDash val="solid"/>
          </a:ln>
        </p:spPr>
        <p:txBody>
          <a:bodyPr/>
          <a:p/>
        </p:txBody>
      </p:sp>
      <p:sp>
        <p:nvSpPr>
          <p:cNvPr id="17" name="Shape 14"/>
          <p:cNvSpPr/>
          <p:nvPr/>
        </p:nvSpPr>
        <p:spPr>
          <a:xfrm flipH="1">
            <a:off x="10877931" y="6451092"/>
            <a:ext cx="4572" cy="196596"/>
          </a:xfrm>
          <a:prstGeom prst="line">
            <a:avLst/>
          </a:prstGeom>
          <a:noFill/>
          <a:ln w="9525">
            <a:solidFill>
              <a:srgbClr val="E2DCD0"/>
            </a:solidFill>
            <a:prstDash val="solid"/>
          </a:ln>
        </p:spPr>
        <p:txBody>
          <a:bodyPr/>
          <a:p/>
        </p:txBody>
      </p:sp>
      <p:sp>
        <p:nvSpPr>
          <p:cNvPr id="18" name="Shape 15"/>
          <p:cNvSpPr/>
          <p:nvPr/>
        </p:nvSpPr>
        <p:spPr>
          <a:xfrm flipH="1">
            <a:off x="11040237" y="6492240"/>
            <a:ext cx="4572" cy="196596"/>
          </a:xfrm>
          <a:prstGeom prst="line">
            <a:avLst/>
          </a:prstGeom>
          <a:noFill/>
          <a:ln w="9525">
            <a:solidFill>
              <a:srgbClr val="E2DCD0"/>
            </a:solidFill>
            <a:prstDash val="solid"/>
          </a:ln>
        </p:spPr>
        <p:txBody>
          <a:bodyPr/>
          <a:p/>
        </p:txBody>
      </p:sp>
      <p:sp>
        <p:nvSpPr>
          <p:cNvPr id="19" name="Shape 16"/>
          <p:cNvSpPr/>
          <p:nvPr/>
        </p:nvSpPr>
        <p:spPr>
          <a:xfrm>
            <a:off x="10498455" y="6652260"/>
            <a:ext cx="144018" cy="45720"/>
          </a:xfrm>
          <a:prstGeom prst="line">
            <a:avLst/>
          </a:prstGeom>
          <a:noFill/>
          <a:ln w="9525">
            <a:solidFill>
              <a:srgbClr val="E2DCD0"/>
            </a:solidFill>
            <a:prstDash val="solid"/>
          </a:ln>
        </p:spPr>
        <p:txBody>
          <a:bodyPr/>
          <a:p/>
        </p:txBody>
      </p:sp>
      <p:sp>
        <p:nvSpPr>
          <p:cNvPr id="20" name="Shape 17"/>
          <p:cNvSpPr/>
          <p:nvPr/>
        </p:nvSpPr>
        <p:spPr>
          <a:xfrm flipV="1">
            <a:off x="10642473" y="6647688"/>
            <a:ext cx="235458" cy="50292"/>
          </a:xfrm>
          <a:prstGeom prst="line">
            <a:avLst/>
          </a:prstGeom>
          <a:noFill/>
          <a:ln w="9525">
            <a:solidFill>
              <a:srgbClr val="E2DCD0"/>
            </a:solidFill>
            <a:prstDash val="solid"/>
          </a:ln>
        </p:spPr>
        <p:txBody>
          <a:bodyPr/>
          <a:p/>
        </p:txBody>
      </p:sp>
      <p:sp>
        <p:nvSpPr>
          <p:cNvPr id="30" name="Shape 18"/>
          <p:cNvSpPr/>
          <p:nvPr/>
        </p:nvSpPr>
        <p:spPr>
          <a:xfrm>
            <a:off x="10877931" y="6647688"/>
            <a:ext cx="162306" cy="41148"/>
          </a:xfrm>
          <a:prstGeom prst="line">
            <a:avLst/>
          </a:prstGeom>
          <a:noFill/>
          <a:ln w="9525">
            <a:solidFill>
              <a:srgbClr val="E2DCD0"/>
            </a:solidFill>
            <a:prstDash val="solid"/>
          </a:ln>
        </p:spPr>
        <p:txBody>
          <a:bodyPr/>
          <a:p/>
        </p:txBody>
      </p:sp>
      <p:sp>
        <p:nvSpPr>
          <p:cNvPr id="22" name="Shape 1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3" name="Shape 2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4" name="Shape 2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5" name="Shape 2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6" name="Shape 2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7" name="Shape 2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8" name="Shape 2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9" name="Shape 2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2026-08-16T22:42:36Z</dcterms:created>
  <dcterms:modified xsi:type="dcterms:W3CDTF">2026-08-16T22:42:36Z</dcterms:modified>
</cp:coreProperties>
</file>