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930134" y="1512189"/>
            <a:ext cx="749808" cy="36576"/>
          </a:xfrm>
          <a:prstGeom prst="line">
            <a:avLst/>
          </a:prstGeom>
          <a:noFill/>
          <a:ln w="9525">
            <a:solidFill>
              <a:srgbClr val="E2DCD0"/>
            </a:solidFill>
            <a:prstDash val="solid"/>
          </a:ln>
        </p:spPr>
        <p:txBody>
          <a:bodyPr/>
          <a:p/>
        </p:txBody>
      </p:sp>
      <p:sp>
        <p:nvSpPr>
          <p:cNvPr id="3" name="Shape 1"/>
          <p:cNvSpPr/>
          <p:nvPr/>
        </p:nvSpPr>
        <p:spPr>
          <a:xfrm flipH="1">
            <a:off x="7916418" y="1512189"/>
            <a:ext cx="13716" cy="756666"/>
          </a:xfrm>
          <a:prstGeom prst="line">
            <a:avLst/>
          </a:prstGeom>
          <a:noFill/>
          <a:ln w="9525">
            <a:solidFill>
              <a:srgbClr val="E2DCD0"/>
            </a:solidFill>
            <a:prstDash val="solid"/>
          </a:ln>
        </p:spPr>
        <p:txBody>
          <a:bodyPr/>
          <a:p/>
        </p:txBody>
      </p:sp>
      <p:sp>
        <p:nvSpPr>
          <p:cNvPr id="4" name="Shape 2"/>
          <p:cNvSpPr/>
          <p:nvPr/>
        </p:nvSpPr>
        <p:spPr>
          <a:xfrm flipV="1">
            <a:off x="8679942" y="1498473"/>
            <a:ext cx="841248" cy="50292"/>
          </a:xfrm>
          <a:prstGeom prst="line">
            <a:avLst/>
          </a:prstGeom>
          <a:noFill/>
          <a:ln w="9525">
            <a:solidFill>
              <a:srgbClr val="E2DCD0"/>
            </a:solidFill>
            <a:prstDash val="solid"/>
          </a:ln>
        </p:spPr>
        <p:txBody>
          <a:bodyPr/>
          <a:p/>
        </p:txBody>
      </p:sp>
      <p:sp>
        <p:nvSpPr>
          <p:cNvPr id="5" name="Shape 3"/>
          <p:cNvSpPr/>
          <p:nvPr/>
        </p:nvSpPr>
        <p:spPr>
          <a:xfrm>
            <a:off x="8679942" y="1548765"/>
            <a:ext cx="4572" cy="761238"/>
          </a:xfrm>
          <a:prstGeom prst="line">
            <a:avLst/>
          </a:prstGeom>
          <a:noFill/>
          <a:ln w="9525">
            <a:solidFill>
              <a:srgbClr val="E2DCD0"/>
            </a:solidFill>
            <a:prstDash val="solid"/>
          </a:ln>
        </p:spPr>
        <p:txBody>
          <a:bodyPr/>
          <a:p/>
        </p:txBody>
      </p:sp>
      <p:sp>
        <p:nvSpPr>
          <p:cNvPr id="6" name="Shape 4"/>
          <p:cNvSpPr/>
          <p:nvPr/>
        </p:nvSpPr>
        <p:spPr>
          <a:xfrm>
            <a:off x="9521190" y="1498473"/>
            <a:ext cx="768096" cy="41148"/>
          </a:xfrm>
          <a:prstGeom prst="line">
            <a:avLst/>
          </a:prstGeom>
          <a:noFill/>
          <a:ln w="9525">
            <a:solidFill>
              <a:srgbClr val="E2DCD0"/>
            </a:solidFill>
            <a:prstDash val="solid"/>
          </a:ln>
        </p:spPr>
        <p:txBody>
          <a:bodyPr/>
          <a:p/>
        </p:txBody>
      </p:sp>
      <p:sp>
        <p:nvSpPr>
          <p:cNvPr id="7" name="Shape 5"/>
          <p:cNvSpPr/>
          <p:nvPr/>
        </p:nvSpPr>
        <p:spPr>
          <a:xfrm>
            <a:off x="9521190" y="1498473"/>
            <a:ext cx="9144" cy="779526"/>
          </a:xfrm>
          <a:prstGeom prst="line">
            <a:avLst/>
          </a:prstGeom>
          <a:noFill/>
          <a:ln w="9525">
            <a:solidFill>
              <a:srgbClr val="E2DCD0"/>
            </a:solidFill>
            <a:prstDash val="solid"/>
          </a:ln>
        </p:spPr>
        <p:txBody>
          <a:bodyPr/>
          <a:p/>
        </p:txBody>
      </p:sp>
      <p:sp>
        <p:nvSpPr>
          <p:cNvPr id="9" name="Shape 7"/>
          <p:cNvSpPr/>
          <p:nvPr/>
        </p:nvSpPr>
        <p:spPr>
          <a:xfrm flipH="1">
            <a:off x="10280142" y="1539621"/>
            <a:ext cx="9144" cy="774954"/>
          </a:xfrm>
          <a:prstGeom prst="line">
            <a:avLst/>
          </a:prstGeom>
          <a:noFill/>
          <a:ln w="9525">
            <a:solidFill>
              <a:srgbClr val="E2DCD0"/>
            </a:solidFill>
            <a:prstDash val="solid"/>
          </a:ln>
        </p:spPr>
        <p:txBody>
          <a:bodyPr/>
          <a:p/>
        </p:txBody>
      </p:sp>
      <p:sp>
        <p:nvSpPr>
          <p:cNvPr id="13" name="Shape 11"/>
          <p:cNvSpPr/>
          <p:nvPr/>
        </p:nvSpPr>
        <p:spPr>
          <a:xfrm>
            <a:off x="7916418" y="2268855"/>
            <a:ext cx="768096" cy="41148"/>
          </a:xfrm>
          <a:prstGeom prst="line">
            <a:avLst/>
          </a:prstGeom>
          <a:noFill/>
          <a:ln w="9525">
            <a:solidFill>
              <a:srgbClr val="E2DCD0"/>
            </a:solidFill>
            <a:prstDash val="solid"/>
          </a:ln>
        </p:spPr>
        <p:txBody>
          <a:bodyPr/>
          <a:p/>
        </p:txBody>
      </p:sp>
      <p:sp>
        <p:nvSpPr>
          <p:cNvPr id="14" name="Shape 12"/>
          <p:cNvSpPr/>
          <p:nvPr/>
        </p:nvSpPr>
        <p:spPr>
          <a:xfrm>
            <a:off x="7916418" y="2268855"/>
            <a:ext cx="9144" cy="770382"/>
          </a:xfrm>
          <a:prstGeom prst="line">
            <a:avLst/>
          </a:prstGeom>
          <a:noFill/>
          <a:ln w="9525">
            <a:solidFill>
              <a:srgbClr val="E2DCD0"/>
            </a:solidFill>
            <a:prstDash val="solid"/>
          </a:ln>
        </p:spPr>
        <p:txBody>
          <a:bodyPr/>
          <a:p/>
        </p:txBody>
      </p:sp>
      <p:sp>
        <p:nvSpPr>
          <p:cNvPr id="15" name="Shape 13"/>
          <p:cNvSpPr/>
          <p:nvPr/>
        </p:nvSpPr>
        <p:spPr>
          <a:xfrm flipV="1">
            <a:off x="8684514" y="2277999"/>
            <a:ext cx="845820" cy="32004"/>
          </a:xfrm>
          <a:prstGeom prst="line">
            <a:avLst/>
          </a:prstGeom>
          <a:noFill/>
          <a:ln w="9525">
            <a:solidFill>
              <a:srgbClr val="E2DCD0"/>
            </a:solidFill>
            <a:prstDash val="solid"/>
          </a:ln>
        </p:spPr>
        <p:txBody>
          <a:bodyPr/>
          <a:p/>
        </p:txBody>
      </p:sp>
      <p:sp>
        <p:nvSpPr>
          <p:cNvPr id="16" name="Shape 14"/>
          <p:cNvSpPr/>
          <p:nvPr/>
        </p:nvSpPr>
        <p:spPr>
          <a:xfrm flipH="1">
            <a:off x="8675370" y="2310003"/>
            <a:ext cx="9144" cy="774954"/>
          </a:xfrm>
          <a:prstGeom prst="line">
            <a:avLst/>
          </a:prstGeom>
          <a:noFill/>
          <a:ln w="9525">
            <a:solidFill>
              <a:srgbClr val="E2DCD0"/>
            </a:solidFill>
            <a:prstDash val="solid"/>
          </a:ln>
        </p:spPr>
        <p:txBody>
          <a:bodyPr/>
          <a:p/>
        </p:txBody>
      </p:sp>
      <p:sp>
        <p:nvSpPr>
          <p:cNvPr id="17" name="Shape 15"/>
          <p:cNvSpPr/>
          <p:nvPr/>
        </p:nvSpPr>
        <p:spPr>
          <a:xfrm>
            <a:off x="9530334" y="2277999"/>
            <a:ext cx="749808" cy="36576"/>
          </a:xfrm>
          <a:prstGeom prst="line">
            <a:avLst/>
          </a:prstGeom>
          <a:noFill/>
          <a:ln w="9525">
            <a:solidFill>
              <a:srgbClr val="E2DCD0"/>
            </a:solidFill>
            <a:prstDash val="solid"/>
          </a:ln>
        </p:spPr>
        <p:txBody>
          <a:bodyPr/>
          <a:p/>
        </p:txBody>
      </p:sp>
      <p:sp>
        <p:nvSpPr>
          <p:cNvPr id="18" name="Shape 16"/>
          <p:cNvSpPr/>
          <p:nvPr/>
        </p:nvSpPr>
        <p:spPr>
          <a:xfrm flipH="1">
            <a:off x="9516618" y="2277999"/>
            <a:ext cx="13716" cy="756666"/>
          </a:xfrm>
          <a:prstGeom prst="line">
            <a:avLst/>
          </a:prstGeom>
          <a:noFill/>
          <a:ln w="9525">
            <a:solidFill>
              <a:srgbClr val="E2DCD0"/>
            </a:solidFill>
            <a:prstDash val="solid"/>
          </a:ln>
        </p:spPr>
        <p:txBody>
          <a:bodyPr/>
          <a:p/>
        </p:txBody>
      </p:sp>
      <p:sp>
        <p:nvSpPr>
          <p:cNvPr id="20" name="Shape 18"/>
          <p:cNvSpPr/>
          <p:nvPr/>
        </p:nvSpPr>
        <p:spPr>
          <a:xfrm>
            <a:off x="10280142" y="2314575"/>
            <a:ext cx="4572" cy="761238"/>
          </a:xfrm>
          <a:prstGeom prst="line">
            <a:avLst/>
          </a:prstGeom>
          <a:noFill/>
          <a:ln w="9525">
            <a:solidFill>
              <a:srgbClr val="E2DCD0"/>
            </a:solidFill>
            <a:prstDash val="solid"/>
          </a:ln>
        </p:spPr>
        <p:txBody>
          <a:bodyPr/>
          <a:p/>
        </p:txBody>
      </p:sp>
      <p:sp>
        <p:nvSpPr>
          <p:cNvPr id="24" name="Shape 22"/>
          <p:cNvSpPr/>
          <p:nvPr/>
        </p:nvSpPr>
        <p:spPr>
          <a:xfrm>
            <a:off x="7925562" y="3039237"/>
            <a:ext cx="749808" cy="45720"/>
          </a:xfrm>
          <a:prstGeom prst="line">
            <a:avLst/>
          </a:prstGeom>
          <a:noFill/>
          <a:ln w="9525">
            <a:solidFill>
              <a:srgbClr val="E2DCD0"/>
            </a:solidFill>
            <a:prstDash val="solid"/>
          </a:ln>
        </p:spPr>
        <p:txBody>
          <a:bodyPr/>
          <a:p/>
        </p:txBody>
      </p:sp>
      <p:sp>
        <p:nvSpPr>
          <p:cNvPr id="25" name="Shape 23"/>
          <p:cNvSpPr/>
          <p:nvPr/>
        </p:nvSpPr>
        <p:spPr>
          <a:xfrm flipH="1">
            <a:off x="7920990" y="3039237"/>
            <a:ext cx="4572" cy="756666"/>
          </a:xfrm>
          <a:prstGeom prst="line">
            <a:avLst/>
          </a:prstGeom>
          <a:noFill/>
          <a:ln w="9525">
            <a:solidFill>
              <a:srgbClr val="E2DCD0"/>
            </a:solidFill>
            <a:prstDash val="solid"/>
          </a:ln>
        </p:spPr>
        <p:txBody>
          <a:bodyPr/>
          <a:p/>
        </p:txBody>
      </p:sp>
      <p:sp>
        <p:nvSpPr>
          <p:cNvPr id="26" name="Shape 24"/>
          <p:cNvSpPr/>
          <p:nvPr/>
        </p:nvSpPr>
        <p:spPr>
          <a:xfrm flipV="1">
            <a:off x="8675370" y="3034665"/>
            <a:ext cx="841248" cy="50292"/>
          </a:xfrm>
          <a:prstGeom prst="line">
            <a:avLst/>
          </a:prstGeom>
          <a:noFill/>
          <a:ln w="9525">
            <a:solidFill>
              <a:srgbClr val="E2DCD0"/>
            </a:solidFill>
            <a:prstDash val="solid"/>
          </a:ln>
        </p:spPr>
        <p:txBody>
          <a:bodyPr/>
          <a:p/>
        </p:txBody>
      </p:sp>
      <p:sp>
        <p:nvSpPr>
          <p:cNvPr id="27" name="Shape 25"/>
          <p:cNvSpPr/>
          <p:nvPr/>
        </p:nvSpPr>
        <p:spPr>
          <a:xfrm>
            <a:off x="8675370" y="3084957"/>
            <a:ext cx="13716" cy="752094"/>
          </a:xfrm>
          <a:prstGeom prst="line">
            <a:avLst/>
          </a:prstGeom>
          <a:noFill/>
          <a:ln w="9525">
            <a:solidFill>
              <a:srgbClr val="E2DCD0"/>
            </a:solidFill>
            <a:prstDash val="solid"/>
          </a:ln>
        </p:spPr>
        <p:txBody>
          <a:bodyPr/>
          <a:p/>
        </p:txBody>
      </p:sp>
      <p:sp>
        <p:nvSpPr>
          <p:cNvPr id="28" name="Shape 26"/>
          <p:cNvSpPr/>
          <p:nvPr/>
        </p:nvSpPr>
        <p:spPr>
          <a:xfrm>
            <a:off x="9516618" y="3034665"/>
            <a:ext cx="768096" cy="41148"/>
          </a:xfrm>
          <a:prstGeom prst="line">
            <a:avLst/>
          </a:prstGeom>
          <a:noFill/>
          <a:ln w="9525">
            <a:solidFill>
              <a:srgbClr val="E2DCD0"/>
            </a:solidFill>
            <a:prstDash val="solid"/>
          </a:ln>
        </p:spPr>
        <p:txBody>
          <a:bodyPr/>
          <a:p/>
        </p:txBody>
      </p:sp>
      <p:sp>
        <p:nvSpPr>
          <p:cNvPr id="29" name="Shape 27"/>
          <p:cNvSpPr/>
          <p:nvPr/>
        </p:nvSpPr>
        <p:spPr>
          <a:xfrm>
            <a:off x="9516618" y="3034665"/>
            <a:ext cx="9144" cy="770382"/>
          </a:xfrm>
          <a:prstGeom prst="line">
            <a:avLst/>
          </a:prstGeom>
          <a:noFill/>
          <a:ln w="9525">
            <a:solidFill>
              <a:srgbClr val="E2DCD0"/>
            </a:solidFill>
            <a:prstDash val="solid"/>
          </a:ln>
        </p:spPr>
        <p:txBody>
          <a:bodyPr/>
          <a:p/>
        </p:txBody>
      </p:sp>
      <p:sp>
        <p:nvSpPr>
          <p:cNvPr id="31" name="Shape 29"/>
          <p:cNvSpPr/>
          <p:nvPr/>
        </p:nvSpPr>
        <p:spPr>
          <a:xfrm flipH="1">
            <a:off x="10275570" y="3075813"/>
            <a:ext cx="9144" cy="774954"/>
          </a:xfrm>
          <a:prstGeom prst="line">
            <a:avLst/>
          </a:prstGeom>
          <a:noFill/>
          <a:ln w="9525">
            <a:solidFill>
              <a:srgbClr val="E2DCD0"/>
            </a:solidFill>
            <a:prstDash val="solid"/>
          </a:ln>
        </p:spPr>
        <p:txBody>
          <a:bodyPr/>
          <a:p/>
        </p:txBody>
      </p:sp>
      <p:sp>
        <p:nvSpPr>
          <p:cNvPr id="35" name="Shape 33"/>
          <p:cNvSpPr/>
          <p:nvPr/>
        </p:nvSpPr>
        <p:spPr>
          <a:xfrm>
            <a:off x="7920990" y="3795903"/>
            <a:ext cx="768096" cy="41148"/>
          </a:xfrm>
          <a:prstGeom prst="line">
            <a:avLst/>
          </a:prstGeom>
          <a:noFill/>
          <a:ln w="9525">
            <a:solidFill>
              <a:srgbClr val="E2DCD0"/>
            </a:solidFill>
            <a:prstDash val="solid"/>
          </a:ln>
        </p:spPr>
        <p:txBody>
          <a:bodyPr/>
          <a:p/>
        </p:txBody>
      </p:sp>
      <p:sp>
        <p:nvSpPr>
          <p:cNvPr id="36" name="Shape 34"/>
          <p:cNvSpPr/>
          <p:nvPr/>
        </p:nvSpPr>
        <p:spPr>
          <a:xfrm flipV="1">
            <a:off x="8689086" y="3805047"/>
            <a:ext cx="836676" cy="32004"/>
          </a:xfrm>
          <a:prstGeom prst="line">
            <a:avLst/>
          </a:prstGeom>
          <a:noFill/>
          <a:ln w="9525">
            <a:solidFill>
              <a:srgbClr val="E2DCD0"/>
            </a:solidFill>
            <a:prstDash val="solid"/>
          </a:ln>
        </p:spPr>
        <p:txBody>
          <a:bodyPr/>
          <a:p/>
        </p:txBody>
      </p:sp>
      <p:sp>
        <p:nvSpPr>
          <p:cNvPr id="37" name="Shape 35"/>
          <p:cNvSpPr/>
          <p:nvPr/>
        </p:nvSpPr>
        <p:spPr>
          <a:xfrm>
            <a:off x="9525762" y="3805047"/>
            <a:ext cx="749808" cy="45720"/>
          </a:xfrm>
          <a:prstGeom prst="line">
            <a:avLst/>
          </a:prstGeom>
          <a:noFill/>
          <a:ln w="9525">
            <a:solidFill>
              <a:srgbClr val="E2DCD0"/>
            </a:solidFill>
            <a:prstDash val="solid"/>
          </a:ln>
        </p:spPr>
        <p:txBody>
          <a:bodyPr/>
          <a:p/>
        </p:txBody>
      </p:sp>
      <p:sp>
        <p:nvSpPr>
          <p:cNvPr id="40" name="Shape 38"/>
          <p:cNvSpPr/>
          <p:nvPr/>
        </p:nvSpPr>
        <p:spPr>
          <a:xfrm>
            <a:off x="7852410"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8602218"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9443466"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211562" y="1461897"/>
            <a:ext cx="155448" cy="155448"/>
          </a:xfrm>
          <a:prstGeom prst="ellipse">
            <a:avLst/>
          </a:prstGeom>
          <a:solidFill>
            <a:srgbClr val="97BC62"/>
          </a:solidFill>
          <a:ln w="15875">
            <a:solidFill>
              <a:srgbClr val="FBF9F4"/>
            </a:solidFill>
            <a:prstDash val="solid"/>
          </a:ln>
        </p:spPr>
        <p:txBody>
          <a:bodyPr/>
          <a:p/>
        </p:txBody>
      </p:sp>
      <p:sp>
        <p:nvSpPr>
          <p:cNvPr id="46" name="Shape 44"/>
          <p:cNvSpPr/>
          <p:nvPr/>
        </p:nvSpPr>
        <p:spPr>
          <a:xfrm>
            <a:off x="7838694"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8606790"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9452610"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10202418" y="2236851"/>
            <a:ext cx="155448" cy="155448"/>
          </a:xfrm>
          <a:prstGeom prst="ellipse">
            <a:avLst/>
          </a:prstGeom>
          <a:solidFill>
            <a:srgbClr val="97BC62"/>
          </a:solidFill>
          <a:ln w="15875">
            <a:solidFill>
              <a:srgbClr val="FBF9F4"/>
            </a:solidFill>
            <a:prstDash val="solid"/>
          </a:ln>
        </p:spPr>
        <p:txBody>
          <a:bodyPr/>
          <a:p/>
        </p:txBody>
      </p:sp>
      <p:sp>
        <p:nvSpPr>
          <p:cNvPr id="52" name="Shape 50"/>
          <p:cNvSpPr/>
          <p:nvPr/>
        </p:nvSpPr>
        <p:spPr>
          <a:xfrm>
            <a:off x="7847838"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8597646"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9438894"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10206990" y="2998089"/>
            <a:ext cx="155448" cy="155448"/>
          </a:xfrm>
          <a:prstGeom prst="ellipse">
            <a:avLst/>
          </a:prstGeom>
          <a:solidFill>
            <a:srgbClr val="97BC62"/>
          </a:solidFill>
          <a:ln w="15875">
            <a:solidFill>
              <a:srgbClr val="FBF9F4"/>
            </a:solidFill>
            <a:prstDash val="solid"/>
          </a:ln>
        </p:spPr>
        <p:txBody>
          <a:bodyPr/>
          <a:p/>
        </p:txBody>
      </p:sp>
      <p:sp>
        <p:nvSpPr>
          <p:cNvPr id="58" name="Shape 56"/>
          <p:cNvSpPr/>
          <p:nvPr/>
        </p:nvSpPr>
        <p:spPr>
          <a:xfrm>
            <a:off x="7843266"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8611362"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9448038"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10197846" y="3773043"/>
            <a:ext cx="155448" cy="155448"/>
          </a:xfrm>
          <a:prstGeom prst="ellipse">
            <a:avLst/>
          </a:prstGeom>
          <a:solidFill>
            <a:srgbClr val="97BC62"/>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eaLnBrk="0" hangingPunct="1">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eaLnBrk="0" hangingPunct="1">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eaLnBrk="0" hangingPunct="1">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eaLnBrk="0" hangingPunct="1">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 네트워크</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재난에서 센서는 반드시 죽는다 — 우리는 그 죽음을 버리지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eaLnBrk="0" hangingPunct="1">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파괴된다. 기존 시스템은 그 죽음을 손실로 처리하고 정보를 버린다. 불사는 죽은 노드의 시각과 좌표에서 불의 방향·속도·도달시각을 읽는다.</a:t>
            </a:r>
            <a:pPr indent="0" marL="0">
              <a:lnSpc>
                <a:spcPct val="125000"/>
              </a:lnSpc>
              <a:buNone/>
            </a:pPr>
            <a:pPr indent="0" marL="0">
              <a:lnSpc>
                <a:spcPct val="125000"/>
              </a:lnSpc>
              <a:buNone/>
            </a:pPr>
            <a:pPr indent="0" marL="0">
              <a:lnSpc>
                <a:spcPct val="125000"/>
              </a:lnSpc>
              <a:buNone/>
            </a:pPr>
            <a:pPr indent="0" marL="0">
              <a:lnSpc>
                <a:spcPct val="125000"/>
              </a:lnSpc>
              <a:buNone/>
            </a:pPr>
            <a:endParaRPr lang="en-US" sz="15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독창성은 응용(산불)이 아니라 아키텍처에 있다 — 고장을 데이터로, 그리고 자가치유로.</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3"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4"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7"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graphicFrame>
        <p:nvGraphicFramePr>
          <p:cNvPr id="39" name="Table 38"/>
          <p:cNvGraphicFramePr>
            <a:graphicFrameLocks noGrp="1"/>
          </p:cNvGraphicFramePr>
          <p:nvPr/>
        </p:nvGraphicFramePr>
        <p:xfrm>
          <a:off x="548640" y="2395728"/>
          <a:ext cx="11091672" cy="2788919"/>
        </p:xfrm>
        <a:graphic>
          <a:graphicData uri="http://schemas.openxmlformats.org/drawingml/2006/table">
            <a:tbl>
              <a:tblPr firstRow="0" bandRow="0" firstCol="0" lastRow="0" lastCol="0"/>
              <a:tblGrid>
                <a:gridCol w="1600200"/>
                <a:gridCol w="9491472"/>
              </a:tblGrid>
              <a:tr h="398417">
                <a:tc>
                  <a:txBody>
                    <a:bodyPr wrap="square"/>
                    <a:lstStyle/>
                    <a:p>
                      <a:pPr algn="l"/>
                      <a:r>
                        <a:rPr sz="1100" b="1">
                          <a:solidFill>
                            <a:srgbClr val="44483F"/>
                          </a:solidFill>
                          <a:latin typeface="맑은 고딕"/>
                        </a:rPr>
                        <a:t>작품명</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불사(不死) — 고장을 데이터로 바꾸는 자가치유 산불 감시 메시</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개발 배경</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재난 현장에서 센서 노드의 파괴는 예외가 아니라 필연이다. 기존 메시는 죽은 노드를 우회할 뿐, 그 죽음에 담긴 정보를 버린다.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동기</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대형 산불 대응 현장에서 지상의 실시간 화선 정보가 없어 판단이 늦어지는 국면을 보았다. 위성은 광역 개요만, 드론은 상공·간헐적이라 연기와 수목 아래 지표 화선의 초 단위 변화를 놓친다.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목표</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① 교차검증된 ‘죽음’을 확정 신호로 모아, 죽은 노드의 (좌표·시각)에서 화선의 방향·속도·도달시각을 추정한다.   ② 경로가 끊겨도 남은 노드가 우회로를 다시 짜 관측을 지속한다.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필요성</a:t>
                      </a:r>
                    </a:p>
                  </a:txBody>
                  <a:tcPr anchor="ctr" marL="91440" marR="91440" marT="18288" marB="18288">
                    <a:solidFill>
                      <a:srgbClr val="F0ECE2"/>
                    </a:solidFill>
                    <a:lnB w="9525">
                      <a:solidFill>
                        <a:srgbClr val="DED8CA"/>
                      </a:solidFill>
                    </a:lnB>
                  </a:tcPr>
                </a:tc>
                <a:tc>
                  <a:txBody>
                    <a:bodyPr wrap="square"/>
                    <a:lstStyle/>
                    <a:p>
                      <a:pPr algn="l"/>
                      <a:r>
                        <a:rPr sz="1000" b="0">
                          <a:solidFill>
                            <a:srgbClr val="1F2421"/>
                          </a:solidFill>
                          <a:latin typeface="맑은 고딕"/>
                        </a:rPr>
                        <a:t>지상에서 화선을 실측하는 저가 레이어가 없다. 노드 1대 부품비가 1.2만 원이라, 타 죽는 것을 전제로 촘촘히 깔 수 있다.</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소스코드</a:t>
                      </a:r>
                    </a:p>
                  </a:txBody>
                  <a:tcPr anchor="ctr" marL="91440" marR="91440" marT="18288" marB="18288">
                    <a:solidFill>
                      <a:srgbClr val="F0ECE2"/>
                    </a:solidFill>
                    <a:lnB w="9525">
                      <a:solidFill>
                        <a:srgbClr val="DED8CA"/>
                      </a:solidFill>
                    </a:lnB>
                  </a:tcPr>
                </a:tc>
                <a:tc>
                  <a:txBody>
                    <a:bodyPr wrap="square"/>
                    <a:lstStyle/>
                    <a:p>
                      <a:pPr algn="l"/>
                      <a:r>
                        <a:rPr sz="1000" b="0" i="1">
                          <a:solidFill>
                            <a:srgbClr val="6B6E6A"/>
                          </a:solidFill>
                          <a:latin typeface="맑은 고딕"/>
                        </a:rPr>
                        <a:t>(URL 확보 후 삽입)</a:t>
                      </a:r>
                    </a:p>
                  </a:txBody>
                  <a:tcPr anchor="ctr" marL="91440" marR="91440" marT="18288" marB="18288">
                    <a:solidFill>
                      <a:srgbClr val="FDFCF8"/>
                    </a:solidFill>
                    <a:lnB w="9525">
                      <a:solidFill>
                        <a:srgbClr val="DED8CA"/>
                      </a:solidFill>
                    </a:lnB>
                  </a:tcPr>
                </a:tc>
              </a:tr>
              <a:tr h="398417">
                <a:tc>
                  <a:txBody>
                    <a:bodyPr wrap="square"/>
                    <a:lstStyle/>
                    <a:p>
                      <a:pPr algn="l"/>
                      <a:r>
                        <a:rPr sz="1100" b="1">
                          <a:solidFill>
                            <a:srgbClr val="44483F"/>
                          </a:solidFill>
                          <a:latin typeface="맑은 고딕"/>
                        </a:rPr>
                        <a:t>시연 동영상</a:t>
                      </a:r>
                    </a:p>
                  </a:txBody>
                  <a:tcPr anchor="ctr" marL="91440" marR="91440" marT="18288" marB="18288">
                    <a:solidFill>
                      <a:srgbClr val="F0ECE2"/>
                    </a:solidFill>
                    <a:lnB w="9525">
                      <a:solidFill>
                        <a:srgbClr val="DED8CA"/>
                      </a:solidFill>
                    </a:lnB>
                  </a:tcPr>
                </a:tc>
                <a:tc>
                  <a:txBody>
                    <a:bodyPr wrap="square"/>
                    <a:lstStyle/>
                    <a:p>
                      <a:pPr algn="l"/>
                      <a:r>
                        <a:rPr sz="1000" b="0" i="1">
                          <a:solidFill>
                            <a:srgbClr val="6B6E6A"/>
                          </a:solidFill>
                          <a:latin typeface="맑은 고딕"/>
                        </a:rPr>
                        <a:t>(URL 확보 후 삽입)</a:t>
                      </a:r>
                    </a:p>
                  </a:txBody>
                  <a:tcPr anchor="ctr" marL="91440" marR="91440" marT="18288" marB="18288">
                    <a:solidFill>
                      <a:srgbClr val="FDFCF8"/>
                    </a:solidFill>
                    <a:lnB w="9525">
                      <a:solidFill>
                        <a:srgbClr val="DED8CA"/>
                      </a:solid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상공은 지표 화선을 못 본다 — 그 공백이 판단을 늦춘다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eaLnBrk="0" hangingPunct="1">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8"/>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9"/>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2"/>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시각이 곧 불이 도착한 시각이다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04672" y="3886200"/>
            <a:ext cx="511149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eaLnBrk="0" hangingPunct="1">
              <a:buNone/>
            </a:pPr>
            <a:r>
              <a:rPr lang="en-US" sz="1250" b="1" i="0"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ESP32 17대(노드 16 + 브리지 1)와 라즈베리파이 1대로 이뤄진다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메시 브리지: ESP32 × 1 (id 99) — 메시↔USB 시리얼 중계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 시각화)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4 — 시리얼 수신 · 추정 · 대시보드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 배터리 + 승압 모듈(MT3608) — 배치 구성</a:t>
            </a:r>
            <a:endParaRPr lang="en-US" sz="1200" dirty="0"/>
          </a:p>
          <a:p>
            <a:pPr indent="-146304" marL="146304" eaLnBrk="0" hangingPunct="1">
              <a:lnSpc>
                <a:spcPct val="120000"/>
              </a:lnSpc>
              <a:buNone/>
            </a:pPr>
            <a:r>
              <a:rPr lang="en-US" sz="1050" dirty="0">
                <a:solidFill>
                  <a:srgbClr val="6B6E6A"/>
                </a:solidFill>
                <a:latin typeface="맑은 고딕" pitchFamily="34" charset="0"/>
                <a:ea typeface="맑은 고딕" pitchFamily="34" charset="-122"/>
                <a:cs typeface="맑은 고딕" pitchFamily="34" charset="-120"/>
              </a:rPr>
              <a:t>   (데모 조건) 허브·충전기·보조배터리 혼합 급전 — 23분 연속 구동</a:t>
            </a:r>
            <a:endParaRPr lang="en-US" sz="1200" dirty="0"/>
          </a:p>
          <a:p>
            <a:pPr indent="0" marL="0" eaLnBrk="0" hangingPunct="1">
              <a:lnSpc>
                <a:spcPct val="120000"/>
              </a:lnSpc>
              <a:buNone/>
            </a:pP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브리지도 같은 펌웨어를 쓴다(인덱스만 99) — 단일 코드베이스</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flipH="1">
            <a:off x="10498455" y="6464808"/>
            <a:ext cx="4572" cy="187452"/>
          </a:xfrm>
          <a:prstGeom prst="line">
            <a:avLst/>
          </a:prstGeom>
          <a:noFill/>
          <a:ln w="9525">
            <a:solidFill>
              <a:srgbClr val="E2DCD0"/>
            </a:solidFill>
            <a:prstDash val="solid"/>
          </a:ln>
        </p:spPr>
        <p:txBody>
          <a:bodyPr/>
          <a:p/>
        </p:txBody>
      </p:sp>
      <p:sp>
        <p:nvSpPr>
          <p:cNvPr id="17" name="Shape 15"/>
          <p:cNvSpPr/>
          <p:nvPr/>
        </p:nvSpPr>
        <p:spPr>
          <a:xfrm flipV="1">
            <a:off x="10647045" y="6451092"/>
            <a:ext cx="235458" cy="50292"/>
          </a:xfrm>
          <a:prstGeom prst="line">
            <a:avLst/>
          </a:prstGeom>
          <a:noFill/>
          <a:ln w="9525">
            <a:solidFill>
              <a:srgbClr val="E2DCD0"/>
            </a:solidFill>
            <a:prstDash val="solid"/>
          </a:ln>
        </p:spPr>
        <p:txBody>
          <a:bodyPr/>
          <a:p/>
        </p:txBody>
      </p:sp>
      <p:sp>
        <p:nvSpPr>
          <p:cNvPr id="18" name="Shape 16"/>
          <p:cNvSpPr/>
          <p:nvPr/>
        </p:nvSpPr>
        <p:spPr>
          <a:xfrm flipH="1">
            <a:off x="10642473"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flipH="1">
            <a:off x="10877931" y="6451092"/>
            <a:ext cx="4572" cy="196596"/>
          </a:xfrm>
          <a:prstGeom prst="line">
            <a:avLst/>
          </a:prstGeom>
          <a:noFill/>
          <a:ln w="9525">
            <a:solidFill>
              <a:srgbClr val="E2DCD0"/>
            </a:solidFill>
            <a:prstDash val="solid"/>
          </a:ln>
        </p:spPr>
        <p:txBody>
          <a:bodyPr/>
          <a:p/>
        </p:txBody>
      </p:sp>
      <p:sp>
        <p:nvSpPr>
          <p:cNvPr id="21" name="Shape 19"/>
          <p:cNvSpPr/>
          <p:nvPr/>
        </p:nvSpPr>
        <p:spPr>
          <a:xfrm flipH="1">
            <a:off x="11040237"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flipV="1">
            <a:off x="10642473" y="6647688"/>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pic>
        <p:nvPicPr>
          <p:cNvPr id="33" name="Picture 32" descr="s05_board.jpg"/>
          <p:cNvPicPr>
            <a:picLocks noChangeAspect="1"/>
          </p:cNvPicPr>
          <p:nvPr/>
        </p:nvPicPr>
        <p:blipFill>
          <a:blip r:embed="rId3"/>
          <a:stretch>
            <a:fillRect/>
          </a:stretch>
        </p:blipFill>
        <p:spPr>
          <a:xfrm>
            <a:off x="548640" y="5285232"/>
            <a:ext cx="11091672" cy="960120"/>
          </a:xfrm>
          <a:prstGeom prst="rect">
            <a:avLst/>
          </a:prstGeom>
        </p:spPr>
      </p:pic>
      <p:sp>
        <p:nvSpPr>
          <p:cNvPr id="34" name="TextBox 33"/>
          <p:cNvSpPr txBox="1"/>
          <p:nvPr/>
        </p:nvSpPr>
        <p:spPr>
          <a:xfrm>
            <a:off x="548640" y="6272784"/>
            <a:ext cx="11091672" cy="201168"/>
          </a:xfrm>
          <a:prstGeom prst="rect">
            <a:avLst/>
          </a:prstGeom>
          <a:noFill/>
        </p:spPr>
        <p:txBody>
          <a:bodyPr wrap="square" lIns="0" rIns="0" tIns="0" bIns="0">
            <a:spAutoFit/>
          </a:bodyPr>
          <a:lstStyle/>
          <a:p>
            <a:pPr algn="ctr"/>
            <a:r>
              <a:rPr sz="800">
                <a:solidFill>
                  <a:srgbClr val="6B6E6A"/>
                </a:solidFill>
                <a:latin typeface="맑은 고딕"/>
              </a:rPr>
              <a:t>16노드 격자판 (70×70 cm, 간격 20 cm)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eaLnBrk="0" hangingPunct="1">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eaLnBrk="0" hangingPunct="1">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eaLnBrk="0" hangingPunct="1">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eaLnBrk="0" hangingPunct="1">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eaLnBrk="0" hangingPunct="1">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flipH="1">
            <a:off x="10498455" y="6464808"/>
            <a:ext cx="4572" cy="187452"/>
          </a:xfrm>
          <a:prstGeom prst="line">
            <a:avLst/>
          </a:prstGeom>
          <a:noFill/>
          <a:ln w="9525">
            <a:solidFill>
              <a:srgbClr val="E2DCD0"/>
            </a:solidFill>
            <a:prstDash val="solid"/>
          </a:ln>
        </p:spPr>
        <p:txBody>
          <a:bodyPr/>
          <a:p/>
        </p:txBody>
      </p:sp>
      <p:sp>
        <p:nvSpPr>
          <p:cNvPr id="29" name="Shape 27"/>
          <p:cNvSpPr/>
          <p:nvPr/>
        </p:nvSpPr>
        <p:spPr>
          <a:xfrm flipV="1">
            <a:off x="10647045" y="6451092"/>
            <a:ext cx="235458" cy="50292"/>
          </a:xfrm>
          <a:prstGeom prst="line">
            <a:avLst/>
          </a:prstGeom>
          <a:noFill/>
          <a:ln w="9525">
            <a:solidFill>
              <a:srgbClr val="E2DCD0"/>
            </a:solidFill>
            <a:prstDash val="solid"/>
          </a:ln>
        </p:spPr>
        <p:txBody>
          <a:bodyPr/>
          <a:p/>
        </p:txBody>
      </p:sp>
      <p:sp>
        <p:nvSpPr>
          <p:cNvPr id="30" name="Shape 28"/>
          <p:cNvSpPr/>
          <p:nvPr/>
        </p:nvSpPr>
        <p:spPr>
          <a:xfrm flipH="1">
            <a:off x="10642473"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flipH="1">
            <a:off x="10877931" y="6451092"/>
            <a:ext cx="4572" cy="196596"/>
          </a:xfrm>
          <a:prstGeom prst="line">
            <a:avLst/>
          </a:prstGeom>
          <a:noFill/>
          <a:ln w="9525">
            <a:solidFill>
              <a:srgbClr val="E2DCD0"/>
            </a:solidFill>
            <a:prstDash val="solid"/>
          </a:ln>
        </p:spPr>
        <p:txBody>
          <a:bodyPr/>
          <a:p/>
        </p:txBody>
      </p:sp>
      <p:sp>
        <p:nvSpPr>
          <p:cNvPr id="33" name="Shape 31"/>
          <p:cNvSpPr/>
          <p:nvPr/>
        </p:nvSpPr>
        <p:spPr>
          <a:xfrm flipH="1">
            <a:off x="11040237"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flipV="1">
            <a:off x="10642473" y="6647688"/>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네 모듈이 죽음을 데이터로 바꾼다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eaLnBrk="0" hangingPunct="1">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순정 painlessMesh가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eaLnBrk="0" hangingPunct="1">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eaLnBrk="0" hangingPunct="1">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eaLnBrk="0" hangingPunct="1">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죽은 점들에 면을 씌우면 그 기울기가 불의 방향이다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eaLnBrk="0" hangingPunct="1">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13232" y="5358384"/>
            <a:ext cx="10762488" cy="548640"/>
          </a:xfrm>
          <a:prstGeom prst="rect">
            <a:avLst/>
          </a:prstGeom>
          <a:noFill/>
          <a:ln/>
        </p:spPr>
        <p:txBody>
          <a:bodyPr wrap="square" rtlCol="0" anchor="ctr"/>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eaLnBrk="0" hangingPunct="1">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6"/>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7"/>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30"/>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통신두절과 진짜 파괴를 세 층으로 구분한다 — 오탐률 0%</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480560" y="2862072"/>
            <a:ext cx="3227832"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eaLnBrk="0" hangingPunct="1">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eaLnBrk="0" hangingPunct="1">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순정 painlessMesh가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노드가 죽어도 경로는 살아난다 — 15노드에서 15.9초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121408"/>
            <a:ext cx="4983480" cy="1911096"/>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브리지(id 99) 기준 역방향 BFS로 각 노드의 상행 경로를 구성.</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eaLnBrk="0" hangingPunct="1">
              <a:lnSpc>
                <a:spcPct val="120000"/>
              </a:lnSpc>
              <a:buNone/>
            </a:pPr>
            <a:endParaRPr lang="en-US" sz="1200" dirty="0"/>
          </a:p>
          <a:p>
            <a:pPr indent="-146304" marL="146304" eaLnBrk="0" hangingPunct="1">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15노드 메시 실측 (2026-09-01)</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하위 11대를 거느린 중계 노드 1대를 물리 제거 → 재부팅 없이 15.9초 만에 경로 재구성.</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9개 노드가 부모를 바꿨고, 남은 14대가 70~80초 내 전송 재개.</a:t>
            </a:r>
            <a:endParaRPr lang="en-US" sz="1200" dirty="0"/>
          </a:p>
          <a:p>
            <a:pPr indent="0" marL="0" eaLnBrk="0" hangingPunct="1">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pic>
        <p:nvPicPr>
          <p:cNvPr id="34" name="Picture 33" descr="chart_selfheal_band.png"/>
          <p:cNvPicPr>
            <a:picLocks noChangeAspect="1"/>
          </p:cNvPicPr>
          <p:nvPr/>
        </p:nvPicPr>
        <p:blipFill>
          <a:blip r:embed="rId3"/>
          <a:stretch>
            <a:fillRect/>
          </a:stretch>
        </p:blipFill>
        <p:spPr>
          <a:xfrm>
            <a:off x="3542768" y="5074920"/>
            <a:ext cx="5103415" cy="1097280"/>
          </a:xfrm>
          <a:prstGeom prst="rect">
            <a:avLst/>
          </a:prstGeom>
        </p:spPr>
      </p:pic>
      <p:sp>
        <p:nvSpPr>
          <p:cNvPr id="35" name="TextBox 34"/>
          <p:cNvSpPr txBox="1"/>
          <p:nvPr/>
        </p:nvSpPr>
        <p:spPr>
          <a:xfrm>
            <a:off x="3542768" y="6199632"/>
            <a:ext cx="5103415" cy="201168"/>
          </a:xfrm>
          <a:prstGeom prst="rect">
            <a:avLst/>
          </a:prstGeom>
          <a:noFill/>
        </p:spPr>
        <p:txBody>
          <a:bodyPr wrap="square" lIns="0" rIns="0" tIns="0" bIns="0">
            <a:spAutoFit/>
          </a:bodyPr>
          <a:lstStyle/>
          <a:p>
            <a:pPr algn="ctr"/>
            <a:r>
              <a:rPr sz="800">
                <a:solidFill>
                  <a:srgbClr val="6B6E6A"/>
                </a:solidFill>
                <a:latin typeface="맑은 고딕"/>
              </a:rPr>
              <a:t>중계 노드 1대 제거 → 15.9초 만에 재구성 (2026-09-01 실측)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결과가 나빠도 파라미터를 고치지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eaLnBrk="0" hangingPunct="1">
              <a:lnSpc>
                <a:spcPct val="120000"/>
              </a:lnSpc>
              <a:buNone/>
            </a:pP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가중치의 부호 하나가 방향을 무너뜨리고 있었다 — 82° → 0.03°</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1883664"/>
        </p:xfrm>
        <a:graphic>
          <a:graphicData uri="http://schemas.openxmlformats.org/drawingml/2006/table">
            <a:tbl>
              <a:tblPr/>
              <a:tblGrid>
                <a:gridCol w="502920"/>
                <a:gridCol w="3520440"/>
                <a:gridCol w="3291840"/>
                <a:gridCol w="3776472"/>
              </a:tblGrid>
              <a:tr h="292608">
                <a:tc>
                  <a:txBody>
                    <a:bodyPr/>
                    <a:lstStyle/>
                    <a:p>
                      <a:pPr algn="l" indent="0" marL="0" eaLnBrk="0" hangingPunct="1">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04164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22452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79145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541264"/>
            <a:ext cx="11091672" cy="868680"/>
          </a:xfrm>
          <a:prstGeom prst="rect">
            <a:avLst/>
          </a:prstGeom>
          <a:noFill/>
          <a:ln/>
        </p:spPr>
        <p:txBody>
          <a:bodyPr wrap="square" rtlCol="0" anchor="ctr"/>
          <a:lstStyle/>
          <a:p>
            <a:pPr indent="0" marL="0" eaLnBrk="0" hangingPunct="1">
              <a:lnSpc>
                <a:spcPct val="105000"/>
              </a:lnSpc>
              <a:buNone/>
            </a:pPr>
            <a:r>
              <a:rPr lang="en-US" sz="1000" b="0" dirty="0">
                <a:solidFill>
                  <a:srgbClr val="44483F"/>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eaLnBrk="0" hangingPunct="1">
              <a:lnSpc>
                <a:spcPct val="100000"/>
              </a:lnSpc>
              <a:buNone/>
            </a:pPr>
            <a:endParaRPr lang="en-US" sz="1200" dirty="0"/>
          </a:p>
          <a:p>
            <a:pPr indent="-146304" marL="146304"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eaLnBrk="0" hangingPunct="1">
              <a:lnSpc>
                <a:spcPct val="100000"/>
              </a:lnSpc>
              <a:buNone/>
            </a:pPr>
            <a:endParaRPr lang="en-US" sz="1200" dirty="0"/>
          </a:p>
          <a:p>
            <a:pPr indent="0" marL="0" eaLnBrk="0" hangingPunct="1">
              <a:lnSpc>
                <a:spcPct val="100000"/>
              </a:lnSpc>
              <a:buNone/>
            </a:pPr>
            <a:r>
              <a:rPr lang="en-US" sz="115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84048"/>
          </a:xfrm>
          <a:prstGeom prst="rect">
            <a:avLst/>
          </a:prstGeom>
          <a:noFill/>
          <a:ln/>
        </p:spPr>
        <p:txBody>
          <a:bodyPr wrap="square" rtlCol="0" anchor="ctr"/>
          <a:lstStyle/>
          <a:p>
            <a:pPr indent="0" marL="0" eaLnBrk="0" hangingPunct="1">
              <a:lnSpc>
                <a:spcPct val="105000"/>
              </a:lnSpc>
              <a:buNone/>
            </a:pPr>
            <a:r>
              <a:rPr lang="en-US" sz="105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05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flipH="1">
            <a:off x="10498455" y="6464808"/>
            <a:ext cx="4572" cy="187452"/>
          </a:xfrm>
          <a:prstGeom prst="line">
            <a:avLst/>
          </a:prstGeom>
          <a:noFill/>
          <a:ln w="9525">
            <a:solidFill>
              <a:srgbClr val="E2DCD0"/>
            </a:solidFill>
            <a:prstDash val="solid"/>
          </a:ln>
        </p:spPr>
        <p:txBody>
          <a:bodyPr/>
          <a:p/>
        </p:txBody>
      </p:sp>
      <p:sp>
        <p:nvSpPr>
          <p:cNvPr id="20" name="Shape 17"/>
          <p:cNvSpPr/>
          <p:nvPr/>
        </p:nvSpPr>
        <p:spPr>
          <a:xfrm flipV="1">
            <a:off x="10647045" y="6451092"/>
            <a:ext cx="235458" cy="50292"/>
          </a:xfrm>
          <a:prstGeom prst="line">
            <a:avLst/>
          </a:prstGeom>
          <a:noFill/>
          <a:ln w="9525">
            <a:solidFill>
              <a:srgbClr val="E2DCD0"/>
            </a:solidFill>
            <a:prstDash val="solid"/>
          </a:ln>
        </p:spPr>
        <p:txBody>
          <a:bodyPr/>
          <a:p/>
        </p:txBody>
      </p:sp>
      <p:sp>
        <p:nvSpPr>
          <p:cNvPr id="21" name="Shape 18"/>
          <p:cNvSpPr/>
          <p:nvPr/>
        </p:nvSpPr>
        <p:spPr>
          <a:xfrm flipH="1">
            <a:off x="10642473"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flipH="1">
            <a:off x="10877931" y="6451092"/>
            <a:ext cx="4572" cy="196596"/>
          </a:xfrm>
          <a:prstGeom prst="line">
            <a:avLst/>
          </a:prstGeom>
          <a:noFill/>
          <a:ln w="9525">
            <a:solidFill>
              <a:srgbClr val="E2DCD0"/>
            </a:solidFill>
            <a:prstDash val="solid"/>
          </a:ln>
        </p:spPr>
        <p:txBody>
          <a:bodyPr/>
          <a:p/>
        </p:txBody>
      </p:sp>
      <p:sp>
        <p:nvSpPr>
          <p:cNvPr id="24" name="Shape 21"/>
          <p:cNvSpPr/>
          <p:nvPr/>
        </p:nvSpPr>
        <p:spPr>
          <a:xfrm flipH="1">
            <a:off x="11040237"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flipV="1">
            <a:off x="10642473" y="6647688"/>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실물에서만 터지는 위험 셋을 터지기 전에 잡았다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34340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34340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3840480"/>
          </a:xfrm>
          <a:prstGeom prst="rect">
            <a:avLst/>
          </a:prstGeom>
          <a:noFill/>
          <a:ln/>
        </p:spPr>
        <p:txBody>
          <a:bodyPr wrap="square" rtlCol="0" anchor="t"/>
          <a:lstStyle/>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1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eaLnBrk="0" hangingPunct="1">
              <a:lnSpc>
                <a:spcPct val="105000"/>
              </a:lnSpc>
              <a:buNone/>
            </a:pPr>
            <a:endParaRPr lang="en-US" sz="1200" dirty="0"/>
          </a:p>
        </p:txBody>
      </p:sp>
      <p:sp>
        <p:nvSpPr>
          <p:cNvPr id="13" name="Shape 11"/>
          <p:cNvSpPr/>
          <p:nvPr/>
        </p:nvSpPr>
        <p:spPr>
          <a:xfrm>
            <a:off x="8211312" y="1463040"/>
            <a:ext cx="3429000" cy="434340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eaLnBrk="0" hangingPunct="1">
              <a:lnSpc>
                <a:spcPct val="105000"/>
              </a:lnSpc>
              <a:buNone/>
            </a:pPr>
            <a:endParaRPr lang="en-US" sz="1200" dirty="0"/>
          </a:p>
          <a:p>
            <a:pPr indent="0" marL="0" eaLnBrk="0" hangingPunct="1">
              <a:lnSpc>
                <a:spcPct val="105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897880"/>
            <a:ext cx="11091672" cy="457200"/>
          </a:xfrm>
          <a:prstGeom prst="rect">
            <a:avLst/>
          </a:prstGeom>
          <a:noFill/>
          <a:ln/>
        </p:spPr>
        <p:txBody>
          <a:bodyPr wrap="square" rtlCol="0" anchor="ctr"/>
          <a:lstStyle/>
          <a:p>
            <a:pPr indent="0" marL="0" eaLnBrk="0" hangingPunct="1">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flipH="1">
            <a:off x="10498455" y="6464808"/>
            <a:ext cx="4572" cy="187452"/>
          </a:xfrm>
          <a:prstGeom prst="line">
            <a:avLst/>
          </a:prstGeom>
          <a:noFill/>
          <a:ln w="9525">
            <a:solidFill>
              <a:srgbClr val="E2DCD0"/>
            </a:solidFill>
            <a:prstDash val="solid"/>
          </a:ln>
        </p:spPr>
        <p:txBody>
          <a:bodyPr/>
          <a:p/>
        </p:txBody>
      </p:sp>
      <p:sp>
        <p:nvSpPr>
          <p:cNvPr id="22" name="Shape 20"/>
          <p:cNvSpPr/>
          <p:nvPr/>
        </p:nvSpPr>
        <p:spPr>
          <a:xfrm flipV="1">
            <a:off x="10647045" y="6451092"/>
            <a:ext cx="235458" cy="50292"/>
          </a:xfrm>
          <a:prstGeom prst="line">
            <a:avLst/>
          </a:prstGeom>
          <a:noFill/>
          <a:ln w="9525">
            <a:solidFill>
              <a:srgbClr val="E2DCD0"/>
            </a:solidFill>
            <a:prstDash val="solid"/>
          </a:ln>
        </p:spPr>
        <p:txBody>
          <a:bodyPr/>
          <a:p/>
        </p:txBody>
      </p:sp>
      <p:sp>
        <p:nvSpPr>
          <p:cNvPr id="23" name="Shape 21"/>
          <p:cNvSpPr/>
          <p:nvPr/>
        </p:nvSpPr>
        <p:spPr>
          <a:xfrm flipH="1">
            <a:off x="10642473"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flipH="1">
            <a:off x="10877931" y="6451092"/>
            <a:ext cx="4572" cy="196596"/>
          </a:xfrm>
          <a:prstGeom prst="line">
            <a:avLst/>
          </a:prstGeom>
          <a:noFill/>
          <a:ln w="9525">
            <a:solidFill>
              <a:srgbClr val="E2DCD0"/>
            </a:solidFill>
            <a:prstDash val="solid"/>
          </a:ln>
        </p:spPr>
        <p:txBody>
          <a:bodyPr/>
          <a:p/>
        </p:txBody>
      </p:sp>
      <p:sp>
        <p:nvSpPr>
          <p:cNvPr id="26" name="Shape 24"/>
          <p:cNvSpPr/>
          <p:nvPr/>
        </p:nvSpPr>
        <p:spPr>
          <a:xfrm flipH="1">
            <a:off x="11040237"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flipV="1">
            <a:off x="10642473" y="6647688"/>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eaLnBrk="0" hangingPunct="1">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참값 55.48°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30.94°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−24.54°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42.17°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−13.31°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56.26°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+0.78°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55.83°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+0.35°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eaLnBrk="0" hangingPunct="1">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eaLnBrk="0" hangingPunct="1">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eaLnBrk="0" hangingPunct="1">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flipH="1">
            <a:off x="10498455" y="6464808"/>
            <a:ext cx="4572" cy="187452"/>
          </a:xfrm>
          <a:prstGeom prst="line">
            <a:avLst/>
          </a:prstGeom>
          <a:noFill/>
          <a:ln w="9525">
            <a:solidFill>
              <a:srgbClr val="E2DCD0"/>
            </a:solidFill>
            <a:prstDash val="solid"/>
          </a:ln>
        </p:spPr>
        <p:txBody>
          <a:bodyPr/>
          <a:p/>
        </p:txBody>
      </p:sp>
      <p:sp>
        <p:nvSpPr>
          <p:cNvPr id="24" name="Shape 21"/>
          <p:cNvSpPr/>
          <p:nvPr/>
        </p:nvSpPr>
        <p:spPr>
          <a:xfrm flipV="1">
            <a:off x="10647045" y="6451092"/>
            <a:ext cx="235458" cy="50292"/>
          </a:xfrm>
          <a:prstGeom prst="line">
            <a:avLst/>
          </a:prstGeom>
          <a:noFill/>
          <a:ln w="9525">
            <a:solidFill>
              <a:srgbClr val="E2DCD0"/>
            </a:solidFill>
            <a:prstDash val="solid"/>
          </a:ln>
        </p:spPr>
        <p:txBody>
          <a:bodyPr/>
          <a:p/>
        </p:txBody>
      </p:sp>
      <p:sp>
        <p:nvSpPr>
          <p:cNvPr id="25" name="Shape 22"/>
          <p:cNvSpPr/>
          <p:nvPr/>
        </p:nvSpPr>
        <p:spPr>
          <a:xfrm flipH="1">
            <a:off x="10642473"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flipH="1">
            <a:off x="10877931" y="6451092"/>
            <a:ext cx="4572" cy="196596"/>
          </a:xfrm>
          <a:prstGeom prst="line">
            <a:avLst/>
          </a:prstGeom>
          <a:noFill/>
          <a:ln w="9525">
            <a:solidFill>
              <a:srgbClr val="E2DCD0"/>
            </a:solidFill>
            <a:prstDash val="solid"/>
          </a:ln>
        </p:spPr>
        <p:txBody>
          <a:bodyPr/>
          <a:p/>
        </p:txBody>
      </p:sp>
      <p:sp>
        <p:nvSpPr>
          <p:cNvPr id="28" name="Shape 25"/>
          <p:cNvSpPr/>
          <p:nvPr/>
        </p:nvSpPr>
        <p:spPr>
          <a:xfrm flipH="1">
            <a:off x="11040237"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flipV="1">
            <a:off x="10642473" y="6647688"/>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감지는 그들이, 추적은 우리가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순정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eaLnBrk="0" hangingPunct="1">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순정 painlessMesh가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flipH="1">
            <a:off x="10498455" y="6464808"/>
            <a:ext cx="4572" cy="187452"/>
          </a:xfrm>
          <a:prstGeom prst="line">
            <a:avLst/>
          </a:prstGeom>
          <a:noFill/>
          <a:ln w="9525">
            <a:solidFill>
              <a:srgbClr val="E2DCD0"/>
            </a:solidFill>
            <a:prstDash val="solid"/>
          </a:ln>
        </p:spPr>
        <p:txBody>
          <a:bodyPr/>
          <a:p/>
        </p:txBody>
      </p:sp>
      <p:sp>
        <p:nvSpPr>
          <p:cNvPr id="11" name="Shape 8"/>
          <p:cNvSpPr/>
          <p:nvPr/>
        </p:nvSpPr>
        <p:spPr>
          <a:xfrm flipV="1">
            <a:off x="10647045" y="6451092"/>
            <a:ext cx="235458" cy="50292"/>
          </a:xfrm>
          <a:prstGeom prst="line">
            <a:avLst/>
          </a:prstGeom>
          <a:noFill/>
          <a:ln w="9525">
            <a:solidFill>
              <a:srgbClr val="E2DCD0"/>
            </a:solidFill>
            <a:prstDash val="solid"/>
          </a:ln>
        </p:spPr>
        <p:txBody>
          <a:bodyPr/>
          <a:p/>
        </p:txBody>
      </p:sp>
      <p:sp>
        <p:nvSpPr>
          <p:cNvPr id="12" name="Shape 9"/>
          <p:cNvSpPr/>
          <p:nvPr/>
        </p:nvSpPr>
        <p:spPr>
          <a:xfrm flipH="1">
            <a:off x="10642473"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flipH="1">
            <a:off x="10877931" y="6451092"/>
            <a:ext cx="4572" cy="196596"/>
          </a:xfrm>
          <a:prstGeom prst="line">
            <a:avLst/>
          </a:prstGeom>
          <a:noFill/>
          <a:ln w="9525">
            <a:solidFill>
              <a:srgbClr val="E2DCD0"/>
            </a:solidFill>
            <a:prstDash val="solid"/>
          </a:ln>
        </p:spPr>
        <p:txBody>
          <a:bodyPr/>
          <a:p/>
        </p:txBody>
      </p:sp>
      <p:sp>
        <p:nvSpPr>
          <p:cNvPr id="15" name="Shape 12"/>
          <p:cNvSpPr/>
          <p:nvPr/>
        </p:nvSpPr>
        <p:spPr>
          <a:xfrm flipH="1">
            <a:off x="11040237"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flipV="1">
            <a:off x="10642473" y="6647688"/>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16노드 실물 런에서 잰 값</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16/16</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노드</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전 노드 소손 · 재촬영 없음</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2.85°</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방향 추정 오차</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55.48° → 58.33°</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+1.67%</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속도 추정 오차</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참값 0.5785 → 0.5882 mm/s</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eaLnBrk="0" hangingPunct="1">
              <a:buNone/>
            </a:pPr>
            <a:r>
              <a:rPr lang="en-US" sz="2800" b="1" dirty="0">
                <a:solidFill>
                  <a:srgbClr val="2C5F2D"/>
                </a:solidFill>
                <a:latin typeface="맑은 고딕" pitchFamily="34" charset="0"/>
                <a:ea typeface="맑은 고딕" pitchFamily="34" charset="-122"/>
                <a:cs typeface="맑은 고딕" pitchFamily="34" charset="-120"/>
              </a:rPr>
              <a:t>13/16</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eaLnBrk="0" hangingPunct="1">
              <a:buNone/>
            </a:pPr>
            <a:r>
              <a:rPr lang="en-US" sz="1200" b="1" dirty="0">
                <a:solidFill>
                  <a:srgbClr val="1F2421"/>
                </a:solidFill>
                <a:latin typeface="맑은 고딕" pitchFamily="34" charset="0"/>
                <a:ea typeface="맑은 고딕" pitchFamily="34" charset="-122"/>
                <a:cs typeface="맑은 고딕" pitchFamily="34" charset="-120"/>
              </a:rPr>
              <a:t>사망 전 경보 수신</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eaLnBrk="0" hangingPunct="1">
              <a:buNone/>
            </a:pPr>
            <a:r>
              <a:rPr lang="en-US" sz="950" dirty="0">
                <a:solidFill>
                  <a:srgbClr val="D35400"/>
                </a:solidFill>
                <a:latin typeface="맑은 고딕" pitchFamily="34" charset="0"/>
                <a:ea typeface="맑은 고딕" pitchFamily="34" charset="-122"/>
                <a:cs typeface="맑은 고딕" pitchFamily="34" charset="-120"/>
              </a:rPr>
              <a:t>[실물] 평균 351초 전 · 최대 523초</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eaLnBrk="0" hangingPunct="1">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2157984"/>
        </p:xfrm>
        <a:graphic>
          <a:graphicData uri="http://schemas.openxmlformats.org/drawingml/2006/table">
            <a:tbl>
              <a:tblPr/>
              <a:tblGrid>
                <a:gridCol w="3017520"/>
                <a:gridCol w="3383280"/>
                <a:gridCol w="4690872"/>
              </a:tblGrid>
              <a:tr h="292608">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결과 (출처)</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6B6E6A"/>
                          </a:solidFill>
                          <a:latin typeface="맑은 고딕" pitchFamily="34" charset="0"/>
                          <a:ea typeface="맑은 고딕" pitchFamily="34" charset="-122"/>
                          <a:cs typeface="맑은 고딕" pitchFamily="34" charset="-120"/>
                        </a:rPr>
                        <a:t>[시뮬] 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6B6E6A"/>
                          </a:solidFill>
                          <a:latin typeface="맑은 고딕" pitchFamily="34" charset="0"/>
                          <a:ea typeface="맑은 고딕" pitchFamily="34" charset="-122"/>
                          <a:cs typeface="맑은 고딕" pitchFamily="34" charset="-120"/>
                        </a:rPr>
                        <a:t>[시뮬] 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10896">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b="1" dirty="0">
                          <a:solidFill>
                            <a:srgbClr val="D35400"/>
                          </a:solidFill>
                          <a:latin typeface="맑은 고딕" pitchFamily="34" charset="0"/>
                          <a:ea typeface="맑은 고딕" pitchFamily="34" charset="-122"/>
                          <a:cs typeface="맑은 고딕" pitchFamily="34" charset="-120"/>
                        </a:rPr>
                        <a:t>[실물] 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669280"/>
            <a:ext cx="11091672" cy="685800"/>
          </a:xfrm>
          <a:prstGeom prst="rect">
            <a:avLst/>
          </a:prstGeom>
          <a:noFill/>
          <a:ln/>
        </p:spPr>
        <p:txBody>
          <a:bodyPr wrap="square" rtlCol="0" anchor="ctr"/>
          <a:lstStyle/>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10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eaLnBrk="0" hangingPunct="1">
              <a:lnSpc>
                <a:spcPct val="110000"/>
              </a:lnSpc>
              <a:buNone/>
            </a:pPr>
            <a:r>
              <a:rPr lang="en-US" sz="110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flipH="1">
            <a:off x="10498455" y="6464808"/>
            <a:ext cx="4572" cy="187452"/>
          </a:xfrm>
          <a:prstGeom prst="line">
            <a:avLst/>
          </a:prstGeom>
          <a:noFill/>
          <a:ln w="9525">
            <a:solidFill>
              <a:srgbClr val="E2DCD0"/>
            </a:solidFill>
            <a:prstDash val="solid"/>
          </a:ln>
        </p:spPr>
        <p:txBody>
          <a:bodyPr/>
          <a:p/>
        </p:txBody>
      </p:sp>
      <p:sp>
        <p:nvSpPr>
          <p:cNvPr id="28" name="Shape 25"/>
          <p:cNvSpPr/>
          <p:nvPr/>
        </p:nvSpPr>
        <p:spPr>
          <a:xfrm flipV="1">
            <a:off x="10647045" y="6451092"/>
            <a:ext cx="235458" cy="50292"/>
          </a:xfrm>
          <a:prstGeom prst="line">
            <a:avLst/>
          </a:prstGeom>
          <a:noFill/>
          <a:ln w="9525">
            <a:solidFill>
              <a:srgbClr val="E2DCD0"/>
            </a:solidFill>
            <a:prstDash val="solid"/>
          </a:ln>
        </p:spPr>
        <p:txBody>
          <a:bodyPr/>
          <a:p/>
        </p:txBody>
      </p:sp>
      <p:sp>
        <p:nvSpPr>
          <p:cNvPr id="29" name="Shape 26"/>
          <p:cNvSpPr/>
          <p:nvPr/>
        </p:nvSpPr>
        <p:spPr>
          <a:xfrm flipH="1">
            <a:off x="10642473"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flipH="1">
            <a:off x="10877931" y="6451092"/>
            <a:ext cx="4572" cy="196596"/>
          </a:xfrm>
          <a:prstGeom prst="line">
            <a:avLst/>
          </a:prstGeom>
          <a:noFill/>
          <a:ln w="9525">
            <a:solidFill>
              <a:srgbClr val="E2DCD0"/>
            </a:solidFill>
            <a:prstDash val="solid"/>
          </a:ln>
        </p:spPr>
        <p:txBody>
          <a:bodyPr/>
          <a:p/>
        </p:txBody>
      </p:sp>
      <p:sp>
        <p:nvSpPr>
          <p:cNvPr id="32" name="Shape 29"/>
          <p:cNvSpPr/>
          <p:nvPr/>
        </p:nvSpPr>
        <p:spPr>
          <a:xfrm flipH="1">
            <a:off x="11040237"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flipV="1">
            <a:off x="10642473" y="6647688"/>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eaLnBrk="0" hangingPunct="1">
              <a:buNone/>
            </a:pPr>
            <a:r>
              <a:rPr lang="en-US" sz="850" dirty="0">
                <a:solidFill>
                  <a:srgbClr val="B9B3A6"/>
                </a:solidFill>
                <a:latin typeface="맑은 고딕" pitchFamily="34" charset="0"/>
                <a:ea typeface="맑은 고딕" pitchFamily="34" charset="-122"/>
                <a:cs typeface="맑은 고딕" pitchFamily="34" charset="-120"/>
              </a:rPr>
              <a:t>시뮬 검증: 자동 테스트 54건 전건 통과 · 전달률 92.3% · 오탐률 0% (네트워크 시뮬레이터 기준)</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지휘부는 배치를, 대원은 대피 시각을 얻는다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eaLnBrk="0" hangingPunct="1">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flipH="1">
            <a:off x="10498455" y="6464808"/>
            <a:ext cx="4572" cy="187452"/>
          </a:xfrm>
          <a:prstGeom prst="line">
            <a:avLst/>
          </a:prstGeom>
          <a:noFill/>
          <a:ln w="9525">
            <a:solidFill>
              <a:srgbClr val="E2DCD0"/>
            </a:solidFill>
            <a:prstDash val="solid"/>
          </a:ln>
        </p:spPr>
        <p:txBody>
          <a:bodyPr/>
          <a:p/>
        </p:txBody>
      </p:sp>
      <p:sp>
        <p:nvSpPr>
          <p:cNvPr id="25" name="Shape 23"/>
          <p:cNvSpPr/>
          <p:nvPr/>
        </p:nvSpPr>
        <p:spPr>
          <a:xfrm flipV="1">
            <a:off x="10647045" y="6451092"/>
            <a:ext cx="235458" cy="50292"/>
          </a:xfrm>
          <a:prstGeom prst="line">
            <a:avLst/>
          </a:prstGeom>
          <a:noFill/>
          <a:ln w="9525">
            <a:solidFill>
              <a:srgbClr val="E2DCD0"/>
            </a:solidFill>
            <a:prstDash val="solid"/>
          </a:ln>
        </p:spPr>
        <p:txBody>
          <a:bodyPr/>
          <a:p/>
        </p:txBody>
      </p:sp>
      <p:sp>
        <p:nvSpPr>
          <p:cNvPr id="26" name="Shape 24"/>
          <p:cNvSpPr/>
          <p:nvPr/>
        </p:nvSpPr>
        <p:spPr>
          <a:xfrm flipH="1">
            <a:off x="10642473"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flipH="1">
            <a:off x="10877931" y="6451092"/>
            <a:ext cx="4572" cy="196596"/>
          </a:xfrm>
          <a:prstGeom prst="line">
            <a:avLst/>
          </a:prstGeom>
          <a:noFill/>
          <a:ln w="9525">
            <a:solidFill>
              <a:srgbClr val="E2DCD0"/>
            </a:solidFill>
            <a:prstDash val="solid"/>
          </a:ln>
        </p:spPr>
        <p:txBody>
          <a:bodyPr/>
          <a:p/>
        </p:txBody>
      </p:sp>
      <p:sp>
        <p:nvSpPr>
          <p:cNvPr id="29" name="Shape 27"/>
          <p:cNvSpPr/>
          <p:nvPr/>
        </p:nvSpPr>
        <p:spPr>
          <a:xfrm flipH="1">
            <a:off x="11040237"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flipV="1">
            <a:off x="10642473" y="6647688"/>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타 죽는 것을 전제로 하면 경제 논리가 뒤집힌다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eaLnBrk="0" hangingPunct="1">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1대 부품비 1.2만 원 [데모 기준 — 케이스·야외전원·거치 제외] → 불 속에 들어가는 역할엔 내구성을 '살' 수 없으니 저가 소모형이 유일하게 합리적.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데모 조달 총액 ≈ 45만 원 (예비 보드·공구·라즈베리파이 포함, 부가세 포함).</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18504" y="2286000"/>
            <a:ext cx="5148072" cy="1920240"/>
          </a:xfrm>
          <a:prstGeom prst="rect">
            <a:avLst/>
          </a:prstGeom>
          <a:noFill/>
          <a:ln/>
        </p:spPr>
        <p:txBody>
          <a:bodyPr wrap="square" rtlCol="0" anchor="t"/>
          <a:lstStyle/>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146304" marL="146304"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eaLnBrk="0" hangingPunct="1">
              <a:buNone/>
            </a:pPr>
            <a:r>
              <a:rPr lang="en-US" sz="1300" b="1" i="0"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flipH="1">
            <a:off x="10498455" y="6464808"/>
            <a:ext cx="4572" cy="187452"/>
          </a:xfrm>
          <a:prstGeom prst="line">
            <a:avLst/>
          </a:prstGeom>
          <a:noFill/>
          <a:ln w="9525">
            <a:solidFill>
              <a:srgbClr val="E2DCD0"/>
            </a:solidFill>
            <a:prstDash val="solid"/>
          </a:ln>
        </p:spPr>
        <p:txBody>
          <a:bodyPr/>
          <a:p/>
        </p:txBody>
      </p:sp>
      <p:sp>
        <p:nvSpPr>
          <p:cNvPr id="18" name="Shape 16"/>
          <p:cNvSpPr/>
          <p:nvPr/>
        </p:nvSpPr>
        <p:spPr>
          <a:xfrm flipV="1">
            <a:off x="10647045" y="6451092"/>
            <a:ext cx="235458" cy="50292"/>
          </a:xfrm>
          <a:prstGeom prst="line">
            <a:avLst/>
          </a:prstGeom>
          <a:noFill/>
          <a:ln w="9525">
            <a:solidFill>
              <a:srgbClr val="E2DCD0"/>
            </a:solidFill>
            <a:prstDash val="solid"/>
          </a:ln>
        </p:spPr>
        <p:txBody>
          <a:bodyPr/>
          <a:p/>
        </p:txBody>
      </p:sp>
      <p:sp>
        <p:nvSpPr>
          <p:cNvPr id="19" name="Shape 17"/>
          <p:cNvSpPr/>
          <p:nvPr/>
        </p:nvSpPr>
        <p:spPr>
          <a:xfrm flipH="1">
            <a:off x="10642473"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flipH="1">
            <a:off x="10877931" y="6451092"/>
            <a:ext cx="4572" cy="196596"/>
          </a:xfrm>
          <a:prstGeom prst="line">
            <a:avLst/>
          </a:prstGeom>
          <a:noFill/>
          <a:ln w="9525">
            <a:solidFill>
              <a:srgbClr val="E2DCD0"/>
            </a:solidFill>
            <a:prstDash val="solid"/>
          </a:ln>
        </p:spPr>
        <p:txBody>
          <a:bodyPr/>
          <a:p/>
        </p:txBody>
      </p:sp>
      <p:sp>
        <p:nvSpPr>
          <p:cNvPr id="22" name="Shape 20"/>
          <p:cNvSpPr/>
          <p:nvPr/>
        </p:nvSpPr>
        <p:spPr>
          <a:xfrm flipH="1">
            <a:off x="11040237"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flipV="1">
            <a:off x="10642473" y="6647688"/>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pic>
        <p:nvPicPr>
          <p:cNvPr id="34" name="Picture 33" descr="s20_node.jpg"/>
          <p:cNvPicPr>
            <a:picLocks noChangeAspect="1"/>
          </p:cNvPicPr>
          <p:nvPr/>
        </p:nvPicPr>
        <p:blipFill>
          <a:blip r:embed="rId3"/>
          <a:stretch>
            <a:fillRect/>
          </a:stretch>
        </p:blipFill>
        <p:spPr>
          <a:xfrm>
            <a:off x="5088636" y="5138928"/>
            <a:ext cx="2011680" cy="1143000"/>
          </a:xfrm>
          <a:prstGeom prst="rect">
            <a:avLst/>
          </a:prstGeom>
        </p:spPr>
      </p:pic>
      <p:sp>
        <p:nvSpPr>
          <p:cNvPr id="35" name="TextBox 34"/>
          <p:cNvSpPr txBox="1"/>
          <p:nvPr/>
        </p:nvSpPr>
        <p:spPr>
          <a:xfrm>
            <a:off x="5088636" y="6309360"/>
            <a:ext cx="2011680" cy="201168"/>
          </a:xfrm>
          <a:prstGeom prst="rect">
            <a:avLst/>
          </a:prstGeom>
          <a:noFill/>
        </p:spPr>
        <p:txBody>
          <a:bodyPr wrap="square" lIns="0" rIns="0" tIns="0" bIns="0">
            <a:spAutoFit/>
          </a:bodyPr>
          <a:lstStyle/>
          <a:p>
            <a:pPr algn="ctr"/>
            <a:r>
              <a:rPr sz="800">
                <a:solidFill>
                  <a:srgbClr val="6B6E6A"/>
                </a:solidFill>
                <a:latin typeface="맑은 고딕"/>
              </a:rPr>
              <a:t>노드 1대 — ESP32 · DS18B20 · WS2812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eaLnBrk="0" hangingPunct="1">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eaLnBrk="0" hangingPunct="1">
              <a:buNone/>
            </a:pPr>
            <a:r>
              <a:rPr lang="en-US" sz="2500" b="1" dirty="0">
                <a:solidFill>
                  <a:srgbClr val="1F2421"/>
                </a:solidFill>
                <a:latin typeface="맑은 고딕" pitchFamily="34" charset="0"/>
                <a:ea typeface="맑은 고딕" pitchFamily="34" charset="-122"/>
                <a:cs typeface="맑은 고딕" pitchFamily="34" charset="-120"/>
              </a:rPr>
              <a:t>1인이 네 영역을 병렬로 — 규율이 팀을 대신했다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7251192"/>
              </a:tblGrid>
              <a:tr h="310896">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eaLnBrk="0" hangingPunct="1">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하순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8월 하순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9월 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16노드 본편 촬영 ·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eaLnBrk="0" hangingPunct="1">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9월 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eaLnBrk="0" hangingPunct="1">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eaLnBrk="0" hangingPunct="1">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eaLnBrk="0" hangingPunct="1">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eaLnBrk="0" hangingPunct="1">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flipH="1">
            <a:off x="10498455" y="6464808"/>
            <a:ext cx="4572" cy="187452"/>
          </a:xfrm>
          <a:prstGeom prst="line">
            <a:avLst/>
          </a:prstGeom>
          <a:noFill/>
          <a:ln w="9525">
            <a:solidFill>
              <a:srgbClr val="E2DCD0"/>
            </a:solidFill>
            <a:prstDash val="solid"/>
          </a:ln>
        </p:spPr>
        <p:txBody>
          <a:bodyPr/>
          <a:p/>
        </p:txBody>
      </p:sp>
      <p:sp>
        <p:nvSpPr>
          <p:cNvPr id="14" name="Shape 11"/>
          <p:cNvSpPr/>
          <p:nvPr/>
        </p:nvSpPr>
        <p:spPr>
          <a:xfrm flipV="1">
            <a:off x="10647045" y="6451092"/>
            <a:ext cx="235458" cy="50292"/>
          </a:xfrm>
          <a:prstGeom prst="line">
            <a:avLst/>
          </a:prstGeom>
          <a:noFill/>
          <a:ln w="9525">
            <a:solidFill>
              <a:srgbClr val="E2DCD0"/>
            </a:solidFill>
            <a:prstDash val="solid"/>
          </a:ln>
        </p:spPr>
        <p:txBody>
          <a:bodyPr/>
          <a:p/>
        </p:txBody>
      </p:sp>
      <p:sp>
        <p:nvSpPr>
          <p:cNvPr id="15" name="Shape 12"/>
          <p:cNvSpPr/>
          <p:nvPr/>
        </p:nvSpPr>
        <p:spPr>
          <a:xfrm flipH="1">
            <a:off x="10642473"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flipH="1">
            <a:off x="10877931" y="6451092"/>
            <a:ext cx="4572" cy="196596"/>
          </a:xfrm>
          <a:prstGeom prst="line">
            <a:avLst/>
          </a:prstGeom>
          <a:noFill/>
          <a:ln w="9525">
            <a:solidFill>
              <a:srgbClr val="E2DCD0"/>
            </a:solidFill>
            <a:prstDash val="solid"/>
          </a:ln>
        </p:spPr>
        <p:txBody>
          <a:bodyPr/>
          <a:p/>
        </p:txBody>
      </p:sp>
      <p:sp>
        <p:nvSpPr>
          <p:cNvPr id="18" name="Shape 15"/>
          <p:cNvSpPr/>
          <p:nvPr/>
        </p:nvSpPr>
        <p:spPr>
          <a:xfrm flipH="1">
            <a:off x="11040237"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flipV="1">
            <a:off x="10642473" y="6647688"/>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