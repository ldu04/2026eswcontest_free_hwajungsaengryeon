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a:off x="7930134" y="1512189"/>
            <a:ext cx="-13716" cy="756666"/>
          </a:xfrm>
          <a:prstGeom prst="line">
            <a:avLst/>
          </a:prstGeom>
          <a:noFill/>
          <a:ln w="9525">
            <a:solidFill>
              <a:srgbClr val="E2DCD0"/>
            </a:solidFill>
            <a:prstDash val="solid"/>
          </a:ln>
        </p:spPr>
        <p:txBody>
          <a:bodyPr/>
          <a:p/>
        </p:txBody>
      </p:sp>
      <p:sp>
        <p:nvSpPr>
          <p:cNvPr id="4" name="Shape 2"/>
          <p:cNvSpPr/>
          <p:nvPr/>
        </p:nvSpPr>
        <p:spPr>
          <a:xfrm>
            <a:off x="8679942" y="1548765"/>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a:off x="10289286"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a:off x="8684514" y="2310003"/>
            <a:ext cx="845820" cy="-32004"/>
          </a:xfrm>
          <a:prstGeom prst="line">
            <a:avLst/>
          </a:prstGeom>
          <a:noFill/>
          <a:ln w="9525">
            <a:solidFill>
              <a:srgbClr val="E2DCD0"/>
            </a:solidFill>
            <a:prstDash val="solid"/>
          </a:ln>
        </p:spPr>
        <p:txBody>
          <a:bodyPr/>
          <a:p/>
        </p:txBody>
      </p:sp>
      <p:sp>
        <p:nvSpPr>
          <p:cNvPr id="16" name="Shape 14"/>
          <p:cNvSpPr/>
          <p:nvPr/>
        </p:nvSpPr>
        <p:spPr>
          <a:xfrm>
            <a:off x="8684514"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a:off x="9530334"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a:off x="7925562" y="3039237"/>
            <a:ext cx="-4572" cy="756666"/>
          </a:xfrm>
          <a:prstGeom prst="line">
            <a:avLst/>
          </a:prstGeom>
          <a:noFill/>
          <a:ln w="9525">
            <a:solidFill>
              <a:srgbClr val="E2DCD0"/>
            </a:solidFill>
            <a:prstDash val="solid"/>
          </a:ln>
        </p:spPr>
        <p:txBody>
          <a:bodyPr/>
          <a:p/>
        </p:txBody>
      </p:sp>
      <p:sp>
        <p:nvSpPr>
          <p:cNvPr id="26" name="Shape 24"/>
          <p:cNvSpPr/>
          <p:nvPr/>
        </p:nvSpPr>
        <p:spPr>
          <a:xfrm>
            <a:off x="8675370" y="3084957"/>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a:off x="10284714"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a:off x="8689086" y="3837051"/>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순정 painlessMesh는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a:off x="10503027" y="6464808"/>
            <a:ext cx="-4572" cy="187452"/>
          </a:xfrm>
          <a:prstGeom prst="line">
            <a:avLst/>
          </a:prstGeom>
          <a:noFill/>
          <a:ln w="9525">
            <a:solidFill>
              <a:srgbClr val="E2DCD0"/>
            </a:solidFill>
            <a:prstDash val="solid"/>
          </a:ln>
        </p:spPr>
        <p:txBody>
          <a:bodyPr/>
          <a:p/>
        </p:txBody>
      </p:sp>
      <p:sp>
        <p:nvSpPr>
          <p:cNvPr id="23" name="Shape 21"/>
          <p:cNvSpPr/>
          <p:nvPr/>
        </p:nvSpPr>
        <p:spPr>
          <a:xfrm>
            <a:off x="10647045" y="6501384"/>
            <a:ext cx="235458" cy="-50292"/>
          </a:xfrm>
          <a:prstGeom prst="line">
            <a:avLst/>
          </a:prstGeom>
          <a:noFill/>
          <a:ln w="9525">
            <a:solidFill>
              <a:srgbClr val="E2DCD0"/>
            </a:solidFill>
            <a:prstDash val="solid"/>
          </a:ln>
        </p:spPr>
        <p:txBody>
          <a:bodyPr/>
          <a:p/>
        </p:txBody>
      </p:sp>
      <p:sp>
        <p:nvSpPr>
          <p:cNvPr id="24" name="Shape 22"/>
          <p:cNvSpPr/>
          <p:nvPr/>
        </p:nvSpPr>
        <p:spPr>
          <a:xfrm>
            <a:off x="10647045"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a:off x="10882503" y="6451092"/>
            <a:ext cx="-4572" cy="196596"/>
          </a:xfrm>
          <a:prstGeom prst="line">
            <a:avLst/>
          </a:prstGeom>
          <a:noFill/>
          <a:ln w="9525">
            <a:solidFill>
              <a:srgbClr val="E2DCD0"/>
            </a:solidFill>
            <a:prstDash val="solid"/>
          </a:ln>
        </p:spPr>
        <p:txBody>
          <a:bodyPr/>
          <a:p/>
        </p:txBody>
      </p:sp>
      <p:sp>
        <p:nvSpPr>
          <p:cNvPr id="27" name="Shape 25"/>
          <p:cNvSpPr/>
          <p:nvPr/>
        </p:nvSpPr>
        <p:spPr>
          <a:xfrm>
            <a:off x="11044809"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a:off x="10642473" y="6697980"/>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a:off x="10503027" y="6464808"/>
            <a:ext cx="-4572" cy="187452"/>
          </a:xfrm>
          <a:prstGeom prst="line">
            <a:avLst/>
          </a:prstGeom>
          <a:noFill/>
          <a:ln w="9525">
            <a:solidFill>
              <a:srgbClr val="E2DCD0"/>
            </a:solidFill>
            <a:prstDash val="solid"/>
          </a:ln>
        </p:spPr>
        <p:txBody>
          <a:bodyPr/>
          <a:p/>
        </p:txBody>
      </p:sp>
      <p:sp>
        <p:nvSpPr>
          <p:cNvPr id="20" name="Shape 18"/>
          <p:cNvSpPr/>
          <p:nvPr/>
        </p:nvSpPr>
        <p:spPr>
          <a:xfrm>
            <a:off x="10647045" y="6501384"/>
            <a:ext cx="235458" cy="-50292"/>
          </a:xfrm>
          <a:prstGeom prst="line">
            <a:avLst/>
          </a:prstGeom>
          <a:noFill/>
          <a:ln w="9525">
            <a:solidFill>
              <a:srgbClr val="E2DCD0"/>
            </a:solidFill>
            <a:prstDash val="solid"/>
          </a:ln>
        </p:spPr>
        <p:txBody>
          <a:bodyPr/>
          <a:p/>
        </p:txBody>
      </p:sp>
      <p:sp>
        <p:nvSpPr>
          <p:cNvPr id="21" name="Shape 19"/>
          <p:cNvSpPr/>
          <p:nvPr/>
        </p:nvSpPr>
        <p:spPr>
          <a:xfrm>
            <a:off x="10647045"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a:off x="10882503" y="6451092"/>
            <a:ext cx="-4572" cy="196596"/>
          </a:xfrm>
          <a:prstGeom prst="line">
            <a:avLst/>
          </a:prstGeom>
          <a:noFill/>
          <a:ln w="9525">
            <a:solidFill>
              <a:srgbClr val="E2DCD0"/>
            </a:solidFill>
            <a:prstDash val="solid"/>
          </a:ln>
        </p:spPr>
        <p:txBody>
          <a:bodyPr/>
          <a:p/>
        </p:txBody>
      </p:sp>
      <p:sp>
        <p:nvSpPr>
          <p:cNvPr id="24" name="Shape 22"/>
          <p:cNvSpPr/>
          <p:nvPr/>
        </p:nvSpPr>
        <p:spPr>
          <a:xfrm>
            <a:off x="11044809"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a:off x="10642473" y="6697980"/>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68680" y="38862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(생사·경보 시각화)</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USB 5V 급전 — 12분 연속 구동과 회차 간 재현성 확보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배터리 + 승압 모듈(MT3608)</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a:off x="10503027" y="6464808"/>
            <a:ext cx="-4572" cy="187452"/>
          </a:xfrm>
          <a:prstGeom prst="line">
            <a:avLst/>
          </a:prstGeom>
          <a:noFill/>
          <a:ln w="9525">
            <a:solidFill>
              <a:srgbClr val="E2DCD0"/>
            </a:solidFill>
            <a:prstDash val="solid"/>
          </a:ln>
        </p:spPr>
        <p:txBody>
          <a:bodyPr/>
          <a:p/>
        </p:txBody>
      </p:sp>
      <p:sp>
        <p:nvSpPr>
          <p:cNvPr id="17" name="Shape 15"/>
          <p:cNvSpPr/>
          <p:nvPr/>
        </p:nvSpPr>
        <p:spPr>
          <a:xfrm>
            <a:off x="10647045" y="6501384"/>
            <a:ext cx="235458" cy="-50292"/>
          </a:xfrm>
          <a:prstGeom prst="line">
            <a:avLst/>
          </a:prstGeom>
          <a:noFill/>
          <a:ln w="9525">
            <a:solidFill>
              <a:srgbClr val="E2DCD0"/>
            </a:solidFill>
            <a:prstDash val="solid"/>
          </a:ln>
        </p:spPr>
        <p:txBody>
          <a:bodyPr/>
          <a:p/>
        </p:txBody>
      </p:sp>
      <p:sp>
        <p:nvSpPr>
          <p:cNvPr id="18" name="Shape 16"/>
          <p:cNvSpPr/>
          <p:nvPr/>
        </p:nvSpPr>
        <p:spPr>
          <a:xfrm>
            <a:off x="10647045"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a:off x="10882503" y="6451092"/>
            <a:ext cx="-4572" cy="196596"/>
          </a:xfrm>
          <a:prstGeom prst="line">
            <a:avLst/>
          </a:prstGeom>
          <a:noFill/>
          <a:ln w="9525">
            <a:solidFill>
              <a:srgbClr val="E2DCD0"/>
            </a:solidFill>
            <a:prstDash val="solid"/>
          </a:ln>
        </p:spPr>
        <p:txBody>
          <a:bodyPr/>
          <a:p/>
        </p:txBody>
      </p:sp>
      <p:sp>
        <p:nvSpPr>
          <p:cNvPr id="21" name="Shape 19"/>
          <p:cNvSpPr/>
          <p:nvPr/>
        </p:nvSpPr>
        <p:spPr>
          <a:xfrm>
            <a:off x="11044809"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a:off x="10642473" y="6697980"/>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77240" y="5358384"/>
            <a:ext cx="10607040"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a:off x="10503027" y="6464808"/>
            <a:ext cx="-4572" cy="187452"/>
          </a:xfrm>
          <a:prstGeom prst="line">
            <a:avLst/>
          </a:prstGeom>
          <a:noFill/>
          <a:ln w="9525">
            <a:solidFill>
              <a:srgbClr val="E2DCD0"/>
            </a:solidFill>
            <a:prstDash val="solid"/>
          </a:ln>
        </p:spPr>
        <p:txBody>
          <a:bodyPr/>
          <a:p/>
        </p:txBody>
      </p:sp>
      <p:sp>
        <p:nvSpPr>
          <p:cNvPr id="28" name="Shape 26"/>
          <p:cNvSpPr/>
          <p:nvPr/>
        </p:nvSpPr>
        <p:spPr>
          <a:xfrm>
            <a:off x="10647045" y="6501384"/>
            <a:ext cx="235458" cy="-50292"/>
          </a:xfrm>
          <a:prstGeom prst="line">
            <a:avLst/>
          </a:prstGeom>
          <a:noFill/>
          <a:ln w="9525">
            <a:solidFill>
              <a:srgbClr val="E2DCD0"/>
            </a:solidFill>
            <a:prstDash val="solid"/>
          </a:ln>
        </p:spPr>
        <p:txBody>
          <a:bodyPr/>
          <a:p/>
        </p:txBody>
      </p:sp>
      <p:sp>
        <p:nvSpPr>
          <p:cNvPr id="29" name="Shape 27"/>
          <p:cNvSpPr/>
          <p:nvPr/>
        </p:nvSpPr>
        <p:spPr>
          <a:xfrm>
            <a:off x="10647045"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a:off x="10882503" y="6451092"/>
            <a:ext cx="-4572" cy="196596"/>
          </a:xfrm>
          <a:prstGeom prst="line">
            <a:avLst/>
          </a:prstGeom>
          <a:noFill/>
          <a:ln w="9525">
            <a:solidFill>
              <a:srgbClr val="E2DCD0"/>
            </a:solidFill>
            <a:prstDash val="solid"/>
          </a:ln>
        </p:spPr>
        <p:txBody>
          <a:bodyPr/>
          <a:p/>
        </p:txBody>
      </p:sp>
      <p:sp>
        <p:nvSpPr>
          <p:cNvPr id="32" name="Shape 30"/>
          <p:cNvSpPr/>
          <p:nvPr/>
        </p:nvSpPr>
        <p:spPr>
          <a:xfrm>
            <a:off x="11044809"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a:off x="10642473" y="6697980"/>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608576"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4노드 메시 실측 (2026-08-30)</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중계 노드 이탈 → 데이터 전달 복구 26.0초 / 노드 재합류 3.0초</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트리는 원래 형태로 되돌아가지 않고 다른 유효한 형태로 수렴했다.</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코드 구성과 개발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1" dirty="0">
                <a:solidFill>
                  <a:srgbClr val="D35400"/>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a:p>
            <a:pPr indent="0" marL="0" eaLnBrk="0" hangingPunct="1">
              <a:lnSpc>
                <a:spcPct val="105000"/>
              </a:lnSpc>
              <a:buNone/>
            </a:pPr>
            <a:r>
              <a:rPr lang="en-US" sz="1000" b="1" dirty="0">
                <a:solidFill>
                  <a:srgbClr val="D35400"/>
                </a:solidFill>
                <a:latin typeface="맑은 고딕" pitchFamily="34" charset="0"/>
                <a:ea typeface="맑은 고딕" pitchFamily="34" charset="-122"/>
                <a:cs typeface="맑은 고딕" pitchFamily="34" charset="-120"/>
              </a:rPr>
              <a:t>82~86°는 시뮬 타원 화선의 측면 조건에서 창 8초·결함 가중치로 낸 전역 방향 오차다. 같은 추정을 20cm 실물 격자·창 327초에서 국소 법선 기준으로 재면 이웃이 8개인 내부 노드는 0.33~1.17°, 이웃이 3~5개인 가장자리·모서리는 0.96~33.20°다. 남은 오차는 알고리즘이 아니라 이웃 배치에서 온다.</a:t>
            </a:r>
            <a:pPr indent="0" marL="0">
              <a:lnSpc>
                <a:spcPct val="115000"/>
              </a:lnSpc>
              <a:buNone/>
            </a:pPr>
            <a:endParaRPr lang="en-US" sz="1200" dirty="0"/>
          </a:p>
          <a:p>
            <a:pPr indent="0" marL="0" eaLnBrk="0" hangingPunct="1">
              <a:lnSpc>
                <a:spcPct val="105000"/>
              </a:lnSpc>
              <a:buNone/>
            </a:pPr>
            <a:r>
              <a:rPr lang="en-US" sz="1000" b="1" dirty="0">
                <a:solidFill>
                  <a:srgbClr val="D35400"/>
                </a:solidFill>
                <a:latin typeface="맑은 고딕" pitchFamily="34" charset="0"/>
                <a:ea typeface="맑은 고딕" pitchFamily="34" charset="-122"/>
                <a:cs typeface="맑은 고딕" pitchFamily="34" charset="-120"/>
              </a:rPr>
              <a:t>교정 뒤 방향오차 — 직선 화선 0.03°, 타원 정면 0.88°. 82~86°가 나왔던 타원 측면·노드 희소 조건은 교정 뒤에도 값을 내지 않고 자기 차단한다. 그 조건의 방향오차는 미측정이다.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10000"/>
              </a:lnSpc>
              <a:buNone/>
            </a:pPr>
            <a:r>
              <a:rPr lang="en-US" sz="120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10000"/>
              </a:lnSpc>
              <a:buNone/>
            </a:pPr>
            <a:endParaRPr lang="en-US" sz="1200" dirty="0"/>
          </a:p>
          <a:p>
            <a:pPr indent="0" marL="0" eaLnBrk="0" hangingPunct="1">
              <a:lnSpc>
                <a:spcPct val="110000"/>
              </a:lnSpc>
              <a:buNone/>
            </a:pPr>
            <a:r>
              <a:rPr lang="en-US" sz="120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10000"/>
              </a:lnSpc>
              <a:buNone/>
            </a:pPr>
            <a:r>
              <a:rPr lang="en-US" sz="120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10000"/>
              </a:lnSpc>
              <a:buNone/>
            </a:pPr>
            <a:endParaRPr lang="en-US" sz="1200" dirty="0"/>
          </a:p>
          <a:p>
            <a:pPr indent="0" marL="0" eaLnBrk="0" hangingPunct="1">
              <a:lnSpc>
                <a:spcPct val="110000"/>
              </a:lnSpc>
              <a:buNone/>
            </a:pPr>
            <a:r>
              <a:rPr lang="en-US" sz="120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10000"/>
              </a:lnSpc>
              <a:buNone/>
            </a:pPr>
            <a:endParaRPr lang="en-US" sz="1200" dirty="0"/>
          </a:p>
          <a:p>
            <a:pPr indent="0" marL="0" eaLnBrk="0" hangingPunct="1">
              <a:lnSpc>
                <a:spcPct val="110000"/>
              </a:lnSpc>
              <a:buNone/>
            </a:pPr>
            <a:r>
              <a:rPr lang="en-US" sz="120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a:off x="10503027" y="6464808"/>
            <a:ext cx="-4572" cy="187452"/>
          </a:xfrm>
          <a:prstGeom prst="line">
            <a:avLst/>
          </a:prstGeom>
          <a:noFill/>
          <a:ln w="9525">
            <a:solidFill>
              <a:srgbClr val="E2DCD0"/>
            </a:solidFill>
            <a:prstDash val="solid"/>
          </a:ln>
        </p:spPr>
        <p:txBody>
          <a:bodyPr/>
          <a:p/>
        </p:txBody>
      </p:sp>
      <p:sp>
        <p:nvSpPr>
          <p:cNvPr id="20" name="Shape 17"/>
          <p:cNvSpPr/>
          <p:nvPr/>
        </p:nvSpPr>
        <p:spPr>
          <a:xfrm>
            <a:off x="10647045" y="6501384"/>
            <a:ext cx="235458" cy="-50292"/>
          </a:xfrm>
          <a:prstGeom prst="line">
            <a:avLst/>
          </a:prstGeom>
          <a:noFill/>
          <a:ln w="9525">
            <a:solidFill>
              <a:srgbClr val="E2DCD0"/>
            </a:solidFill>
            <a:prstDash val="solid"/>
          </a:ln>
        </p:spPr>
        <p:txBody>
          <a:bodyPr/>
          <a:p/>
        </p:txBody>
      </p:sp>
      <p:sp>
        <p:nvSpPr>
          <p:cNvPr id="21" name="Shape 18"/>
          <p:cNvSpPr/>
          <p:nvPr/>
        </p:nvSpPr>
        <p:spPr>
          <a:xfrm>
            <a:off x="10647045"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a:off x="10882503" y="6451092"/>
            <a:ext cx="-4572" cy="196596"/>
          </a:xfrm>
          <a:prstGeom prst="line">
            <a:avLst/>
          </a:prstGeom>
          <a:noFill/>
          <a:ln w="9525">
            <a:solidFill>
              <a:srgbClr val="E2DCD0"/>
            </a:solidFill>
            <a:prstDash val="solid"/>
          </a:ln>
        </p:spPr>
        <p:txBody>
          <a:bodyPr/>
          <a:p/>
        </p:txBody>
      </p:sp>
      <p:sp>
        <p:nvSpPr>
          <p:cNvPr id="24" name="Shape 21"/>
          <p:cNvSpPr/>
          <p:nvPr/>
        </p:nvSpPr>
        <p:spPr>
          <a:xfrm>
            <a:off x="11044809"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a:off x="10642473" y="6697980"/>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95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a:off x="10503027" y="6464808"/>
            <a:ext cx="-4572" cy="187452"/>
          </a:xfrm>
          <a:prstGeom prst="line">
            <a:avLst/>
          </a:prstGeom>
          <a:noFill/>
          <a:ln w="9525">
            <a:solidFill>
              <a:srgbClr val="E2DCD0"/>
            </a:solidFill>
            <a:prstDash val="solid"/>
          </a:ln>
        </p:spPr>
        <p:txBody>
          <a:bodyPr/>
          <a:p/>
        </p:txBody>
      </p:sp>
      <p:sp>
        <p:nvSpPr>
          <p:cNvPr id="22" name="Shape 20"/>
          <p:cNvSpPr/>
          <p:nvPr/>
        </p:nvSpPr>
        <p:spPr>
          <a:xfrm>
            <a:off x="10647045" y="6501384"/>
            <a:ext cx="235458" cy="-50292"/>
          </a:xfrm>
          <a:prstGeom prst="line">
            <a:avLst/>
          </a:prstGeom>
          <a:noFill/>
          <a:ln w="9525">
            <a:solidFill>
              <a:srgbClr val="E2DCD0"/>
            </a:solidFill>
            <a:prstDash val="solid"/>
          </a:ln>
        </p:spPr>
        <p:txBody>
          <a:bodyPr/>
          <a:p/>
        </p:txBody>
      </p:sp>
      <p:sp>
        <p:nvSpPr>
          <p:cNvPr id="23" name="Shape 21"/>
          <p:cNvSpPr/>
          <p:nvPr/>
        </p:nvSpPr>
        <p:spPr>
          <a:xfrm>
            <a:off x="10647045"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a:off x="10882503" y="6451092"/>
            <a:ext cx="-4572" cy="196596"/>
          </a:xfrm>
          <a:prstGeom prst="line">
            <a:avLst/>
          </a:prstGeom>
          <a:noFill/>
          <a:ln w="9525">
            <a:solidFill>
              <a:srgbClr val="E2DCD0"/>
            </a:solidFill>
            <a:prstDash val="solid"/>
          </a:ln>
        </p:spPr>
        <p:txBody>
          <a:bodyPr/>
          <a:p/>
        </p:txBody>
      </p:sp>
      <p:sp>
        <p:nvSpPr>
          <p:cNvPr id="26" name="Shape 24"/>
          <p:cNvSpPr/>
          <p:nvPr/>
        </p:nvSpPr>
        <p:spPr>
          <a:xfrm>
            <a:off x="11044809"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a:off x="10642473" y="6697980"/>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55.67°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31.64°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51.12°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−4.55°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+0.09°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55.92°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  ← 유도값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a:off x="10503027" y="6464808"/>
            <a:ext cx="-4572" cy="187452"/>
          </a:xfrm>
          <a:prstGeom prst="line">
            <a:avLst/>
          </a:prstGeom>
          <a:noFill/>
          <a:ln w="9525">
            <a:solidFill>
              <a:srgbClr val="E2DCD0"/>
            </a:solidFill>
            <a:prstDash val="solid"/>
          </a:ln>
        </p:spPr>
        <p:txBody>
          <a:bodyPr/>
          <a:p/>
        </p:txBody>
      </p:sp>
      <p:sp>
        <p:nvSpPr>
          <p:cNvPr id="11" name="Shape 8"/>
          <p:cNvSpPr/>
          <p:nvPr/>
        </p:nvSpPr>
        <p:spPr>
          <a:xfrm>
            <a:off x="10647045" y="6501384"/>
            <a:ext cx="235458" cy="-50292"/>
          </a:xfrm>
          <a:prstGeom prst="line">
            <a:avLst/>
          </a:prstGeom>
          <a:noFill/>
          <a:ln w="9525">
            <a:solidFill>
              <a:srgbClr val="E2DCD0"/>
            </a:solidFill>
            <a:prstDash val="solid"/>
          </a:ln>
        </p:spPr>
        <p:txBody>
          <a:bodyPr/>
          <a:p/>
        </p:txBody>
      </p:sp>
      <p:sp>
        <p:nvSpPr>
          <p:cNvPr id="12" name="Shape 9"/>
          <p:cNvSpPr/>
          <p:nvPr/>
        </p:nvSpPr>
        <p:spPr>
          <a:xfrm>
            <a:off x="10647045"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a:off x="10882503" y="6451092"/>
            <a:ext cx="-4572" cy="196596"/>
          </a:xfrm>
          <a:prstGeom prst="line">
            <a:avLst/>
          </a:prstGeom>
          <a:noFill/>
          <a:ln w="9525">
            <a:solidFill>
              <a:srgbClr val="E2DCD0"/>
            </a:solidFill>
            <a:prstDash val="solid"/>
          </a:ln>
        </p:spPr>
        <p:txBody>
          <a:bodyPr/>
          <a:p/>
        </p:txBody>
      </p:sp>
      <p:sp>
        <p:nvSpPr>
          <p:cNvPr id="15" name="Shape 12"/>
          <p:cNvSpPr/>
          <p:nvPr/>
        </p:nvSpPr>
        <p:spPr>
          <a:xfrm>
            <a:off x="11044809"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a:off x="10642473" y="6697980"/>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정상 성능과 '작동 한계선'을 함께 밝힌다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&lt; 1°</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방향오차</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직선·정면 조건 (0.03~0.88°)</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92.3%</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전달률</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자가치유 포함</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오탐률</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통신두절 오판</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54</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자동 테스트</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전건 통과 · 회귀 최대차 0</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a:off x="10503027" y="6464808"/>
            <a:ext cx="-4572" cy="187452"/>
          </a:xfrm>
          <a:prstGeom prst="line">
            <a:avLst/>
          </a:prstGeom>
          <a:noFill/>
          <a:ln w="9525">
            <a:solidFill>
              <a:srgbClr val="E2DCD0"/>
            </a:solidFill>
            <a:prstDash val="solid"/>
          </a:ln>
        </p:spPr>
        <p:txBody>
          <a:bodyPr/>
          <a:p/>
        </p:txBody>
      </p:sp>
      <p:sp>
        <p:nvSpPr>
          <p:cNvPr id="28" name="Shape 25"/>
          <p:cNvSpPr/>
          <p:nvPr/>
        </p:nvSpPr>
        <p:spPr>
          <a:xfrm>
            <a:off x="10647045" y="6501384"/>
            <a:ext cx="235458" cy="-50292"/>
          </a:xfrm>
          <a:prstGeom prst="line">
            <a:avLst/>
          </a:prstGeom>
          <a:noFill/>
          <a:ln w="9525">
            <a:solidFill>
              <a:srgbClr val="E2DCD0"/>
            </a:solidFill>
            <a:prstDash val="solid"/>
          </a:ln>
        </p:spPr>
        <p:txBody>
          <a:bodyPr/>
          <a:p/>
        </p:txBody>
      </p:sp>
      <p:sp>
        <p:nvSpPr>
          <p:cNvPr id="29" name="Shape 26"/>
          <p:cNvSpPr/>
          <p:nvPr/>
        </p:nvSpPr>
        <p:spPr>
          <a:xfrm>
            <a:off x="10647045"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a:off x="10882503" y="6451092"/>
            <a:ext cx="-4572" cy="196596"/>
          </a:xfrm>
          <a:prstGeom prst="line">
            <a:avLst/>
          </a:prstGeom>
          <a:noFill/>
          <a:ln w="9525">
            <a:solidFill>
              <a:srgbClr val="E2DCD0"/>
            </a:solidFill>
            <a:prstDash val="solid"/>
          </a:ln>
        </p:spPr>
        <p:txBody>
          <a:bodyPr/>
          <a:p/>
        </p:txBody>
      </p:sp>
      <p:sp>
        <p:nvSpPr>
          <p:cNvPr id="32" name="Shape 29"/>
          <p:cNvSpPr/>
          <p:nvPr/>
        </p:nvSpPr>
        <p:spPr>
          <a:xfrm>
            <a:off x="11044809"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a:off x="10642473" y="6697980"/>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9202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D35400"/>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8/31~9/1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전 구간 리허설 · 시연 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a:off x="10503027" y="6464808"/>
            <a:ext cx="-4572" cy="187452"/>
          </a:xfrm>
          <a:prstGeom prst="line">
            <a:avLst/>
          </a:prstGeom>
          <a:noFill/>
          <a:ln w="9525">
            <a:solidFill>
              <a:srgbClr val="E2DCD0"/>
            </a:solidFill>
            <a:prstDash val="solid"/>
          </a:ln>
        </p:spPr>
        <p:txBody>
          <a:bodyPr/>
          <a:p/>
        </p:txBody>
      </p:sp>
      <p:sp>
        <p:nvSpPr>
          <p:cNvPr id="14" name="Shape 11"/>
          <p:cNvSpPr/>
          <p:nvPr/>
        </p:nvSpPr>
        <p:spPr>
          <a:xfrm>
            <a:off x="10647045" y="6501384"/>
            <a:ext cx="235458" cy="-50292"/>
          </a:xfrm>
          <a:prstGeom prst="line">
            <a:avLst/>
          </a:prstGeom>
          <a:noFill/>
          <a:ln w="9525">
            <a:solidFill>
              <a:srgbClr val="E2DCD0"/>
            </a:solidFill>
            <a:prstDash val="solid"/>
          </a:ln>
        </p:spPr>
        <p:txBody>
          <a:bodyPr/>
          <a:p/>
        </p:txBody>
      </p:sp>
      <p:sp>
        <p:nvSpPr>
          <p:cNvPr id="15" name="Shape 12"/>
          <p:cNvSpPr/>
          <p:nvPr/>
        </p:nvSpPr>
        <p:spPr>
          <a:xfrm>
            <a:off x="10647045"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a:off x="10882503" y="6451092"/>
            <a:ext cx="-4572" cy="196596"/>
          </a:xfrm>
          <a:prstGeom prst="line">
            <a:avLst/>
          </a:prstGeom>
          <a:noFill/>
          <a:ln w="9525">
            <a:solidFill>
              <a:srgbClr val="E2DCD0"/>
            </a:solidFill>
            <a:prstDash val="solid"/>
          </a:ln>
        </p:spPr>
        <p:txBody>
          <a:bodyPr/>
          <a:p/>
        </p:txBody>
      </p:sp>
      <p:sp>
        <p:nvSpPr>
          <p:cNvPr id="18" name="Shape 15"/>
          <p:cNvSpPr/>
          <p:nvPr/>
        </p:nvSpPr>
        <p:spPr>
          <a:xfrm>
            <a:off x="11044809"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a:off x="10642473" y="6697980"/>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