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27"/>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7148322" y="1512189"/>
            <a:ext cx="749808" cy="36576"/>
          </a:xfrm>
          <a:prstGeom prst="line">
            <a:avLst/>
          </a:prstGeom>
          <a:noFill/>
          <a:ln w="9525">
            <a:solidFill>
              <a:srgbClr val="E2DCD0"/>
            </a:solidFill>
            <a:prstDash val="solid"/>
          </a:ln>
        </p:spPr>
        <p:txBody>
          <a:bodyPr/>
          <a:p/>
        </p:txBody>
      </p:sp>
      <p:sp>
        <p:nvSpPr>
          <p:cNvPr id="3" name="Shape 1"/>
          <p:cNvSpPr/>
          <p:nvPr/>
        </p:nvSpPr>
        <p:spPr>
          <a:xfrm>
            <a:off x="7148322" y="1512189"/>
            <a:ext cx="-13716" cy="756666"/>
          </a:xfrm>
          <a:prstGeom prst="line">
            <a:avLst/>
          </a:prstGeom>
          <a:noFill/>
          <a:ln w="9525">
            <a:solidFill>
              <a:srgbClr val="E2DCD0"/>
            </a:solidFill>
            <a:prstDash val="solid"/>
          </a:ln>
        </p:spPr>
        <p:txBody>
          <a:bodyPr/>
          <a:p/>
        </p:txBody>
      </p:sp>
      <p:sp>
        <p:nvSpPr>
          <p:cNvPr id="4" name="Shape 2"/>
          <p:cNvSpPr/>
          <p:nvPr/>
        </p:nvSpPr>
        <p:spPr>
          <a:xfrm>
            <a:off x="7898130" y="1548765"/>
            <a:ext cx="841248" cy="-50292"/>
          </a:xfrm>
          <a:prstGeom prst="line">
            <a:avLst/>
          </a:prstGeom>
          <a:noFill/>
          <a:ln w="9525">
            <a:solidFill>
              <a:srgbClr val="E2DCD0"/>
            </a:solidFill>
            <a:prstDash val="solid"/>
          </a:ln>
        </p:spPr>
        <p:txBody>
          <a:bodyPr/>
          <a:p/>
        </p:txBody>
      </p:sp>
      <p:sp>
        <p:nvSpPr>
          <p:cNvPr id="5" name="Shape 3"/>
          <p:cNvSpPr/>
          <p:nvPr/>
        </p:nvSpPr>
        <p:spPr>
          <a:xfrm>
            <a:off x="7898130" y="1548765"/>
            <a:ext cx="4572" cy="761238"/>
          </a:xfrm>
          <a:prstGeom prst="line">
            <a:avLst/>
          </a:prstGeom>
          <a:noFill/>
          <a:ln w="9525">
            <a:solidFill>
              <a:srgbClr val="E2DCD0"/>
            </a:solidFill>
            <a:prstDash val="solid"/>
          </a:ln>
        </p:spPr>
        <p:txBody>
          <a:bodyPr/>
          <a:p/>
        </p:txBody>
      </p:sp>
      <p:sp>
        <p:nvSpPr>
          <p:cNvPr id="6" name="Shape 4"/>
          <p:cNvSpPr/>
          <p:nvPr/>
        </p:nvSpPr>
        <p:spPr>
          <a:xfrm>
            <a:off x="8739378" y="1498473"/>
            <a:ext cx="768096" cy="41148"/>
          </a:xfrm>
          <a:prstGeom prst="line">
            <a:avLst/>
          </a:prstGeom>
          <a:noFill/>
          <a:ln w="9525">
            <a:solidFill>
              <a:srgbClr val="E2DCD0"/>
            </a:solidFill>
            <a:prstDash val="solid"/>
          </a:ln>
        </p:spPr>
        <p:txBody>
          <a:bodyPr/>
          <a:p/>
        </p:txBody>
      </p:sp>
      <p:sp>
        <p:nvSpPr>
          <p:cNvPr id="7" name="Shape 5"/>
          <p:cNvSpPr/>
          <p:nvPr/>
        </p:nvSpPr>
        <p:spPr>
          <a:xfrm>
            <a:off x="8739378" y="1498473"/>
            <a:ext cx="9144" cy="779526"/>
          </a:xfrm>
          <a:prstGeom prst="line">
            <a:avLst/>
          </a:prstGeom>
          <a:noFill/>
          <a:ln w="9525">
            <a:solidFill>
              <a:srgbClr val="E2DCD0"/>
            </a:solidFill>
            <a:prstDash val="solid"/>
          </a:ln>
        </p:spPr>
        <p:txBody>
          <a:bodyPr/>
          <a:p/>
        </p:txBody>
      </p:sp>
      <p:sp>
        <p:nvSpPr>
          <p:cNvPr id="8" name="Shape 6"/>
          <p:cNvSpPr/>
          <p:nvPr/>
        </p:nvSpPr>
        <p:spPr>
          <a:xfrm>
            <a:off x="9507474" y="1539621"/>
            <a:ext cx="836676" cy="-32004"/>
          </a:xfrm>
          <a:prstGeom prst="line">
            <a:avLst/>
          </a:prstGeom>
          <a:noFill/>
          <a:ln w="9525">
            <a:solidFill>
              <a:srgbClr val="E2DCD0"/>
            </a:solidFill>
            <a:prstDash val="solid"/>
          </a:ln>
        </p:spPr>
        <p:txBody>
          <a:bodyPr/>
          <a:p/>
        </p:txBody>
      </p:sp>
      <p:sp>
        <p:nvSpPr>
          <p:cNvPr id="9" name="Shape 7"/>
          <p:cNvSpPr/>
          <p:nvPr/>
        </p:nvSpPr>
        <p:spPr>
          <a:xfrm>
            <a:off x="9507474" y="1539621"/>
            <a:ext cx="-9144" cy="774954"/>
          </a:xfrm>
          <a:prstGeom prst="line">
            <a:avLst/>
          </a:prstGeom>
          <a:noFill/>
          <a:ln w="9525">
            <a:solidFill>
              <a:srgbClr val="E2DCD0"/>
            </a:solidFill>
            <a:prstDash val="solid"/>
          </a:ln>
        </p:spPr>
        <p:txBody>
          <a:bodyPr/>
          <a:p/>
        </p:txBody>
      </p:sp>
      <p:sp>
        <p:nvSpPr>
          <p:cNvPr id="10" name="Shape 8"/>
          <p:cNvSpPr/>
          <p:nvPr/>
        </p:nvSpPr>
        <p:spPr>
          <a:xfrm>
            <a:off x="10344150" y="1507617"/>
            <a:ext cx="749808" cy="45720"/>
          </a:xfrm>
          <a:prstGeom prst="line">
            <a:avLst/>
          </a:prstGeom>
          <a:noFill/>
          <a:ln w="9525">
            <a:solidFill>
              <a:srgbClr val="E2DCD0"/>
            </a:solidFill>
            <a:prstDash val="solid"/>
          </a:ln>
        </p:spPr>
        <p:txBody>
          <a:bodyPr/>
          <a:p/>
        </p:txBody>
      </p:sp>
      <p:sp>
        <p:nvSpPr>
          <p:cNvPr id="11" name="Shape 9"/>
          <p:cNvSpPr/>
          <p:nvPr/>
        </p:nvSpPr>
        <p:spPr>
          <a:xfrm>
            <a:off x="10344150" y="1507617"/>
            <a:ext cx="-4572" cy="756666"/>
          </a:xfrm>
          <a:prstGeom prst="line">
            <a:avLst/>
          </a:prstGeom>
          <a:noFill/>
          <a:ln w="9525">
            <a:solidFill>
              <a:srgbClr val="E2DCD0"/>
            </a:solidFill>
            <a:prstDash val="solid"/>
          </a:ln>
        </p:spPr>
        <p:txBody>
          <a:bodyPr/>
          <a:p/>
        </p:txBody>
      </p:sp>
      <p:sp>
        <p:nvSpPr>
          <p:cNvPr id="12" name="Shape 10"/>
          <p:cNvSpPr/>
          <p:nvPr/>
        </p:nvSpPr>
        <p:spPr>
          <a:xfrm>
            <a:off x="11093958" y="1553337"/>
            <a:ext cx="13716" cy="752094"/>
          </a:xfrm>
          <a:prstGeom prst="line">
            <a:avLst/>
          </a:prstGeom>
          <a:noFill/>
          <a:ln w="9525">
            <a:solidFill>
              <a:srgbClr val="E2DCD0"/>
            </a:solidFill>
            <a:prstDash val="solid"/>
          </a:ln>
        </p:spPr>
        <p:txBody>
          <a:bodyPr/>
          <a:p/>
        </p:txBody>
      </p:sp>
      <p:sp>
        <p:nvSpPr>
          <p:cNvPr id="13" name="Shape 11"/>
          <p:cNvSpPr/>
          <p:nvPr/>
        </p:nvSpPr>
        <p:spPr>
          <a:xfrm>
            <a:off x="7134606" y="2268855"/>
            <a:ext cx="768096" cy="41148"/>
          </a:xfrm>
          <a:prstGeom prst="line">
            <a:avLst/>
          </a:prstGeom>
          <a:noFill/>
          <a:ln w="9525">
            <a:solidFill>
              <a:srgbClr val="E2DCD0"/>
            </a:solidFill>
            <a:prstDash val="solid"/>
          </a:ln>
        </p:spPr>
        <p:txBody>
          <a:bodyPr/>
          <a:p/>
        </p:txBody>
      </p:sp>
      <p:sp>
        <p:nvSpPr>
          <p:cNvPr id="14" name="Shape 12"/>
          <p:cNvSpPr/>
          <p:nvPr/>
        </p:nvSpPr>
        <p:spPr>
          <a:xfrm>
            <a:off x="7134606" y="2268855"/>
            <a:ext cx="9144" cy="770382"/>
          </a:xfrm>
          <a:prstGeom prst="line">
            <a:avLst/>
          </a:prstGeom>
          <a:noFill/>
          <a:ln w="9525">
            <a:solidFill>
              <a:srgbClr val="E2DCD0"/>
            </a:solidFill>
            <a:prstDash val="solid"/>
          </a:ln>
        </p:spPr>
        <p:txBody>
          <a:bodyPr/>
          <a:p/>
        </p:txBody>
      </p:sp>
      <p:sp>
        <p:nvSpPr>
          <p:cNvPr id="15" name="Shape 13"/>
          <p:cNvSpPr/>
          <p:nvPr/>
        </p:nvSpPr>
        <p:spPr>
          <a:xfrm>
            <a:off x="7902702" y="2310003"/>
            <a:ext cx="845820" cy="-32004"/>
          </a:xfrm>
          <a:prstGeom prst="line">
            <a:avLst/>
          </a:prstGeom>
          <a:noFill/>
          <a:ln w="9525">
            <a:solidFill>
              <a:srgbClr val="E2DCD0"/>
            </a:solidFill>
            <a:prstDash val="solid"/>
          </a:ln>
        </p:spPr>
        <p:txBody>
          <a:bodyPr/>
          <a:p/>
        </p:txBody>
      </p:sp>
      <p:sp>
        <p:nvSpPr>
          <p:cNvPr id="16" name="Shape 14"/>
          <p:cNvSpPr/>
          <p:nvPr/>
        </p:nvSpPr>
        <p:spPr>
          <a:xfrm>
            <a:off x="7902702" y="2310003"/>
            <a:ext cx="-9144" cy="774954"/>
          </a:xfrm>
          <a:prstGeom prst="line">
            <a:avLst/>
          </a:prstGeom>
          <a:noFill/>
          <a:ln w="9525">
            <a:solidFill>
              <a:srgbClr val="E2DCD0"/>
            </a:solidFill>
            <a:prstDash val="solid"/>
          </a:ln>
        </p:spPr>
        <p:txBody>
          <a:bodyPr/>
          <a:p/>
        </p:txBody>
      </p:sp>
      <p:sp>
        <p:nvSpPr>
          <p:cNvPr id="17" name="Shape 15"/>
          <p:cNvSpPr/>
          <p:nvPr/>
        </p:nvSpPr>
        <p:spPr>
          <a:xfrm>
            <a:off x="8748522" y="2277999"/>
            <a:ext cx="749808" cy="36576"/>
          </a:xfrm>
          <a:prstGeom prst="line">
            <a:avLst/>
          </a:prstGeom>
          <a:noFill/>
          <a:ln w="9525">
            <a:solidFill>
              <a:srgbClr val="E2DCD0"/>
            </a:solidFill>
            <a:prstDash val="solid"/>
          </a:ln>
        </p:spPr>
        <p:txBody>
          <a:bodyPr/>
          <a:p/>
        </p:txBody>
      </p:sp>
      <p:sp>
        <p:nvSpPr>
          <p:cNvPr id="18" name="Shape 16"/>
          <p:cNvSpPr/>
          <p:nvPr/>
        </p:nvSpPr>
        <p:spPr>
          <a:xfrm>
            <a:off x="8748522" y="2277999"/>
            <a:ext cx="-13716" cy="756666"/>
          </a:xfrm>
          <a:prstGeom prst="line">
            <a:avLst/>
          </a:prstGeom>
          <a:noFill/>
          <a:ln w="9525">
            <a:solidFill>
              <a:srgbClr val="E2DCD0"/>
            </a:solidFill>
            <a:prstDash val="solid"/>
          </a:ln>
        </p:spPr>
        <p:txBody>
          <a:bodyPr/>
          <a:p/>
        </p:txBody>
      </p:sp>
      <p:sp>
        <p:nvSpPr>
          <p:cNvPr id="19" name="Shape 17"/>
          <p:cNvSpPr/>
          <p:nvPr/>
        </p:nvSpPr>
        <p:spPr>
          <a:xfrm>
            <a:off x="9498330" y="2314575"/>
            <a:ext cx="841248" cy="-50292"/>
          </a:xfrm>
          <a:prstGeom prst="line">
            <a:avLst/>
          </a:prstGeom>
          <a:noFill/>
          <a:ln w="9525">
            <a:solidFill>
              <a:srgbClr val="E2DCD0"/>
            </a:solidFill>
            <a:prstDash val="solid"/>
          </a:ln>
        </p:spPr>
        <p:txBody>
          <a:bodyPr/>
          <a:p/>
        </p:txBody>
      </p:sp>
      <p:sp>
        <p:nvSpPr>
          <p:cNvPr id="20" name="Shape 18"/>
          <p:cNvSpPr/>
          <p:nvPr/>
        </p:nvSpPr>
        <p:spPr>
          <a:xfrm>
            <a:off x="9498330" y="2314575"/>
            <a:ext cx="4572" cy="761238"/>
          </a:xfrm>
          <a:prstGeom prst="line">
            <a:avLst/>
          </a:prstGeom>
          <a:noFill/>
          <a:ln w="9525">
            <a:solidFill>
              <a:srgbClr val="E2DCD0"/>
            </a:solidFill>
            <a:prstDash val="solid"/>
          </a:ln>
        </p:spPr>
        <p:txBody>
          <a:bodyPr/>
          <a:p/>
        </p:txBody>
      </p:sp>
      <p:sp>
        <p:nvSpPr>
          <p:cNvPr id="21" name="Shape 19"/>
          <p:cNvSpPr/>
          <p:nvPr/>
        </p:nvSpPr>
        <p:spPr>
          <a:xfrm>
            <a:off x="10339578" y="2264283"/>
            <a:ext cx="768096" cy="41148"/>
          </a:xfrm>
          <a:prstGeom prst="line">
            <a:avLst/>
          </a:prstGeom>
          <a:noFill/>
          <a:ln w="9525">
            <a:solidFill>
              <a:srgbClr val="E2DCD0"/>
            </a:solidFill>
            <a:prstDash val="solid"/>
          </a:ln>
        </p:spPr>
        <p:txBody>
          <a:bodyPr/>
          <a:p/>
        </p:txBody>
      </p:sp>
      <p:sp>
        <p:nvSpPr>
          <p:cNvPr id="22" name="Shape 20"/>
          <p:cNvSpPr/>
          <p:nvPr/>
        </p:nvSpPr>
        <p:spPr>
          <a:xfrm>
            <a:off x="10339578" y="2264283"/>
            <a:ext cx="9144" cy="779526"/>
          </a:xfrm>
          <a:prstGeom prst="line">
            <a:avLst/>
          </a:prstGeom>
          <a:noFill/>
          <a:ln w="9525">
            <a:solidFill>
              <a:srgbClr val="E2DCD0"/>
            </a:solidFill>
            <a:prstDash val="solid"/>
          </a:ln>
        </p:spPr>
        <p:txBody>
          <a:bodyPr/>
          <a:p/>
        </p:txBody>
      </p:sp>
      <p:sp>
        <p:nvSpPr>
          <p:cNvPr id="23" name="Shape 21"/>
          <p:cNvSpPr/>
          <p:nvPr/>
        </p:nvSpPr>
        <p:spPr>
          <a:xfrm>
            <a:off x="11107674" y="2305431"/>
            <a:ext cx="-9144" cy="774954"/>
          </a:xfrm>
          <a:prstGeom prst="line">
            <a:avLst/>
          </a:prstGeom>
          <a:noFill/>
          <a:ln w="9525">
            <a:solidFill>
              <a:srgbClr val="E2DCD0"/>
            </a:solidFill>
            <a:prstDash val="solid"/>
          </a:ln>
        </p:spPr>
        <p:txBody>
          <a:bodyPr/>
          <a:p/>
        </p:txBody>
      </p:sp>
      <p:sp>
        <p:nvSpPr>
          <p:cNvPr id="24" name="Shape 22"/>
          <p:cNvSpPr/>
          <p:nvPr/>
        </p:nvSpPr>
        <p:spPr>
          <a:xfrm>
            <a:off x="7143750" y="3039237"/>
            <a:ext cx="749808" cy="45720"/>
          </a:xfrm>
          <a:prstGeom prst="line">
            <a:avLst/>
          </a:prstGeom>
          <a:noFill/>
          <a:ln w="9525">
            <a:solidFill>
              <a:srgbClr val="E2DCD0"/>
            </a:solidFill>
            <a:prstDash val="solid"/>
          </a:ln>
        </p:spPr>
        <p:txBody>
          <a:bodyPr/>
          <a:p/>
        </p:txBody>
      </p:sp>
      <p:sp>
        <p:nvSpPr>
          <p:cNvPr id="25" name="Shape 23"/>
          <p:cNvSpPr/>
          <p:nvPr/>
        </p:nvSpPr>
        <p:spPr>
          <a:xfrm>
            <a:off x="7143750" y="3039237"/>
            <a:ext cx="-4572" cy="756666"/>
          </a:xfrm>
          <a:prstGeom prst="line">
            <a:avLst/>
          </a:prstGeom>
          <a:noFill/>
          <a:ln w="9525">
            <a:solidFill>
              <a:srgbClr val="E2DCD0"/>
            </a:solidFill>
            <a:prstDash val="solid"/>
          </a:ln>
        </p:spPr>
        <p:txBody>
          <a:bodyPr/>
          <a:p/>
        </p:txBody>
      </p:sp>
      <p:sp>
        <p:nvSpPr>
          <p:cNvPr id="26" name="Shape 24"/>
          <p:cNvSpPr/>
          <p:nvPr/>
        </p:nvSpPr>
        <p:spPr>
          <a:xfrm>
            <a:off x="7893558" y="3084957"/>
            <a:ext cx="841248" cy="-50292"/>
          </a:xfrm>
          <a:prstGeom prst="line">
            <a:avLst/>
          </a:prstGeom>
          <a:noFill/>
          <a:ln w="9525">
            <a:solidFill>
              <a:srgbClr val="E2DCD0"/>
            </a:solidFill>
            <a:prstDash val="solid"/>
          </a:ln>
        </p:spPr>
        <p:txBody>
          <a:bodyPr/>
          <a:p/>
        </p:txBody>
      </p:sp>
      <p:sp>
        <p:nvSpPr>
          <p:cNvPr id="27" name="Shape 25"/>
          <p:cNvSpPr/>
          <p:nvPr/>
        </p:nvSpPr>
        <p:spPr>
          <a:xfrm>
            <a:off x="7893558" y="3084957"/>
            <a:ext cx="13716" cy="752094"/>
          </a:xfrm>
          <a:prstGeom prst="line">
            <a:avLst/>
          </a:prstGeom>
          <a:noFill/>
          <a:ln w="9525">
            <a:solidFill>
              <a:srgbClr val="E2DCD0"/>
            </a:solidFill>
            <a:prstDash val="solid"/>
          </a:ln>
        </p:spPr>
        <p:txBody>
          <a:bodyPr/>
          <a:p/>
        </p:txBody>
      </p:sp>
      <p:sp>
        <p:nvSpPr>
          <p:cNvPr id="28" name="Shape 26"/>
          <p:cNvSpPr/>
          <p:nvPr/>
        </p:nvSpPr>
        <p:spPr>
          <a:xfrm>
            <a:off x="8734806" y="3034665"/>
            <a:ext cx="768096" cy="41148"/>
          </a:xfrm>
          <a:prstGeom prst="line">
            <a:avLst/>
          </a:prstGeom>
          <a:noFill/>
          <a:ln w="9525">
            <a:solidFill>
              <a:srgbClr val="E2DCD0"/>
            </a:solidFill>
            <a:prstDash val="solid"/>
          </a:ln>
        </p:spPr>
        <p:txBody>
          <a:bodyPr/>
          <a:p/>
        </p:txBody>
      </p:sp>
      <p:sp>
        <p:nvSpPr>
          <p:cNvPr id="29" name="Shape 27"/>
          <p:cNvSpPr/>
          <p:nvPr/>
        </p:nvSpPr>
        <p:spPr>
          <a:xfrm>
            <a:off x="8734806" y="3034665"/>
            <a:ext cx="9144" cy="770382"/>
          </a:xfrm>
          <a:prstGeom prst="line">
            <a:avLst/>
          </a:prstGeom>
          <a:noFill/>
          <a:ln w="9525">
            <a:solidFill>
              <a:srgbClr val="E2DCD0"/>
            </a:solidFill>
            <a:prstDash val="solid"/>
          </a:ln>
        </p:spPr>
        <p:txBody>
          <a:bodyPr/>
          <a:p/>
        </p:txBody>
      </p:sp>
      <p:sp>
        <p:nvSpPr>
          <p:cNvPr id="30" name="Shape 28"/>
          <p:cNvSpPr/>
          <p:nvPr/>
        </p:nvSpPr>
        <p:spPr>
          <a:xfrm>
            <a:off x="9502902" y="3075813"/>
            <a:ext cx="845820" cy="-32004"/>
          </a:xfrm>
          <a:prstGeom prst="line">
            <a:avLst/>
          </a:prstGeom>
          <a:noFill/>
          <a:ln w="9525">
            <a:solidFill>
              <a:srgbClr val="E2DCD0"/>
            </a:solidFill>
            <a:prstDash val="solid"/>
          </a:ln>
        </p:spPr>
        <p:txBody>
          <a:bodyPr/>
          <a:p/>
        </p:txBody>
      </p:sp>
      <p:sp>
        <p:nvSpPr>
          <p:cNvPr id="31" name="Shape 29"/>
          <p:cNvSpPr/>
          <p:nvPr/>
        </p:nvSpPr>
        <p:spPr>
          <a:xfrm>
            <a:off x="9502902" y="3075813"/>
            <a:ext cx="-9144" cy="774954"/>
          </a:xfrm>
          <a:prstGeom prst="line">
            <a:avLst/>
          </a:prstGeom>
          <a:noFill/>
          <a:ln w="9525">
            <a:solidFill>
              <a:srgbClr val="E2DCD0"/>
            </a:solidFill>
            <a:prstDash val="solid"/>
          </a:ln>
        </p:spPr>
        <p:txBody>
          <a:bodyPr/>
          <a:p/>
        </p:txBody>
      </p:sp>
      <p:sp>
        <p:nvSpPr>
          <p:cNvPr id="32" name="Shape 30"/>
          <p:cNvSpPr/>
          <p:nvPr/>
        </p:nvSpPr>
        <p:spPr>
          <a:xfrm>
            <a:off x="10348722" y="3043809"/>
            <a:ext cx="749808" cy="36576"/>
          </a:xfrm>
          <a:prstGeom prst="line">
            <a:avLst/>
          </a:prstGeom>
          <a:noFill/>
          <a:ln w="9525">
            <a:solidFill>
              <a:srgbClr val="E2DCD0"/>
            </a:solidFill>
            <a:prstDash val="solid"/>
          </a:ln>
        </p:spPr>
        <p:txBody>
          <a:bodyPr/>
          <a:p/>
        </p:txBody>
      </p:sp>
      <p:sp>
        <p:nvSpPr>
          <p:cNvPr id="33" name="Shape 31"/>
          <p:cNvSpPr/>
          <p:nvPr/>
        </p:nvSpPr>
        <p:spPr>
          <a:xfrm>
            <a:off x="10348722" y="3043809"/>
            <a:ext cx="-13716" cy="756666"/>
          </a:xfrm>
          <a:prstGeom prst="line">
            <a:avLst/>
          </a:prstGeom>
          <a:noFill/>
          <a:ln w="9525">
            <a:solidFill>
              <a:srgbClr val="E2DCD0"/>
            </a:solidFill>
            <a:prstDash val="solid"/>
          </a:ln>
        </p:spPr>
        <p:txBody>
          <a:bodyPr/>
          <a:p/>
        </p:txBody>
      </p:sp>
      <p:sp>
        <p:nvSpPr>
          <p:cNvPr id="34" name="Shape 32"/>
          <p:cNvSpPr/>
          <p:nvPr/>
        </p:nvSpPr>
        <p:spPr>
          <a:xfrm>
            <a:off x="11098530" y="3080385"/>
            <a:ext cx="4572" cy="761238"/>
          </a:xfrm>
          <a:prstGeom prst="line">
            <a:avLst/>
          </a:prstGeom>
          <a:noFill/>
          <a:ln w="9525">
            <a:solidFill>
              <a:srgbClr val="E2DCD0"/>
            </a:solidFill>
            <a:prstDash val="solid"/>
          </a:ln>
        </p:spPr>
        <p:txBody>
          <a:bodyPr/>
          <a:p/>
        </p:txBody>
      </p:sp>
      <p:sp>
        <p:nvSpPr>
          <p:cNvPr id="35" name="Shape 33"/>
          <p:cNvSpPr/>
          <p:nvPr/>
        </p:nvSpPr>
        <p:spPr>
          <a:xfrm>
            <a:off x="7139178" y="3795903"/>
            <a:ext cx="768096" cy="41148"/>
          </a:xfrm>
          <a:prstGeom prst="line">
            <a:avLst/>
          </a:prstGeom>
          <a:noFill/>
          <a:ln w="9525">
            <a:solidFill>
              <a:srgbClr val="E2DCD0"/>
            </a:solidFill>
            <a:prstDash val="solid"/>
          </a:ln>
        </p:spPr>
        <p:txBody>
          <a:bodyPr/>
          <a:p/>
        </p:txBody>
      </p:sp>
      <p:sp>
        <p:nvSpPr>
          <p:cNvPr id="36" name="Shape 34"/>
          <p:cNvSpPr/>
          <p:nvPr/>
        </p:nvSpPr>
        <p:spPr>
          <a:xfrm>
            <a:off x="7907274" y="3837051"/>
            <a:ext cx="836676" cy="-32004"/>
          </a:xfrm>
          <a:prstGeom prst="line">
            <a:avLst/>
          </a:prstGeom>
          <a:noFill/>
          <a:ln w="9525">
            <a:solidFill>
              <a:srgbClr val="E2DCD0"/>
            </a:solidFill>
            <a:prstDash val="solid"/>
          </a:ln>
        </p:spPr>
        <p:txBody>
          <a:bodyPr/>
          <a:p/>
        </p:txBody>
      </p:sp>
      <p:sp>
        <p:nvSpPr>
          <p:cNvPr id="37" name="Shape 35"/>
          <p:cNvSpPr/>
          <p:nvPr/>
        </p:nvSpPr>
        <p:spPr>
          <a:xfrm>
            <a:off x="8743950" y="3805047"/>
            <a:ext cx="749808" cy="45720"/>
          </a:xfrm>
          <a:prstGeom prst="line">
            <a:avLst/>
          </a:prstGeom>
          <a:noFill/>
          <a:ln w="9525">
            <a:solidFill>
              <a:srgbClr val="E2DCD0"/>
            </a:solidFill>
            <a:prstDash val="solid"/>
          </a:ln>
        </p:spPr>
        <p:txBody>
          <a:bodyPr/>
          <a:p/>
        </p:txBody>
      </p:sp>
      <p:sp>
        <p:nvSpPr>
          <p:cNvPr id="38" name="Shape 36"/>
          <p:cNvSpPr/>
          <p:nvPr/>
        </p:nvSpPr>
        <p:spPr>
          <a:xfrm>
            <a:off x="9493758" y="3850767"/>
            <a:ext cx="841248" cy="-50292"/>
          </a:xfrm>
          <a:prstGeom prst="line">
            <a:avLst/>
          </a:prstGeom>
          <a:noFill/>
          <a:ln w="9525">
            <a:solidFill>
              <a:srgbClr val="E2DCD0"/>
            </a:solidFill>
            <a:prstDash val="solid"/>
          </a:ln>
        </p:spPr>
        <p:txBody>
          <a:bodyPr/>
          <a:p/>
        </p:txBody>
      </p:sp>
      <p:sp>
        <p:nvSpPr>
          <p:cNvPr id="39" name="Shape 37"/>
          <p:cNvSpPr/>
          <p:nvPr/>
        </p:nvSpPr>
        <p:spPr>
          <a:xfrm>
            <a:off x="10335006" y="3800475"/>
            <a:ext cx="768096" cy="41148"/>
          </a:xfrm>
          <a:prstGeom prst="line">
            <a:avLst/>
          </a:prstGeom>
          <a:noFill/>
          <a:ln w="9525">
            <a:solidFill>
              <a:srgbClr val="E2DCD0"/>
            </a:solidFill>
            <a:prstDash val="solid"/>
          </a:ln>
        </p:spPr>
        <p:txBody>
          <a:bodyPr/>
          <a:p/>
        </p:txBody>
      </p:sp>
      <p:sp>
        <p:nvSpPr>
          <p:cNvPr id="40" name="Shape 38"/>
          <p:cNvSpPr/>
          <p:nvPr/>
        </p:nvSpPr>
        <p:spPr>
          <a:xfrm>
            <a:off x="7070598" y="1434465"/>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7820406" y="1471041"/>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8661654" y="1420749"/>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9429750" y="1461897"/>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266426" y="1429893"/>
            <a:ext cx="155448" cy="155448"/>
          </a:xfrm>
          <a:prstGeom prst="ellipse">
            <a:avLst/>
          </a:prstGeom>
          <a:solidFill>
            <a:srgbClr val="2C5F2D"/>
          </a:solidFill>
          <a:ln w="15875">
            <a:solidFill>
              <a:srgbClr val="FBF9F4"/>
            </a:solidFill>
            <a:prstDash val="solid"/>
          </a:ln>
        </p:spPr>
        <p:txBody>
          <a:bodyPr/>
          <a:p/>
        </p:txBody>
      </p:sp>
      <p:sp>
        <p:nvSpPr>
          <p:cNvPr id="45" name="Shape 43"/>
          <p:cNvSpPr/>
          <p:nvPr/>
        </p:nvSpPr>
        <p:spPr>
          <a:xfrm>
            <a:off x="11016234" y="1475613"/>
            <a:ext cx="155448" cy="155448"/>
          </a:xfrm>
          <a:prstGeom prst="ellipse">
            <a:avLst/>
          </a:prstGeom>
          <a:solidFill>
            <a:srgbClr val="2C5F2D"/>
          </a:solidFill>
          <a:ln w="15875">
            <a:solidFill>
              <a:srgbClr val="FBF9F4"/>
            </a:solidFill>
            <a:prstDash val="solid"/>
          </a:ln>
        </p:spPr>
        <p:txBody>
          <a:bodyPr/>
          <a:p/>
        </p:txBody>
      </p:sp>
      <p:sp>
        <p:nvSpPr>
          <p:cNvPr id="46" name="Shape 44"/>
          <p:cNvSpPr/>
          <p:nvPr/>
        </p:nvSpPr>
        <p:spPr>
          <a:xfrm>
            <a:off x="7056882" y="2191131"/>
            <a:ext cx="155448" cy="155448"/>
          </a:xfrm>
          <a:prstGeom prst="ellipse">
            <a:avLst/>
          </a:prstGeom>
          <a:solidFill>
            <a:srgbClr val="D35400"/>
          </a:solidFill>
          <a:ln w="15875">
            <a:solidFill>
              <a:srgbClr val="FBF9F4"/>
            </a:solidFill>
            <a:prstDash val="solid"/>
          </a:ln>
        </p:spPr>
        <p:txBody>
          <a:bodyPr/>
          <a:p/>
        </p:txBody>
      </p:sp>
      <p:sp>
        <p:nvSpPr>
          <p:cNvPr id="47" name="Shape 45"/>
          <p:cNvSpPr/>
          <p:nvPr/>
        </p:nvSpPr>
        <p:spPr>
          <a:xfrm>
            <a:off x="7824978" y="2232279"/>
            <a:ext cx="155448" cy="155448"/>
          </a:xfrm>
          <a:prstGeom prst="ellipse">
            <a:avLst/>
          </a:prstGeom>
          <a:solidFill>
            <a:srgbClr val="D35400"/>
          </a:solidFill>
          <a:ln w="15875">
            <a:solidFill>
              <a:srgbClr val="FBF9F4"/>
            </a:solidFill>
            <a:prstDash val="solid"/>
          </a:ln>
        </p:spPr>
        <p:txBody>
          <a:bodyPr/>
          <a:p/>
        </p:txBody>
      </p:sp>
      <p:sp>
        <p:nvSpPr>
          <p:cNvPr id="48" name="Shape 46"/>
          <p:cNvSpPr/>
          <p:nvPr/>
        </p:nvSpPr>
        <p:spPr>
          <a:xfrm>
            <a:off x="8670798" y="2200275"/>
            <a:ext cx="155448" cy="155448"/>
          </a:xfrm>
          <a:prstGeom prst="ellipse">
            <a:avLst/>
          </a:prstGeom>
          <a:solidFill>
            <a:srgbClr val="E8A15C"/>
          </a:solidFill>
          <a:ln w="15875">
            <a:solidFill>
              <a:srgbClr val="FBF9F4"/>
            </a:solidFill>
            <a:prstDash val="solid"/>
          </a:ln>
        </p:spPr>
        <p:txBody>
          <a:bodyPr/>
          <a:p/>
        </p:txBody>
      </p:sp>
      <p:sp>
        <p:nvSpPr>
          <p:cNvPr id="49" name="Shape 47"/>
          <p:cNvSpPr/>
          <p:nvPr/>
        </p:nvSpPr>
        <p:spPr>
          <a:xfrm>
            <a:off x="9420606" y="2236851"/>
            <a:ext cx="155448" cy="155448"/>
          </a:xfrm>
          <a:prstGeom prst="ellipse">
            <a:avLst/>
          </a:prstGeom>
          <a:solidFill>
            <a:srgbClr val="97BC62"/>
          </a:solidFill>
          <a:ln w="15875">
            <a:solidFill>
              <a:srgbClr val="FBF9F4"/>
            </a:solidFill>
            <a:prstDash val="solid"/>
          </a:ln>
        </p:spPr>
        <p:txBody>
          <a:bodyPr/>
          <a:p/>
        </p:txBody>
      </p:sp>
      <p:sp>
        <p:nvSpPr>
          <p:cNvPr id="50" name="Shape 48"/>
          <p:cNvSpPr/>
          <p:nvPr/>
        </p:nvSpPr>
        <p:spPr>
          <a:xfrm>
            <a:off x="10261854" y="2186559"/>
            <a:ext cx="155448" cy="155448"/>
          </a:xfrm>
          <a:prstGeom prst="ellipse">
            <a:avLst/>
          </a:prstGeom>
          <a:solidFill>
            <a:srgbClr val="2C5F2D"/>
          </a:solidFill>
          <a:ln w="15875">
            <a:solidFill>
              <a:srgbClr val="FBF9F4"/>
            </a:solidFill>
            <a:prstDash val="solid"/>
          </a:ln>
        </p:spPr>
        <p:txBody>
          <a:bodyPr/>
          <a:p/>
        </p:txBody>
      </p:sp>
      <p:sp>
        <p:nvSpPr>
          <p:cNvPr id="51" name="Shape 49"/>
          <p:cNvSpPr/>
          <p:nvPr/>
        </p:nvSpPr>
        <p:spPr>
          <a:xfrm>
            <a:off x="11029950" y="2227707"/>
            <a:ext cx="155448" cy="155448"/>
          </a:xfrm>
          <a:prstGeom prst="ellipse">
            <a:avLst/>
          </a:prstGeom>
          <a:solidFill>
            <a:srgbClr val="2C5F2D"/>
          </a:solidFill>
          <a:ln w="15875">
            <a:solidFill>
              <a:srgbClr val="FBF9F4"/>
            </a:solidFill>
            <a:prstDash val="solid"/>
          </a:ln>
        </p:spPr>
        <p:txBody>
          <a:bodyPr/>
          <a:p/>
        </p:txBody>
      </p:sp>
      <p:sp>
        <p:nvSpPr>
          <p:cNvPr id="52" name="Shape 50"/>
          <p:cNvSpPr/>
          <p:nvPr/>
        </p:nvSpPr>
        <p:spPr>
          <a:xfrm>
            <a:off x="7066026" y="2961513"/>
            <a:ext cx="155448" cy="155448"/>
          </a:xfrm>
          <a:prstGeom prst="ellipse">
            <a:avLst/>
          </a:prstGeom>
          <a:solidFill>
            <a:srgbClr val="D35400"/>
          </a:solidFill>
          <a:ln w="15875">
            <a:solidFill>
              <a:srgbClr val="FBF9F4"/>
            </a:solidFill>
            <a:prstDash val="solid"/>
          </a:ln>
        </p:spPr>
        <p:txBody>
          <a:bodyPr/>
          <a:p/>
        </p:txBody>
      </p:sp>
      <p:sp>
        <p:nvSpPr>
          <p:cNvPr id="53" name="Shape 51"/>
          <p:cNvSpPr/>
          <p:nvPr/>
        </p:nvSpPr>
        <p:spPr>
          <a:xfrm>
            <a:off x="7815834" y="3007233"/>
            <a:ext cx="155448" cy="155448"/>
          </a:xfrm>
          <a:prstGeom prst="ellipse">
            <a:avLst/>
          </a:prstGeom>
          <a:solidFill>
            <a:srgbClr val="D35400"/>
          </a:solidFill>
          <a:ln w="15875">
            <a:solidFill>
              <a:srgbClr val="FBF9F4"/>
            </a:solidFill>
            <a:prstDash val="solid"/>
          </a:ln>
        </p:spPr>
        <p:txBody>
          <a:bodyPr/>
          <a:p/>
        </p:txBody>
      </p:sp>
      <p:sp>
        <p:nvSpPr>
          <p:cNvPr id="54" name="Shape 52"/>
          <p:cNvSpPr/>
          <p:nvPr/>
        </p:nvSpPr>
        <p:spPr>
          <a:xfrm>
            <a:off x="8657082" y="2956941"/>
            <a:ext cx="155448" cy="155448"/>
          </a:xfrm>
          <a:prstGeom prst="ellipse">
            <a:avLst/>
          </a:prstGeom>
          <a:solidFill>
            <a:srgbClr val="E8A15C"/>
          </a:solidFill>
          <a:ln w="15875">
            <a:solidFill>
              <a:srgbClr val="FBF9F4"/>
            </a:solidFill>
            <a:prstDash val="solid"/>
          </a:ln>
        </p:spPr>
        <p:txBody>
          <a:bodyPr/>
          <a:p/>
        </p:txBody>
      </p:sp>
      <p:sp>
        <p:nvSpPr>
          <p:cNvPr id="55" name="Shape 53"/>
          <p:cNvSpPr/>
          <p:nvPr/>
        </p:nvSpPr>
        <p:spPr>
          <a:xfrm>
            <a:off x="9425178" y="2998089"/>
            <a:ext cx="155448" cy="155448"/>
          </a:xfrm>
          <a:prstGeom prst="ellipse">
            <a:avLst/>
          </a:prstGeom>
          <a:solidFill>
            <a:srgbClr val="97BC62"/>
          </a:solidFill>
          <a:ln w="15875">
            <a:solidFill>
              <a:srgbClr val="FBF9F4"/>
            </a:solidFill>
            <a:prstDash val="solid"/>
          </a:ln>
        </p:spPr>
        <p:txBody>
          <a:bodyPr/>
          <a:p/>
        </p:txBody>
      </p:sp>
      <p:sp>
        <p:nvSpPr>
          <p:cNvPr id="56" name="Shape 54"/>
          <p:cNvSpPr/>
          <p:nvPr/>
        </p:nvSpPr>
        <p:spPr>
          <a:xfrm>
            <a:off x="10270998" y="2966085"/>
            <a:ext cx="155448" cy="155448"/>
          </a:xfrm>
          <a:prstGeom prst="ellipse">
            <a:avLst/>
          </a:prstGeom>
          <a:solidFill>
            <a:srgbClr val="2C5F2D"/>
          </a:solidFill>
          <a:ln w="15875">
            <a:solidFill>
              <a:srgbClr val="FBF9F4"/>
            </a:solidFill>
            <a:prstDash val="solid"/>
          </a:ln>
        </p:spPr>
        <p:txBody>
          <a:bodyPr/>
          <a:p/>
        </p:txBody>
      </p:sp>
      <p:sp>
        <p:nvSpPr>
          <p:cNvPr id="57" name="Shape 55"/>
          <p:cNvSpPr/>
          <p:nvPr/>
        </p:nvSpPr>
        <p:spPr>
          <a:xfrm>
            <a:off x="11020806" y="3002661"/>
            <a:ext cx="155448" cy="155448"/>
          </a:xfrm>
          <a:prstGeom prst="ellipse">
            <a:avLst/>
          </a:prstGeom>
          <a:solidFill>
            <a:srgbClr val="2C5F2D"/>
          </a:solidFill>
          <a:ln w="15875">
            <a:solidFill>
              <a:srgbClr val="FBF9F4"/>
            </a:solidFill>
            <a:prstDash val="solid"/>
          </a:ln>
        </p:spPr>
        <p:txBody>
          <a:bodyPr/>
          <a:p/>
        </p:txBody>
      </p:sp>
      <p:sp>
        <p:nvSpPr>
          <p:cNvPr id="58" name="Shape 56"/>
          <p:cNvSpPr/>
          <p:nvPr/>
        </p:nvSpPr>
        <p:spPr>
          <a:xfrm>
            <a:off x="7061454" y="3718179"/>
            <a:ext cx="155448" cy="155448"/>
          </a:xfrm>
          <a:prstGeom prst="ellipse">
            <a:avLst/>
          </a:prstGeom>
          <a:solidFill>
            <a:srgbClr val="D35400"/>
          </a:solidFill>
          <a:ln w="15875">
            <a:solidFill>
              <a:srgbClr val="FBF9F4"/>
            </a:solidFill>
            <a:prstDash val="solid"/>
          </a:ln>
        </p:spPr>
        <p:txBody>
          <a:bodyPr/>
          <a:p/>
        </p:txBody>
      </p:sp>
      <p:sp>
        <p:nvSpPr>
          <p:cNvPr id="59" name="Shape 57"/>
          <p:cNvSpPr/>
          <p:nvPr/>
        </p:nvSpPr>
        <p:spPr>
          <a:xfrm>
            <a:off x="7829550" y="3759327"/>
            <a:ext cx="155448" cy="155448"/>
          </a:xfrm>
          <a:prstGeom prst="ellipse">
            <a:avLst/>
          </a:prstGeom>
          <a:solidFill>
            <a:srgbClr val="D35400"/>
          </a:solidFill>
          <a:ln w="15875">
            <a:solidFill>
              <a:srgbClr val="FBF9F4"/>
            </a:solidFill>
            <a:prstDash val="solid"/>
          </a:ln>
        </p:spPr>
        <p:txBody>
          <a:bodyPr/>
          <a:p/>
        </p:txBody>
      </p:sp>
      <p:sp>
        <p:nvSpPr>
          <p:cNvPr id="60" name="Shape 58"/>
          <p:cNvSpPr/>
          <p:nvPr/>
        </p:nvSpPr>
        <p:spPr>
          <a:xfrm>
            <a:off x="8666226" y="3727323"/>
            <a:ext cx="155448" cy="155448"/>
          </a:xfrm>
          <a:prstGeom prst="ellipse">
            <a:avLst/>
          </a:prstGeom>
          <a:solidFill>
            <a:srgbClr val="E8A15C"/>
          </a:solidFill>
          <a:ln w="15875">
            <a:solidFill>
              <a:srgbClr val="FBF9F4"/>
            </a:solidFill>
            <a:prstDash val="solid"/>
          </a:ln>
        </p:spPr>
        <p:txBody>
          <a:bodyPr/>
          <a:p/>
        </p:txBody>
      </p:sp>
      <p:sp>
        <p:nvSpPr>
          <p:cNvPr id="61" name="Shape 59"/>
          <p:cNvSpPr/>
          <p:nvPr/>
        </p:nvSpPr>
        <p:spPr>
          <a:xfrm>
            <a:off x="9416034" y="3773043"/>
            <a:ext cx="155448" cy="155448"/>
          </a:xfrm>
          <a:prstGeom prst="ellipse">
            <a:avLst/>
          </a:prstGeom>
          <a:solidFill>
            <a:srgbClr val="97BC62"/>
          </a:solidFill>
          <a:ln w="15875">
            <a:solidFill>
              <a:srgbClr val="FBF9F4"/>
            </a:solidFill>
            <a:prstDash val="solid"/>
          </a:ln>
        </p:spPr>
        <p:txBody>
          <a:bodyPr/>
          <a:p/>
        </p:txBody>
      </p:sp>
      <p:sp>
        <p:nvSpPr>
          <p:cNvPr id="62" name="Shape 60"/>
          <p:cNvSpPr/>
          <p:nvPr/>
        </p:nvSpPr>
        <p:spPr>
          <a:xfrm>
            <a:off x="10257282" y="3722751"/>
            <a:ext cx="155448" cy="155448"/>
          </a:xfrm>
          <a:prstGeom prst="ellipse">
            <a:avLst/>
          </a:prstGeom>
          <a:solidFill>
            <a:srgbClr val="2C5F2D"/>
          </a:solidFill>
          <a:ln w="15875">
            <a:solidFill>
              <a:srgbClr val="FBF9F4"/>
            </a:solidFill>
            <a:prstDash val="solid"/>
          </a:ln>
        </p:spPr>
        <p:txBody>
          <a:bodyPr/>
          <a:p/>
        </p:txBody>
      </p:sp>
      <p:sp>
        <p:nvSpPr>
          <p:cNvPr id="63" name="Shape 61"/>
          <p:cNvSpPr/>
          <p:nvPr/>
        </p:nvSpPr>
        <p:spPr>
          <a:xfrm>
            <a:off x="11025378" y="3763899"/>
            <a:ext cx="155448" cy="155448"/>
          </a:xfrm>
          <a:prstGeom prst="ellipse">
            <a:avLst/>
          </a:prstGeom>
          <a:solidFill>
            <a:srgbClr val="2C5F2D"/>
          </a:solidFill>
          <a:ln w="15875">
            <a:solidFill>
              <a:srgbClr val="FBF9F4"/>
            </a:solidFill>
            <a:prstDash val="solid"/>
          </a:ln>
        </p:spPr>
        <p:txBody>
          <a:bodyPr/>
          <a:p/>
        </p:txBody>
      </p:sp>
      <p:sp>
        <p:nvSpPr>
          <p:cNvPr id="64" name="Text 62"/>
          <p:cNvSpPr/>
          <p:nvPr/>
        </p:nvSpPr>
        <p:spPr>
          <a:xfrm>
            <a:off x="822960" y="1554480"/>
            <a:ext cx="8229600" cy="320040"/>
          </a:xfrm>
          <a:prstGeom prst="rect">
            <a:avLst/>
          </a:prstGeom>
          <a:noFill/>
          <a:ln/>
        </p:spPr>
        <p:txBody>
          <a:bodyPr wrap="square" rtlCol="0" anchor="ctr"/>
          <a:lstStyle/>
          <a:p>
            <a:pPr indent="0" marL="0">
              <a:buNone/>
            </a:pPr>
            <a:r>
              <a:rPr lang="en-US" sz="1300" b="1" spc="100" kern="0" dirty="0">
                <a:solidFill>
                  <a:srgbClr val="D35400"/>
                </a:solidFill>
                <a:latin typeface="맑은 고딕" pitchFamily="34" charset="0"/>
                <a:ea typeface="맑은 고딕" pitchFamily="34" charset="-122"/>
                <a:cs typeface="맑은 고딕" pitchFamily="34" charset="-120"/>
              </a:rPr>
              <a:t>제24회 임베디드SW경진대회 · 자유공모 부문</a:t>
            </a:r>
            <a:endParaRPr lang="en-US" sz="1300" dirty="0"/>
          </a:p>
        </p:txBody>
      </p:sp>
      <p:sp>
        <p:nvSpPr>
          <p:cNvPr id="65" name="Text 63"/>
          <p:cNvSpPr/>
          <p:nvPr/>
        </p:nvSpPr>
        <p:spPr>
          <a:xfrm>
            <a:off x="777240" y="1965960"/>
            <a:ext cx="5852160" cy="1463040"/>
          </a:xfrm>
          <a:prstGeom prst="rect">
            <a:avLst/>
          </a:prstGeom>
          <a:noFill/>
          <a:ln/>
        </p:spPr>
        <p:txBody>
          <a:bodyPr wrap="square" rtlCol="0" anchor="ctr"/>
          <a:lstStyle/>
          <a:p>
            <a:pPr indent="0" marL="0">
              <a:buNone/>
            </a:pPr>
            <a:r>
              <a:rPr lang="en-US" sz="8800" b="1" dirty="0">
                <a:solidFill>
                  <a:srgbClr val="1F2421"/>
                </a:solidFill>
                <a:latin typeface="맑은 고딕" pitchFamily="34" charset="0"/>
                <a:ea typeface="맑은 고딕" pitchFamily="34" charset="-122"/>
                <a:cs typeface="맑은 고딕" pitchFamily="34" charset="-120"/>
              </a:rPr>
              <a:t>불사</a:t>
            </a:r>
            <a:endParaRPr lang="en-US" sz="8800" dirty="0"/>
          </a:p>
        </p:txBody>
      </p:sp>
      <p:sp>
        <p:nvSpPr>
          <p:cNvPr id="66" name="Shape 64"/>
          <p:cNvSpPr/>
          <p:nvPr/>
        </p:nvSpPr>
        <p:spPr>
          <a:xfrm>
            <a:off x="868680" y="3611880"/>
            <a:ext cx="1920240" cy="0"/>
          </a:xfrm>
          <a:prstGeom prst="line">
            <a:avLst/>
          </a:prstGeom>
          <a:noFill/>
          <a:ln w="38100">
            <a:solidFill>
              <a:srgbClr val="D35400"/>
            </a:solidFill>
            <a:prstDash val="solid"/>
          </a:ln>
        </p:spPr>
        <p:txBody>
          <a:bodyPr/>
          <a:p/>
        </p:txBody>
      </p:sp>
      <p:sp>
        <p:nvSpPr>
          <p:cNvPr id="67" name="Text 65"/>
          <p:cNvSpPr/>
          <p:nvPr/>
        </p:nvSpPr>
        <p:spPr>
          <a:xfrm>
            <a:off x="822960" y="3794760"/>
            <a:ext cx="8229600" cy="457200"/>
          </a:xfrm>
          <a:prstGeom prst="rect">
            <a:avLst/>
          </a:prstGeom>
          <a:noFill/>
          <a:ln/>
        </p:spPr>
        <p:txBody>
          <a:bodyPr wrap="square" rtlCol="0" anchor="ctr"/>
          <a:lstStyle/>
          <a:p>
            <a:pPr indent="0" marL="0">
              <a:buNone/>
            </a:pPr>
            <a:r>
              <a:rPr lang="en-US" sz="2000" b="1" dirty="0">
                <a:solidFill>
                  <a:srgbClr val="2C5F2D"/>
                </a:solidFill>
                <a:latin typeface="맑은 고딕" pitchFamily="34" charset="0"/>
                <a:ea typeface="맑은 고딕" pitchFamily="34" charset="-122"/>
                <a:cs typeface="맑은 고딕" pitchFamily="34" charset="-120"/>
              </a:rPr>
              <a:t>화중생련  </a:t>
            </a:r>
            <a:pPr indent="0" marL="0">
              <a:buNone/>
            </a:pPr>
            <a:r>
              <a:rPr lang="en-US" sz="2000" b="1" dirty="0">
                <a:solidFill>
                  <a:srgbClr val="6B6E6A"/>
                </a:solidFill>
                <a:latin typeface="맑은 고딕" pitchFamily="34" charset="0"/>
                <a:ea typeface="맑은 고딕" pitchFamily="34" charset="-122"/>
                <a:cs typeface="맑은 고딕" pitchFamily="34" charset="-120"/>
              </a:rPr>
              <a:t>火中生蓮</a:t>
            </a:r>
            <a:endParaRPr lang="en-US" sz="2000" dirty="0"/>
          </a:p>
        </p:txBody>
      </p:sp>
      <p:sp>
        <p:nvSpPr>
          <p:cNvPr id="68" name="Text 66"/>
          <p:cNvSpPr/>
          <p:nvPr/>
        </p:nvSpPr>
        <p:spPr>
          <a:xfrm>
            <a:off x="822960" y="4480560"/>
            <a:ext cx="9601200" cy="457200"/>
          </a:xfrm>
          <a:prstGeom prst="rect">
            <a:avLst/>
          </a:prstGeom>
          <a:noFill/>
          <a:ln/>
        </p:spPr>
        <p:txBody>
          <a:bodyPr wrap="square" rtlCol="0" anchor="ctr"/>
          <a:lstStyle/>
          <a:p>
            <a:pPr indent="0" marL="0">
              <a:buNone/>
            </a:pPr>
            <a:r>
              <a:rPr lang="en-US" sz="1600" dirty="0">
                <a:solidFill>
                  <a:srgbClr val="50544B"/>
                </a:solidFill>
                <a:latin typeface="맑은 고딕" pitchFamily="34" charset="0"/>
                <a:ea typeface="맑은 고딕" pitchFamily="34" charset="-122"/>
                <a:cs typeface="맑은 고딕" pitchFamily="34" charset="-120"/>
              </a:rPr>
              <a:t>고장(노드 파괴)을 데이터로 바꾸는 자가치유 산불 감시 메시</a:t>
            </a:r>
            <a:endParaRPr lang="en-US" sz="1600" dirty="0"/>
          </a:p>
        </p:txBody>
      </p:sp>
      <p:sp>
        <p:nvSpPr>
          <p:cNvPr id="69" name="Shape 67"/>
          <p:cNvSpPr/>
          <p:nvPr/>
        </p:nvSpPr>
        <p:spPr>
          <a:xfrm>
            <a:off x="822960" y="5806440"/>
            <a:ext cx="10515600" cy="0"/>
          </a:xfrm>
          <a:prstGeom prst="line">
            <a:avLst/>
          </a:prstGeom>
          <a:noFill/>
          <a:ln w="12700">
            <a:solidFill>
              <a:srgbClr val="E2DCD0"/>
            </a:solidFill>
            <a:prstDash val="solid"/>
          </a:ln>
        </p:spPr>
        <p:txBody>
          <a:bodyPr/>
          <a:p/>
        </p:txBody>
      </p:sp>
      <p:sp>
        <p:nvSpPr>
          <p:cNvPr id="70" name="Text 68"/>
          <p:cNvSpPr/>
          <p:nvPr/>
        </p:nvSpPr>
        <p:spPr>
          <a:xfrm>
            <a:off x="822960" y="5943600"/>
            <a:ext cx="7315200" cy="36576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이동욱</a:t>
            </a:r>
            <a:pPr indent="0" marL="0">
              <a:buNone/>
            </a:pPr>
            <a:r>
              <a:rPr lang="en-US" sz="1300" dirty="0">
                <a:solidFill>
                  <a:srgbClr val="6B6E6A"/>
                </a:solidFill>
                <a:latin typeface="맑은 고딕" pitchFamily="34" charset="0"/>
                <a:ea typeface="맑은 고딕" pitchFamily="34" charset="-122"/>
                <a:cs typeface="맑은 고딕" pitchFamily="34" charset="-120"/>
              </a:rPr>
              <a:t>  전자공학전공 · 숭실대학교</a:t>
            </a:r>
            <a:endParaRPr lang="en-US" sz="1300" dirty="0"/>
          </a:p>
        </p:txBody>
      </p:sp>
      <p:sp>
        <p:nvSpPr>
          <p:cNvPr id="71" name="Text 69"/>
          <p:cNvSpPr/>
          <p:nvPr/>
        </p:nvSpPr>
        <p:spPr>
          <a:xfrm>
            <a:off x="6766560" y="5943600"/>
            <a:ext cx="4572000" cy="365760"/>
          </a:xfrm>
          <a:prstGeom prst="rect">
            <a:avLst/>
          </a:prstGeom>
          <a:noFill/>
          <a:ln/>
        </p:spPr>
        <p:txBody>
          <a:bodyPr wrap="square" rtlCol="0" anchor="ctr"/>
          <a:lstStyle/>
          <a:p>
            <a:pPr algn="r" indent="0" marL="0">
              <a:buNone/>
            </a:pPr>
            <a:r>
              <a:rPr lang="en-US" sz="1100" dirty="0">
                <a:solidFill>
                  <a:srgbClr val="6B6E6A"/>
                </a:solidFill>
                <a:latin typeface="맑은 고딕" pitchFamily="34" charset="0"/>
                <a:ea typeface="맑은 고딕" pitchFamily="34" charset="-122"/>
                <a:cs typeface="맑은 고딕" pitchFamily="34" charset="-120"/>
              </a:rPr>
              <a:t>GitHub · 시연영상 링크는 제출본에 삽입</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① 개발 배경·동기  |  독창성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재난에선 노드 파괴가 '필연'이다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508760"/>
            <a:ext cx="11064240" cy="868680"/>
          </a:xfrm>
          <a:prstGeom prst="rect">
            <a:avLst/>
          </a:prstGeom>
          <a:noFill/>
          <a:ln/>
        </p:spPr>
        <p:txBody>
          <a:bodyPr wrap="square" rtlCol="0" anchor="ctr"/>
          <a:lstStyle/>
          <a:p>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산불·지진·붕괴 현장에서 센서 노드는 </a:t>
            </a:r>
            <a:pPr indent="0" marL="0">
              <a:lnSpc>
                <a:spcPct val="125000"/>
              </a:lnSpc>
              <a:buNone/>
            </a:pPr>
            <a:r>
              <a:rPr lang="en-US" sz="1500" b="1" dirty="0">
                <a:solidFill>
                  <a:srgbClr val="D35400"/>
                </a:solidFill>
                <a:latin typeface="맑은 고딕" pitchFamily="34" charset="0"/>
                <a:ea typeface="맑은 고딕" pitchFamily="34" charset="-122"/>
                <a:cs typeface="맑은 고딕" pitchFamily="34" charset="-120"/>
              </a:rPr>
              <a:t>반드시 죽는다</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 기존 시스템은 이 죽음을 단순 '손실'로 처리한다. 우리는 </a:t>
            </a:r>
            <a:pPr indent="0" marL="0">
              <a:lnSpc>
                <a:spcPct val="125000"/>
              </a:lnSpc>
              <a:buNone/>
            </a:pPr>
            <a:r>
              <a:rPr lang="en-US" sz="1500" b="1" dirty="0">
                <a:solidFill>
                  <a:srgbClr val="2C5F2D"/>
                </a:solidFill>
                <a:latin typeface="맑은 고딕" pitchFamily="34" charset="0"/>
                <a:ea typeface="맑은 고딕" pitchFamily="34" charset="-122"/>
                <a:cs typeface="맑은 고딕" pitchFamily="34" charset="-120"/>
              </a:rPr>
              <a:t>죽음의 시공간 패턴 자체를 데이터로 승격</a:t>
            </a:r>
            <a:pPr indent="0" marL="0">
              <a:lnSpc>
                <a:spcPct val="125000"/>
              </a:lnSpc>
              <a:buNone/>
            </a:pPr>
            <a:r>
              <a:rPr lang="en-US" sz="1500" dirty="0">
                <a:solidFill>
                  <a:srgbClr val="1F2421"/>
                </a:solidFill>
                <a:latin typeface="맑은 고딕" pitchFamily="34" charset="0"/>
                <a:ea typeface="맑은 고딕" pitchFamily="34" charset="-122"/>
                <a:cs typeface="맑은 고딕" pitchFamily="34" charset="-120"/>
              </a:rPr>
              <a:t>해, 사라진 노드들이 오히려 불의 방향·속도를 그리게 한다.</a:t>
            </a:r>
            <a:endParaRPr lang="en-US" sz="1500" dirty="0"/>
          </a:p>
        </p:txBody>
      </p:sp>
      <p:sp>
        <p:nvSpPr>
          <p:cNvPr id="6" name="Shape 4"/>
          <p:cNvSpPr/>
          <p:nvPr/>
        </p:nvSpPr>
        <p:spPr>
          <a:xfrm>
            <a:off x="548640"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898648"/>
            <a:ext cx="3063240" cy="365760"/>
          </a:xfrm>
          <a:prstGeom prst="rect">
            <a:avLst/>
          </a:prstGeom>
          <a:noFill/>
          <a:ln/>
        </p:spPr>
        <p:txBody>
          <a:bodyPr wrap="square" rtlCol="0" anchor="ctr"/>
          <a:lstStyle/>
          <a:p>
            <a:pPr indent="0" marL="0">
              <a:buNone/>
            </a:pPr>
            <a:r>
              <a:rPr lang="en-US" sz="1450" b="1" dirty="0">
                <a:solidFill>
                  <a:srgbClr val="6B6E6A"/>
                </a:solidFill>
                <a:latin typeface="맑은 고딕" pitchFamily="34" charset="0"/>
                <a:ea typeface="맑은 고딕" pitchFamily="34" charset="-122"/>
                <a:cs typeface="맑은 고딕" pitchFamily="34" charset="-120"/>
              </a:rPr>
              <a:t>문제 정의</a:t>
            </a:r>
            <a:endParaRPr lang="en-US" sz="1450" dirty="0"/>
          </a:p>
        </p:txBody>
      </p:sp>
      <p:sp>
        <p:nvSpPr>
          <p:cNvPr id="8" name="Shape 6"/>
          <p:cNvSpPr/>
          <p:nvPr/>
        </p:nvSpPr>
        <p:spPr>
          <a:xfrm>
            <a:off x="777240" y="3337560"/>
            <a:ext cx="502920" cy="0"/>
          </a:xfrm>
          <a:prstGeom prst="line">
            <a:avLst/>
          </a:prstGeom>
          <a:noFill/>
          <a:ln w="25400">
            <a:solidFill>
              <a:srgbClr val="D35400"/>
            </a:solidFill>
            <a:prstDash val="solid"/>
          </a:ln>
        </p:spPr>
        <p:txBody>
          <a:bodyPr/>
          <a:p/>
        </p:txBody>
      </p:sp>
      <p:sp>
        <p:nvSpPr>
          <p:cNvPr id="9" name="Text 7"/>
          <p:cNvSpPr/>
          <p:nvPr/>
        </p:nvSpPr>
        <p:spPr>
          <a:xfrm>
            <a:off x="777240"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위성·드론은 연기·수목 아래 지표 화선을 못 본다. 진화 지휘·대원 안전이 직결된 실시간 공백이 남는다.</a:t>
            </a:r>
            <a:endParaRPr lang="en-US" sz="1200" dirty="0"/>
          </a:p>
        </p:txBody>
      </p:sp>
      <p:sp>
        <p:nvSpPr>
          <p:cNvPr id="10" name="Shape 8"/>
          <p:cNvSpPr/>
          <p:nvPr/>
        </p:nvSpPr>
        <p:spPr>
          <a:xfrm>
            <a:off x="4325112" y="2697480"/>
            <a:ext cx="3520440" cy="2331720"/>
          </a:xfrm>
          <a:prstGeom prst="roundRect">
            <a:avLst>
              <a:gd name="adj" fmla="val 2353"/>
            </a:avLst>
          </a:prstGeom>
          <a:solidFill>
            <a:srgbClr val="FFFFFF"/>
          </a:solidFill>
          <a:ln w="12700">
            <a:solidFill>
              <a:srgbClr val="E2DCD0"/>
            </a:solidFill>
            <a:prstDash val="solid"/>
          </a:ln>
        </p:spPr>
        <p:txBody>
          <a:bodyPr/>
          <a:p/>
        </p:txBody>
      </p:sp>
      <p:sp>
        <p:nvSpPr>
          <p:cNvPr id="11" name="Text 9"/>
          <p:cNvSpPr/>
          <p:nvPr/>
        </p:nvSpPr>
        <p:spPr>
          <a:xfrm>
            <a:off x="4553712" y="2898648"/>
            <a:ext cx="3063240" cy="365760"/>
          </a:xfrm>
          <a:prstGeom prst="rect">
            <a:avLst/>
          </a:prstGeom>
          <a:noFill/>
          <a:ln/>
        </p:spPr>
        <p:txBody>
          <a:bodyPr wrap="square" rtlCol="0" anchor="ctr"/>
          <a:lstStyle/>
          <a:p>
            <a:pPr indent="0" marL="0">
              <a:buNone/>
            </a:pPr>
            <a:r>
              <a:rPr lang="en-US" sz="1450" b="1" dirty="0">
                <a:solidFill>
                  <a:srgbClr val="6B6E6A"/>
                </a:solidFill>
                <a:latin typeface="맑은 고딕" pitchFamily="34" charset="0"/>
                <a:ea typeface="맑은 고딕" pitchFamily="34" charset="-122"/>
                <a:cs typeface="맑은 고딕" pitchFamily="34" charset="-120"/>
              </a:rPr>
              <a:t>기존의 공백</a:t>
            </a:r>
            <a:endParaRPr lang="en-US" sz="1450" dirty="0"/>
          </a:p>
        </p:txBody>
      </p:sp>
      <p:sp>
        <p:nvSpPr>
          <p:cNvPr id="12" name="Shape 10"/>
          <p:cNvSpPr/>
          <p:nvPr/>
        </p:nvSpPr>
        <p:spPr>
          <a:xfrm>
            <a:off x="4553712" y="3337560"/>
            <a:ext cx="502920" cy="0"/>
          </a:xfrm>
          <a:prstGeom prst="line">
            <a:avLst/>
          </a:prstGeom>
          <a:noFill/>
          <a:ln w="25400">
            <a:solidFill>
              <a:srgbClr val="D35400"/>
            </a:solidFill>
            <a:prstDash val="solid"/>
          </a:ln>
        </p:spPr>
        <p:txBody>
          <a:bodyPr/>
          <a:p/>
        </p:txBody>
      </p:sp>
      <p:sp>
        <p:nvSpPr>
          <p:cNvPr id="13" name="Text 11"/>
          <p:cNvSpPr/>
          <p:nvPr/>
        </p:nvSpPr>
        <p:spPr>
          <a:xfrm>
            <a:off x="4553712"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stock 메시는 죽은 노드를 우회만 할 뿐, 그 죽음에 담긴 정보를 버린다.</a:t>
            </a:r>
            <a:endParaRPr lang="en-US" sz="1200" dirty="0"/>
          </a:p>
        </p:txBody>
      </p:sp>
      <p:sp>
        <p:nvSpPr>
          <p:cNvPr id="14" name="Shape 12"/>
          <p:cNvSpPr/>
          <p:nvPr/>
        </p:nvSpPr>
        <p:spPr>
          <a:xfrm>
            <a:off x="8101584" y="2697480"/>
            <a:ext cx="352044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330184" y="2898648"/>
            <a:ext cx="306324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우리 목표</a:t>
            </a:r>
            <a:endParaRPr lang="en-US" sz="1450" dirty="0"/>
          </a:p>
        </p:txBody>
      </p:sp>
      <p:sp>
        <p:nvSpPr>
          <p:cNvPr id="16" name="Shape 14"/>
          <p:cNvSpPr/>
          <p:nvPr/>
        </p:nvSpPr>
        <p:spPr>
          <a:xfrm>
            <a:off x="8330184" y="3337560"/>
            <a:ext cx="502920" cy="0"/>
          </a:xfrm>
          <a:prstGeom prst="line">
            <a:avLst/>
          </a:prstGeom>
          <a:noFill/>
          <a:ln w="25400">
            <a:solidFill>
              <a:srgbClr val="D35400"/>
            </a:solidFill>
            <a:prstDash val="solid"/>
          </a:ln>
        </p:spPr>
        <p:txBody>
          <a:bodyPr/>
          <a:p/>
        </p:txBody>
      </p:sp>
      <p:sp>
        <p:nvSpPr>
          <p:cNvPr id="17" name="Text 15"/>
          <p:cNvSpPr/>
          <p:nvPr/>
        </p:nvSpPr>
        <p:spPr>
          <a:xfrm>
            <a:off x="8330184" y="3474720"/>
            <a:ext cx="306324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고장 패턴을 데이터로 + 자가치유로, 그 공백을 지상에서 실시간으로 채운다.</a:t>
            </a:r>
            <a:endParaRPr lang="en-US" sz="1200" dirty="0"/>
          </a:p>
        </p:txBody>
      </p:sp>
      <p:sp>
        <p:nvSpPr>
          <p:cNvPr id="18" name="Text 16"/>
          <p:cNvSpPr/>
          <p:nvPr/>
        </p:nvSpPr>
        <p:spPr>
          <a:xfrm>
            <a:off x="548640" y="525780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응용(산불)이 아니라 아키텍처(고장→데이터 + 자가치유)에 독창성이 있다.</a:t>
            </a:r>
            <a:endParaRPr lang="en-US" sz="1300" dirty="0"/>
          </a:p>
        </p:txBody>
      </p:sp>
      <p:sp>
        <p:nvSpPr>
          <p:cNvPr id="19"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0"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a:t>
            </a:r>
            <a:endParaRPr lang="en-US" sz="900" dirty="0"/>
          </a:p>
        </p:txBody>
      </p:sp>
      <p:sp>
        <p:nvSpPr>
          <p:cNvPr id="21" name="Shape 19"/>
          <p:cNvSpPr/>
          <p:nvPr/>
        </p:nvSpPr>
        <p:spPr>
          <a:xfrm>
            <a:off x="10503027" y="6464808"/>
            <a:ext cx="144018" cy="36576"/>
          </a:xfrm>
          <a:prstGeom prst="line">
            <a:avLst/>
          </a:prstGeom>
          <a:noFill/>
          <a:ln w="9525">
            <a:solidFill>
              <a:srgbClr val="E2DCD0"/>
            </a:solidFill>
            <a:prstDash val="solid"/>
          </a:ln>
        </p:spPr>
        <p:txBody>
          <a:bodyPr/>
          <a:p/>
        </p:txBody>
      </p:sp>
      <p:sp>
        <p:nvSpPr>
          <p:cNvPr id="22" name="Shape 20"/>
          <p:cNvSpPr/>
          <p:nvPr/>
        </p:nvSpPr>
        <p:spPr>
          <a:xfrm>
            <a:off x="10503027" y="6464808"/>
            <a:ext cx="-4572" cy="187452"/>
          </a:xfrm>
          <a:prstGeom prst="line">
            <a:avLst/>
          </a:prstGeom>
          <a:noFill/>
          <a:ln w="9525">
            <a:solidFill>
              <a:srgbClr val="E2DCD0"/>
            </a:solidFill>
            <a:prstDash val="solid"/>
          </a:ln>
        </p:spPr>
        <p:txBody>
          <a:bodyPr/>
          <a:p/>
        </p:txBody>
      </p:sp>
      <p:sp>
        <p:nvSpPr>
          <p:cNvPr id="23" name="Shape 21"/>
          <p:cNvSpPr/>
          <p:nvPr/>
        </p:nvSpPr>
        <p:spPr>
          <a:xfrm>
            <a:off x="10647045" y="6501384"/>
            <a:ext cx="235458" cy="-50292"/>
          </a:xfrm>
          <a:prstGeom prst="line">
            <a:avLst/>
          </a:prstGeom>
          <a:noFill/>
          <a:ln w="9525">
            <a:solidFill>
              <a:srgbClr val="E2DCD0"/>
            </a:solidFill>
            <a:prstDash val="solid"/>
          </a:ln>
        </p:spPr>
        <p:txBody>
          <a:bodyPr/>
          <a:p/>
        </p:txBody>
      </p:sp>
      <p:sp>
        <p:nvSpPr>
          <p:cNvPr id="24" name="Shape 22"/>
          <p:cNvSpPr/>
          <p:nvPr/>
        </p:nvSpPr>
        <p:spPr>
          <a:xfrm>
            <a:off x="10647045" y="6501384"/>
            <a:ext cx="-4572" cy="196596"/>
          </a:xfrm>
          <a:prstGeom prst="line">
            <a:avLst/>
          </a:prstGeom>
          <a:noFill/>
          <a:ln w="9525">
            <a:solidFill>
              <a:srgbClr val="E2DCD0"/>
            </a:solidFill>
            <a:prstDash val="solid"/>
          </a:ln>
        </p:spPr>
        <p:txBody>
          <a:bodyPr/>
          <a:p/>
        </p:txBody>
      </p:sp>
      <p:sp>
        <p:nvSpPr>
          <p:cNvPr id="25" name="Shape 23"/>
          <p:cNvSpPr/>
          <p:nvPr/>
        </p:nvSpPr>
        <p:spPr>
          <a:xfrm>
            <a:off x="10882503" y="6451092"/>
            <a:ext cx="162306" cy="41148"/>
          </a:xfrm>
          <a:prstGeom prst="line">
            <a:avLst/>
          </a:prstGeom>
          <a:noFill/>
          <a:ln w="9525">
            <a:solidFill>
              <a:srgbClr val="E2DCD0"/>
            </a:solidFill>
            <a:prstDash val="solid"/>
          </a:ln>
        </p:spPr>
        <p:txBody>
          <a:bodyPr/>
          <a:p/>
        </p:txBody>
      </p:sp>
      <p:sp>
        <p:nvSpPr>
          <p:cNvPr id="26" name="Shape 24"/>
          <p:cNvSpPr/>
          <p:nvPr/>
        </p:nvSpPr>
        <p:spPr>
          <a:xfrm>
            <a:off x="10882503" y="6451092"/>
            <a:ext cx="-4572" cy="196596"/>
          </a:xfrm>
          <a:prstGeom prst="line">
            <a:avLst/>
          </a:prstGeom>
          <a:noFill/>
          <a:ln w="9525">
            <a:solidFill>
              <a:srgbClr val="E2DCD0"/>
            </a:solidFill>
            <a:prstDash val="solid"/>
          </a:ln>
        </p:spPr>
        <p:txBody>
          <a:bodyPr/>
          <a:p/>
        </p:txBody>
      </p:sp>
      <p:sp>
        <p:nvSpPr>
          <p:cNvPr id="27" name="Shape 25"/>
          <p:cNvSpPr/>
          <p:nvPr/>
        </p:nvSpPr>
        <p:spPr>
          <a:xfrm>
            <a:off x="11044809" y="6492240"/>
            <a:ext cx="-4572" cy="196596"/>
          </a:xfrm>
          <a:prstGeom prst="line">
            <a:avLst/>
          </a:prstGeom>
          <a:noFill/>
          <a:ln w="9525">
            <a:solidFill>
              <a:srgbClr val="E2DCD0"/>
            </a:solidFill>
            <a:prstDash val="solid"/>
          </a:ln>
        </p:spPr>
        <p:txBody>
          <a:bodyPr/>
          <a:p/>
        </p:txBody>
      </p:sp>
      <p:sp>
        <p:nvSpPr>
          <p:cNvPr id="28" name="Shape 26"/>
          <p:cNvSpPr/>
          <p:nvPr/>
        </p:nvSpPr>
        <p:spPr>
          <a:xfrm>
            <a:off x="10498455" y="6652260"/>
            <a:ext cx="144018" cy="45720"/>
          </a:xfrm>
          <a:prstGeom prst="line">
            <a:avLst/>
          </a:prstGeom>
          <a:noFill/>
          <a:ln w="9525">
            <a:solidFill>
              <a:srgbClr val="E2DCD0"/>
            </a:solidFill>
            <a:prstDash val="solid"/>
          </a:ln>
        </p:spPr>
        <p:txBody>
          <a:bodyPr/>
          <a:p/>
        </p:txBody>
      </p:sp>
      <p:sp>
        <p:nvSpPr>
          <p:cNvPr id="29" name="Shape 27"/>
          <p:cNvSpPr/>
          <p:nvPr/>
        </p:nvSpPr>
        <p:spPr>
          <a:xfrm>
            <a:off x="10642473" y="6697980"/>
            <a:ext cx="235458" cy="-50292"/>
          </a:xfrm>
          <a:prstGeom prst="line">
            <a:avLst/>
          </a:prstGeom>
          <a:noFill/>
          <a:ln w="9525">
            <a:solidFill>
              <a:srgbClr val="E2DCD0"/>
            </a:solidFill>
            <a:prstDash val="solid"/>
          </a:ln>
        </p:spPr>
        <p:txBody>
          <a:bodyPr/>
          <a:p/>
        </p:txBody>
      </p:sp>
      <p:sp>
        <p:nvSpPr>
          <p:cNvPr id="30" name="Shape 28"/>
          <p:cNvSpPr/>
          <p:nvPr/>
        </p:nvSpPr>
        <p:spPr>
          <a:xfrm>
            <a:off x="10877931" y="6647688"/>
            <a:ext cx="162306" cy="41148"/>
          </a:xfrm>
          <a:prstGeom prst="line">
            <a:avLst/>
          </a:prstGeom>
          <a:noFill/>
          <a:ln w="9525">
            <a:solidFill>
              <a:srgbClr val="E2DCD0"/>
            </a:solidFill>
            <a:prstDash val="solid"/>
          </a:ln>
        </p:spPr>
        <p:txBody>
          <a:bodyPr/>
          <a:p/>
        </p:txBody>
      </p:sp>
      <p:sp>
        <p:nvSpPr>
          <p:cNvPr id="31"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2"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3"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4"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5"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6"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7"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8"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② 문제 정의  |  활용성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상공이 못 보는 '지표 화선'의 실시간 공백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무엇이 안 보이나</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연기와 수목 캐노피 아래에서 실제로 번지는 지표 화선(fire front)의 위치·방향·속도. 위성은 광역 개요만, 드론은 상공·간헐적이라 초 단위 국지 변화를 놓친다.</a:t>
            </a:r>
            <a:endParaRPr lang="en-US" sz="1200" dirty="0"/>
          </a:p>
        </p:txBody>
      </p:sp>
      <p:sp>
        <p:nvSpPr>
          <p:cNvPr id="9" name="Shape 7"/>
          <p:cNvSpPr/>
          <p:nvPr/>
        </p:nvSpPr>
        <p:spPr>
          <a:xfrm>
            <a:off x="6153912" y="1508760"/>
            <a:ext cx="5477256" cy="2103120"/>
          </a:xfrm>
          <a:prstGeom prst="roundRect">
            <a:avLst>
              <a:gd name="adj" fmla="val 2609"/>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왜 치명적인가</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진화 지휘부의 자원 배치와 최전선 대원의 대피 타이밍이 바로 이 정보에 달려 있다. 공백이 곧 인명·재산 피해로 이어진다.</a:t>
            </a:r>
            <a:endParaRPr lang="en-US" sz="1200" dirty="0"/>
          </a:p>
        </p:txBody>
      </p:sp>
      <p:sp>
        <p:nvSpPr>
          <p:cNvPr id="13" name="Text 11"/>
          <p:cNvSpPr/>
          <p:nvPr/>
        </p:nvSpPr>
        <p:spPr>
          <a:xfrm>
            <a:off x="548640" y="3886200"/>
            <a:ext cx="10972800" cy="32004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현장 동기 (2025 의성 산불)</a:t>
            </a:r>
            <a:endParaRPr lang="en-US" sz="1300" dirty="0"/>
          </a:p>
        </p:txBody>
      </p:sp>
      <p:sp>
        <p:nvSpPr>
          <p:cNvPr id="14" name="Shape 12"/>
          <p:cNvSpPr/>
          <p:nvPr/>
        </p:nvSpPr>
        <p:spPr>
          <a:xfrm>
            <a:off x="548640" y="4224528"/>
            <a:ext cx="502920" cy="0"/>
          </a:xfrm>
          <a:prstGeom prst="line">
            <a:avLst/>
          </a:prstGeom>
          <a:noFill/>
          <a:ln w="25400">
            <a:solidFill>
              <a:srgbClr val="D35400"/>
            </a:solidFill>
            <a:prstDash val="solid"/>
          </a:ln>
        </p:spPr>
        <p:txBody>
          <a:bodyPr/>
          <a:p/>
        </p:txBody>
      </p:sp>
      <p:sp>
        <p:nvSpPr>
          <p:cNvPr id="15" name="Text 13"/>
          <p:cNvSpPr/>
          <p:nvPr/>
        </p:nvSpPr>
        <p:spPr>
          <a:xfrm>
            <a:off x="548640" y="4343400"/>
            <a:ext cx="11064240" cy="822960"/>
          </a:xfrm>
          <a:prstGeom prst="rect">
            <a:avLst/>
          </a:prstGeom>
          <a:noFill/>
          <a:ln/>
        </p:spPr>
        <p:txBody>
          <a:bodyPr wrap="square" rtlCol="0" anchor="ctr"/>
          <a:lstStyle/>
          <a:p>
            <a:pPr indent="0" marL="0">
              <a:lnSpc>
                <a:spcPct val="125000"/>
              </a:lnSpc>
              <a:buNone/>
            </a:pPr>
            <a:r>
              <a:rPr lang="en-US" sz="1250" dirty="0">
                <a:solidFill>
                  <a:srgbClr val="44483F"/>
                </a:solidFill>
                <a:latin typeface="맑은 고딕" pitchFamily="34" charset="0"/>
                <a:ea typeface="맑은 고딕" pitchFamily="34" charset="-122"/>
                <a:cs typeface="맑은 고딕" pitchFamily="34" charset="-120"/>
              </a:rPr>
              <a:t>대형 산불 대응 현장에서, 지상의 실시간 화선 정보가 없어 판단이 지연되는 국면을 보며 '지상에서 화선을 실측하는 저가 레이어'의 필요를 절감했다. (동기·삽화로만 사용 — 반사실 주장 아님)</a:t>
            </a:r>
            <a:endParaRPr lang="en-US" sz="1250" dirty="0"/>
          </a:p>
        </p:txBody>
      </p:sp>
      <p:sp>
        <p:nvSpPr>
          <p:cNvPr id="16" name="Text 14"/>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5"/>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2</a:t>
            </a:r>
            <a:endParaRPr lang="en-US" sz="900" dirty="0"/>
          </a:p>
        </p:txBody>
      </p:sp>
      <p:sp>
        <p:nvSpPr>
          <p:cNvPr id="18" name="Shape 16"/>
          <p:cNvSpPr/>
          <p:nvPr/>
        </p:nvSpPr>
        <p:spPr>
          <a:xfrm>
            <a:off x="10503027" y="6464808"/>
            <a:ext cx="144018" cy="36576"/>
          </a:xfrm>
          <a:prstGeom prst="line">
            <a:avLst/>
          </a:prstGeom>
          <a:noFill/>
          <a:ln w="9525">
            <a:solidFill>
              <a:srgbClr val="E2DCD0"/>
            </a:solidFill>
            <a:prstDash val="solid"/>
          </a:ln>
        </p:spPr>
        <p:txBody>
          <a:bodyPr/>
          <a:p/>
        </p:txBody>
      </p:sp>
      <p:sp>
        <p:nvSpPr>
          <p:cNvPr id="19" name="Shape 17"/>
          <p:cNvSpPr/>
          <p:nvPr/>
        </p:nvSpPr>
        <p:spPr>
          <a:xfrm>
            <a:off x="10503027" y="6464808"/>
            <a:ext cx="-4572" cy="187452"/>
          </a:xfrm>
          <a:prstGeom prst="line">
            <a:avLst/>
          </a:prstGeom>
          <a:noFill/>
          <a:ln w="9525">
            <a:solidFill>
              <a:srgbClr val="E2DCD0"/>
            </a:solidFill>
            <a:prstDash val="solid"/>
          </a:ln>
        </p:spPr>
        <p:txBody>
          <a:bodyPr/>
          <a:p/>
        </p:txBody>
      </p:sp>
      <p:sp>
        <p:nvSpPr>
          <p:cNvPr id="20" name="Shape 18"/>
          <p:cNvSpPr/>
          <p:nvPr/>
        </p:nvSpPr>
        <p:spPr>
          <a:xfrm>
            <a:off x="10647045" y="6501384"/>
            <a:ext cx="235458" cy="-50292"/>
          </a:xfrm>
          <a:prstGeom prst="line">
            <a:avLst/>
          </a:prstGeom>
          <a:noFill/>
          <a:ln w="9525">
            <a:solidFill>
              <a:srgbClr val="E2DCD0"/>
            </a:solidFill>
            <a:prstDash val="solid"/>
          </a:ln>
        </p:spPr>
        <p:txBody>
          <a:bodyPr/>
          <a:p/>
        </p:txBody>
      </p:sp>
      <p:sp>
        <p:nvSpPr>
          <p:cNvPr id="21" name="Shape 19"/>
          <p:cNvSpPr/>
          <p:nvPr/>
        </p:nvSpPr>
        <p:spPr>
          <a:xfrm>
            <a:off x="10647045" y="6501384"/>
            <a:ext cx="-4572" cy="196596"/>
          </a:xfrm>
          <a:prstGeom prst="line">
            <a:avLst/>
          </a:prstGeom>
          <a:noFill/>
          <a:ln w="9525">
            <a:solidFill>
              <a:srgbClr val="E2DCD0"/>
            </a:solidFill>
            <a:prstDash val="solid"/>
          </a:ln>
        </p:spPr>
        <p:txBody>
          <a:bodyPr/>
          <a:p/>
        </p:txBody>
      </p:sp>
      <p:sp>
        <p:nvSpPr>
          <p:cNvPr id="22" name="Shape 20"/>
          <p:cNvSpPr/>
          <p:nvPr/>
        </p:nvSpPr>
        <p:spPr>
          <a:xfrm>
            <a:off x="10882503" y="6451092"/>
            <a:ext cx="162306" cy="41148"/>
          </a:xfrm>
          <a:prstGeom prst="line">
            <a:avLst/>
          </a:prstGeom>
          <a:noFill/>
          <a:ln w="9525">
            <a:solidFill>
              <a:srgbClr val="E2DCD0"/>
            </a:solidFill>
            <a:prstDash val="solid"/>
          </a:ln>
        </p:spPr>
        <p:txBody>
          <a:bodyPr/>
          <a:p/>
        </p:txBody>
      </p:sp>
      <p:sp>
        <p:nvSpPr>
          <p:cNvPr id="23" name="Shape 21"/>
          <p:cNvSpPr/>
          <p:nvPr/>
        </p:nvSpPr>
        <p:spPr>
          <a:xfrm>
            <a:off x="10882503" y="6451092"/>
            <a:ext cx="-4572" cy="196596"/>
          </a:xfrm>
          <a:prstGeom prst="line">
            <a:avLst/>
          </a:prstGeom>
          <a:noFill/>
          <a:ln w="9525">
            <a:solidFill>
              <a:srgbClr val="E2DCD0"/>
            </a:solidFill>
            <a:prstDash val="solid"/>
          </a:ln>
        </p:spPr>
        <p:txBody>
          <a:bodyPr/>
          <a:p/>
        </p:txBody>
      </p:sp>
      <p:sp>
        <p:nvSpPr>
          <p:cNvPr id="24" name="Shape 22"/>
          <p:cNvSpPr/>
          <p:nvPr/>
        </p:nvSpPr>
        <p:spPr>
          <a:xfrm>
            <a:off x="11044809" y="6492240"/>
            <a:ext cx="-4572" cy="196596"/>
          </a:xfrm>
          <a:prstGeom prst="line">
            <a:avLst/>
          </a:prstGeom>
          <a:noFill/>
          <a:ln w="9525">
            <a:solidFill>
              <a:srgbClr val="E2DCD0"/>
            </a:solidFill>
            <a:prstDash val="solid"/>
          </a:ln>
        </p:spPr>
        <p:txBody>
          <a:bodyPr/>
          <a:p/>
        </p:txBody>
      </p:sp>
      <p:sp>
        <p:nvSpPr>
          <p:cNvPr id="25" name="Shape 23"/>
          <p:cNvSpPr/>
          <p:nvPr/>
        </p:nvSpPr>
        <p:spPr>
          <a:xfrm>
            <a:off x="10498455" y="6652260"/>
            <a:ext cx="144018" cy="45720"/>
          </a:xfrm>
          <a:prstGeom prst="line">
            <a:avLst/>
          </a:prstGeom>
          <a:noFill/>
          <a:ln w="9525">
            <a:solidFill>
              <a:srgbClr val="E2DCD0"/>
            </a:solidFill>
            <a:prstDash val="solid"/>
          </a:ln>
        </p:spPr>
        <p:txBody>
          <a:bodyPr/>
          <a:p/>
        </p:txBody>
      </p:sp>
      <p:sp>
        <p:nvSpPr>
          <p:cNvPr id="26" name="Shape 24"/>
          <p:cNvSpPr/>
          <p:nvPr/>
        </p:nvSpPr>
        <p:spPr>
          <a:xfrm>
            <a:off x="10642473" y="6697980"/>
            <a:ext cx="235458" cy="-50292"/>
          </a:xfrm>
          <a:prstGeom prst="line">
            <a:avLst/>
          </a:prstGeom>
          <a:noFill/>
          <a:ln w="9525">
            <a:solidFill>
              <a:srgbClr val="E2DCD0"/>
            </a:solidFill>
            <a:prstDash val="solid"/>
          </a:ln>
        </p:spPr>
        <p:txBody>
          <a:bodyPr/>
          <a:p/>
        </p:txBody>
      </p:sp>
      <p:sp>
        <p:nvSpPr>
          <p:cNvPr id="27" name="Shape 25"/>
          <p:cNvSpPr/>
          <p:nvPr/>
        </p:nvSpPr>
        <p:spPr>
          <a:xfrm>
            <a:off x="10877931" y="6647688"/>
            <a:ext cx="162306" cy="41148"/>
          </a:xfrm>
          <a:prstGeom prst="line">
            <a:avLst/>
          </a:prstGeom>
          <a:noFill/>
          <a:ln w="9525">
            <a:solidFill>
              <a:srgbClr val="E2DCD0"/>
            </a:solidFill>
            <a:prstDash val="solid"/>
          </a:ln>
        </p:spPr>
        <p:txBody>
          <a:bodyPr/>
          <a:p/>
        </p:txBody>
      </p:sp>
      <p:sp>
        <p:nvSpPr>
          <p:cNvPr id="28" name="Shape 2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3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4"/>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동기는 삽화로만 · 근거는 일반 산불대응 공백</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개요 ③ 개발 목표·핵심 아이디어  |  독창성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640080" y="1737360"/>
            <a:ext cx="3108960" cy="1051560"/>
          </a:xfrm>
          <a:prstGeom prst="roundRect">
            <a:avLst>
              <a:gd name="adj" fmla="val 6957"/>
            </a:avLst>
          </a:prstGeom>
          <a:solidFill>
            <a:srgbClr val="FBEFE2"/>
          </a:solidFill>
          <a:ln w="15875">
            <a:solidFill>
              <a:srgbClr val="E2DCD0"/>
            </a:solidFill>
            <a:prstDash val="solid"/>
          </a:ln>
        </p:spPr>
        <p:txBody>
          <a:bodyPr/>
          <a:p/>
        </p:txBody>
      </p:sp>
      <p:sp>
        <p:nvSpPr>
          <p:cNvPr id="6" name="Text 4"/>
          <p:cNvSpPr/>
          <p:nvPr/>
        </p:nvSpPr>
        <p:spPr>
          <a:xfrm>
            <a:off x="640080" y="1952244"/>
            <a:ext cx="3108960" cy="365760"/>
          </a:xfrm>
          <a:prstGeom prst="rect">
            <a:avLst/>
          </a:prstGeom>
          <a:noFill/>
          <a:ln/>
        </p:spPr>
        <p:txBody>
          <a:bodyPr wrap="square" rtlCol="0" anchor="ctr"/>
          <a:lstStyle/>
          <a:p>
            <a:pPr algn="ctr" indent="0" marL="0">
              <a:buNone/>
            </a:pPr>
            <a:r>
              <a:rPr lang="en-US" sz="1350" b="1" dirty="0">
                <a:solidFill>
                  <a:srgbClr val="D35400"/>
                </a:solidFill>
                <a:latin typeface="맑은 고딕" pitchFamily="34" charset="0"/>
                <a:ea typeface="맑은 고딕" pitchFamily="34" charset="-122"/>
                <a:cs typeface="맑은 고딕" pitchFamily="34" charset="-120"/>
              </a:rPr>
              <a:t>① 노드 파괴</a:t>
            </a:r>
            <a:endParaRPr lang="en-US" sz="1350" dirty="0"/>
          </a:p>
        </p:txBody>
      </p:sp>
      <p:sp>
        <p:nvSpPr>
          <p:cNvPr id="7" name="Text 5"/>
          <p:cNvSpPr/>
          <p:nvPr/>
        </p:nvSpPr>
        <p:spPr>
          <a:xfrm>
            <a:off x="640080" y="2281428"/>
            <a:ext cx="310896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불에 타 죽는 순간</a:t>
            </a:r>
            <a:endParaRPr lang="en-US" sz="1000" dirty="0"/>
          </a:p>
        </p:txBody>
      </p:sp>
      <p:sp>
        <p:nvSpPr>
          <p:cNvPr id="8" name="Shape 6"/>
          <p:cNvSpPr/>
          <p:nvPr/>
        </p:nvSpPr>
        <p:spPr>
          <a:xfrm>
            <a:off x="3840480" y="2258568"/>
            <a:ext cx="685800" cy="0"/>
          </a:xfrm>
          <a:prstGeom prst="line">
            <a:avLst/>
          </a:prstGeom>
          <a:noFill/>
          <a:ln w="25400">
            <a:solidFill>
              <a:srgbClr val="D35400"/>
            </a:solidFill>
            <a:prstDash val="solid"/>
            <a:tailEnd type="triangle"/>
          </a:ln>
        </p:spPr>
        <p:txBody>
          <a:bodyPr/>
          <a:p/>
        </p:txBody>
      </p:sp>
      <p:sp>
        <p:nvSpPr>
          <p:cNvPr id="9" name="Shape 7"/>
          <p:cNvSpPr/>
          <p:nvPr/>
        </p:nvSpPr>
        <p:spPr>
          <a:xfrm>
            <a:off x="4617720" y="1737360"/>
            <a:ext cx="3108960" cy="1051560"/>
          </a:xfrm>
          <a:prstGeom prst="roundRect">
            <a:avLst>
              <a:gd name="adj" fmla="val 6957"/>
            </a:avLst>
          </a:prstGeom>
          <a:solidFill>
            <a:srgbClr val="FFFFFF"/>
          </a:solidFill>
          <a:ln w="15875">
            <a:solidFill>
              <a:srgbClr val="E2DCD0"/>
            </a:solidFill>
            <a:prstDash val="solid"/>
          </a:ln>
        </p:spPr>
        <p:txBody>
          <a:bodyPr/>
          <a:p/>
        </p:txBody>
      </p:sp>
      <p:sp>
        <p:nvSpPr>
          <p:cNvPr id="10" name="Text 8"/>
          <p:cNvSpPr/>
          <p:nvPr/>
        </p:nvSpPr>
        <p:spPr>
          <a:xfrm>
            <a:off x="4617720" y="1952244"/>
            <a:ext cx="310896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② 죽은 시각·좌표</a:t>
            </a:r>
            <a:endParaRPr lang="en-US" sz="1350" dirty="0"/>
          </a:p>
        </p:txBody>
      </p:sp>
      <p:sp>
        <p:nvSpPr>
          <p:cNvPr id="11" name="Text 9"/>
          <p:cNvSpPr/>
          <p:nvPr/>
        </p:nvSpPr>
        <p:spPr>
          <a:xfrm>
            <a:off x="4617720" y="2281428"/>
            <a:ext cx="310896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 불이 도착한 시각</a:t>
            </a:r>
            <a:endParaRPr lang="en-US" sz="1000" dirty="0"/>
          </a:p>
        </p:txBody>
      </p:sp>
      <p:sp>
        <p:nvSpPr>
          <p:cNvPr id="12" name="Shape 10"/>
          <p:cNvSpPr/>
          <p:nvPr/>
        </p:nvSpPr>
        <p:spPr>
          <a:xfrm>
            <a:off x="7818120" y="2258568"/>
            <a:ext cx="685800" cy="0"/>
          </a:xfrm>
          <a:prstGeom prst="line">
            <a:avLst/>
          </a:prstGeom>
          <a:noFill/>
          <a:ln w="25400">
            <a:solidFill>
              <a:srgbClr val="D35400"/>
            </a:solidFill>
            <a:prstDash val="solid"/>
            <a:tailEnd type="triangle"/>
          </a:ln>
        </p:spPr>
        <p:txBody>
          <a:bodyPr/>
          <a:p/>
        </p:txBody>
      </p:sp>
      <p:sp>
        <p:nvSpPr>
          <p:cNvPr id="13" name="Shape 11"/>
          <p:cNvSpPr/>
          <p:nvPr/>
        </p:nvSpPr>
        <p:spPr>
          <a:xfrm>
            <a:off x="8595360" y="1737360"/>
            <a:ext cx="3017520" cy="1051560"/>
          </a:xfrm>
          <a:prstGeom prst="roundRect">
            <a:avLst>
              <a:gd name="adj" fmla="val 6957"/>
            </a:avLst>
          </a:prstGeom>
          <a:solidFill>
            <a:srgbClr val="EEF3E6"/>
          </a:solidFill>
          <a:ln w="15875">
            <a:solidFill>
              <a:srgbClr val="E2DCD0"/>
            </a:solidFill>
            <a:prstDash val="solid"/>
          </a:ln>
        </p:spPr>
        <p:txBody>
          <a:bodyPr/>
          <a:p/>
        </p:txBody>
      </p:sp>
      <p:sp>
        <p:nvSpPr>
          <p:cNvPr id="14" name="Text 12"/>
          <p:cNvSpPr/>
          <p:nvPr/>
        </p:nvSpPr>
        <p:spPr>
          <a:xfrm>
            <a:off x="8595360" y="1952244"/>
            <a:ext cx="3017520" cy="365760"/>
          </a:xfrm>
          <a:prstGeom prst="rect">
            <a:avLst/>
          </a:prstGeom>
          <a:noFill/>
          <a:ln/>
        </p:spPr>
        <p:txBody>
          <a:bodyPr wrap="square" rtlCol="0" anchor="ctr"/>
          <a:lstStyle/>
          <a:p>
            <a:pPr algn="ctr" indent="0" marL="0">
              <a:buNone/>
            </a:pPr>
            <a:r>
              <a:rPr lang="en-US" sz="1350" b="1" dirty="0">
                <a:solidFill>
                  <a:srgbClr val="2C5F2D"/>
                </a:solidFill>
                <a:latin typeface="맑은 고딕" pitchFamily="34" charset="0"/>
                <a:ea typeface="맑은 고딕" pitchFamily="34" charset="-122"/>
                <a:cs typeface="맑은 고딕" pitchFamily="34" charset="-120"/>
              </a:rPr>
              <a:t>③ 방향·속도·ETA</a:t>
            </a:r>
            <a:endParaRPr lang="en-US" sz="1350" dirty="0"/>
          </a:p>
        </p:txBody>
      </p:sp>
      <p:sp>
        <p:nvSpPr>
          <p:cNvPr id="15" name="Text 13"/>
          <p:cNvSpPr/>
          <p:nvPr/>
        </p:nvSpPr>
        <p:spPr>
          <a:xfrm>
            <a:off x="8595360" y="2281428"/>
            <a:ext cx="30175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 신뢰도 등급</a:t>
            </a:r>
            <a:endParaRPr lang="en-US" sz="1000" dirty="0"/>
          </a:p>
        </p:txBody>
      </p:sp>
      <p:sp>
        <p:nvSpPr>
          <p:cNvPr id="16" name="Shape 14"/>
          <p:cNvSpPr/>
          <p:nvPr/>
        </p:nvSpPr>
        <p:spPr>
          <a:xfrm>
            <a:off x="640080" y="3108960"/>
            <a:ext cx="5440680" cy="2103120"/>
          </a:xfrm>
          <a:prstGeom prst="roundRect">
            <a:avLst>
              <a:gd name="adj" fmla="val 2609"/>
            </a:avLst>
          </a:prstGeom>
          <a:solidFill>
            <a:srgbClr val="FFFFFF"/>
          </a:solidFill>
          <a:ln w="12700">
            <a:solidFill>
              <a:srgbClr val="E2DCD0"/>
            </a:solidFill>
            <a:prstDash val="solid"/>
          </a:ln>
        </p:spPr>
        <p:txBody>
          <a:bodyPr/>
          <a:p/>
        </p:txBody>
      </p:sp>
      <p:sp>
        <p:nvSpPr>
          <p:cNvPr id="17" name="Text 15"/>
          <p:cNvSpPr/>
          <p:nvPr/>
        </p:nvSpPr>
        <p:spPr>
          <a:xfrm>
            <a:off x="868680" y="33101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목표 1 — 고장의 데이터화</a:t>
            </a:r>
            <a:endParaRPr lang="en-US" sz="1450" dirty="0"/>
          </a:p>
        </p:txBody>
      </p:sp>
      <p:sp>
        <p:nvSpPr>
          <p:cNvPr id="18" name="Shape 16"/>
          <p:cNvSpPr/>
          <p:nvPr/>
        </p:nvSpPr>
        <p:spPr>
          <a:xfrm>
            <a:off x="868680" y="3749040"/>
            <a:ext cx="502920" cy="0"/>
          </a:xfrm>
          <a:prstGeom prst="line">
            <a:avLst/>
          </a:prstGeom>
          <a:noFill/>
          <a:ln w="25400">
            <a:solidFill>
              <a:srgbClr val="D35400"/>
            </a:solidFill>
            <a:prstDash val="solid"/>
          </a:ln>
        </p:spPr>
        <p:txBody>
          <a:bodyPr/>
          <a:p/>
        </p:txBody>
      </p:sp>
      <p:sp>
        <p:nvSpPr>
          <p:cNvPr id="19" name="Text 17"/>
          <p:cNvSpPr/>
          <p:nvPr/>
        </p:nvSpPr>
        <p:spPr>
          <a:xfrm>
            <a:off x="868680" y="3886200"/>
            <a:ext cx="4983480"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교차검증된 '죽음'을 확정 이진 신호로 모아, 흩어진 (좌표·죽은시각)에서 화선의 위치·방향·속도를 추정한다.</a:t>
            </a:r>
            <a:endParaRPr lang="en-US" sz="1200" dirty="0"/>
          </a:p>
        </p:txBody>
      </p:sp>
      <p:sp>
        <p:nvSpPr>
          <p:cNvPr id="20" name="Shape 18"/>
          <p:cNvSpPr/>
          <p:nvPr/>
        </p:nvSpPr>
        <p:spPr>
          <a:xfrm>
            <a:off x="6199632" y="3108960"/>
            <a:ext cx="5431536" cy="2103120"/>
          </a:xfrm>
          <a:prstGeom prst="roundRect">
            <a:avLst>
              <a:gd name="adj" fmla="val 2609"/>
            </a:avLst>
          </a:prstGeom>
          <a:solidFill>
            <a:srgbClr val="FFFFFF"/>
          </a:solidFill>
          <a:ln w="12700">
            <a:solidFill>
              <a:srgbClr val="E2DCD0"/>
            </a:solidFill>
            <a:prstDash val="solid"/>
          </a:ln>
        </p:spPr>
        <p:txBody>
          <a:bodyPr/>
          <a:p/>
        </p:txBody>
      </p:sp>
      <p:sp>
        <p:nvSpPr>
          <p:cNvPr id="21" name="Text 19"/>
          <p:cNvSpPr/>
          <p:nvPr/>
        </p:nvSpPr>
        <p:spPr>
          <a:xfrm>
            <a:off x="6428232" y="3310128"/>
            <a:ext cx="4974336"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목표 2 — 자가치유</a:t>
            </a:r>
            <a:endParaRPr lang="en-US" sz="1450" dirty="0"/>
          </a:p>
        </p:txBody>
      </p:sp>
      <p:sp>
        <p:nvSpPr>
          <p:cNvPr id="22" name="Shape 20"/>
          <p:cNvSpPr/>
          <p:nvPr/>
        </p:nvSpPr>
        <p:spPr>
          <a:xfrm>
            <a:off x="6428232" y="3749040"/>
            <a:ext cx="502920" cy="0"/>
          </a:xfrm>
          <a:prstGeom prst="line">
            <a:avLst/>
          </a:prstGeom>
          <a:noFill/>
          <a:ln w="25400">
            <a:solidFill>
              <a:srgbClr val="D35400"/>
            </a:solidFill>
            <a:prstDash val="solid"/>
          </a:ln>
        </p:spPr>
        <p:txBody>
          <a:bodyPr/>
          <a:p/>
        </p:txBody>
      </p:sp>
      <p:sp>
        <p:nvSpPr>
          <p:cNvPr id="23" name="Text 21"/>
          <p:cNvSpPr/>
          <p:nvPr/>
        </p:nvSpPr>
        <p:spPr>
          <a:xfrm>
            <a:off x="6428232" y="3886200"/>
            <a:ext cx="4974336" cy="10972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노드가 죽어 경로가 끊겨도 남은 노드들이 자동으로 우회로를 다시 짜, 관측 자체가 계속되게 한다.</a:t>
            </a:r>
            <a:endParaRPr lang="en-US" sz="1200" dirty="0"/>
          </a:p>
        </p:txBody>
      </p:sp>
      <p:sp>
        <p:nvSpPr>
          <p:cNvPr id="24" name="Text 22"/>
          <p:cNvSpPr/>
          <p:nvPr/>
        </p:nvSpPr>
        <p:spPr>
          <a:xfrm>
            <a:off x="640080" y="5394960"/>
            <a:ext cx="10972800" cy="320040"/>
          </a:xfrm>
          <a:prstGeom prst="rect">
            <a:avLst/>
          </a:prstGeom>
          <a:noFill/>
          <a:ln/>
        </p:spPr>
        <p:txBody>
          <a:bodyPr wrap="square" rtlCol="0" anchor="ctr"/>
          <a:lstStyle/>
          <a:p>
            <a:pPr indent="0" marL="0">
              <a:buNone/>
            </a:pPr>
            <a:r>
              <a:rPr lang="en-US" sz="1250" b="1" i="1" dirty="0">
                <a:solidFill>
                  <a:srgbClr val="2C5F2D"/>
                </a:solidFill>
                <a:latin typeface="맑은 고딕" pitchFamily="34" charset="0"/>
                <a:ea typeface="맑은 고딕" pitchFamily="34" charset="-122"/>
                <a:cs typeface="맑은 고딕" pitchFamily="34" charset="-120"/>
              </a:rPr>
              <a:t>→ 두 목표가 합쳐져: 노드는 죽지만(불에 타도) 시스템의 관측은 '죽지 않는다'. = 불사(不死)의 이중 의미.</a:t>
            </a:r>
            <a:endParaRPr lang="en-US" sz="1250" dirty="0"/>
          </a:p>
        </p:txBody>
      </p:sp>
      <p:sp>
        <p:nvSpPr>
          <p:cNvPr id="25" name="Text 2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3</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환경 ① 시스템 구성  |  기술성(임베디드SW 적용)</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하드웨어 · 소프트웨어 구성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657600"/>
          </a:xfrm>
          <a:prstGeom prst="roundRect">
            <a:avLst>
              <a:gd name="adj" fmla="val 1500"/>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하드웨어</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6517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센서 노드: ESP32 × 16 (WiFi 메시)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감지: DS18B20 디지털 온도센서 (9비트 고속 모드)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상태 표시: WS2812 LED (생사·경보 시각화)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라즈베리파이 (메시↔대시보드)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전원(데모)  : USB 5V 급전 — 12분 연속 구동과 회차 간 재현성 확보</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전원(배치)  : 배터리 + 승압 모듈(MT3608)</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16노드 실물 재료비 ≈ 45만 원 (저가 소모형 설계).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열풍기·변압기 등은 검증용 계측 장비로 노드 원가와 별개.</a:t>
            </a:r>
            <a:endParaRPr lang="en-US" sz="1200" dirty="0"/>
          </a:p>
        </p:txBody>
      </p:sp>
      <p:sp>
        <p:nvSpPr>
          <p:cNvPr id="9" name="Shape 7"/>
          <p:cNvSpPr/>
          <p:nvPr/>
        </p:nvSpPr>
        <p:spPr>
          <a:xfrm>
            <a:off x="6153912" y="1508760"/>
            <a:ext cx="5477256" cy="3657600"/>
          </a:xfrm>
          <a:prstGeom prst="roundRect">
            <a:avLst>
              <a:gd name="adj" fmla="val 1500"/>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소프트웨어</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6517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펌웨어: C/C++ (Arduino-ESP32 + painlessMesh)</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메시 자동 구성·우회 + 메시 시각 동기 제공</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게이트웨이: Python — 시뮬 추정기 코드 그대로 재사용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관제: 자체완결 웹 대시보드 (HTML, 서버 불필요)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개발·검증: 네트워크 시뮬레이터(Python), Wokwi(컴파일 확인)</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일원화: 화재/비화재 판별을 단일 함수로 — 시뮬과 실물이</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코드를 호출한다(시뮬 결과가 실물의 근거가 되도록).</a:t>
            </a:r>
            <a:endParaRPr lang="en-US" sz="1200" dirty="0"/>
          </a:p>
        </p:txBody>
      </p:sp>
      <p:sp>
        <p:nvSpPr>
          <p:cNvPr id="13" name="Text 11"/>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4" name="Text 12"/>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4</a:t>
            </a:r>
            <a:endParaRPr lang="en-US" sz="900" dirty="0"/>
          </a:p>
        </p:txBody>
      </p:sp>
      <p:sp>
        <p:nvSpPr>
          <p:cNvPr id="15" name="Shape 13"/>
          <p:cNvSpPr/>
          <p:nvPr/>
        </p:nvSpPr>
        <p:spPr>
          <a:xfrm>
            <a:off x="10503027" y="6464808"/>
            <a:ext cx="144018" cy="36576"/>
          </a:xfrm>
          <a:prstGeom prst="line">
            <a:avLst/>
          </a:prstGeom>
          <a:noFill/>
          <a:ln w="9525">
            <a:solidFill>
              <a:srgbClr val="E2DCD0"/>
            </a:solidFill>
            <a:prstDash val="solid"/>
          </a:ln>
        </p:spPr>
        <p:txBody>
          <a:bodyPr/>
          <a:p/>
        </p:txBody>
      </p:sp>
      <p:sp>
        <p:nvSpPr>
          <p:cNvPr id="16" name="Shape 14"/>
          <p:cNvSpPr/>
          <p:nvPr/>
        </p:nvSpPr>
        <p:spPr>
          <a:xfrm>
            <a:off x="10503027" y="6464808"/>
            <a:ext cx="-4572" cy="187452"/>
          </a:xfrm>
          <a:prstGeom prst="line">
            <a:avLst/>
          </a:prstGeom>
          <a:noFill/>
          <a:ln w="9525">
            <a:solidFill>
              <a:srgbClr val="E2DCD0"/>
            </a:solidFill>
            <a:prstDash val="solid"/>
          </a:ln>
        </p:spPr>
        <p:txBody>
          <a:bodyPr/>
          <a:p/>
        </p:txBody>
      </p:sp>
      <p:sp>
        <p:nvSpPr>
          <p:cNvPr id="17" name="Shape 15"/>
          <p:cNvSpPr/>
          <p:nvPr/>
        </p:nvSpPr>
        <p:spPr>
          <a:xfrm>
            <a:off x="10647045" y="6501384"/>
            <a:ext cx="235458" cy="-50292"/>
          </a:xfrm>
          <a:prstGeom prst="line">
            <a:avLst/>
          </a:prstGeom>
          <a:noFill/>
          <a:ln w="9525">
            <a:solidFill>
              <a:srgbClr val="E2DCD0"/>
            </a:solidFill>
            <a:prstDash val="solid"/>
          </a:ln>
        </p:spPr>
        <p:txBody>
          <a:bodyPr/>
          <a:p/>
        </p:txBody>
      </p:sp>
      <p:sp>
        <p:nvSpPr>
          <p:cNvPr id="18" name="Shape 16"/>
          <p:cNvSpPr/>
          <p:nvPr/>
        </p:nvSpPr>
        <p:spPr>
          <a:xfrm>
            <a:off x="10647045" y="6501384"/>
            <a:ext cx="-4572" cy="196596"/>
          </a:xfrm>
          <a:prstGeom prst="line">
            <a:avLst/>
          </a:prstGeom>
          <a:noFill/>
          <a:ln w="9525">
            <a:solidFill>
              <a:srgbClr val="E2DCD0"/>
            </a:solidFill>
            <a:prstDash val="solid"/>
          </a:ln>
        </p:spPr>
        <p:txBody>
          <a:bodyPr/>
          <a:p/>
        </p:txBody>
      </p:sp>
      <p:sp>
        <p:nvSpPr>
          <p:cNvPr id="19" name="Shape 17"/>
          <p:cNvSpPr/>
          <p:nvPr/>
        </p:nvSpPr>
        <p:spPr>
          <a:xfrm>
            <a:off x="10882503" y="6451092"/>
            <a:ext cx="162306" cy="41148"/>
          </a:xfrm>
          <a:prstGeom prst="line">
            <a:avLst/>
          </a:prstGeom>
          <a:noFill/>
          <a:ln w="9525">
            <a:solidFill>
              <a:srgbClr val="E2DCD0"/>
            </a:solidFill>
            <a:prstDash val="solid"/>
          </a:ln>
        </p:spPr>
        <p:txBody>
          <a:bodyPr/>
          <a:p/>
        </p:txBody>
      </p:sp>
      <p:sp>
        <p:nvSpPr>
          <p:cNvPr id="20" name="Shape 18"/>
          <p:cNvSpPr/>
          <p:nvPr/>
        </p:nvSpPr>
        <p:spPr>
          <a:xfrm>
            <a:off x="10882503" y="6451092"/>
            <a:ext cx="-4572" cy="196596"/>
          </a:xfrm>
          <a:prstGeom prst="line">
            <a:avLst/>
          </a:prstGeom>
          <a:noFill/>
          <a:ln w="9525">
            <a:solidFill>
              <a:srgbClr val="E2DCD0"/>
            </a:solidFill>
            <a:prstDash val="solid"/>
          </a:ln>
        </p:spPr>
        <p:txBody>
          <a:bodyPr/>
          <a:p/>
        </p:txBody>
      </p:sp>
      <p:sp>
        <p:nvSpPr>
          <p:cNvPr id="21" name="Shape 19"/>
          <p:cNvSpPr/>
          <p:nvPr/>
        </p:nvSpPr>
        <p:spPr>
          <a:xfrm>
            <a:off x="11044809" y="6492240"/>
            <a:ext cx="-4572" cy="196596"/>
          </a:xfrm>
          <a:prstGeom prst="line">
            <a:avLst/>
          </a:prstGeom>
          <a:noFill/>
          <a:ln w="9525">
            <a:solidFill>
              <a:srgbClr val="E2DCD0"/>
            </a:solidFill>
            <a:prstDash val="solid"/>
          </a:ln>
        </p:spPr>
        <p:txBody>
          <a:bodyPr/>
          <a:p/>
        </p:txBody>
      </p:sp>
      <p:sp>
        <p:nvSpPr>
          <p:cNvPr id="22" name="Shape 20"/>
          <p:cNvSpPr/>
          <p:nvPr/>
        </p:nvSpPr>
        <p:spPr>
          <a:xfrm>
            <a:off x="10498455" y="6652260"/>
            <a:ext cx="144018" cy="45720"/>
          </a:xfrm>
          <a:prstGeom prst="line">
            <a:avLst/>
          </a:prstGeom>
          <a:noFill/>
          <a:ln w="9525">
            <a:solidFill>
              <a:srgbClr val="E2DCD0"/>
            </a:solidFill>
            <a:prstDash val="solid"/>
          </a:ln>
        </p:spPr>
        <p:txBody>
          <a:bodyPr/>
          <a:p/>
        </p:txBody>
      </p:sp>
      <p:sp>
        <p:nvSpPr>
          <p:cNvPr id="23" name="Shape 21"/>
          <p:cNvSpPr/>
          <p:nvPr/>
        </p:nvSpPr>
        <p:spPr>
          <a:xfrm>
            <a:off x="10642473" y="6697980"/>
            <a:ext cx="235458" cy="-50292"/>
          </a:xfrm>
          <a:prstGeom prst="line">
            <a:avLst/>
          </a:prstGeom>
          <a:noFill/>
          <a:ln w="9525">
            <a:solidFill>
              <a:srgbClr val="E2DCD0"/>
            </a:solidFill>
            <a:prstDash val="solid"/>
          </a:ln>
        </p:spPr>
        <p:txBody>
          <a:bodyPr/>
          <a:p/>
        </p:txBody>
      </p:sp>
      <p:sp>
        <p:nvSpPr>
          <p:cNvPr id="24" name="Shape 22"/>
          <p:cNvSpPr/>
          <p:nvPr/>
        </p:nvSpPr>
        <p:spPr>
          <a:xfrm>
            <a:off x="10877931" y="6647688"/>
            <a:ext cx="162306" cy="41148"/>
          </a:xfrm>
          <a:prstGeom prst="line">
            <a:avLst/>
          </a:prstGeom>
          <a:noFill/>
          <a:ln w="9525">
            <a:solidFill>
              <a:srgbClr val="E2DCD0"/>
            </a:solidFill>
            <a:prstDash val="solid"/>
          </a:ln>
        </p:spPr>
        <p:txBody>
          <a:bodyPr/>
          <a:p/>
        </p:txBody>
      </p:sp>
      <p:sp>
        <p:nvSpPr>
          <p:cNvPr id="25" name="Shape 2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6" name="Shape 2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7" name="Shape 2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8" name="Shape 2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9" name="Shape 2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0" name="Shape 2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1" name="Shape 2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2" name="Shape 3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환경 ② 기능 설계도  |  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데이터 흐름 아키텍처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02920" y="2286000"/>
            <a:ext cx="2331720" cy="1188720"/>
          </a:xfrm>
          <a:prstGeom prst="roundRect">
            <a:avLst>
              <a:gd name="adj" fmla="val 6154"/>
            </a:avLst>
          </a:prstGeom>
          <a:solidFill>
            <a:srgbClr val="FBEFE2"/>
          </a:solidFill>
          <a:ln w="15875">
            <a:solidFill>
              <a:srgbClr val="E2DCD0"/>
            </a:solidFill>
            <a:prstDash val="solid"/>
          </a:ln>
        </p:spPr>
        <p:txBody>
          <a:bodyPr/>
          <a:p/>
        </p:txBody>
      </p:sp>
      <p:sp>
        <p:nvSpPr>
          <p:cNvPr id="6" name="Text 4"/>
          <p:cNvSpPr/>
          <p:nvPr/>
        </p:nvSpPr>
        <p:spPr>
          <a:xfrm>
            <a:off x="502920" y="2569464"/>
            <a:ext cx="2331720" cy="365760"/>
          </a:xfrm>
          <a:prstGeom prst="rect">
            <a:avLst/>
          </a:prstGeom>
          <a:noFill/>
          <a:ln/>
        </p:spPr>
        <p:txBody>
          <a:bodyPr wrap="square" rtlCol="0" anchor="ctr"/>
          <a:lstStyle/>
          <a:p>
            <a:pPr algn="ctr" indent="0" marL="0">
              <a:buNone/>
            </a:pPr>
            <a:r>
              <a:rPr lang="en-US" sz="1350" b="1" dirty="0">
                <a:solidFill>
                  <a:srgbClr val="D35400"/>
                </a:solidFill>
                <a:latin typeface="맑은 고딕" pitchFamily="34" charset="0"/>
                <a:ea typeface="맑은 고딕" pitchFamily="34" charset="-122"/>
                <a:cs typeface="맑은 고딕" pitchFamily="34" charset="-120"/>
              </a:rPr>
              <a:t>센서 노드</a:t>
            </a:r>
            <a:endParaRPr lang="en-US" sz="1350" dirty="0"/>
          </a:p>
        </p:txBody>
      </p:sp>
      <p:sp>
        <p:nvSpPr>
          <p:cNvPr id="7" name="Text 5"/>
          <p:cNvSpPr/>
          <p:nvPr/>
        </p:nvSpPr>
        <p:spPr>
          <a:xfrm>
            <a:off x="50292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ESP32 + 온도</a:t>
            </a:r>
            <a:endParaRPr lang="en-US" sz="1000" dirty="0"/>
          </a:p>
        </p:txBody>
      </p:sp>
      <p:sp>
        <p:nvSpPr>
          <p:cNvPr id="8" name="Shape 6"/>
          <p:cNvSpPr/>
          <p:nvPr/>
        </p:nvSpPr>
        <p:spPr>
          <a:xfrm>
            <a:off x="2880360" y="2880360"/>
            <a:ext cx="457200" cy="0"/>
          </a:xfrm>
          <a:prstGeom prst="line">
            <a:avLst/>
          </a:prstGeom>
          <a:noFill/>
          <a:ln w="25400">
            <a:solidFill>
              <a:srgbClr val="D35400"/>
            </a:solidFill>
            <a:prstDash val="solid"/>
            <a:tailEnd type="triangle"/>
          </a:ln>
        </p:spPr>
        <p:txBody>
          <a:bodyPr/>
          <a:p/>
        </p:txBody>
      </p:sp>
      <p:sp>
        <p:nvSpPr>
          <p:cNvPr id="9" name="Shape 7"/>
          <p:cNvSpPr/>
          <p:nvPr/>
        </p:nvSpPr>
        <p:spPr>
          <a:xfrm>
            <a:off x="338328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0" name="Text 8"/>
          <p:cNvSpPr/>
          <p:nvPr/>
        </p:nvSpPr>
        <p:spPr>
          <a:xfrm>
            <a:off x="3383280" y="2569464"/>
            <a:ext cx="233172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메시 네트워크</a:t>
            </a:r>
            <a:endParaRPr lang="en-US" sz="1350" dirty="0"/>
          </a:p>
        </p:txBody>
      </p:sp>
      <p:sp>
        <p:nvSpPr>
          <p:cNvPr id="11" name="Text 9"/>
          <p:cNvSpPr/>
          <p:nvPr/>
        </p:nvSpPr>
        <p:spPr>
          <a:xfrm>
            <a:off x="338328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painlessMesh</a:t>
            </a:r>
            <a:endParaRPr lang="en-US" sz="1000" dirty="0"/>
          </a:p>
        </p:txBody>
      </p:sp>
      <p:sp>
        <p:nvSpPr>
          <p:cNvPr id="12" name="Shape 10"/>
          <p:cNvSpPr/>
          <p:nvPr/>
        </p:nvSpPr>
        <p:spPr>
          <a:xfrm>
            <a:off x="5760720" y="2880360"/>
            <a:ext cx="457200" cy="0"/>
          </a:xfrm>
          <a:prstGeom prst="line">
            <a:avLst/>
          </a:prstGeom>
          <a:noFill/>
          <a:ln w="25400">
            <a:solidFill>
              <a:srgbClr val="D35400"/>
            </a:solidFill>
            <a:prstDash val="solid"/>
            <a:tailEnd type="triangle"/>
          </a:ln>
        </p:spPr>
        <p:txBody>
          <a:bodyPr/>
          <a:p/>
        </p:txBody>
      </p:sp>
      <p:sp>
        <p:nvSpPr>
          <p:cNvPr id="13" name="Shape 11"/>
          <p:cNvSpPr/>
          <p:nvPr/>
        </p:nvSpPr>
        <p:spPr>
          <a:xfrm>
            <a:off x="6263640" y="2286000"/>
            <a:ext cx="2331720" cy="1188720"/>
          </a:xfrm>
          <a:prstGeom prst="roundRect">
            <a:avLst>
              <a:gd name="adj" fmla="val 6154"/>
            </a:avLst>
          </a:prstGeom>
          <a:solidFill>
            <a:srgbClr val="FFFFFF"/>
          </a:solidFill>
          <a:ln w="15875">
            <a:solidFill>
              <a:srgbClr val="E2DCD0"/>
            </a:solidFill>
            <a:prstDash val="solid"/>
          </a:ln>
        </p:spPr>
        <p:txBody>
          <a:bodyPr/>
          <a:p/>
        </p:txBody>
      </p:sp>
      <p:sp>
        <p:nvSpPr>
          <p:cNvPr id="14" name="Text 12"/>
          <p:cNvSpPr/>
          <p:nvPr/>
        </p:nvSpPr>
        <p:spPr>
          <a:xfrm>
            <a:off x="6263640" y="2569464"/>
            <a:ext cx="2331720" cy="365760"/>
          </a:xfrm>
          <a:prstGeom prst="rect">
            <a:avLst/>
          </a:prstGeom>
          <a:noFill/>
          <a:ln/>
        </p:spPr>
        <p:txBody>
          <a:bodyPr wrap="square" rtlCol="0" anchor="ctr"/>
          <a:lstStyle/>
          <a:p>
            <a:pPr algn="ctr" indent="0" marL="0">
              <a:buNone/>
            </a:pPr>
            <a:r>
              <a:rPr lang="en-US" sz="1350" b="1" dirty="0">
                <a:solidFill>
                  <a:srgbClr val="1F2421"/>
                </a:solidFill>
                <a:latin typeface="맑은 고딕" pitchFamily="34" charset="0"/>
                <a:ea typeface="맑은 고딕" pitchFamily="34" charset="-122"/>
                <a:cs typeface="맑은 고딕" pitchFamily="34" charset="-120"/>
              </a:rPr>
              <a:t>게이트웨이</a:t>
            </a:r>
            <a:endParaRPr lang="en-US" sz="1350" dirty="0"/>
          </a:p>
        </p:txBody>
      </p:sp>
      <p:sp>
        <p:nvSpPr>
          <p:cNvPr id="15" name="Text 13"/>
          <p:cNvSpPr/>
          <p:nvPr/>
        </p:nvSpPr>
        <p:spPr>
          <a:xfrm>
            <a:off x="626364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RPi · 추정기(Python)</a:t>
            </a:r>
            <a:endParaRPr lang="en-US" sz="1000" dirty="0"/>
          </a:p>
        </p:txBody>
      </p:sp>
      <p:sp>
        <p:nvSpPr>
          <p:cNvPr id="16" name="Shape 14"/>
          <p:cNvSpPr/>
          <p:nvPr/>
        </p:nvSpPr>
        <p:spPr>
          <a:xfrm>
            <a:off x="8641080" y="2880360"/>
            <a:ext cx="457200" cy="0"/>
          </a:xfrm>
          <a:prstGeom prst="line">
            <a:avLst/>
          </a:prstGeom>
          <a:noFill/>
          <a:ln w="25400">
            <a:solidFill>
              <a:srgbClr val="D35400"/>
            </a:solidFill>
            <a:prstDash val="solid"/>
            <a:tailEnd type="triangle"/>
          </a:ln>
        </p:spPr>
        <p:txBody>
          <a:bodyPr/>
          <a:p/>
        </p:txBody>
      </p:sp>
      <p:sp>
        <p:nvSpPr>
          <p:cNvPr id="17" name="Shape 15"/>
          <p:cNvSpPr/>
          <p:nvPr/>
        </p:nvSpPr>
        <p:spPr>
          <a:xfrm>
            <a:off x="9144000" y="2286000"/>
            <a:ext cx="2331720" cy="1188720"/>
          </a:xfrm>
          <a:prstGeom prst="roundRect">
            <a:avLst>
              <a:gd name="adj" fmla="val 6154"/>
            </a:avLst>
          </a:prstGeom>
          <a:solidFill>
            <a:srgbClr val="EEF3E6"/>
          </a:solidFill>
          <a:ln w="15875">
            <a:solidFill>
              <a:srgbClr val="E2DCD0"/>
            </a:solidFill>
            <a:prstDash val="solid"/>
          </a:ln>
        </p:spPr>
        <p:txBody>
          <a:bodyPr/>
          <a:p/>
        </p:txBody>
      </p:sp>
      <p:sp>
        <p:nvSpPr>
          <p:cNvPr id="18" name="Text 16"/>
          <p:cNvSpPr/>
          <p:nvPr/>
        </p:nvSpPr>
        <p:spPr>
          <a:xfrm>
            <a:off x="9144000" y="2569464"/>
            <a:ext cx="2331720" cy="365760"/>
          </a:xfrm>
          <a:prstGeom prst="rect">
            <a:avLst/>
          </a:prstGeom>
          <a:noFill/>
          <a:ln/>
        </p:spPr>
        <p:txBody>
          <a:bodyPr wrap="square" rtlCol="0" anchor="ctr"/>
          <a:lstStyle/>
          <a:p>
            <a:pPr algn="ctr" indent="0" marL="0">
              <a:buNone/>
            </a:pPr>
            <a:r>
              <a:rPr lang="en-US" sz="1350" b="1" dirty="0">
                <a:solidFill>
                  <a:srgbClr val="2C5F2D"/>
                </a:solidFill>
                <a:latin typeface="맑은 고딕" pitchFamily="34" charset="0"/>
                <a:ea typeface="맑은 고딕" pitchFamily="34" charset="-122"/>
                <a:cs typeface="맑은 고딕" pitchFamily="34" charset="-120"/>
              </a:rPr>
              <a:t>웹 대시보드</a:t>
            </a:r>
            <a:endParaRPr lang="en-US" sz="1350" dirty="0"/>
          </a:p>
        </p:txBody>
      </p:sp>
      <p:sp>
        <p:nvSpPr>
          <p:cNvPr id="19" name="Text 17"/>
          <p:cNvSpPr/>
          <p:nvPr/>
        </p:nvSpPr>
        <p:spPr>
          <a:xfrm>
            <a:off x="9144000" y="2898648"/>
            <a:ext cx="2331720" cy="274320"/>
          </a:xfrm>
          <a:prstGeom prst="rect">
            <a:avLst/>
          </a:prstGeom>
          <a:noFill/>
          <a:ln/>
        </p:spPr>
        <p:txBody>
          <a:bodyPr wrap="square" rtlCol="0" anchor="ctr"/>
          <a:lstStyle/>
          <a:p>
            <a:pPr algn="ctr" indent="0" marL="0">
              <a:buNone/>
            </a:pPr>
            <a:r>
              <a:rPr lang="en-US" sz="1000" dirty="0">
                <a:solidFill>
                  <a:srgbClr val="6B6E6A"/>
                </a:solidFill>
                <a:latin typeface="맑은 고딕" pitchFamily="34" charset="0"/>
                <a:ea typeface="맑은 고딕" pitchFamily="34" charset="-122"/>
                <a:cs typeface="맑은 고딕" pitchFamily="34" charset="-120"/>
              </a:rPr>
              <a:t>화선·경보 관제</a:t>
            </a:r>
            <a:endParaRPr lang="en-US" sz="1000" dirty="0"/>
          </a:p>
        </p:txBody>
      </p:sp>
      <p:sp>
        <p:nvSpPr>
          <p:cNvPr id="20" name="Text 18"/>
          <p:cNvSpPr/>
          <p:nvPr/>
        </p:nvSpPr>
        <p:spPr>
          <a:xfrm>
            <a:off x="548640" y="3977640"/>
            <a:ext cx="11064240" cy="731520"/>
          </a:xfrm>
          <a:prstGeom prst="rect">
            <a:avLst/>
          </a:prstGeom>
          <a:noFill/>
          <a:ln/>
        </p:spPr>
        <p:txBody>
          <a:bodyPr wrap="square" rtlCol="0" anchor="ctr"/>
          <a:lstStyle/>
          <a:p>
            <a:pPr algn="ctr" indent="0" marL="0">
              <a:lnSpc>
                <a:spcPct val="130000"/>
              </a:lnSpc>
              <a:buNone/>
            </a:pPr>
            <a:r>
              <a:rPr lang="en-US" sz="1300" dirty="0">
                <a:solidFill>
                  <a:srgbClr val="44483F"/>
                </a:solidFill>
                <a:latin typeface="맑은 고딕" pitchFamily="34" charset="0"/>
                <a:ea typeface="맑은 고딕" pitchFamily="34" charset="-122"/>
                <a:cs typeface="맑은 고딕" pitchFamily="34" charset="-120"/>
              </a:rPr>
              <a:t>노드가 임종신호·하트비트를 메시로 흘리면, 게이트웨이가 죽은 노드의 시공간 패턴에서 화선을 추정하고, 대시보드가 생사·자가치유 경로·참/추정 화선·대피경보를 실시간 재생한다.</a:t>
            </a:r>
            <a:endParaRPr lang="en-US" sz="1300" dirty="0"/>
          </a:p>
        </p:txBody>
      </p:sp>
      <p:sp>
        <p:nvSpPr>
          <p:cNvPr id="21" name="Shape 19"/>
          <p:cNvSpPr/>
          <p:nvPr/>
        </p:nvSpPr>
        <p:spPr>
          <a:xfrm>
            <a:off x="1371600" y="4892040"/>
            <a:ext cx="9418320" cy="1051560"/>
          </a:xfrm>
          <a:prstGeom prst="roundRect">
            <a:avLst>
              <a:gd name="adj" fmla="val 5217"/>
            </a:avLst>
          </a:prstGeom>
          <a:solidFill>
            <a:srgbClr val="EEF3E6"/>
          </a:solidFill>
          <a:ln w="12700">
            <a:solidFill>
              <a:srgbClr val="E2DCD0"/>
            </a:solidFill>
            <a:prstDash val="solid"/>
          </a:ln>
        </p:spPr>
        <p:txBody>
          <a:bodyPr/>
          <a:p/>
        </p:txBody>
      </p:sp>
      <p:sp>
        <p:nvSpPr>
          <p:cNvPr id="22" name="Text 20"/>
          <p:cNvSpPr/>
          <p:nvPr/>
        </p:nvSpPr>
        <p:spPr>
          <a:xfrm>
            <a:off x="1600200" y="5093208"/>
            <a:ext cx="896112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핵심 이식성 증명 · 판정 일원화</a:t>
            </a:r>
            <a:endParaRPr lang="en-US" sz="1450" dirty="0"/>
          </a:p>
        </p:txBody>
      </p:sp>
      <p:sp>
        <p:nvSpPr>
          <p:cNvPr id="23" name="Shape 21"/>
          <p:cNvSpPr/>
          <p:nvPr/>
        </p:nvSpPr>
        <p:spPr>
          <a:xfrm>
            <a:off x="1600200" y="5532120"/>
            <a:ext cx="502920" cy="0"/>
          </a:xfrm>
          <a:prstGeom prst="line">
            <a:avLst/>
          </a:prstGeom>
          <a:noFill/>
          <a:ln w="25400">
            <a:solidFill>
              <a:srgbClr val="D35400"/>
            </a:solidFill>
            <a:prstDash val="solid"/>
          </a:ln>
        </p:spPr>
        <p:txBody>
          <a:bodyPr/>
          <a:p/>
        </p:txBody>
      </p:sp>
      <p:sp>
        <p:nvSpPr>
          <p:cNvPr id="24" name="Text 22"/>
          <p:cNvSpPr/>
          <p:nvPr/>
        </p:nvSpPr>
        <p:spPr>
          <a:xfrm>
            <a:off x="1600200" y="5669280"/>
            <a:ext cx="8961120" cy="4572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게이트웨이가 시뮬레이터의 추정기 코드를 그대로 재사용 → 모의 데이터에서 시뮬 직접값과 완전 일치. 나아가 화재/비화재 판별도 단일 함수로 통합해 시뮬·실물이 같은 판정을 쓴다 — 두 경로가 다른 판정을 쓰면 시뮬 결과가 실물의 근거가 되지 못하기 때문.</a:t>
            </a:r>
            <a:endParaRPr lang="en-US" sz="1200" dirty="0"/>
          </a:p>
        </p:txBody>
      </p:sp>
      <p:sp>
        <p:nvSpPr>
          <p:cNvPr id="25" name="Text 2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6" name="Text 2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5</a:t>
            </a:r>
            <a:endParaRPr lang="en-US" sz="900" dirty="0"/>
          </a:p>
        </p:txBody>
      </p:sp>
      <p:sp>
        <p:nvSpPr>
          <p:cNvPr id="27" name="Shape 25"/>
          <p:cNvSpPr/>
          <p:nvPr/>
        </p:nvSpPr>
        <p:spPr>
          <a:xfrm>
            <a:off x="10503027" y="6464808"/>
            <a:ext cx="144018" cy="36576"/>
          </a:xfrm>
          <a:prstGeom prst="line">
            <a:avLst/>
          </a:prstGeom>
          <a:noFill/>
          <a:ln w="9525">
            <a:solidFill>
              <a:srgbClr val="E2DCD0"/>
            </a:solidFill>
            <a:prstDash val="solid"/>
          </a:ln>
        </p:spPr>
        <p:txBody>
          <a:bodyPr/>
          <a:p/>
        </p:txBody>
      </p:sp>
      <p:sp>
        <p:nvSpPr>
          <p:cNvPr id="28" name="Shape 26"/>
          <p:cNvSpPr/>
          <p:nvPr/>
        </p:nvSpPr>
        <p:spPr>
          <a:xfrm>
            <a:off x="10503027" y="6464808"/>
            <a:ext cx="-4572" cy="187452"/>
          </a:xfrm>
          <a:prstGeom prst="line">
            <a:avLst/>
          </a:prstGeom>
          <a:noFill/>
          <a:ln w="9525">
            <a:solidFill>
              <a:srgbClr val="E2DCD0"/>
            </a:solidFill>
            <a:prstDash val="solid"/>
          </a:ln>
        </p:spPr>
        <p:txBody>
          <a:bodyPr/>
          <a:p/>
        </p:txBody>
      </p:sp>
      <p:sp>
        <p:nvSpPr>
          <p:cNvPr id="29" name="Shape 27"/>
          <p:cNvSpPr/>
          <p:nvPr/>
        </p:nvSpPr>
        <p:spPr>
          <a:xfrm>
            <a:off x="10647045" y="6501384"/>
            <a:ext cx="235458" cy="-50292"/>
          </a:xfrm>
          <a:prstGeom prst="line">
            <a:avLst/>
          </a:prstGeom>
          <a:noFill/>
          <a:ln w="9525">
            <a:solidFill>
              <a:srgbClr val="E2DCD0"/>
            </a:solidFill>
            <a:prstDash val="solid"/>
          </a:ln>
        </p:spPr>
        <p:txBody>
          <a:bodyPr/>
          <a:p/>
        </p:txBody>
      </p:sp>
      <p:sp>
        <p:nvSpPr>
          <p:cNvPr id="30" name="Shape 28"/>
          <p:cNvSpPr/>
          <p:nvPr/>
        </p:nvSpPr>
        <p:spPr>
          <a:xfrm>
            <a:off x="10647045" y="6501384"/>
            <a:ext cx="-4572" cy="196596"/>
          </a:xfrm>
          <a:prstGeom prst="line">
            <a:avLst/>
          </a:prstGeom>
          <a:noFill/>
          <a:ln w="9525">
            <a:solidFill>
              <a:srgbClr val="E2DCD0"/>
            </a:solidFill>
            <a:prstDash val="solid"/>
          </a:ln>
        </p:spPr>
        <p:txBody>
          <a:bodyPr/>
          <a:p/>
        </p:txBody>
      </p:sp>
      <p:sp>
        <p:nvSpPr>
          <p:cNvPr id="31" name="Shape 29"/>
          <p:cNvSpPr/>
          <p:nvPr/>
        </p:nvSpPr>
        <p:spPr>
          <a:xfrm>
            <a:off x="10882503" y="6451092"/>
            <a:ext cx="162306" cy="41148"/>
          </a:xfrm>
          <a:prstGeom prst="line">
            <a:avLst/>
          </a:prstGeom>
          <a:noFill/>
          <a:ln w="9525">
            <a:solidFill>
              <a:srgbClr val="E2DCD0"/>
            </a:solidFill>
            <a:prstDash val="solid"/>
          </a:ln>
        </p:spPr>
        <p:txBody>
          <a:bodyPr/>
          <a:p/>
        </p:txBody>
      </p:sp>
      <p:sp>
        <p:nvSpPr>
          <p:cNvPr id="32" name="Shape 30"/>
          <p:cNvSpPr/>
          <p:nvPr/>
        </p:nvSpPr>
        <p:spPr>
          <a:xfrm>
            <a:off x="10882503" y="6451092"/>
            <a:ext cx="-4572" cy="196596"/>
          </a:xfrm>
          <a:prstGeom prst="line">
            <a:avLst/>
          </a:prstGeom>
          <a:noFill/>
          <a:ln w="9525">
            <a:solidFill>
              <a:srgbClr val="E2DCD0"/>
            </a:solidFill>
            <a:prstDash val="solid"/>
          </a:ln>
        </p:spPr>
        <p:txBody>
          <a:bodyPr/>
          <a:p/>
        </p:txBody>
      </p:sp>
      <p:sp>
        <p:nvSpPr>
          <p:cNvPr id="33" name="Shape 31"/>
          <p:cNvSpPr/>
          <p:nvPr/>
        </p:nvSpPr>
        <p:spPr>
          <a:xfrm>
            <a:off x="11044809" y="6492240"/>
            <a:ext cx="-4572" cy="196596"/>
          </a:xfrm>
          <a:prstGeom prst="line">
            <a:avLst/>
          </a:prstGeom>
          <a:noFill/>
          <a:ln w="9525">
            <a:solidFill>
              <a:srgbClr val="E2DCD0"/>
            </a:solidFill>
            <a:prstDash val="solid"/>
          </a:ln>
        </p:spPr>
        <p:txBody>
          <a:bodyPr/>
          <a:p/>
        </p:txBody>
      </p:sp>
      <p:sp>
        <p:nvSpPr>
          <p:cNvPr id="34" name="Shape 32"/>
          <p:cNvSpPr/>
          <p:nvPr/>
        </p:nvSpPr>
        <p:spPr>
          <a:xfrm>
            <a:off x="10498455" y="6652260"/>
            <a:ext cx="144018" cy="45720"/>
          </a:xfrm>
          <a:prstGeom prst="line">
            <a:avLst/>
          </a:prstGeom>
          <a:noFill/>
          <a:ln w="9525">
            <a:solidFill>
              <a:srgbClr val="E2DCD0"/>
            </a:solidFill>
            <a:prstDash val="solid"/>
          </a:ln>
        </p:spPr>
        <p:txBody>
          <a:bodyPr/>
          <a:p/>
        </p:txBody>
      </p:sp>
      <p:sp>
        <p:nvSpPr>
          <p:cNvPr id="35" name="Shape 33"/>
          <p:cNvSpPr/>
          <p:nvPr/>
        </p:nvSpPr>
        <p:spPr>
          <a:xfrm>
            <a:off x="10642473" y="6697980"/>
            <a:ext cx="235458" cy="-50292"/>
          </a:xfrm>
          <a:prstGeom prst="line">
            <a:avLst/>
          </a:prstGeom>
          <a:noFill/>
          <a:ln w="9525">
            <a:solidFill>
              <a:srgbClr val="E2DCD0"/>
            </a:solidFill>
            <a:prstDash val="solid"/>
          </a:ln>
        </p:spPr>
        <p:txBody>
          <a:bodyPr/>
          <a:p/>
        </p:txBody>
      </p:sp>
      <p:sp>
        <p:nvSpPr>
          <p:cNvPr id="36" name="Shape 34"/>
          <p:cNvSpPr/>
          <p:nvPr/>
        </p:nvSpPr>
        <p:spPr>
          <a:xfrm>
            <a:off x="10877931" y="6647688"/>
            <a:ext cx="162306" cy="41148"/>
          </a:xfrm>
          <a:prstGeom prst="line">
            <a:avLst/>
          </a:prstGeom>
          <a:noFill/>
          <a:ln w="9525">
            <a:solidFill>
              <a:srgbClr val="E2DCD0"/>
            </a:solidFill>
            <a:prstDash val="solid"/>
          </a:ln>
        </p:spPr>
        <p:txBody>
          <a:bodyPr/>
          <a:p/>
        </p:txBody>
      </p:sp>
      <p:sp>
        <p:nvSpPr>
          <p:cNvPr id="37" name="Shape 3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1" name="Shape 3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2" name="Shape 4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3" name="Shape 4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4" name="Shape 4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① 4대 모듈  |  기술성·완성도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시스템을 이루는 네 개의 핵심 모듈</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6" name="Text 4"/>
          <p:cNvSpPr/>
          <p:nvPr/>
        </p:nvSpPr>
        <p:spPr>
          <a:xfrm>
            <a:off x="777240" y="17373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①</a:t>
            </a:r>
            <a:endParaRPr lang="en-US" sz="3000" dirty="0"/>
          </a:p>
        </p:txBody>
      </p:sp>
      <p:sp>
        <p:nvSpPr>
          <p:cNvPr id="7" name="Text 5"/>
          <p:cNvSpPr/>
          <p:nvPr/>
        </p:nvSpPr>
        <p:spPr>
          <a:xfrm>
            <a:off x="1508760" y="1810512"/>
            <a:ext cx="434340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임종신호 (Last-Gasp)</a:t>
            </a:r>
            <a:endParaRPr lang="en-US" sz="1500" dirty="0"/>
          </a:p>
        </p:txBody>
      </p:sp>
      <p:sp>
        <p:nvSpPr>
          <p:cNvPr id="8" name="Text 6"/>
          <p:cNvSpPr/>
          <p:nvPr/>
        </p:nvSpPr>
        <p:spPr>
          <a:xfrm>
            <a:off x="1508760" y="22128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임계온도를 넘겨 죽기 직전 쏘는 마지막 패킷 — 죽음의 시각을 확정.</a:t>
            </a:r>
            <a:endParaRPr lang="en-US" sz="1150" dirty="0"/>
          </a:p>
        </p:txBody>
      </p:sp>
      <p:sp>
        <p:nvSpPr>
          <p:cNvPr id="9" name="Shape 7"/>
          <p:cNvSpPr/>
          <p:nvPr/>
        </p:nvSpPr>
        <p:spPr>
          <a:xfrm>
            <a:off x="6153912" y="1554480"/>
            <a:ext cx="5468112" cy="1645920"/>
          </a:xfrm>
          <a:prstGeom prst="roundRect">
            <a:avLst>
              <a:gd name="adj" fmla="val 3333"/>
            </a:avLst>
          </a:prstGeom>
          <a:solidFill>
            <a:srgbClr val="FFFFFF"/>
          </a:solidFill>
          <a:ln w="12700">
            <a:solidFill>
              <a:srgbClr val="E2DCD0"/>
            </a:solidFill>
            <a:prstDash val="solid"/>
          </a:ln>
        </p:spPr>
        <p:txBody>
          <a:bodyPr/>
          <a:p/>
        </p:txBody>
      </p:sp>
      <p:sp>
        <p:nvSpPr>
          <p:cNvPr id="10" name="Text 8"/>
          <p:cNvSpPr/>
          <p:nvPr/>
        </p:nvSpPr>
        <p:spPr>
          <a:xfrm>
            <a:off x="6382512" y="17373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②</a:t>
            </a:r>
            <a:endParaRPr lang="en-US" sz="3000" dirty="0"/>
          </a:p>
        </p:txBody>
      </p:sp>
      <p:sp>
        <p:nvSpPr>
          <p:cNvPr id="11" name="Text 9"/>
          <p:cNvSpPr/>
          <p:nvPr/>
        </p:nvSpPr>
        <p:spPr>
          <a:xfrm>
            <a:off x="7114032" y="1810512"/>
            <a:ext cx="434340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자가치유 라우팅</a:t>
            </a:r>
            <a:endParaRPr lang="en-US" sz="1500" dirty="0"/>
          </a:p>
        </p:txBody>
      </p:sp>
      <p:sp>
        <p:nvSpPr>
          <p:cNvPr id="12" name="Text 10"/>
          <p:cNvSpPr/>
          <p:nvPr/>
        </p:nvSpPr>
        <p:spPr>
          <a:xfrm>
            <a:off x="7114032" y="22128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노드가 죽어 길이 끊기면 sink 기준 역방향 BFS로 우회로를 자동 재계산.</a:t>
            </a:r>
            <a:endParaRPr lang="en-US" sz="1150" dirty="0"/>
          </a:p>
        </p:txBody>
      </p:sp>
      <p:sp>
        <p:nvSpPr>
          <p:cNvPr id="13" name="Shape 11"/>
          <p:cNvSpPr/>
          <p:nvPr/>
        </p:nvSpPr>
        <p:spPr>
          <a:xfrm>
            <a:off x="548640" y="3383280"/>
            <a:ext cx="5468112" cy="1645920"/>
          </a:xfrm>
          <a:prstGeom prst="roundRect">
            <a:avLst>
              <a:gd name="adj" fmla="val 3333"/>
            </a:avLst>
          </a:prstGeom>
          <a:solidFill>
            <a:srgbClr val="FBEFE2"/>
          </a:solidFill>
          <a:ln w="12700">
            <a:solidFill>
              <a:srgbClr val="E2DCD0"/>
            </a:solidFill>
            <a:prstDash val="solid"/>
          </a:ln>
        </p:spPr>
        <p:txBody>
          <a:bodyPr/>
          <a:p/>
        </p:txBody>
      </p:sp>
      <p:sp>
        <p:nvSpPr>
          <p:cNvPr id="14" name="Text 12"/>
          <p:cNvSpPr/>
          <p:nvPr/>
        </p:nvSpPr>
        <p:spPr>
          <a:xfrm>
            <a:off x="777240" y="35661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③</a:t>
            </a:r>
            <a:endParaRPr lang="en-US" sz="3000" dirty="0"/>
          </a:p>
        </p:txBody>
      </p:sp>
      <p:sp>
        <p:nvSpPr>
          <p:cNvPr id="15" name="Text 13"/>
          <p:cNvSpPr/>
          <p:nvPr/>
        </p:nvSpPr>
        <p:spPr>
          <a:xfrm>
            <a:off x="1508760" y="3639312"/>
            <a:ext cx="4343400" cy="365760"/>
          </a:xfrm>
          <a:prstGeom prst="rect">
            <a:avLst/>
          </a:prstGeom>
          <a:noFill/>
          <a:ln/>
        </p:spPr>
        <p:txBody>
          <a:bodyPr wrap="square" rtlCol="0" anchor="ctr"/>
          <a:lstStyle/>
          <a:p>
            <a:pPr indent="0" marL="0">
              <a:buNone/>
            </a:pPr>
            <a:r>
              <a:rPr lang="en-US" sz="1500" b="1" dirty="0">
                <a:solidFill>
                  <a:srgbClr val="D35400"/>
                </a:solidFill>
                <a:latin typeface="맑은 고딕" pitchFamily="34" charset="0"/>
                <a:ea typeface="맑은 고딕" pitchFamily="34" charset="-122"/>
                <a:cs typeface="맑은 고딕" pitchFamily="34" charset="-120"/>
              </a:rPr>
              <a:t>오탐 방어 (교차검증) ★</a:t>
            </a:r>
            <a:endParaRPr lang="en-US" sz="1500" dirty="0"/>
          </a:p>
        </p:txBody>
      </p:sp>
      <p:sp>
        <p:nvSpPr>
          <p:cNvPr id="16" name="Text 14"/>
          <p:cNvSpPr/>
          <p:nvPr/>
        </p:nvSpPr>
        <p:spPr>
          <a:xfrm>
            <a:off x="1508760" y="40416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통신두절 vs 진짜 파괴를 다중이웃 + 온도로 구분 — stock 메시가 못 하는 계층.</a:t>
            </a:r>
            <a:endParaRPr lang="en-US" sz="1150" dirty="0"/>
          </a:p>
        </p:txBody>
      </p:sp>
      <p:sp>
        <p:nvSpPr>
          <p:cNvPr id="17" name="Shape 15"/>
          <p:cNvSpPr/>
          <p:nvPr/>
        </p:nvSpPr>
        <p:spPr>
          <a:xfrm>
            <a:off x="6153912" y="3383280"/>
            <a:ext cx="5468112" cy="1645920"/>
          </a:xfrm>
          <a:prstGeom prst="roundRect">
            <a:avLst>
              <a:gd name="adj" fmla="val 3333"/>
            </a:avLst>
          </a:prstGeom>
          <a:solidFill>
            <a:srgbClr val="EEF3E6"/>
          </a:solidFill>
          <a:ln w="12700">
            <a:solidFill>
              <a:srgbClr val="E2DCD0"/>
            </a:solidFill>
            <a:prstDash val="solid"/>
          </a:ln>
        </p:spPr>
        <p:txBody>
          <a:bodyPr/>
          <a:p/>
        </p:txBody>
      </p:sp>
      <p:sp>
        <p:nvSpPr>
          <p:cNvPr id="18" name="Text 16"/>
          <p:cNvSpPr/>
          <p:nvPr/>
        </p:nvSpPr>
        <p:spPr>
          <a:xfrm>
            <a:off x="6382512" y="3566160"/>
            <a:ext cx="731520" cy="640080"/>
          </a:xfrm>
          <a:prstGeom prst="rect">
            <a:avLst/>
          </a:prstGeom>
          <a:noFill/>
          <a:ln/>
        </p:spPr>
        <p:txBody>
          <a:bodyPr wrap="square" rtlCol="0" anchor="ctr"/>
          <a:lstStyle/>
          <a:p>
            <a:pPr indent="0" marL="0">
              <a:buNone/>
            </a:pPr>
            <a:r>
              <a:rPr lang="en-US" sz="3000" b="1" dirty="0">
                <a:solidFill>
                  <a:srgbClr val="D35400"/>
                </a:solidFill>
                <a:latin typeface="맑은 고딕" pitchFamily="34" charset="0"/>
                <a:ea typeface="맑은 고딕" pitchFamily="34" charset="-122"/>
                <a:cs typeface="맑은 고딕" pitchFamily="34" charset="-120"/>
              </a:rPr>
              <a:t>④</a:t>
            </a:r>
            <a:endParaRPr lang="en-US" sz="3000" dirty="0"/>
          </a:p>
        </p:txBody>
      </p:sp>
      <p:sp>
        <p:nvSpPr>
          <p:cNvPr id="19" name="Text 17"/>
          <p:cNvSpPr/>
          <p:nvPr/>
        </p:nvSpPr>
        <p:spPr>
          <a:xfrm>
            <a:off x="7114032" y="3639312"/>
            <a:ext cx="4343400" cy="365760"/>
          </a:xfrm>
          <a:prstGeom prst="rect">
            <a:avLst/>
          </a:prstGeom>
          <a:noFill/>
          <a:ln/>
        </p:spPr>
        <p:txBody>
          <a:bodyPr wrap="square" rtlCol="0" anchor="ctr"/>
          <a:lstStyle/>
          <a:p>
            <a:pPr indent="0" marL="0">
              <a:buNone/>
            </a:pPr>
            <a:r>
              <a:rPr lang="en-US" sz="1500" b="1" dirty="0">
                <a:solidFill>
                  <a:srgbClr val="2C5F2D"/>
                </a:solidFill>
                <a:latin typeface="맑은 고딕" pitchFamily="34" charset="0"/>
                <a:ea typeface="맑은 고딕" pitchFamily="34" charset="-122"/>
                <a:cs typeface="맑은 고딕" pitchFamily="34" charset="-120"/>
              </a:rPr>
              <a:t>도착시각장(場) 추정 ★</a:t>
            </a:r>
            <a:endParaRPr lang="en-US" sz="1500" dirty="0"/>
          </a:p>
        </p:txBody>
      </p:sp>
      <p:sp>
        <p:nvSpPr>
          <p:cNvPr id="20" name="Text 18"/>
          <p:cNvSpPr/>
          <p:nvPr/>
        </p:nvSpPr>
        <p:spPr>
          <a:xfrm>
            <a:off x="7114032" y="4041648"/>
            <a:ext cx="4343400" cy="822960"/>
          </a:xfrm>
          <a:prstGeom prst="rect">
            <a:avLst/>
          </a:prstGeom>
          <a:noFill/>
          <a:ln/>
        </p:spPr>
        <p:txBody>
          <a:bodyPr wrap="square" rtlCol="0" anchor="ctr"/>
          <a:lstStyle/>
          <a:p>
            <a:pPr indent="0" marL="0">
              <a:lnSpc>
                <a:spcPct val="115000"/>
              </a:lnSpc>
              <a:buNone/>
            </a:pPr>
            <a:r>
              <a:rPr lang="en-US" sz="1150" dirty="0">
                <a:solidFill>
                  <a:srgbClr val="44483F"/>
                </a:solidFill>
                <a:latin typeface="맑은 고딕" pitchFamily="34" charset="0"/>
                <a:ea typeface="맑은 고딕" pitchFamily="34" charset="-122"/>
                <a:cs typeface="맑은 고딕" pitchFamily="34" charset="-120"/>
              </a:rPr>
              <a:t>죽은 (좌표·시각)에서 최소제곱으로 방향·속도·ETA와 신뢰도를 역산.</a:t>
            </a:r>
            <a:endParaRPr lang="en-US" sz="115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6</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② ★ 핵심 알고리즘  |  기술성·완성도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죽은 노드의 (좌표·시각) → 불의 방향·속도·ETA</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44752"/>
            <a:ext cx="11091672" cy="566928"/>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각 노드가 타 죽은 시각 = 불이 그 지점에 도착한 시각. 흩어진 (x, y, 죽은시각)에 면을 맞추면 그 기울기가 곧 화선이다. 실제 구현은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2단 구조</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 노드마다 국소 적합을 돌리고, 그 결과들을 신뢰도로 가중해 합친다.</a:t>
            </a:r>
            <a:endParaRPr lang="en-US" sz="1350" dirty="0"/>
          </a:p>
        </p:txBody>
      </p:sp>
      <p:sp>
        <p:nvSpPr>
          <p:cNvPr id="6" name="Shape 4"/>
          <p:cNvSpPr/>
          <p:nvPr/>
        </p:nvSpPr>
        <p:spPr>
          <a:xfrm>
            <a:off x="548640" y="2121408"/>
            <a:ext cx="3429000" cy="2331720"/>
          </a:xfrm>
          <a:prstGeom prst="roundRect">
            <a:avLst>
              <a:gd name="adj" fmla="val 2353"/>
            </a:avLst>
          </a:prstGeom>
          <a:solidFill>
            <a:srgbClr val="FFFFFF"/>
          </a:solidFill>
          <a:ln w="12700">
            <a:solidFill>
              <a:srgbClr val="E2DCD0"/>
            </a:solidFill>
            <a:prstDash val="solid"/>
          </a:ln>
        </p:spPr>
        <p:txBody>
          <a:bodyPr/>
          <a:p/>
        </p:txBody>
      </p:sp>
      <p:sp>
        <p:nvSpPr>
          <p:cNvPr id="7" name="Text 5"/>
          <p:cNvSpPr/>
          <p:nvPr/>
        </p:nvSpPr>
        <p:spPr>
          <a:xfrm>
            <a:off x="777240" y="2322576"/>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1단 · 국소 평면 적합</a:t>
            </a:r>
            <a:endParaRPr lang="en-US" sz="1450" dirty="0"/>
          </a:p>
        </p:txBody>
      </p:sp>
      <p:sp>
        <p:nvSpPr>
          <p:cNvPr id="8" name="Shape 6"/>
          <p:cNvSpPr/>
          <p:nvPr/>
        </p:nvSpPr>
        <p:spPr>
          <a:xfrm>
            <a:off x="777240" y="2761488"/>
            <a:ext cx="502920" cy="0"/>
          </a:xfrm>
          <a:prstGeom prst="line">
            <a:avLst/>
          </a:prstGeom>
          <a:noFill/>
          <a:ln w="25400">
            <a:solidFill>
              <a:srgbClr val="D35400"/>
            </a:solidFill>
            <a:prstDash val="solid"/>
          </a:ln>
        </p:spPr>
        <p:txBody>
          <a:bodyPr/>
          <a:p/>
        </p:txBody>
      </p:sp>
      <p:sp>
        <p:nvSpPr>
          <p:cNvPr id="9" name="Text 7"/>
          <p:cNvSpPr/>
          <p:nvPr/>
        </p:nvSpPr>
        <p:spPr>
          <a:xfrm>
            <a:off x="777240"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노드 j마다 독립적으로:</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무선 이웃 ∩ 시간창 안의 사망들을 모아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최소제곱으로 평면을 맞추고</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기울기 ∇T_j 를 얻는다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수만큼 N개의 추정치</a:t>
            </a:r>
            <a:endParaRPr lang="en-US" sz="1200" dirty="0"/>
          </a:p>
        </p:txBody>
      </p:sp>
      <p:sp>
        <p:nvSpPr>
          <p:cNvPr id="10" name="Shape 8"/>
          <p:cNvSpPr/>
          <p:nvPr/>
        </p:nvSpPr>
        <p:spPr>
          <a:xfrm>
            <a:off x="4379976" y="2121408"/>
            <a:ext cx="3429000" cy="2331720"/>
          </a:xfrm>
          <a:prstGeom prst="roundRect">
            <a:avLst>
              <a:gd name="adj" fmla="val 2353"/>
            </a:avLst>
          </a:prstGeom>
          <a:solidFill>
            <a:srgbClr val="FBEFE2"/>
          </a:solidFill>
          <a:ln w="12700">
            <a:solidFill>
              <a:srgbClr val="E2DCD0"/>
            </a:solidFill>
            <a:prstDash val="solid"/>
          </a:ln>
        </p:spPr>
        <p:txBody>
          <a:bodyPr/>
          <a:p/>
        </p:txBody>
      </p:sp>
      <p:sp>
        <p:nvSpPr>
          <p:cNvPr id="11" name="Text 9"/>
          <p:cNvSpPr/>
          <p:nvPr/>
        </p:nvSpPr>
        <p:spPr>
          <a:xfrm>
            <a:off x="4608576" y="2322576"/>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2단 · 집계</a:t>
            </a:r>
            <a:endParaRPr lang="en-US" sz="1450" dirty="0"/>
          </a:p>
        </p:txBody>
      </p:sp>
      <p:sp>
        <p:nvSpPr>
          <p:cNvPr id="12" name="Shape 10"/>
          <p:cNvSpPr/>
          <p:nvPr/>
        </p:nvSpPr>
        <p:spPr>
          <a:xfrm>
            <a:off x="4608576" y="2761488"/>
            <a:ext cx="502920" cy="0"/>
          </a:xfrm>
          <a:prstGeom prst="line">
            <a:avLst/>
          </a:prstGeom>
          <a:noFill/>
          <a:ln w="25400">
            <a:solidFill>
              <a:srgbClr val="D35400"/>
            </a:solidFill>
            <a:prstDash val="solid"/>
          </a:ln>
        </p:spPr>
        <p:txBody>
          <a:bodyPr/>
          <a:p/>
        </p:txBody>
      </p:sp>
      <p:sp>
        <p:nvSpPr>
          <p:cNvPr id="13" name="Text 11"/>
          <p:cNvSpPr/>
          <p:nvPr/>
        </p:nvSpPr>
        <p:spPr>
          <a:xfrm>
            <a:off x="4608576"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N개를 하나로 합친다: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방향 — 신뢰도 가중 벡터합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가중치 w = |∇T|²</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속도 — 중앙값(강건 통계)</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진단 — 유효표본수 n_eff</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두 출력이 다른 집계를 쓴다</a:t>
            </a:r>
            <a:endParaRPr lang="en-US" sz="1200" dirty="0"/>
          </a:p>
        </p:txBody>
      </p:sp>
      <p:sp>
        <p:nvSpPr>
          <p:cNvPr id="14" name="Shape 12"/>
          <p:cNvSpPr/>
          <p:nvPr/>
        </p:nvSpPr>
        <p:spPr>
          <a:xfrm>
            <a:off x="8211312" y="2121408"/>
            <a:ext cx="3429000" cy="2331720"/>
          </a:xfrm>
          <a:prstGeom prst="roundRect">
            <a:avLst>
              <a:gd name="adj" fmla="val 2353"/>
            </a:avLst>
          </a:prstGeom>
          <a:solidFill>
            <a:srgbClr val="EEF3E6"/>
          </a:solidFill>
          <a:ln w="12700">
            <a:solidFill>
              <a:srgbClr val="E2DCD0"/>
            </a:solidFill>
            <a:prstDash val="solid"/>
          </a:ln>
        </p:spPr>
        <p:txBody>
          <a:bodyPr/>
          <a:p/>
        </p:txBody>
      </p:sp>
      <p:sp>
        <p:nvSpPr>
          <p:cNvPr id="15" name="Text 13"/>
          <p:cNvSpPr/>
          <p:nvPr/>
        </p:nvSpPr>
        <p:spPr>
          <a:xfrm>
            <a:off x="8439912" y="2322576"/>
            <a:ext cx="297180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출력</a:t>
            </a:r>
            <a:endParaRPr lang="en-US" sz="1450" dirty="0"/>
          </a:p>
        </p:txBody>
      </p:sp>
      <p:sp>
        <p:nvSpPr>
          <p:cNvPr id="16" name="Shape 14"/>
          <p:cNvSpPr/>
          <p:nvPr/>
        </p:nvSpPr>
        <p:spPr>
          <a:xfrm>
            <a:off x="8439912" y="2761488"/>
            <a:ext cx="502920" cy="0"/>
          </a:xfrm>
          <a:prstGeom prst="line">
            <a:avLst/>
          </a:prstGeom>
          <a:noFill/>
          <a:ln w="25400">
            <a:solidFill>
              <a:srgbClr val="D35400"/>
            </a:solidFill>
            <a:prstDash val="solid"/>
          </a:ln>
        </p:spPr>
        <p:txBody>
          <a:bodyPr/>
          <a:p/>
        </p:txBody>
      </p:sp>
      <p:sp>
        <p:nvSpPr>
          <p:cNvPr id="17" name="Text 15"/>
          <p:cNvSpPr/>
          <p:nvPr/>
        </p:nvSpPr>
        <p:spPr>
          <a:xfrm>
            <a:off x="8439912" y="2898648"/>
            <a:ext cx="2971800" cy="13258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방향  n̂</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진행 속도  s</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지점별 도착예상시각 ETA</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신뢰도 등급</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정보가 부족하면 값을 내지 않고</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INSUFFICIENT를 반환한다.</a:t>
            </a:r>
            <a:endParaRPr lang="en-US" sz="1200" dirty="0"/>
          </a:p>
        </p:txBody>
      </p:sp>
      <p:sp>
        <p:nvSpPr>
          <p:cNvPr id="18" name="Shape 16"/>
          <p:cNvSpPr/>
          <p:nvPr/>
        </p:nvSpPr>
        <p:spPr>
          <a:xfrm>
            <a:off x="4041648" y="3287268"/>
            <a:ext cx="292608" cy="0"/>
          </a:xfrm>
          <a:prstGeom prst="line">
            <a:avLst/>
          </a:prstGeom>
          <a:noFill/>
          <a:ln w="25400">
            <a:solidFill>
              <a:srgbClr val="D35400"/>
            </a:solidFill>
            <a:prstDash val="solid"/>
            <a:tailEnd type="triangle"/>
          </a:ln>
        </p:spPr>
        <p:txBody>
          <a:bodyPr/>
          <a:p/>
        </p:txBody>
      </p:sp>
      <p:sp>
        <p:nvSpPr>
          <p:cNvPr id="19" name="Shape 17"/>
          <p:cNvSpPr/>
          <p:nvPr/>
        </p:nvSpPr>
        <p:spPr>
          <a:xfrm>
            <a:off x="7872984" y="3287268"/>
            <a:ext cx="292608" cy="0"/>
          </a:xfrm>
          <a:prstGeom prst="line">
            <a:avLst/>
          </a:prstGeom>
          <a:noFill/>
          <a:ln w="25400">
            <a:solidFill>
              <a:srgbClr val="D35400"/>
            </a:solidFill>
            <a:prstDash val="solid"/>
            <a:tailEnd type="triangle"/>
          </a:ln>
        </p:spPr>
        <p:txBody>
          <a:bodyPr/>
          <a:p/>
        </p:txBody>
      </p:sp>
      <p:sp>
        <p:nvSpPr>
          <p:cNvPr id="20" name="Shape 18"/>
          <p:cNvSpPr/>
          <p:nvPr/>
        </p:nvSpPr>
        <p:spPr>
          <a:xfrm>
            <a:off x="548640" y="4681728"/>
            <a:ext cx="11091672" cy="1298448"/>
          </a:xfrm>
          <a:prstGeom prst="roundRect">
            <a:avLst>
              <a:gd name="adj" fmla="val 4225"/>
            </a:avLst>
          </a:prstGeom>
          <a:solidFill>
            <a:srgbClr val="FFFFFF"/>
          </a:solidFill>
          <a:ln w="12700">
            <a:solidFill>
              <a:srgbClr val="E2DCD0"/>
            </a:solidFill>
            <a:prstDash val="solid"/>
          </a:ln>
        </p:spPr>
        <p:txBody>
          <a:bodyPr/>
          <a:p/>
        </p:txBody>
      </p:sp>
      <p:sp>
        <p:nvSpPr>
          <p:cNvPr id="21" name="Text 19"/>
          <p:cNvSpPr/>
          <p:nvPr/>
        </p:nvSpPr>
        <p:spPr>
          <a:xfrm>
            <a:off x="777240" y="4828032"/>
            <a:ext cx="5852160" cy="365760"/>
          </a:xfrm>
          <a:prstGeom prst="rect">
            <a:avLst/>
          </a:prstGeom>
          <a:noFill/>
          <a:ln/>
        </p:spPr>
        <p:txBody>
          <a:bodyPr wrap="square" rtlCol="0" anchor="ctr"/>
          <a:lstStyle/>
          <a:p>
            <a:pPr indent="0" marL="0">
              <a:buNone/>
            </a:pPr>
            <a:r>
              <a:rPr lang="en-US" sz="1500" b="1" dirty="0">
                <a:solidFill>
                  <a:srgbClr val="1F2421"/>
                </a:solidFill>
                <a:latin typeface="맑은 고딕" pitchFamily="34" charset="0"/>
                <a:ea typeface="맑은 고딕" pitchFamily="34" charset="-122"/>
                <a:cs typeface="맑은 고딕" pitchFamily="34" charset="-120"/>
              </a:rPr>
              <a:t>∇T = n̂ / s     →     방향 n̂ = ∇T/|∇T| ,   속도 s = 1/|∇T|</a:t>
            </a:r>
            <a:endParaRPr lang="en-US" sz="1500" dirty="0"/>
          </a:p>
        </p:txBody>
      </p:sp>
      <p:sp>
        <p:nvSpPr>
          <p:cNvPr id="22" name="Text 20"/>
          <p:cNvSpPr/>
          <p:nvPr/>
        </p:nvSpPr>
        <p:spPr>
          <a:xfrm>
            <a:off x="777240" y="5266944"/>
            <a:ext cx="10607040" cy="548640"/>
          </a:xfrm>
          <a:prstGeom prst="rect">
            <a:avLst/>
          </a:prstGeom>
          <a:noFill/>
          <a:ln/>
        </p:spPr>
        <p:txBody>
          <a:bodyPr wrap="square" rtlCol="0" anchor="ctr"/>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모든 노드에 똑같이 걸리는 센서 지연은 평면의 절편에만 흡수되어 기울기에서 상쇄된다 — </a:t>
            </a:r>
            <a:pPr indent="0" marL="0">
              <a:lnSpc>
                <a:spcPct val="120000"/>
              </a:lnSpc>
              <a:buNone/>
            </a:pPr>
            <a:r>
              <a:rPr lang="en-US" sz="1200" b="1" dirty="0">
                <a:solidFill>
                  <a:srgbClr val="2C5F2D"/>
                </a:solidFill>
                <a:latin typeface="맑은 고딕" pitchFamily="34" charset="0"/>
                <a:ea typeface="맑은 고딕" pitchFamily="34" charset="-122"/>
                <a:cs typeface="맑은 고딕" pitchFamily="34" charset="-120"/>
              </a:rPr>
              <a:t>방향·속도가 센서 지연에 원리적으로 면역인 이유(수식 증명).</a:t>
            </a:r>
            <a:endParaRPr lang="en-US" sz="1200" dirty="0"/>
          </a:p>
        </p:txBody>
      </p:sp>
      <p:sp>
        <p:nvSpPr>
          <p:cNvPr id="23" name="Text 21"/>
          <p:cNvSpPr/>
          <p:nvPr/>
        </p:nvSpPr>
        <p:spPr>
          <a:xfrm>
            <a:off x="6766560" y="4846320"/>
            <a:ext cx="4663440" cy="320040"/>
          </a:xfrm>
          <a:prstGeom prst="rect">
            <a:avLst/>
          </a:prstGeom>
          <a:noFill/>
          <a:ln/>
        </p:spPr>
        <p:txBody>
          <a:bodyPr wrap="square" rtlCol="0" anchor="ctr"/>
          <a:lstStyle/>
          <a:p>
            <a:pPr algn="r" indent="0" marL="0">
              <a:buNone/>
            </a:pPr>
            <a:r>
              <a:rPr lang="en-US" sz="1100" dirty="0">
                <a:solidFill>
                  <a:srgbClr val="6B6E6A"/>
                </a:solidFill>
                <a:latin typeface="맑은 고딕" pitchFamily="34" charset="0"/>
                <a:ea typeface="맑은 고딕" pitchFamily="34" charset="-122"/>
                <a:cs typeface="맑은 고딕" pitchFamily="34" charset="-120"/>
              </a:rPr>
              <a:t>가벼운 최소제곱 — 저사양 게이트웨이에서 즉시 계산 (딥러닝 아님)</a:t>
            </a:r>
            <a:endParaRPr lang="en-US" sz="1100" dirty="0"/>
          </a:p>
        </p:txBody>
      </p:sp>
      <p:sp>
        <p:nvSpPr>
          <p:cNvPr id="24" name="Text 2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7</a:t>
            </a:r>
            <a:endParaRPr lang="en-US" sz="900" dirty="0"/>
          </a:p>
        </p:txBody>
      </p:sp>
      <p:sp>
        <p:nvSpPr>
          <p:cNvPr id="26" name="Shape 24"/>
          <p:cNvSpPr/>
          <p:nvPr/>
        </p:nvSpPr>
        <p:spPr>
          <a:xfrm>
            <a:off x="10503027" y="6464808"/>
            <a:ext cx="144018" cy="36576"/>
          </a:xfrm>
          <a:prstGeom prst="line">
            <a:avLst/>
          </a:prstGeom>
          <a:noFill/>
          <a:ln w="9525">
            <a:solidFill>
              <a:srgbClr val="E2DCD0"/>
            </a:solidFill>
            <a:prstDash val="solid"/>
          </a:ln>
        </p:spPr>
        <p:txBody>
          <a:bodyPr/>
          <a:p/>
        </p:txBody>
      </p:sp>
      <p:sp>
        <p:nvSpPr>
          <p:cNvPr id="27" name="Shape 25"/>
          <p:cNvSpPr/>
          <p:nvPr/>
        </p:nvSpPr>
        <p:spPr>
          <a:xfrm>
            <a:off x="10503027" y="6464808"/>
            <a:ext cx="-4572" cy="187452"/>
          </a:xfrm>
          <a:prstGeom prst="line">
            <a:avLst/>
          </a:prstGeom>
          <a:noFill/>
          <a:ln w="9525">
            <a:solidFill>
              <a:srgbClr val="E2DCD0"/>
            </a:solidFill>
            <a:prstDash val="solid"/>
          </a:ln>
        </p:spPr>
        <p:txBody>
          <a:bodyPr/>
          <a:p/>
        </p:txBody>
      </p:sp>
      <p:sp>
        <p:nvSpPr>
          <p:cNvPr id="28" name="Shape 26"/>
          <p:cNvSpPr/>
          <p:nvPr/>
        </p:nvSpPr>
        <p:spPr>
          <a:xfrm>
            <a:off x="10647045" y="6501384"/>
            <a:ext cx="235458" cy="-50292"/>
          </a:xfrm>
          <a:prstGeom prst="line">
            <a:avLst/>
          </a:prstGeom>
          <a:noFill/>
          <a:ln w="9525">
            <a:solidFill>
              <a:srgbClr val="E2DCD0"/>
            </a:solidFill>
            <a:prstDash val="solid"/>
          </a:ln>
        </p:spPr>
        <p:txBody>
          <a:bodyPr/>
          <a:p/>
        </p:txBody>
      </p:sp>
      <p:sp>
        <p:nvSpPr>
          <p:cNvPr id="29" name="Shape 27"/>
          <p:cNvSpPr/>
          <p:nvPr/>
        </p:nvSpPr>
        <p:spPr>
          <a:xfrm>
            <a:off x="10647045" y="6501384"/>
            <a:ext cx="-4572" cy="196596"/>
          </a:xfrm>
          <a:prstGeom prst="line">
            <a:avLst/>
          </a:prstGeom>
          <a:noFill/>
          <a:ln w="9525">
            <a:solidFill>
              <a:srgbClr val="E2DCD0"/>
            </a:solidFill>
            <a:prstDash val="solid"/>
          </a:ln>
        </p:spPr>
        <p:txBody>
          <a:bodyPr/>
          <a:p/>
        </p:txBody>
      </p:sp>
      <p:sp>
        <p:nvSpPr>
          <p:cNvPr id="30" name="Shape 28"/>
          <p:cNvSpPr/>
          <p:nvPr/>
        </p:nvSpPr>
        <p:spPr>
          <a:xfrm>
            <a:off x="10882503" y="6451092"/>
            <a:ext cx="162306" cy="41148"/>
          </a:xfrm>
          <a:prstGeom prst="line">
            <a:avLst/>
          </a:prstGeom>
          <a:noFill/>
          <a:ln w="9525">
            <a:solidFill>
              <a:srgbClr val="E2DCD0"/>
            </a:solidFill>
            <a:prstDash val="solid"/>
          </a:ln>
        </p:spPr>
        <p:txBody>
          <a:bodyPr/>
          <a:p/>
        </p:txBody>
      </p:sp>
      <p:sp>
        <p:nvSpPr>
          <p:cNvPr id="31" name="Shape 29"/>
          <p:cNvSpPr/>
          <p:nvPr/>
        </p:nvSpPr>
        <p:spPr>
          <a:xfrm>
            <a:off x="10882503" y="6451092"/>
            <a:ext cx="-4572" cy="196596"/>
          </a:xfrm>
          <a:prstGeom prst="line">
            <a:avLst/>
          </a:prstGeom>
          <a:noFill/>
          <a:ln w="9525">
            <a:solidFill>
              <a:srgbClr val="E2DCD0"/>
            </a:solidFill>
            <a:prstDash val="solid"/>
          </a:ln>
        </p:spPr>
        <p:txBody>
          <a:bodyPr/>
          <a:p/>
        </p:txBody>
      </p:sp>
      <p:sp>
        <p:nvSpPr>
          <p:cNvPr id="32" name="Shape 30"/>
          <p:cNvSpPr/>
          <p:nvPr/>
        </p:nvSpPr>
        <p:spPr>
          <a:xfrm>
            <a:off x="11044809" y="6492240"/>
            <a:ext cx="-4572" cy="196596"/>
          </a:xfrm>
          <a:prstGeom prst="line">
            <a:avLst/>
          </a:prstGeom>
          <a:noFill/>
          <a:ln w="9525">
            <a:solidFill>
              <a:srgbClr val="E2DCD0"/>
            </a:solidFill>
            <a:prstDash val="solid"/>
          </a:ln>
        </p:spPr>
        <p:txBody>
          <a:bodyPr/>
          <a:p/>
        </p:txBody>
      </p:sp>
      <p:sp>
        <p:nvSpPr>
          <p:cNvPr id="33" name="Shape 31"/>
          <p:cNvSpPr/>
          <p:nvPr/>
        </p:nvSpPr>
        <p:spPr>
          <a:xfrm>
            <a:off x="10498455" y="6652260"/>
            <a:ext cx="144018" cy="45720"/>
          </a:xfrm>
          <a:prstGeom prst="line">
            <a:avLst/>
          </a:prstGeom>
          <a:noFill/>
          <a:ln w="9525">
            <a:solidFill>
              <a:srgbClr val="E2DCD0"/>
            </a:solidFill>
            <a:prstDash val="solid"/>
          </a:ln>
        </p:spPr>
        <p:txBody>
          <a:bodyPr/>
          <a:p/>
        </p:txBody>
      </p:sp>
      <p:sp>
        <p:nvSpPr>
          <p:cNvPr id="34" name="Shape 32"/>
          <p:cNvSpPr/>
          <p:nvPr/>
        </p:nvSpPr>
        <p:spPr>
          <a:xfrm>
            <a:off x="10642473" y="6697980"/>
            <a:ext cx="235458" cy="-50292"/>
          </a:xfrm>
          <a:prstGeom prst="line">
            <a:avLst/>
          </a:prstGeom>
          <a:noFill/>
          <a:ln w="9525">
            <a:solidFill>
              <a:srgbClr val="E2DCD0"/>
            </a:solidFill>
            <a:prstDash val="solid"/>
          </a:ln>
        </p:spPr>
        <p:txBody>
          <a:bodyPr/>
          <a:p/>
        </p:txBody>
      </p:sp>
      <p:sp>
        <p:nvSpPr>
          <p:cNvPr id="35" name="Shape 33"/>
          <p:cNvSpPr/>
          <p:nvPr/>
        </p:nvSpPr>
        <p:spPr>
          <a:xfrm>
            <a:off x="10877931" y="6647688"/>
            <a:ext cx="162306" cy="41148"/>
          </a:xfrm>
          <a:prstGeom prst="line">
            <a:avLst/>
          </a:prstGeom>
          <a:noFill/>
          <a:ln w="9525">
            <a:solidFill>
              <a:srgbClr val="E2DCD0"/>
            </a:solidFill>
            <a:prstDash val="solid"/>
          </a:ln>
        </p:spPr>
        <p:txBody>
          <a:bodyPr/>
          <a:p/>
        </p:txBody>
      </p:sp>
      <p:sp>
        <p:nvSpPr>
          <p:cNvPr id="36" name="Shape 3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4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2"/>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명세↔코드 1:1 대조 완료</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③ ★ 오탐 방어 (헤드라인)  |  독창성·기술성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'통신두절'인가, '진짜 파괴'인가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66928"/>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노드가 조용해졌다고 다 죽은 게 아니다. 잠깐 끊긴 것(통신두절)이나 불이 아닌 죽음(배터리·고장)을 화재로 오판하면 가짜 화선이 그려진다. 세 층으로 막는다.</a:t>
            </a:r>
            <a:endParaRPr lang="en-US" sz="1350" dirty="0"/>
          </a:p>
        </p:txBody>
      </p:sp>
      <p:sp>
        <p:nvSpPr>
          <p:cNvPr id="6" name="Shape 4"/>
          <p:cNvSpPr/>
          <p:nvPr/>
        </p:nvSpPr>
        <p:spPr>
          <a:xfrm>
            <a:off x="548640"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7" name="Text 5"/>
          <p:cNvSpPr/>
          <p:nvPr/>
        </p:nvSpPr>
        <p:spPr>
          <a:xfrm>
            <a:off x="777240" y="2286000"/>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1층 · 다중 이웃 교차검증</a:t>
            </a:r>
            <a:endParaRPr lang="en-US" sz="1450" dirty="0"/>
          </a:p>
        </p:txBody>
      </p:sp>
      <p:sp>
        <p:nvSpPr>
          <p:cNvPr id="8" name="Shape 6"/>
          <p:cNvSpPr/>
          <p:nvPr/>
        </p:nvSpPr>
        <p:spPr>
          <a:xfrm>
            <a:off x="777240" y="2724912"/>
            <a:ext cx="502920" cy="0"/>
          </a:xfrm>
          <a:prstGeom prst="line">
            <a:avLst/>
          </a:prstGeom>
          <a:noFill/>
          <a:ln w="25400">
            <a:solidFill>
              <a:srgbClr val="D35400"/>
            </a:solidFill>
            <a:prstDash val="solid"/>
          </a:ln>
        </p:spPr>
        <p:txBody>
          <a:bodyPr/>
          <a:p/>
        </p:txBody>
      </p:sp>
      <p:sp>
        <p:nvSpPr>
          <p:cNvPr id="9" name="Text 7"/>
          <p:cNvSpPr/>
          <p:nvPr/>
        </p:nvSpPr>
        <p:spPr>
          <a:xfrm>
            <a:off x="777240"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한 노드가 침묵해도 즉시 죽음으로 보지 않는다. K개 이웃(K_confirm=3)이 독립적으로 '연결 끊김'을 확인해야 사망 후보로 승격 — 일시적 링크 노이즈를 걸러낸다.</a:t>
            </a:r>
            <a:endParaRPr lang="en-US" sz="1200" dirty="0"/>
          </a:p>
        </p:txBody>
      </p:sp>
      <p:sp>
        <p:nvSpPr>
          <p:cNvPr id="10" name="Shape 8"/>
          <p:cNvSpPr/>
          <p:nvPr/>
        </p:nvSpPr>
        <p:spPr>
          <a:xfrm>
            <a:off x="4379976" y="2084832"/>
            <a:ext cx="3429000" cy="2240280"/>
          </a:xfrm>
          <a:prstGeom prst="roundRect">
            <a:avLst>
              <a:gd name="adj" fmla="val 2449"/>
            </a:avLst>
          </a:prstGeom>
          <a:solidFill>
            <a:srgbClr val="FFFFFF"/>
          </a:solidFill>
          <a:ln w="12700">
            <a:solidFill>
              <a:srgbClr val="E2DCD0"/>
            </a:solidFill>
            <a:prstDash val="solid"/>
          </a:ln>
        </p:spPr>
        <p:txBody>
          <a:bodyPr/>
          <a:p/>
        </p:txBody>
      </p:sp>
      <p:sp>
        <p:nvSpPr>
          <p:cNvPr id="11" name="Text 9"/>
          <p:cNvSpPr/>
          <p:nvPr/>
        </p:nvSpPr>
        <p:spPr>
          <a:xfrm>
            <a:off x="4608576" y="2286000"/>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2층 · 온도 교차검증</a:t>
            </a:r>
            <a:endParaRPr lang="en-US" sz="1450" dirty="0"/>
          </a:p>
        </p:txBody>
      </p:sp>
      <p:sp>
        <p:nvSpPr>
          <p:cNvPr id="12" name="Shape 10"/>
          <p:cNvSpPr/>
          <p:nvPr/>
        </p:nvSpPr>
        <p:spPr>
          <a:xfrm>
            <a:off x="4608576" y="2724912"/>
            <a:ext cx="502920" cy="0"/>
          </a:xfrm>
          <a:prstGeom prst="line">
            <a:avLst/>
          </a:prstGeom>
          <a:noFill/>
          <a:ln w="25400">
            <a:solidFill>
              <a:srgbClr val="D35400"/>
            </a:solidFill>
            <a:prstDash val="solid"/>
          </a:ln>
        </p:spPr>
        <p:txBody>
          <a:bodyPr/>
          <a:p/>
        </p:txBody>
      </p:sp>
      <p:sp>
        <p:nvSpPr>
          <p:cNvPr id="13" name="Text 11"/>
          <p:cNvSpPr/>
          <p:nvPr/>
        </p:nvSpPr>
        <p:spPr>
          <a:xfrm>
            <a:off x="4608576"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사망 후보가 직전에 고온을 겪었는가? 화선에 의한 죽음이면 온도 상승이 선행한다. 온도 정황이 뒷받침될 때만 '화선 사망'으로 확정.</a:t>
            </a:r>
            <a:endParaRPr lang="en-US" sz="1200" dirty="0"/>
          </a:p>
        </p:txBody>
      </p:sp>
      <p:sp>
        <p:nvSpPr>
          <p:cNvPr id="14" name="Shape 12"/>
          <p:cNvSpPr/>
          <p:nvPr/>
        </p:nvSpPr>
        <p:spPr>
          <a:xfrm>
            <a:off x="8211312" y="2084832"/>
            <a:ext cx="3429000" cy="2240280"/>
          </a:xfrm>
          <a:prstGeom prst="roundRect">
            <a:avLst>
              <a:gd name="adj" fmla="val 2449"/>
            </a:avLst>
          </a:prstGeom>
          <a:solidFill>
            <a:srgbClr val="FBEFE2"/>
          </a:solidFill>
          <a:ln w="12700">
            <a:solidFill>
              <a:srgbClr val="E2DCD0"/>
            </a:solidFill>
            <a:prstDash val="solid"/>
          </a:ln>
        </p:spPr>
        <p:txBody>
          <a:bodyPr/>
          <a:p/>
        </p:txBody>
      </p:sp>
      <p:sp>
        <p:nvSpPr>
          <p:cNvPr id="15" name="Text 13"/>
          <p:cNvSpPr/>
          <p:nvPr/>
        </p:nvSpPr>
        <p:spPr>
          <a:xfrm>
            <a:off x="8439912" y="2286000"/>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3층 · 임종신호 (비대칭)</a:t>
            </a:r>
            <a:endParaRPr lang="en-US" sz="1450" dirty="0"/>
          </a:p>
        </p:txBody>
      </p:sp>
      <p:sp>
        <p:nvSpPr>
          <p:cNvPr id="16" name="Shape 14"/>
          <p:cNvSpPr/>
          <p:nvPr/>
        </p:nvSpPr>
        <p:spPr>
          <a:xfrm>
            <a:off x="8439912" y="2724912"/>
            <a:ext cx="502920" cy="0"/>
          </a:xfrm>
          <a:prstGeom prst="line">
            <a:avLst/>
          </a:prstGeom>
          <a:noFill/>
          <a:ln w="25400">
            <a:solidFill>
              <a:srgbClr val="D35400"/>
            </a:solidFill>
            <a:prstDash val="solid"/>
          </a:ln>
        </p:spPr>
        <p:txBody>
          <a:bodyPr/>
          <a:p/>
        </p:txBody>
      </p:sp>
      <p:sp>
        <p:nvSpPr>
          <p:cNvPr id="17" name="Text 15"/>
          <p:cNvSpPr/>
          <p:nvPr/>
        </p:nvSpPr>
        <p:spPr>
          <a:xfrm>
            <a:off x="8439912" y="2862072"/>
            <a:ext cx="2971800" cy="12344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임종신호는 있으면 화재 증거, 없어도 기각 근거가 아니다 — 전소로 신호조차 못 보낸 노드가 바로 진짜 화재이므로. 이 비대칭성은 테스트 2개로 고정.</a:t>
            </a:r>
            <a:endParaRPr lang="en-US" sz="1200" dirty="0"/>
          </a:p>
        </p:txBody>
      </p:sp>
      <p:sp>
        <p:nvSpPr>
          <p:cNvPr id="18" name="Shape 16"/>
          <p:cNvSpPr/>
          <p:nvPr/>
        </p:nvSpPr>
        <p:spPr>
          <a:xfrm>
            <a:off x="548640" y="4553712"/>
            <a:ext cx="11091672" cy="1417320"/>
          </a:xfrm>
          <a:prstGeom prst="roundRect">
            <a:avLst>
              <a:gd name="adj" fmla="val 3871"/>
            </a:avLst>
          </a:prstGeom>
          <a:solidFill>
            <a:srgbClr val="EEF3E6"/>
          </a:solidFill>
          <a:ln w="12700">
            <a:solidFill>
              <a:srgbClr val="E2DCD0"/>
            </a:solidFill>
            <a:prstDash val="solid"/>
          </a:ln>
        </p:spPr>
        <p:txBody>
          <a:bodyPr/>
          <a:p/>
        </p:txBody>
      </p:sp>
      <p:sp>
        <p:nvSpPr>
          <p:cNvPr id="19" name="Text 17"/>
          <p:cNvSpPr/>
          <p:nvPr/>
        </p:nvSpPr>
        <p:spPr>
          <a:xfrm>
            <a:off x="777240" y="4681728"/>
            <a:ext cx="10607040" cy="320040"/>
          </a:xfrm>
          <a:prstGeom prst="rect">
            <a:avLst/>
          </a:prstGeom>
          <a:noFill/>
          <a:ln/>
        </p:spPr>
        <p:txBody>
          <a:bodyPr wrap="square" rtlCol="0" anchor="ctr"/>
          <a:lstStyle/>
          <a:p>
            <a:pPr indent="0" marL="0">
              <a:buNone/>
            </a:pPr>
            <a:r>
              <a:rPr lang="en-US" sz="1350" b="1" dirty="0">
                <a:solidFill>
                  <a:srgbClr val="2C5F2D"/>
                </a:solidFill>
                <a:latin typeface="맑은 고딕" pitchFamily="34" charset="0"/>
                <a:ea typeface="맑은 고딕" pitchFamily="34" charset="-122"/>
                <a:cs typeface="맑은 고딕" pitchFamily="34" charset="-120"/>
              </a:rPr>
              <a:t>설계 원칙 — 판별은 정보가 가장 많은 곳에서</a:t>
            </a:r>
            <a:endParaRPr lang="en-US" sz="1350" dirty="0"/>
          </a:p>
        </p:txBody>
      </p:sp>
      <p:sp>
        <p:nvSpPr>
          <p:cNvPr id="20" name="Text 18"/>
          <p:cNvSpPr/>
          <p:nvPr/>
        </p:nvSpPr>
        <p:spPr>
          <a:xfrm>
            <a:off x="777240" y="5029200"/>
            <a:ext cx="10607040" cy="822960"/>
          </a:xfrm>
          <a:prstGeom prst="rect">
            <a:avLst/>
          </a:prstGeom>
          <a:noFill/>
          <a:ln/>
        </p:spPr>
        <p:txBody>
          <a:bodyPr wrap="square" rtlCol="0" anchor="ctr"/>
          <a:lstStyle/>
          <a:p>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말단 노드의 게이트는 </a:t>
            </a:r>
            <a:pPr indent="0" marL="0">
              <a:lnSpc>
                <a:spcPct val="125000"/>
              </a:lnSpc>
              <a:buNone/>
            </a:pPr>
            <a:r>
              <a:rPr lang="en-US" sz="1200" b="1" dirty="0">
                <a:solidFill>
                  <a:srgbClr val="1F2421"/>
                </a:solidFill>
                <a:latin typeface="맑은 고딕" pitchFamily="34" charset="0"/>
                <a:ea typeface="맑은 고딕" pitchFamily="34" charset="-122"/>
                <a:cs typeface="맑은 고딕" pitchFamily="34" charset="-120"/>
              </a:rPr>
              <a:t>의도적으로 느슨하게</a:t>
            </a:r>
            <a:pPr indent="0" marL="0">
              <a:lnSpc>
                <a:spcPct val="125000"/>
              </a:lnSpc>
              <a:buNone/>
            </a:pPr>
            <a:r>
              <a:rPr lang="en-US" sz="1200" dirty="0">
                <a:solidFill>
                  <a:srgbClr val="44483F"/>
                </a:solidFill>
                <a:latin typeface="맑은 고딕" pitchFamily="34" charset="0"/>
                <a:ea typeface="맑은 고딕" pitchFamily="34" charset="-122"/>
                <a:cs typeface="맑은 고딕" pitchFamily="34" charset="-120"/>
              </a:rPr>
              <a:t> 두고, 최종 판별은 이웃 정보가 모두 모이는 게이트웨이에서 한다. 말단에서 조이면 게이트웨이가 볼 표본 자체가 굶기 때문. </a:t>
            </a:r>
            <a:pPr indent="0" marL="0">
              <a:lnSpc>
                <a:spcPct val="125000"/>
              </a:lnSpc>
              <a:buNone/>
            </a:pPr>
            <a:r>
              <a:rPr lang="en-US" sz="1200" b="1" dirty="0">
                <a:solidFill>
                  <a:srgbClr val="2C5F2D"/>
                </a:solidFill>
                <a:latin typeface="맑은 고딕" pitchFamily="34" charset="0"/>
                <a:ea typeface="맑은 고딕" pitchFamily="34" charset="-122"/>
                <a:cs typeface="맑은 고딕" pitchFamily="34" charset="-120"/>
              </a:rPr>
              <a:t>결과: 측정 전 구간(통신두절 0.30까지) 오탐률 0%, 비화재 COOL 누수 86.4% → 0%.</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stock 메시가 갖지 못한 계층</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④ 자가치유 라우팅 · 임종신호  |  기술성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길이 끊겨도 관측은 죽지 않는다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788920"/>
          </a:xfrm>
          <a:prstGeom prst="roundRect">
            <a:avLst>
              <a:gd name="adj" fmla="val 196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자가치유 라우팅</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7830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sink(id 0) 기준 역방향 BFS로 각 노드의 상행 경로를 구성.</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DEAD로 확정되면 영향 구역만 경로를 즉시 재계산.</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연결성이 유지되는 한, 죽은 노드를 우회해 데이터가 계속 sink에 도달.</a:t>
            </a:r>
            <a:endParaRPr lang="en-US" sz="1200" dirty="0"/>
          </a:p>
          <a:p>
            <a:pPr indent="0" marL="0">
              <a:lnSpc>
                <a:spcPct val="120000"/>
              </a:lnSpc>
              <a:buNone/>
            </a:pPr>
            <a:endParaRPr lang="en-US" sz="1200" dirty="0"/>
          </a:p>
          <a:p>
            <a:pPr indent="0" marL="0">
              <a:lnSpc>
                <a:spcPct val="120000"/>
              </a:lnSpc>
              <a:buNone/>
            </a:pPr>
            <a:r>
              <a:rPr lang="en-US" sz="1100" dirty="0" b="1">
                <a:solidFill>
                  <a:srgbClr val="44483F"/>
                </a:solidFill>
                <a:latin typeface="맑은 고딕" pitchFamily="34" charset="0"/>
                <a:ea typeface="맑은 고딕" pitchFamily="34" charset="-122"/>
                <a:cs typeface="맑은 고딕" pitchFamily="34" charset="-120"/>
              </a:rPr>
              <a:t>· 실물 4노드 메시 실측 (2026-08-30)</a:t>
            </a:r>
            <a:endParaRPr lang="en-US" sz="1200" dirty="0"/>
          </a:p>
          <a:p>
            <a:pPr indent="0" marL="0">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중계 노드 이탈 → 데이터 전달 복구 26.0초 / 노드 재합류 3.0초</a:t>
            </a:r>
            <a:endParaRPr lang="en-US" sz="1200" dirty="0"/>
          </a:p>
          <a:p>
            <a:pPr indent="0" marL="0">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트리는 원래 형태로 되돌아가지 않고 다른 유효한 형태로 수렴했다.</a:t>
            </a:r>
            <a:endParaRPr lang="en-US" sz="1200" dirty="0"/>
          </a:p>
          <a:p>
            <a:pPr indent="0" marL="0">
              <a:lnSpc>
                <a:spcPct val="120000"/>
              </a:lnSpc>
              <a:buNone/>
            </a:pPr>
            <a:r>
              <a:rPr lang="en-US" sz="1100" dirty="0" b="0">
                <a:solidFill>
                  <a:srgbClr val="44483F"/>
                </a:solidFill>
                <a:latin typeface="맑은 고딕" pitchFamily="34" charset="0"/>
                <a:ea typeface="맑은 고딕" pitchFamily="34" charset="-122"/>
                <a:cs typeface="맑은 고딕" pitchFamily="34" charset="-120"/>
              </a:rPr>
              <a:t>※ 시뮬의 100ms는 틱값(성능 아님).</a:t>
            </a:r>
            <a:endParaRPr lang="en-US" sz="1200" dirty="0"/>
          </a:p>
        </p:txBody>
      </p:sp>
      <p:sp>
        <p:nvSpPr>
          <p:cNvPr id="9" name="Shape 7"/>
          <p:cNvSpPr/>
          <p:nvPr/>
        </p:nvSpPr>
        <p:spPr>
          <a:xfrm>
            <a:off x="6153912" y="1508760"/>
            <a:ext cx="5477256" cy="2788920"/>
          </a:xfrm>
          <a:prstGeom prst="roundRect">
            <a:avLst>
              <a:gd name="adj" fmla="val 1967"/>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임종신호 (Last-Gasp)</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7830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노드가 임계온도를 넘어 죽기 직전, 마지막 패킷을 방출.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'언제 죽었는가'를 확정 → 도착시각 추정의 입력 시각을 정밀화.</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하트비트(주기 신호) 누락과 결합해 침묵을 판정.</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죽음의 '시각'이 정확할수록 화선 방향·속도 추정이 정밀해진다.</a:t>
            </a:r>
            <a:endParaRPr lang="en-US" sz="1200" dirty="0"/>
          </a:p>
        </p:txBody>
      </p:sp>
      <p:sp>
        <p:nvSpPr>
          <p:cNvPr id="13" name="Text 11"/>
          <p:cNvSpPr/>
          <p:nvPr/>
        </p:nvSpPr>
        <p:spPr>
          <a:xfrm>
            <a:off x="548640" y="4572000"/>
            <a:ext cx="11064240" cy="457200"/>
          </a:xfrm>
          <a:prstGeom prst="rect">
            <a:avLst/>
          </a:prstGeom>
          <a:noFill/>
          <a:ln/>
        </p:spPr>
        <p:txBody>
          <a:bodyPr wrap="square" rtlCol="0" anchor="ctr"/>
          <a:lstStyle/>
          <a:p>
            <a:pPr algn="ctr" indent="0" marL="0">
              <a:buNone/>
            </a:pPr>
            <a:r>
              <a:rPr lang="en-US" sz="1300" b="1" i="1" dirty="0">
                <a:solidFill>
                  <a:srgbClr val="2C5F2D"/>
                </a:solidFill>
                <a:latin typeface="맑은 고딕" pitchFamily="34" charset="0"/>
                <a:ea typeface="맑은 고딕" pitchFamily="34" charset="-122"/>
                <a:cs typeface="맑은 고딕" pitchFamily="34" charset="-120"/>
              </a:rPr>
              <a:t>자가치유(관측 지속) + 임종신호(죽음의 시각 확정)가 만나, '죽는 노드'가 '살아있는 정보'가 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프로그램 설명 ⑤ 구성 · 개발 규율  |  기술성·완성도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코드 구성과 'measure-first' 규율</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86400" cy="3200400"/>
          </a:xfrm>
          <a:prstGeom prst="roundRect">
            <a:avLst>
              <a:gd name="adj" fmla="val 1714"/>
            </a:avLst>
          </a:prstGeom>
          <a:solidFill>
            <a:srgbClr val="FFFFFF"/>
          </a:solidFill>
          <a:ln w="12700">
            <a:solidFill>
              <a:srgbClr val="E2DCD0"/>
            </a:solidFill>
            <a:prstDash val="solid"/>
          </a:ln>
        </p:spPr>
        <p:txBody>
          <a:bodyPr/>
          <a:p/>
        </p:txBody>
      </p:sp>
      <p:sp>
        <p:nvSpPr>
          <p:cNvPr id="6" name="Text 4"/>
          <p:cNvSpPr/>
          <p:nvPr/>
        </p:nvSpPr>
        <p:spPr>
          <a:xfrm>
            <a:off x="777240" y="1709928"/>
            <a:ext cx="50292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저장소 구성</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5029200" cy="21945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sim/  — 시뮬레이터 · 추정기(estimator) · 집계(aggregate)</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firmware/  — ESP32 노드 펌웨어(C/C++)</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gateway/  — 라즈베리파이 추정기(Python, sim 재사용)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dashboard/  — 자체완결 웹 관제</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docs/  — 연구노트(PROGRESS · DECISIONS · 알고리즘 명세)</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결정 로그(D-001~)를 남겨 '왜 그렇게 정했는가'를 전부 추적 가능하게.</a:t>
            </a:r>
            <a:endParaRPr lang="en-US" sz="1200" dirty="0"/>
          </a:p>
        </p:txBody>
      </p:sp>
      <p:sp>
        <p:nvSpPr>
          <p:cNvPr id="9" name="Shape 7"/>
          <p:cNvSpPr/>
          <p:nvPr/>
        </p:nvSpPr>
        <p:spPr>
          <a:xfrm>
            <a:off x="6153912" y="1508760"/>
            <a:ext cx="5477256" cy="3200400"/>
          </a:xfrm>
          <a:prstGeom prst="roundRect">
            <a:avLst>
              <a:gd name="adj" fmla="val 1714"/>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추정기 동결 + 버전 분기</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21945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핵심 추정기 파일을 동결(frozen) — 모든 개선은 버전 분기로만.</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그래서 어떤 실험도 과거 결과를 훼손할 수 없다.</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회귀가 매번 비트 단위 동일함을 확인(최대차 0.000e+00).</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자동 테스트 54건 상시 통과.</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결과가 나빠도 파라미터를 유리하게 고치지 않는다(기록만).</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 데모에만 맞춘 overfitting 함정 회피.</a:t>
            </a:r>
            <a:endParaRPr lang="en-US" sz="1200" dirty="0"/>
          </a:p>
        </p:txBody>
      </p:sp>
      <p:sp>
        <p:nvSpPr>
          <p:cNvPr id="13" name="Text 11"/>
          <p:cNvSpPr/>
          <p:nvPr/>
        </p:nvSpPr>
        <p:spPr>
          <a:xfrm>
            <a:off x="548640" y="498348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완성도는 '보기 좋은 숫자'가 아니라 '재현 가능하고 정직하게 측정된 숫자'에서 나온다.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10</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①  |  기술성(문제해결·공학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하드웨어 없이 먼저 검증하고, 정직하게 교정</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장애 · 하드웨어 리스크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부품 도착 전 알고리즘을 못 짜면 개발이 지연되고, 실물에서 처음 검증하면 리스크가 크다.</a:t>
            </a:r>
            <a:endParaRPr lang="en-US" sz="1200" dirty="0"/>
          </a:p>
        </p:txBody>
      </p:sp>
      <p:sp>
        <p:nvSpPr>
          <p:cNvPr id="9" name="Shape 7"/>
          <p:cNvSpPr/>
          <p:nvPr/>
        </p:nvSpPr>
        <p:spPr>
          <a:xfrm>
            <a:off x="6153912" y="150876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해결 · 시뮬 선(先)개발</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네트워크 시뮬레이터로 4대 기능을 먼저 구현·검증. 정상 조건에서 방향 2.12°·속도 0.10%·전달률 92.3%·오탐 0% 확보.</a:t>
            </a:r>
            <a:endParaRPr lang="en-US" sz="1200" dirty="0"/>
          </a:p>
        </p:txBody>
      </p:sp>
      <p:sp>
        <p:nvSpPr>
          <p:cNvPr id="13" name="Shape 11"/>
          <p:cNvSpPr/>
          <p:nvPr/>
        </p:nvSpPr>
        <p:spPr>
          <a:xfrm>
            <a:off x="548640" y="3840480"/>
            <a:ext cx="5440680" cy="2148840"/>
          </a:xfrm>
          <a:prstGeom prst="roundRect">
            <a:avLst>
              <a:gd name="adj" fmla="val 2553"/>
            </a:avLst>
          </a:prstGeom>
          <a:solidFill>
            <a:srgbClr val="FBEFE2"/>
          </a:solidFill>
          <a:ln w="12700">
            <a:solidFill>
              <a:srgbClr val="E2DCD0"/>
            </a:solidFill>
            <a:prstDash val="solid"/>
          </a:ln>
        </p:spPr>
        <p:txBody>
          <a:bodyPr/>
          <a:p/>
        </p:txBody>
      </p:sp>
      <p:sp>
        <p:nvSpPr>
          <p:cNvPr id="14" name="Text 12"/>
          <p:cNvSpPr/>
          <p:nvPr/>
        </p:nvSpPr>
        <p:spPr>
          <a:xfrm>
            <a:off x="777240" y="4041648"/>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장애 · 가짜로 좋은 수치</a:t>
            </a:r>
            <a:endParaRPr lang="en-US" sz="1450" dirty="0"/>
          </a:p>
        </p:txBody>
      </p:sp>
      <p:sp>
        <p:nvSpPr>
          <p:cNvPr id="15" name="Shape 13"/>
          <p:cNvSpPr/>
          <p:nvPr/>
        </p:nvSpPr>
        <p:spPr>
          <a:xfrm>
            <a:off x="777240" y="4480560"/>
            <a:ext cx="502920" cy="0"/>
          </a:xfrm>
          <a:prstGeom prst="line">
            <a:avLst/>
          </a:prstGeom>
          <a:noFill/>
          <a:ln w="25400">
            <a:solidFill>
              <a:srgbClr val="D35400"/>
            </a:solidFill>
            <a:prstDash val="solid"/>
          </a:ln>
        </p:spPr>
        <p:txBody>
          <a:bodyPr/>
          <a:p/>
        </p:txBody>
      </p:sp>
      <p:sp>
        <p:nvSpPr>
          <p:cNvPr id="16" name="Text 14"/>
          <p:cNvSpPr/>
          <p:nvPr/>
        </p:nvSpPr>
        <p:spPr>
          <a:xfrm>
            <a:off x="777240" y="461772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초기엔 바람이 고정 파형이라 시드를 바꿔도 오차가 안 변해 에러바가 가짜로 0에 가까웠다. 좋아 보이는 숫자가 사실은 측정이 아니었다.</a:t>
            </a:r>
            <a:endParaRPr lang="en-US" sz="1200" dirty="0"/>
          </a:p>
        </p:txBody>
      </p:sp>
      <p:sp>
        <p:nvSpPr>
          <p:cNvPr id="17" name="Shape 15"/>
          <p:cNvSpPr/>
          <p:nvPr/>
        </p:nvSpPr>
        <p:spPr>
          <a:xfrm>
            <a:off x="6153912" y="384048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404164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해결 · 사전등록 제도</a:t>
            </a:r>
            <a:endParaRPr lang="en-US" sz="1450" dirty="0"/>
          </a:p>
        </p:txBody>
      </p:sp>
      <p:sp>
        <p:nvSpPr>
          <p:cNvPr id="19" name="Shape 17"/>
          <p:cNvSpPr/>
          <p:nvPr/>
        </p:nvSpPr>
        <p:spPr>
          <a:xfrm>
            <a:off x="6382512" y="4480560"/>
            <a:ext cx="502920" cy="0"/>
          </a:xfrm>
          <a:prstGeom prst="line">
            <a:avLst/>
          </a:prstGeom>
          <a:noFill/>
          <a:ln w="25400">
            <a:solidFill>
              <a:srgbClr val="D35400"/>
            </a:solidFill>
            <a:prstDash val="solid"/>
          </a:ln>
        </p:spPr>
        <p:txBody>
          <a:bodyPr/>
          <a:p/>
        </p:txBody>
      </p:sp>
      <p:sp>
        <p:nvSpPr>
          <p:cNvPr id="20" name="Text 18"/>
          <p:cNvSpPr/>
          <p:nvPr/>
        </p:nvSpPr>
        <p:spPr>
          <a:xfrm>
            <a:off x="6382512" y="461772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바람을 시드마다 다른 실현으로 바꿔 진짜 통계로. 나아가 물리 예측을 미리 등록하고 맞든 틀리든 전부 기록하는 규칙을 세웠다 — 기각된 예측 5건이 문서에 그대로 남아 있다(단조성·취약성·곡률·채점·ETA 게이트).</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11</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1" name="Text 39"/>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정직성 서사 = 과대포장 배제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② ★ 하나의 증상, 세 번의 오진  |  문제해결 능력</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방향오차 82° — 진짜 원인을 찾기까지</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타원 화선의 측면 조건에서 방향오차가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82~86°</a:t>
            </a:r>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 90°가 무작위 추측의 한계이므로 사실상 아무 정보도 못 주는 상태였다. 세 번의 진단이 전부 측정으로 기각된 뒤에야 원인에 닿았다.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914400"/>
        </p:xfrm>
        <a:graphic>
          <a:graphicData uri="http://schemas.openxmlformats.org/drawingml/2006/table">
            <a:tbl>
              <a:tblPr/>
              <a:tblGrid>
                <a:gridCol w="502920"/>
                <a:gridCol w="3520440"/>
                <a:gridCol w="3291840"/>
                <a:gridCol w="3776472"/>
              </a:tblGrid>
              <a:tr h="310896">
                <a:tc>
                  <a:txBody>
                    <a:bodyPr/>
                    <a:lstStyle/>
                    <a:p>
                      <a:pPr algn="l" indent="0" marL="0">
                        <a:buNone/>
                      </a:pP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가설</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검정 방법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곡률 탓 — 전선이 굽어 평면 근사가 깨짐</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적합 창을 넓혀 곡률 영향을 분리</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기각 — 창을 넓히자 81.8° → 5.6°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채점 방식 탓 — 국소 법선 vs 전역 축 혼동</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채점 코드를 직접 확인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기각 — 이미 국소 법선 기준이었다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02336">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③</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표본 부족 탓 — 창 안에 이웃이 모자람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표본 수·조건수 진단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부분 기각 — 13개인데도 실패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5720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④</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집계 가중치가 원인</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노드별 개별 오차와 가중치 분포를 분해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확정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+0.986</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corr(속도, 방향오차)</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속도가 큰 노드가 곧 틀린 노드</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86.4%</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한 노드의 가중치 비중</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그 노드의 개별 오차 85.21°</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1.35°</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개별 오차의 중앙값</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나머지 노드들은 맞히고 있었다</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정답은 표본 안에 있었다 — 집계가 그것을 버리고 최악의 노드 하나를 골랐다.  </a:t>
            </a:r>
            <a:pPr indent="0" marL="0">
              <a:lnSpc>
                <a:spcPct val="115000"/>
              </a:lnSpc>
              <a:buNone/>
            </a:pPr>
            <a:r>
              <a:rPr lang="en-US" sz="1200" dirty="0">
                <a:solidFill>
                  <a:srgbClr val="1F2421"/>
                </a:solidFill>
                <a:latin typeface="맑은 고딕" pitchFamily="34" charset="0"/>
                <a:ea typeface="맑은 고딕" pitchFamily="34" charset="-122"/>
                <a:cs typeface="맑은 고딕" pitchFamily="34" charset="-120"/>
              </a:rPr>
              <a:t>가중치가 w = 1/|∇T| (불확실할수록 크게)로, 부호가 반대였다. 오차 전파식에서 다시 유도해 w = |∇T|² 로 교정.</a:t>
            </a: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12</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우연한 통제군: 같은 입력에서 강건 집계(속도)는 살고 비강건 집계(방향)만 죽었다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③ ★ 모르면 '모른다'고 말하는 시스템  |  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가중치를 고쳐도, 정보가 원래 없는 조건은 남는다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45720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희소한 측면 조건에서는 창 안에 쓸 만한 관측 자체가 없다. 어떤 알고리즘도 못 푼다. </a:t>
            </a:r>
            <a:pPr indent="0" marL="0">
              <a:lnSpc>
                <a:spcPct val="120000"/>
              </a:lnSpc>
              <a:buNone/>
            </a:pPr>
            <a:r>
              <a:rPr lang="en-US" sz="1350" b="1" dirty="0">
                <a:solidFill>
                  <a:srgbClr val="D35400"/>
                </a:solidFill>
                <a:latin typeface="맑은 고딕" pitchFamily="34" charset="0"/>
                <a:ea typeface="맑은 고딕" pitchFamily="34" charset="-122"/>
                <a:cs typeface="맑은 고딕" pitchFamily="34" charset="-120"/>
              </a:rPr>
              <a:t>그때 시스템은 무엇을 해야 하는가?</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914400"/>
        </p:xfrm>
        <a:graphic>
          <a:graphicData uri="http://schemas.openxmlformats.org/drawingml/2006/table">
            <a:tbl>
              <a:tblPr/>
              <a:tblGrid>
                <a:gridCol w="3108960"/>
                <a:gridCol w="4023360"/>
                <a:gridCol w="3959352"/>
              </a:tblGrid>
              <a:tr h="310896">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집계 방식</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출력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84048">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기존(가중 결함)</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85.05°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자신 있게 틀림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균일 가중</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자신 있게 틀림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84048">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중앙값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84.90°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자신 있게 틀림</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5720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역분산 (채택)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값 없음 — INSUFFICIENT</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 판정을 보류한다</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041648"/>
            <a:ext cx="5440680" cy="1874520"/>
          </a:xfrm>
          <a:prstGeom prst="roundRect">
            <a:avLst>
              <a:gd name="adj" fmla="val 2927"/>
            </a:avLst>
          </a:prstGeom>
          <a:solidFill>
            <a:srgbClr val="FBEFE2"/>
          </a:solidFill>
          <a:ln w="12700">
            <a:solidFill>
              <a:srgbClr val="E2DCD0"/>
            </a:solidFill>
            <a:prstDash val="solid"/>
          </a:ln>
        </p:spPr>
        <p:txBody>
          <a:bodyPr/>
          <a:p/>
        </p:txBody>
      </p:sp>
      <p:sp>
        <p:nvSpPr>
          <p:cNvPr id="8" name="Text 5"/>
          <p:cNvSpPr/>
          <p:nvPr/>
        </p:nvSpPr>
        <p:spPr>
          <a:xfrm>
            <a:off x="777240" y="4242816"/>
            <a:ext cx="498348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설계 결정 — 폴백을 넣지 않는다</a:t>
            </a:r>
            <a:endParaRPr lang="en-US" sz="1450" dirty="0"/>
          </a:p>
        </p:txBody>
      </p:sp>
      <p:sp>
        <p:nvSpPr>
          <p:cNvPr id="9" name="Shape 6"/>
          <p:cNvSpPr/>
          <p:nvPr/>
        </p:nvSpPr>
        <p:spPr>
          <a:xfrm>
            <a:off x="777240" y="4681728"/>
            <a:ext cx="502920" cy="0"/>
          </a:xfrm>
          <a:prstGeom prst="line">
            <a:avLst/>
          </a:prstGeom>
          <a:noFill/>
          <a:ln w="25400">
            <a:solidFill>
              <a:srgbClr val="D35400"/>
            </a:solidFill>
            <a:prstDash val="solid"/>
          </a:ln>
        </p:spPr>
        <p:txBody>
          <a:bodyPr/>
          <a:p/>
        </p:txBody>
      </p:sp>
      <p:sp>
        <p:nvSpPr>
          <p:cNvPr id="10" name="Text 7"/>
          <p:cNvSpPr/>
          <p:nvPr/>
        </p:nvSpPr>
        <p:spPr>
          <a:xfrm>
            <a:off x="777240" y="4818888"/>
            <a:ext cx="4983480" cy="8686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산불 대응에서 '모른다'와 '정반대를 확신한다'의 비용은 대칭이 아니다. 방향을 모르면 판단을 보류하지만, 90° 틀린 방향을 믿으면 대원을 화선 쪽으로 보낸다.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실제 로그에는 "냈다면 틀렸을 것: True"가 함께 남는다.</a:t>
            </a:r>
            <a:endParaRPr lang="en-US" sz="1200" dirty="0"/>
          </a:p>
        </p:txBody>
      </p:sp>
      <p:sp>
        <p:nvSpPr>
          <p:cNvPr id="11" name="Shape 8"/>
          <p:cNvSpPr/>
          <p:nvPr/>
        </p:nvSpPr>
        <p:spPr>
          <a:xfrm>
            <a:off x="6153912" y="4041648"/>
            <a:ext cx="5477256" cy="1874520"/>
          </a:xfrm>
          <a:prstGeom prst="roundRect">
            <a:avLst>
              <a:gd name="adj" fmla="val 2927"/>
            </a:avLst>
          </a:prstGeom>
          <a:solidFill>
            <a:srgbClr val="EEF3E6"/>
          </a:solidFill>
          <a:ln w="12700">
            <a:solidFill>
              <a:srgbClr val="E2DCD0"/>
            </a:solidFill>
            <a:prstDash val="solid"/>
          </a:ln>
        </p:spPr>
        <p:txBody>
          <a:bodyPr/>
          <a:p/>
        </p:txBody>
      </p:sp>
      <p:sp>
        <p:nvSpPr>
          <p:cNvPr id="12" name="Text 9"/>
          <p:cNvSpPr/>
          <p:nvPr/>
        </p:nvSpPr>
        <p:spPr>
          <a:xfrm>
            <a:off x="6382512" y="4242816"/>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진단량 · 유효표본수 n_eff</a:t>
            </a:r>
            <a:endParaRPr lang="en-US" sz="1450" dirty="0"/>
          </a:p>
        </p:txBody>
      </p:sp>
      <p:sp>
        <p:nvSpPr>
          <p:cNvPr id="13" name="Shape 10"/>
          <p:cNvSpPr/>
          <p:nvPr/>
        </p:nvSpPr>
        <p:spPr>
          <a:xfrm>
            <a:off x="6382512" y="4681728"/>
            <a:ext cx="502920" cy="0"/>
          </a:xfrm>
          <a:prstGeom prst="line">
            <a:avLst/>
          </a:prstGeom>
          <a:noFill/>
          <a:ln w="25400">
            <a:solidFill>
              <a:srgbClr val="D35400"/>
            </a:solidFill>
            <a:prstDash val="solid"/>
          </a:ln>
        </p:spPr>
        <p:txBody>
          <a:bodyPr/>
          <a:p/>
        </p:txBody>
      </p:sp>
      <p:sp>
        <p:nvSpPr>
          <p:cNvPr id="14" name="Text 11"/>
          <p:cNvSpPr/>
          <p:nvPr/>
        </p:nvSpPr>
        <p:spPr>
          <a:xfrm>
            <a:off x="6382512" y="4818888"/>
            <a:ext cx="5020056" cy="86868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표본이 13개여도 하나가 가중치를 독식하면 n_eff는 1.33까지 떨어진다.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정상 12.7~13.0  · 가중치 독식 1.33~1.74  · 진짜 표본 굶주림 1.04</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원표본 수와 짝지어 표기해야 두 실패가 구분된다.</a:t>
            </a:r>
            <a:endParaRPr lang="en-US" sz="1200" dirty="0"/>
          </a:p>
        </p:txBody>
      </p:sp>
      <p:sp>
        <p:nvSpPr>
          <p:cNvPr id="37" name="Text 12"/>
          <p:cNvSpPr/>
          <p:nvPr/>
        </p:nvSpPr>
        <p:spPr>
          <a:xfrm>
            <a:off x="548640" y="6016752"/>
            <a:ext cx="11091672" cy="365760"/>
          </a:xfrm>
          <a:prstGeom prst="rect">
            <a:avLst/>
          </a:prstGeom>
          <a:noFill/>
          <a:ln/>
        </p:spPr>
        <p:txBody>
          <a:bodyPr wrap="square" rtlCol="0" anchor="ctr"/>
          <a:lstStyle/>
          <a:p>
            <a:pPr indent="0" marL="0">
              <a:buNone/>
            </a:pPr>
            <a:r>
              <a:rPr lang="en-US" sz="1200" b="1" dirty="0">
                <a:solidFill>
                  <a:srgbClr val="D35400"/>
                </a:solidFill>
                <a:latin typeface="맑은 고딕" pitchFamily="34" charset="0"/>
                <a:ea typeface="맑은 고딕" pitchFamily="34" charset="-122"/>
                <a:cs typeface="맑은 고딕" pitchFamily="34" charset="-120"/>
              </a:rPr>
              <a:t>★ 같은 원칙을 우리 계측 도구가 어겼다 — </a:t>
            </a:r>
            <a:pPr indent="0" marL="0">
              <a:buNone/>
            </a:pPr>
            <a:r>
              <a:rPr lang="en-US" sz="1200" dirty="0">
                <a:solidFill>
                  <a:srgbClr val="1F2421"/>
                </a:solidFill>
                <a:latin typeface="맑은 고딕" pitchFamily="34" charset="0"/>
                <a:ea typeface="맑은 고딕" pitchFamily="34" charset="-122"/>
                <a:cs typeface="맑은 고딕" pitchFamily="34" charset="-120"/>
              </a:rPr>
              <a:t>센서를 못 찾은 로거가 오류 한 줄 뒤 영구히 침묵해, 배선을 고쳐도 정상과 구별되지 않았다. 침묵 대신 상태를 계속 출력하도록 고쳤다.</a:t>
            </a:r>
            <a:endParaRPr lang="en-US" sz="1200" dirty="0"/>
          </a:p>
        </p:txBody>
      </p:sp>
      <p:sp>
        <p:nvSpPr>
          <p:cNvPr id="16" name="Text 13"/>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7" name="Text 14"/>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13</a:t>
            </a:r>
            <a:endParaRPr lang="en-US" sz="900" dirty="0"/>
          </a:p>
        </p:txBody>
      </p:sp>
      <p:sp>
        <p:nvSpPr>
          <p:cNvPr id="18" name="Shape 15"/>
          <p:cNvSpPr/>
          <p:nvPr/>
        </p:nvSpPr>
        <p:spPr>
          <a:xfrm>
            <a:off x="10503027" y="6464808"/>
            <a:ext cx="144018" cy="36576"/>
          </a:xfrm>
          <a:prstGeom prst="line">
            <a:avLst/>
          </a:prstGeom>
          <a:noFill/>
          <a:ln w="9525">
            <a:solidFill>
              <a:srgbClr val="E2DCD0"/>
            </a:solidFill>
            <a:prstDash val="solid"/>
          </a:ln>
        </p:spPr>
        <p:txBody>
          <a:bodyPr/>
          <a:p/>
        </p:txBody>
      </p:sp>
      <p:sp>
        <p:nvSpPr>
          <p:cNvPr id="19" name="Shape 16"/>
          <p:cNvSpPr/>
          <p:nvPr/>
        </p:nvSpPr>
        <p:spPr>
          <a:xfrm>
            <a:off x="10503027" y="6464808"/>
            <a:ext cx="-4572" cy="187452"/>
          </a:xfrm>
          <a:prstGeom prst="line">
            <a:avLst/>
          </a:prstGeom>
          <a:noFill/>
          <a:ln w="9525">
            <a:solidFill>
              <a:srgbClr val="E2DCD0"/>
            </a:solidFill>
            <a:prstDash val="solid"/>
          </a:ln>
        </p:spPr>
        <p:txBody>
          <a:bodyPr/>
          <a:p/>
        </p:txBody>
      </p:sp>
      <p:sp>
        <p:nvSpPr>
          <p:cNvPr id="20" name="Shape 17"/>
          <p:cNvSpPr/>
          <p:nvPr/>
        </p:nvSpPr>
        <p:spPr>
          <a:xfrm>
            <a:off x="10647045" y="6501384"/>
            <a:ext cx="235458" cy="-50292"/>
          </a:xfrm>
          <a:prstGeom prst="line">
            <a:avLst/>
          </a:prstGeom>
          <a:noFill/>
          <a:ln w="9525">
            <a:solidFill>
              <a:srgbClr val="E2DCD0"/>
            </a:solidFill>
            <a:prstDash val="solid"/>
          </a:ln>
        </p:spPr>
        <p:txBody>
          <a:bodyPr/>
          <a:p/>
        </p:txBody>
      </p:sp>
      <p:sp>
        <p:nvSpPr>
          <p:cNvPr id="21" name="Shape 18"/>
          <p:cNvSpPr/>
          <p:nvPr/>
        </p:nvSpPr>
        <p:spPr>
          <a:xfrm>
            <a:off x="10647045" y="6501384"/>
            <a:ext cx="-4572" cy="196596"/>
          </a:xfrm>
          <a:prstGeom prst="line">
            <a:avLst/>
          </a:prstGeom>
          <a:noFill/>
          <a:ln w="9525">
            <a:solidFill>
              <a:srgbClr val="E2DCD0"/>
            </a:solidFill>
            <a:prstDash val="solid"/>
          </a:ln>
        </p:spPr>
        <p:txBody>
          <a:bodyPr/>
          <a:p/>
        </p:txBody>
      </p:sp>
      <p:sp>
        <p:nvSpPr>
          <p:cNvPr id="22" name="Shape 19"/>
          <p:cNvSpPr/>
          <p:nvPr/>
        </p:nvSpPr>
        <p:spPr>
          <a:xfrm>
            <a:off x="10882503" y="6451092"/>
            <a:ext cx="162306" cy="41148"/>
          </a:xfrm>
          <a:prstGeom prst="line">
            <a:avLst/>
          </a:prstGeom>
          <a:noFill/>
          <a:ln w="9525">
            <a:solidFill>
              <a:srgbClr val="E2DCD0"/>
            </a:solidFill>
            <a:prstDash val="solid"/>
          </a:ln>
        </p:spPr>
        <p:txBody>
          <a:bodyPr/>
          <a:p/>
        </p:txBody>
      </p:sp>
      <p:sp>
        <p:nvSpPr>
          <p:cNvPr id="23" name="Shape 20"/>
          <p:cNvSpPr/>
          <p:nvPr/>
        </p:nvSpPr>
        <p:spPr>
          <a:xfrm>
            <a:off x="10882503" y="6451092"/>
            <a:ext cx="-4572" cy="196596"/>
          </a:xfrm>
          <a:prstGeom prst="line">
            <a:avLst/>
          </a:prstGeom>
          <a:noFill/>
          <a:ln w="9525">
            <a:solidFill>
              <a:srgbClr val="E2DCD0"/>
            </a:solidFill>
            <a:prstDash val="solid"/>
          </a:ln>
        </p:spPr>
        <p:txBody>
          <a:bodyPr/>
          <a:p/>
        </p:txBody>
      </p:sp>
      <p:sp>
        <p:nvSpPr>
          <p:cNvPr id="24" name="Shape 21"/>
          <p:cNvSpPr/>
          <p:nvPr/>
        </p:nvSpPr>
        <p:spPr>
          <a:xfrm>
            <a:off x="11044809" y="6492240"/>
            <a:ext cx="-4572" cy="196596"/>
          </a:xfrm>
          <a:prstGeom prst="line">
            <a:avLst/>
          </a:prstGeom>
          <a:noFill/>
          <a:ln w="9525">
            <a:solidFill>
              <a:srgbClr val="E2DCD0"/>
            </a:solidFill>
            <a:prstDash val="solid"/>
          </a:ln>
        </p:spPr>
        <p:txBody>
          <a:bodyPr/>
          <a:p/>
        </p:txBody>
      </p:sp>
      <p:sp>
        <p:nvSpPr>
          <p:cNvPr id="25" name="Shape 22"/>
          <p:cNvSpPr/>
          <p:nvPr/>
        </p:nvSpPr>
        <p:spPr>
          <a:xfrm>
            <a:off x="10498455" y="6652260"/>
            <a:ext cx="144018" cy="45720"/>
          </a:xfrm>
          <a:prstGeom prst="line">
            <a:avLst/>
          </a:prstGeom>
          <a:noFill/>
          <a:ln w="9525">
            <a:solidFill>
              <a:srgbClr val="E2DCD0"/>
            </a:solidFill>
            <a:prstDash val="solid"/>
          </a:ln>
        </p:spPr>
        <p:txBody>
          <a:bodyPr/>
          <a:p/>
        </p:txBody>
      </p:sp>
      <p:sp>
        <p:nvSpPr>
          <p:cNvPr id="26" name="Shape 23"/>
          <p:cNvSpPr/>
          <p:nvPr/>
        </p:nvSpPr>
        <p:spPr>
          <a:xfrm>
            <a:off x="10642473" y="6697980"/>
            <a:ext cx="235458" cy="-50292"/>
          </a:xfrm>
          <a:prstGeom prst="line">
            <a:avLst/>
          </a:prstGeom>
          <a:noFill/>
          <a:ln w="9525">
            <a:solidFill>
              <a:srgbClr val="E2DCD0"/>
            </a:solidFill>
            <a:prstDash val="solid"/>
          </a:ln>
        </p:spPr>
        <p:txBody>
          <a:bodyPr/>
          <a:p/>
        </p:txBody>
      </p:sp>
      <p:sp>
        <p:nvSpPr>
          <p:cNvPr id="27" name="Shape 24"/>
          <p:cNvSpPr/>
          <p:nvPr/>
        </p:nvSpPr>
        <p:spPr>
          <a:xfrm>
            <a:off x="10877931" y="6647688"/>
            <a:ext cx="162306" cy="41148"/>
          </a:xfrm>
          <a:prstGeom prst="line">
            <a:avLst/>
          </a:prstGeom>
          <a:noFill/>
          <a:ln w="9525">
            <a:solidFill>
              <a:srgbClr val="E2DCD0"/>
            </a:solidFill>
            <a:prstDash val="solid"/>
          </a:ln>
        </p:spPr>
        <p:txBody>
          <a:bodyPr/>
          <a:p/>
        </p:txBody>
      </p:sp>
      <p:sp>
        <p:nvSpPr>
          <p:cNvPr id="28" name="Shape 25"/>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9" name="Shape 26"/>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0" name="Shape 27"/>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1" name="Shape 28"/>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2" name="Shape 29"/>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6" name="Text 33"/>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'자기 한계를 아는 것'은 문서가 아니라 기능이다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④ ★ 하드웨어 괴리 선점  |  공학 성숙도·차별화</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시뮬에선 보이지 않는 실물 전용 위험 셋</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63040"/>
            <a:ext cx="3429000" cy="3675888"/>
          </a:xfrm>
          <a:prstGeom prst="roundRect">
            <a:avLst>
              <a:gd name="adj" fmla="val 1600"/>
            </a:avLst>
          </a:prstGeom>
          <a:solidFill>
            <a:srgbClr val="FFFFFF"/>
          </a:solidFill>
          <a:ln w="12700">
            <a:solidFill>
              <a:srgbClr val="E2DCD0"/>
            </a:solidFill>
            <a:prstDash val="solid"/>
          </a:ln>
        </p:spPr>
        <p:txBody>
          <a:bodyPr/>
          <a:p/>
        </p:txBody>
      </p:sp>
      <p:sp>
        <p:nvSpPr>
          <p:cNvPr id="6" name="Text 4"/>
          <p:cNvSpPr/>
          <p:nvPr/>
        </p:nvSpPr>
        <p:spPr>
          <a:xfrm>
            <a:off x="777240" y="1664208"/>
            <a:ext cx="297180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① 시계 동기</a:t>
            </a:r>
            <a:endParaRPr lang="en-US" sz="1450" dirty="0"/>
          </a:p>
        </p:txBody>
      </p:sp>
      <p:sp>
        <p:nvSpPr>
          <p:cNvPr id="7" name="Shape 5"/>
          <p:cNvSpPr/>
          <p:nvPr/>
        </p:nvSpPr>
        <p:spPr>
          <a:xfrm>
            <a:off x="777240" y="2103120"/>
            <a:ext cx="502920" cy="0"/>
          </a:xfrm>
          <a:prstGeom prst="line">
            <a:avLst/>
          </a:prstGeom>
          <a:noFill/>
          <a:ln w="25400">
            <a:solidFill>
              <a:srgbClr val="D35400"/>
            </a:solidFill>
            <a:prstDash val="solid"/>
          </a:ln>
        </p:spPr>
        <p:txBody>
          <a:bodyPr/>
          <a:p/>
        </p:txBody>
      </p:sp>
      <p:sp>
        <p:nvSpPr>
          <p:cNvPr id="8" name="Text 6"/>
          <p:cNvSpPr/>
          <p:nvPr/>
        </p:nvSpPr>
        <p:spPr>
          <a:xfrm>
            <a:off x="777240"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서로 다른 노드의 사망 시각을 빼서 기울기를 만드는 알고리즘이므로 시간축이 같아야 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초기 펌웨어는 보드 부팅 기준 시계를 썼다 — 보드마다 원점이 달라 뺄셈 자체가 무의미해지는 원리적 파탄.</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메시 동기 시각으로 교체. 사망 시각도 '루트의 확정 시각'에서 '당사자 노드가 각인한 시각'으로 (확정 시각엔 감지·투표 지연이 섞여 있었다).</a:t>
            </a:r>
            <a:endParaRPr lang="en-US" sz="1200" dirty="0"/>
          </a:p>
        </p:txBody>
      </p:sp>
      <p:sp>
        <p:nvSpPr>
          <p:cNvPr id="9" name="Shape 7"/>
          <p:cNvSpPr/>
          <p:nvPr/>
        </p:nvSpPr>
        <p:spPr>
          <a:xfrm>
            <a:off x="4379976" y="1463040"/>
            <a:ext cx="3429000" cy="3675888"/>
          </a:xfrm>
          <a:prstGeom prst="roundRect">
            <a:avLst>
              <a:gd name="adj" fmla="val 1600"/>
            </a:avLst>
          </a:prstGeom>
          <a:solidFill>
            <a:srgbClr val="FBEFE2"/>
          </a:solidFill>
          <a:ln w="12700">
            <a:solidFill>
              <a:srgbClr val="E2DCD0"/>
            </a:solidFill>
            <a:prstDash val="solid"/>
          </a:ln>
        </p:spPr>
        <p:txBody>
          <a:bodyPr/>
          <a:p/>
        </p:txBody>
      </p:sp>
      <p:sp>
        <p:nvSpPr>
          <p:cNvPr id="10" name="Text 8"/>
          <p:cNvSpPr/>
          <p:nvPr/>
        </p:nvSpPr>
        <p:spPr>
          <a:xfrm>
            <a:off x="4608576" y="1664208"/>
            <a:ext cx="2971800"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② 센서 열관성 τ</a:t>
            </a:r>
            <a:endParaRPr lang="en-US" sz="1450" dirty="0"/>
          </a:p>
        </p:txBody>
      </p:sp>
      <p:sp>
        <p:nvSpPr>
          <p:cNvPr id="11" name="Shape 9"/>
          <p:cNvSpPr/>
          <p:nvPr/>
        </p:nvSpPr>
        <p:spPr>
          <a:xfrm>
            <a:off x="4608576" y="2103120"/>
            <a:ext cx="502920" cy="0"/>
          </a:xfrm>
          <a:prstGeom prst="line">
            <a:avLst/>
          </a:prstGeom>
          <a:noFill/>
          <a:ln w="25400">
            <a:solidFill>
              <a:srgbClr val="D35400"/>
            </a:solidFill>
            <a:prstDash val="solid"/>
          </a:ln>
        </p:spPr>
        <p:txBody>
          <a:bodyPr/>
          <a:p/>
        </p:txBody>
      </p:sp>
      <p:sp>
        <p:nvSpPr>
          <p:cNvPr id="12" name="Text 10"/>
          <p:cNvSpPr/>
          <p:nvPr/>
        </p:nvSpPr>
        <p:spPr>
          <a:xfrm>
            <a:off x="4608576"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센서는 공기 온도를 즉시 따라가지 못한다. 이 지연이 곧 사망 시각의 오차가 된다.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시뮬 시험 범위   0 ~ 10초</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실측 범위        11 ~ 92초</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검증했다고 믿은 범위 밖에 실제가 있었다.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τ는 온도가 아니라 유속의 함수 — 같은 센서·같은 시행 안에서 제트 21.5초 / 실내 92초로 4.1배 차이. 바뀐 것은 공기가 움직이느냐뿐이었다.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노드별 편차 σ_τ는 '미측정'으로 확정. 한때 5.7%로 보고했으나 센서 번호가 측정 순서와 교란(corr −0.903)된 것을 발견하고 우리 손으로 철회했다.</a:t>
            </a:r>
            <a:endParaRPr lang="en-US" sz="1200" dirty="0"/>
          </a:p>
        </p:txBody>
      </p:sp>
      <p:sp>
        <p:nvSpPr>
          <p:cNvPr id="13" name="Shape 11"/>
          <p:cNvSpPr/>
          <p:nvPr/>
        </p:nvSpPr>
        <p:spPr>
          <a:xfrm>
            <a:off x="8211312" y="1463040"/>
            <a:ext cx="3429000" cy="3675888"/>
          </a:xfrm>
          <a:prstGeom prst="roundRect">
            <a:avLst>
              <a:gd name="adj" fmla="val 1600"/>
            </a:avLst>
          </a:prstGeom>
          <a:solidFill>
            <a:srgbClr val="EEF3E6"/>
          </a:solidFill>
          <a:ln w="12700">
            <a:solidFill>
              <a:srgbClr val="E2DCD0"/>
            </a:solidFill>
            <a:prstDash val="solid"/>
          </a:ln>
        </p:spPr>
        <p:txBody>
          <a:bodyPr/>
          <a:p/>
        </p:txBody>
      </p:sp>
      <p:sp>
        <p:nvSpPr>
          <p:cNvPr id="14" name="Text 12"/>
          <p:cNvSpPr/>
          <p:nvPr/>
        </p:nvSpPr>
        <p:spPr>
          <a:xfrm>
            <a:off x="8439912" y="1664208"/>
            <a:ext cx="2971800"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③ 실물 파이프라인 공백</a:t>
            </a:r>
            <a:endParaRPr lang="en-US" sz="1450" dirty="0"/>
          </a:p>
        </p:txBody>
      </p:sp>
      <p:sp>
        <p:nvSpPr>
          <p:cNvPr id="15" name="Shape 13"/>
          <p:cNvSpPr/>
          <p:nvPr/>
        </p:nvSpPr>
        <p:spPr>
          <a:xfrm>
            <a:off x="8439912" y="2103120"/>
            <a:ext cx="502920" cy="0"/>
          </a:xfrm>
          <a:prstGeom prst="line">
            <a:avLst/>
          </a:prstGeom>
          <a:noFill/>
          <a:ln w="25400">
            <a:solidFill>
              <a:srgbClr val="D35400"/>
            </a:solidFill>
            <a:prstDash val="solid"/>
          </a:ln>
        </p:spPr>
        <p:txBody>
          <a:bodyPr/>
          <a:p/>
        </p:txBody>
      </p:sp>
      <p:sp>
        <p:nvSpPr>
          <p:cNvPr id="16" name="Text 14"/>
          <p:cNvSpPr/>
          <p:nvPr/>
        </p:nvSpPr>
        <p:spPr>
          <a:xfrm>
            <a:off x="8439912" y="2240280"/>
            <a:ext cx="2971800" cy="2670048"/>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시뮬에는 화재/비화재 판별이 있는데 실물 경로에는 없었다 — 게이트웨이가 판별기를 아예 호출하지 않고 있었다.</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판정 로직을 한 함수로 통합해 시뮬과 실물이 같은 코드를 호출하도록 교정.</a:t>
            </a:r>
            <a:endParaRPr lang="en-US" sz="1200" dirty="0"/>
          </a:p>
          <a:p>
            <a:pPr indent="0" marL="0">
              <a:lnSpc>
                <a:spcPct val="120000"/>
              </a:lnSpc>
              <a:buNone/>
            </a:pP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이걸 놓쳤으면 시뮬에서 검증한 방어가 실물에서 통째로 빠진 채 데모를 했을 것이다.</a:t>
            </a:r>
            <a:endParaRPr lang="en-US" sz="1200" dirty="0"/>
          </a:p>
        </p:txBody>
      </p:sp>
      <p:sp>
        <p:nvSpPr>
          <p:cNvPr id="17" name="Text 15"/>
          <p:cNvSpPr/>
          <p:nvPr/>
        </p:nvSpPr>
        <p:spPr>
          <a:xfrm>
            <a:off x="548640" y="5349240"/>
            <a:ext cx="11091672" cy="457200"/>
          </a:xfrm>
          <a:prstGeom prst="rect">
            <a:avLst/>
          </a:prstGeom>
          <a:noFill/>
          <a:ln/>
        </p:spPr>
        <p:txBody>
          <a:bodyPr wrap="square" rtlCol="0" anchor="ctr"/>
          <a:lstStyle/>
          <a:p>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세 위험 모두 </a:t>
            </a:r>
            <a:pPr indent="0" marL="0">
              <a:lnSpc>
                <a:spcPct val="120000"/>
              </a:lnSpc>
              <a:buNone/>
            </a:pPr>
            <a:r>
              <a:rPr lang="en-US" sz="1250" b="1" dirty="0">
                <a:solidFill>
                  <a:srgbClr val="D35400"/>
                </a:solidFill>
                <a:latin typeface="맑은 고딕" pitchFamily="34" charset="0"/>
                <a:ea typeface="맑은 고딕" pitchFamily="34" charset="-122"/>
                <a:cs typeface="맑은 고딕" pitchFamily="34" charset="-120"/>
              </a:rPr>
              <a:t>실물에서 터지기 전에</a:t>
            </a:r>
            <a:pPr indent="0" marL="0">
              <a:lnSpc>
                <a:spcPct val="120000"/>
              </a:lnSpc>
              <a:buNone/>
            </a:pPr>
            <a:r>
              <a:rPr lang="en-US" sz="1250" dirty="0">
                <a:solidFill>
                  <a:srgbClr val="1F2421"/>
                </a:solidFill>
                <a:latin typeface="맑은 고딕" pitchFamily="34" charset="0"/>
                <a:ea typeface="맑은 고딕" pitchFamily="34" charset="-122"/>
                <a:cs typeface="맑은 고딕" pitchFamily="34" charset="-120"/>
              </a:rPr>
              <a:t> 발견했다. ①은 코드 검토로, ②는 실측으로, ③은 실물 이식 준비 중에 — 각각 다른 방법이 필요했다는 것이 이 문제들의 성격을 보여준다.</a:t>
            </a:r>
            <a:endParaRPr lang="en-US" sz="1250" dirty="0"/>
          </a:p>
        </p:txBody>
      </p:sp>
      <p:sp>
        <p:nvSpPr>
          <p:cNvPr id="18" name="Text 16"/>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9" name="Text 17"/>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14</a:t>
            </a:r>
            <a:endParaRPr lang="en-US" sz="900" dirty="0"/>
          </a:p>
        </p:txBody>
      </p:sp>
      <p:sp>
        <p:nvSpPr>
          <p:cNvPr id="20" name="Shape 18"/>
          <p:cNvSpPr/>
          <p:nvPr/>
        </p:nvSpPr>
        <p:spPr>
          <a:xfrm>
            <a:off x="10503027" y="6464808"/>
            <a:ext cx="144018" cy="36576"/>
          </a:xfrm>
          <a:prstGeom prst="line">
            <a:avLst/>
          </a:prstGeom>
          <a:noFill/>
          <a:ln w="9525">
            <a:solidFill>
              <a:srgbClr val="E2DCD0"/>
            </a:solidFill>
            <a:prstDash val="solid"/>
          </a:ln>
        </p:spPr>
        <p:txBody>
          <a:bodyPr/>
          <a:p/>
        </p:txBody>
      </p:sp>
      <p:sp>
        <p:nvSpPr>
          <p:cNvPr id="21" name="Shape 19"/>
          <p:cNvSpPr/>
          <p:nvPr/>
        </p:nvSpPr>
        <p:spPr>
          <a:xfrm>
            <a:off x="10503027" y="6464808"/>
            <a:ext cx="-4572" cy="187452"/>
          </a:xfrm>
          <a:prstGeom prst="line">
            <a:avLst/>
          </a:prstGeom>
          <a:noFill/>
          <a:ln w="9525">
            <a:solidFill>
              <a:srgbClr val="E2DCD0"/>
            </a:solidFill>
            <a:prstDash val="solid"/>
          </a:ln>
        </p:spPr>
        <p:txBody>
          <a:bodyPr/>
          <a:p/>
        </p:txBody>
      </p:sp>
      <p:sp>
        <p:nvSpPr>
          <p:cNvPr id="22" name="Shape 20"/>
          <p:cNvSpPr/>
          <p:nvPr/>
        </p:nvSpPr>
        <p:spPr>
          <a:xfrm>
            <a:off x="10647045" y="6501384"/>
            <a:ext cx="235458" cy="-50292"/>
          </a:xfrm>
          <a:prstGeom prst="line">
            <a:avLst/>
          </a:prstGeom>
          <a:noFill/>
          <a:ln w="9525">
            <a:solidFill>
              <a:srgbClr val="E2DCD0"/>
            </a:solidFill>
            <a:prstDash val="solid"/>
          </a:ln>
        </p:spPr>
        <p:txBody>
          <a:bodyPr/>
          <a:p/>
        </p:txBody>
      </p:sp>
      <p:sp>
        <p:nvSpPr>
          <p:cNvPr id="23" name="Shape 21"/>
          <p:cNvSpPr/>
          <p:nvPr/>
        </p:nvSpPr>
        <p:spPr>
          <a:xfrm>
            <a:off x="10647045" y="6501384"/>
            <a:ext cx="-4572" cy="196596"/>
          </a:xfrm>
          <a:prstGeom prst="line">
            <a:avLst/>
          </a:prstGeom>
          <a:noFill/>
          <a:ln w="9525">
            <a:solidFill>
              <a:srgbClr val="E2DCD0"/>
            </a:solidFill>
            <a:prstDash val="solid"/>
          </a:ln>
        </p:spPr>
        <p:txBody>
          <a:bodyPr/>
          <a:p/>
        </p:txBody>
      </p:sp>
      <p:sp>
        <p:nvSpPr>
          <p:cNvPr id="24" name="Shape 22"/>
          <p:cNvSpPr/>
          <p:nvPr/>
        </p:nvSpPr>
        <p:spPr>
          <a:xfrm>
            <a:off x="10882503" y="6451092"/>
            <a:ext cx="162306" cy="41148"/>
          </a:xfrm>
          <a:prstGeom prst="line">
            <a:avLst/>
          </a:prstGeom>
          <a:noFill/>
          <a:ln w="9525">
            <a:solidFill>
              <a:srgbClr val="E2DCD0"/>
            </a:solidFill>
            <a:prstDash val="solid"/>
          </a:ln>
        </p:spPr>
        <p:txBody>
          <a:bodyPr/>
          <a:p/>
        </p:txBody>
      </p:sp>
      <p:sp>
        <p:nvSpPr>
          <p:cNvPr id="25" name="Shape 23"/>
          <p:cNvSpPr/>
          <p:nvPr/>
        </p:nvSpPr>
        <p:spPr>
          <a:xfrm>
            <a:off x="10882503" y="6451092"/>
            <a:ext cx="-4572" cy="196596"/>
          </a:xfrm>
          <a:prstGeom prst="line">
            <a:avLst/>
          </a:prstGeom>
          <a:noFill/>
          <a:ln w="9525">
            <a:solidFill>
              <a:srgbClr val="E2DCD0"/>
            </a:solidFill>
            <a:prstDash val="solid"/>
          </a:ln>
        </p:spPr>
        <p:txBody>
          <a:bodyPr/>
          <a:p/>
        </p:txBody>
      </p:sp>
      <p:sp>
        <p:nvSpPr>
          <p:cNvPr id="26" name="Shape 24"/>
          <p:cNvSpPr/>
          <p:nvPr/>
        </p:nvSpPr>
        <p:spPr>
          <a:xfrm>
            <a:off x="11044809" y="6492240"/>
            <a:ext cx="-4572" cy="196596"/>
          </a:xfrm>
          <a:prstGeom prst="line">
            <a:avLst/>
          </a:prstGeom>
          <a:noFill/>
          <a:ln w="9525">
            <a:solidFill>
              <a:srgbClr val="E2DCD0"/>
            </a:solidFill>
            <a:prstDash val="solid"/>
          </a:ln>
        </p:spPr>
        <p:txBody>
          <a:bodyPr/>
          <a:p/>
        </p:txBody>
      </p:sp>
      <p:sp>
        <p:nvSpPr>
          <p:cNvPr id="27" name="Shape 25"/>
          <p:cNvSpPr/>
          <p:nvPr/>
        </p:nvSpPr>
        <p:spPr>
          <a:xfrm>
            <a:off x="10498455" y="6652260"/>
            <a:ext cx="144018" cy="45720"/>
          </a:xfrm>
          <a:prstGeom prst="line">
            <a:avLst/>
          </a:prstGeom>
          <a:noFill/>
          <a:ln w="9525">
            <a:solidFill>
              <a:srgbClr val="E2DCD0"/>
            </a:solidFill>
            <a:prstDash val="solid"/>
          </a:ln>
        </p:spPr>
        <p:txBody>
          <a:bodyPr/>
          <a:p/>
        </p:txBody>
      </p:sp>
      <p:sp>
        <p:nvSpPr>
          <p:cNvPr id="28" name="Shape 26"/>
          <p:cNvSpPr/>
          <p:nvPr/>
        </p:nvSpPr>
        <p:spPr>
          <a:xfrm>
            <a:off x="10642473" y="6697980"/>
            <a:ext cx="235458" cy="-50292"/>
          </a:xfrm>
          <a:prstGeom prst="line">
            <a:avLst/>
          </a:prstGeom>
          <a:noFill/>
          <a:ln w="9525">
            <a:solidFill>
              <a:srgbClr val="E2DCD0"/>
            </a:solidFill>
            <a:prstDash val="solid"/>
          </a:ln>
        </p:spPr>
        <p:txBody>
          <a:bodyPr/>
          <a:p/>
        </p:txBody>
      </p:sp>
      <p:sp>
        <p:nvSpPr>
          <p:cNvPr id="29" name="Shape 27"/>
          <p:cNvSpPr/>
          <p:nvPr/>
        </p:nvSpPr>
        <p:spPr>
          <a:xfrm>
            <a:off x="10877931" y="6647688"/>
            <a:ext cx="162306" cy="41148"/>
          </a:xfrm>
          <a:prstGeom prst="line">
            <a:avLst/>
          </a:prstGeom>
          <a:noFill/>
          <a:ln w="9525">
            <a:solidFill>
              <a:srgbClr val="E2DCD0"/>
            </a:solidFill>
            <a:prstDash val="solid"/>
          </a:ln>
        </p:spPr>
        <p:txBody>
          <a:bodyPr/>
          <a:p/>
        </p:txBody>
      </p:sp>
      <p:sp>
        <p:nvSpPr>
          <p:cNvPr id="30" name="Shape 28"/>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4" name="Shape 32"/>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5" name="Shape 33"/>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6" name="Shape 34"/>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7" name="Shape 35"/>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8" name="Text 36"/>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세 위험 모두 실물에서 터지기 전에 발견 — 각각 다른 방법이 필요했다</a:t>
            </a:r>
            <a:endParaRPr lang="en-US" sz="8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장애요인·해결 ⑤ ★ 자랑하던 것을 의심하다  |  공학 성숙도</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'자기 차단'은 정보 부족이었나, 우리 상수였나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Text 3"/>
          <p:cNvSpPr/>
          <p:nvPr/>
        </p:nvSpPr>
        <p:spPr>
          <a:xfrm>
            <a:off x="548640" y="1426464"/>
            <a:ext cx="11091672" cy="548640"/>
          </a:xfrm>
          <a:prstGeom prst="rect">
            <a:avLst/>
          </a:prstGeom>
          <a:noFill/>
          <a:ln/>
        </p:spPr>
        <p:txBody>
          <a:bodyPr wrap="square" rtlCol="0" anchor="ctr"/>
          <a:lstStyle/>
          <a:p>
            <a:pPr indent="0" marL="0">
              <a:lnSpc>
                <a:spcPct val="120000"/>
              </a:lnSpc>
              <a:buNone/>
            </a:pPr>
            <a:r>
              <a:rPr lang="en-US" sz="1350" dirty="0">
                <a:solidFill>
                  <a:srgbClr val="1F2421"/>
                </a:solidFill>
                <a:latin typeface="맑은 고딕" pitchFamily="34" charset="0"/>
                <a:ea typeface="맑은 고딕" pitchFamily="34" charset="-122"/>
                <a:cs typeface="맑은 고딕" pitchFamily="34" charset="-120"/>
              </a:rPr>
              <a:t>우리는 「정보가 없으면 값을 내지 않는다」를 강점으로 보고했다. 그런데 알고리즘을 20cm 실물 격자로 옮겨 다시 재보니, 16노드 전부가 값을 내지 못했다. 자랑하던 기능이 전면 작동한 것인지, 아니면 무언가 잘못된 것인지 구분해야 했다.</a:t>
            </a:r>
            <a:pPr indent="0" marL="0">
              <a:lnSpc>
                <a:spcPct val="120000"/>
              </a:lnSpc>
              <a:buNone/>
            </a:pPr>
            <a:pPr indent="0" marL="0">
              <a:lnSpc>
                <a:spcPct val="120000"/>
              </a:lnSpc>
              <a:buNone/>
            </a:pP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48256"/>
          <a:ext cx="11091672" cy="2139696"/>
        </p:xfrm>
        <a:graphic>
          <a:graphicData uri="http://schemas.openxmlformats.org/drawingml/2006/table">
            <a:tbl>
              <a:tblPr/>
              <a:tblGrid>
                <a:gridCol w="1828800"/>
                <a:gridCol w="1645920"/>
                <a:gridCol w="1737360"/>
                <a:gridCol w="2313432"/>
                <a:gridCol w="3566160"/>
              </a:tblGrid>
              <a:tr h="310896">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창 크기 dt_window (초)</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산출 성공</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전역 방향</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참값 55.67° 대비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실패 원인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60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31.64°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−24.03°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120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12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51.12°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−4.55°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전부 표본 부족</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a:buNone/>
                      </a:pPr>
                      <a:r>
                        <a:rPr lang="en-US" sz="1050" b="1" dirty="0">
                          <a:solidFill>
                            <a:srgbClr val="6B6E6A"/>
                          </a:solidFill>
                          <a:latin typeface="맑은 고딕" pitchFamily="34" charset="0"/>
                          <a:ea typeface="맑은 고딕" pitchFamily="34" charset="-122"/>
                          <a:cs typeface="맑은 고딕" pitchFamily="34" charset="-120"/>
                        </a:rPr>
                        <a:t>173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15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55.76°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+0.09°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D35400"/>
                          </a:solidFill>
                          <a:latin typeface="맑은 고딕" pitchFamily="34" charset="0"/>
                          <a:ea typeface="맑은 고딕" pitchFamily="34" charset="-122"/>
                          <a:cs typeface="맑은 고딕" pitchFamily="34" charset="-120"/>
                        </a:rPr>
                        <a:t>표본 부족 1건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240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55.89°</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+0.22°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365760">
                <a:tc>
                  <a:txBody>
                    <a:bodyPr/>
                    <a:lstStyle/>
                    <a:p>
                      <a:pPr algn="ctr" indent="0" marL="0">
                        <a:buNone/>
                      </a:pPr>
                      <a:r>
                        <a:rPr lang="en-US" sz="1050" b="1" dirty="0">
                          <a:solidFill>
                            <a:srgbClr val="1F2421"/>
                          </a:solidFill>
                          <a:latin typeface="맑은 고딕" pitchFamily="34" charset="0"/>
                          <a:ea typeface="맑은 고딕" pitchFamily="34" charset="-122"/>
                          <a:cs typeface="맑은 고딕" pitchFamily="34" charset="-120"/>
                        </a:rPr>
                        <a:t>327</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16 / 16</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55.92°</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+0.25°</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없음  ← 유도값</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7" name="Shape 4"/>
          <p:cNvSpPr/>
          <p:nvPr/>
        </p:nvSpPr>
        <p:spPr>
          <a:xfrm>
            <a:off x="548640"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8" name="Text 5"/>
          <p:cNvSpPr/>
          <p:nvPr/>
        </p:nvSpPr>
        <p:spPr>
          <a:xfrm>
            <a:off x="548640"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8 s</a:t>
            </a:r>
            <a:endParaRPr lang="en-US" sz="2800" dirty="0"/>
          </a:p>
        </p:txBody>
      </p:sp>
      <p:sp>
        <p:nvSpPr>
          <p:cNvPr id="9" name="Text 6"/>
          <p:cNvSpPr/>
          <p:nvPr/>
        </p:nvSpPr>
        <p:spPr>
          <a:xfrm>
            <a:off x="548640"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설정된 창</a:t>
            </a:r>
            <a:endParaRPr lang="en-US" sz="1200" dirty="0"/>
          </a:p>
        </p:txBody>
      </p:sp>
      <p:sp>
        <p:nvSpPr>
          <p:cNvPr id="10" name="Text 7"/>
          <p:cNvSpPr/>
          <p:nvPr/>
        </p:nvSpPr>
        <p:spPr>
          <a:xfrm>
            <a:off x="548640"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이웃 통과 182 s · 반경 327 s</a:t>
            </a:r>
            <a:endParaRPr lang="en-US" sz="950" dirty="0"/>
          </a:p>
        </p:txBody>
      </p:sp>
      <p:sp>
        <p:nvSpPr>
          <p:cNvPr id="11" name="Shape 8"/>
          <p:cNvSpPr/>
          <p:nvPr/>
        </p:nvSpPr>
        <p:spPr>
          <a:xfrm>
            <a:off x="4334256"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2" name="Text 9"/>
          <p:cNvSpPr/>
          <p:nvPr/>
        </p:nvSpPr>
        <p:spPr>
          <a:xfrm>
            <a:off x="4334256"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 건</a:t>
            </a:r>
            <a:endParaRPr lang="en-US" sz="2800" dirty="0"/>
          </a:p>
        </p:txBody>
      </p:sp>
      <p:sp>
        <p:nvSpPr>
          <p:cNvPr id="13" name="Text 10"/>
          <p:cNvSpPr/>
          <p:nvPr/>
        </p:nvSpPr>
        <p:spPr>
          <a:xfrm>
            <a:off x="4334256"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기하(공선) 실패</a:t>
            </a:r>
            <a:endParaRPr lang="en-US" sz="1200" dirty="0"/>
          </a:p>
        </p:txBody>
      </p:sp>
      <p:sp>
        <p:nvSpPr>
          <p:cNvPr id="41" name="Text 11"/>
          <p:cNvSpPr/>
          <p:nvPr/>
        </p:nvSpPr>
        <p:spPr>
          <a:xfrm>
            <a:off x="4334256"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실패는 전부 '표본 부족'이었다</a:t>
            </a:r>
            <a:endParaRPr lang="en-US" sz="950" dirty="0"/>
          </a:p>
        </p:txBody>
      </p:sp>
      <p:sp>
        <p:nvSpPr>
          <p:cNvPr id="15" name="Shape 12"/>
          <p:cNvSpPr/>
          <p:nvPr/>
        </p:nvSpPr>
        <p:spPr>
          <a:xfrm>
            <a:off x="8119872" y="4315968"/>
            <a:ext cx="3520440" cy="1371600"/>
          </a:xfrm>
          <a:prstGeom prst="roundRect">
            <a:avLst>
              <a:gd name="adj" fmla="val 4000"/>
            </a:avLst>
          </a:prstGeom>
          <a:solidFill>
            <a:srgbClr val="FFFFFF"/>
          </a:solidFill>
          <a:ln w="12700">
            <a:solidFill>
              <a:srgbClr val="E2DCD0"/>
            </a:solidFill>
            <a:prstDash val="solid"/>
          </a:ln>
        </p:spPr>
        <p:txBody>
          <a:bodyPr/>
          <a:p/>
        </p:txBody>
      </p:sp>
      <p:sp>
        <p:nvSpPr>
          <p:cNvPr id="16" name="Text 13"/>
          <p:cNvSpPr/>
          <p:nvPr/>
        </p:nvSpPr>
        <p:spPr>
          <a:xfrm>
            <a:off x="8119872" y="4498848"/>
            <a:ext cx="35204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4 건</a:t>
            </a:r>
            <a:endParaRPr lang="en-US" sz="2800" dirty="0"/>
          </a:p>
        </p:txBody>
      </p:sp>
      <p:sp>
        <p:nvSpPr>
          <p:cNvPr id="17" name="Text 14"/>
          <p:cNvSpPr/>
          <p:nvPr/>
        </p:nvSpPr>
        <p:spPr>
          <a:xfrm>
            <a:off x="8119872" y="5065776"/>
            <a:ext cx="35204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규모 의존 상수</a:t>
            </a:r>
            <a:endParaRPr lang="en-US" sz="1200" dirty="0"/>
          </a:p>
        </p:txBody>
      </p:sp>
      <p:sp>
        <p:nvSpPr>
          <p:cNvPr id="18" name="Text 15"/>
          <p:cNvSpPr/>
          <p:nvPr/>
        </p:nvSpPr>
        <p:spPr>
          <a:xfrm>
            <a:off x="8119872" y="5340096"/>
            <a:ext cx="35204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dt_window · residual · alert · speed</a:t>
            </a:r>
            <a:endParaRPr lang="en-US" sz="950" dirty="0"/>
          </a:p>
        </p:txBody>
      </p:sp>
      <p:sp>
        <p:nvSpPr>
          <p:cNvPr id="19" name="Text 16"/>
          <p:cNvSpPr/>
          <p:nvPr/>
        </p:nvSpPr>
        <p:spPr>
          <a:xfrm>
            <a:off x="548640" y="5815584"/>
            <a:ext cx="11091672" cy="457200"/>
          </a:xfrm>
          <a:prstGeom prst="rect">
            <a:avLst/>
          </a:prstGeom>
          <a:noFill/>
          <a:ln/>
        </p:spPr>
        <p:txBody>
          <a:bodyPr wrap="square" rtlCol="0" anchor="ctr"/>
          <a:lstStyle/>
          <a:p>
            <a:pPr indent="0" marL="0">
              <a:lnSpc>
                <a:spcPct val="115000"/>
              </a:lnSpc>
              <a:buNone/>
            </a:pPr>
            <a:r>
              <a:rPr lang="en-US" sz="1200" b="1" dirty="0">
                <a:solidFill>
                  <a:srgbClr val="D35400"/>
                </a:solidFill>
                <a:latin typeface="맑은 고딕" pitchFamily="34" charset="0"/>
                <a:ea typeface="맑은 고딕" pitchFamily="34" charset="-122"/>
                <a:cs typeface="맑은 고딕" pitchFamily="34" charset="-120"/>
              </a:rPr>
              <a:t>dt_window = 8.0 s 는 시뮬 전선 1.5 m/s 기준값이었다. 20cm 벤치의 전선은 1.1 mm/s — 이웃이 한 명도 창에 못 들어와 모든 국소 집합이 자기 자신 하나가 됐다.  값을 새로 고르는 대신 상수를 물리에서 유도하도록 구조를 바꿨다 — dt_window = radio_range / v_front_expected. 시작 로그에 유도식과 계산값을 함께 찍는다.</a:t>
            </a:r>
            <a:pPr indent="0" marL="0">
              <a:lnSpc>
                <a:spcPct val="115000"/>
              </a:lnSpc>
              <a:buNone/>
            </a:pPr>
            <a:endParaRPr lang="en-US" sz="1200" dirty="0"/>
          </a:p>
        </p:txBody>
      </p:sp>
      <p:sp>
        <p:nvSpPr>
          <p:cNvPr id="20" name="Text 1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1" name="Text 1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15</a:t>
            </a:r>
            <a:endParaRPr lang="en-US" sz="900" dirty="0"/>
          </a:p>
        </p:txBody>
      </p:sp>
      <p:sp>
        <p:nvSpPr>
          <p:cNvPr id="22" name="Shape 19"/>
          <p:cNvSpPr/>
          <p:nvPr/>
        </p:nvSpPr>
        <p:spPr>
          <a:xfrm>
            <a:off x="10503027" y="6464808"/>
            <a:ext cx="144018" cy="36576"/>
          </a:xfrm>
          <a:prstGeom prst="line">
            <a:avLst/>
          </a:prstGeom>
          <a:noFill/>
          <a:ln w="9525">
            <a:solidFill>
              <a:srgbClr val="E2DCD0"/>
            </a:solidFill>
            <a:prstDash val="solid"/>
          </a:ln>
        </p:spPr>
        <p:txBody>
          <a:bodyPr/>
          <a:p/>
        </p:txBody>
      </p:sp>
      <p:sp>
        <p:nvSpPr>
          <p:cNvPr id="23" name="Shape 20"/>
          <p:cNvSpPr/>
          <p:nvPr/>
        </p:nvSpPr>
        <p:spPr>
          <a:xfrm>
            <a:off x="10503027" y="6464808"/>
            <a:ext cx="-4572" cy="187452"/>
          </a:xfrm>
          <a:prstGeom prst="line">
            <a:avLst/>
          </a:prstGeom>
          <a:noFill/>
          <a:ln w="9525">
            <a:solidFill>
              <a:srgbClr val="E2DCD0"/>
            </a:solidFill>
            <a:prstDash val="solid"/>
          </a:ln>
        </p:spPr>
        <p:txBody>
          <a:bodyPr/>
          <a:p/>
        </p:txBody>
      </p:sp>
      <p:sp>
        <p:nvSpPr>
          <p:cNvPr id="24" name="Shape 21"/>
          <p:cNvSpPr/>
          <p:nvPr/>
        </p:nvSpPr>
        <p:spPr>
          <a:xfrm>
            <a:off x="10647045" y="6501384"/>
            <a:ext cx="235458" cy="-50292"/>
          </a:xfrm>
          <a:prstGeom prst="line">
            <a:avLst/>
          </a:prstGeom>
          <a:noFill/>
          <a:ln w="9525">
            <a:solidFill>
              <a:srgbClr val="E2DCD0"/>
            </a:solidFill>
            <a:prstDash val="solid"/>
          </a:ln>
        </p:spPr>
        <p:txBody>
          <a:bodyPr/>
          <a:p/>
        </p:txBody>
      </p:sp>
      <p:sp>
        <p:nvSpPr>
          <p:cNvPr id="25" name="Shape 22"/>
          <p:cNvSpPr/>
          <p:nvPr/>
        </p:nvSpPr>
        <p:spPr>
          <a:xfrm>
            <a:off x="10647045" y="6501384"/>
            <a:ext cx="-4572" cy="196596"/>
          </a:xfrm>
          <a:prstGeom prst="line">
            <a:avLst/>
          </a:prstGeom>
          <a:noFill/>
          <a:ln w="9525">
            <a:solidFill>
              <a:srgbClr val="E2DCD0"/>
            </a:solidFill>
            <a:prstDash val="solid"/>
          </a:ln>
        </p:spPr>
        <p:txBody>
          <a:bodyPr/>
          <a:p/>
        </p:txBody>
      </p:sp>
      <p:sp>
        <p:nvSpPr>
          <p:cNvPr id="26" name="Shape 23"/>
          <p:cNvSpPr/>
          <p:nvPr/>
        </p:nvSpPr>
        <p:spPr>
          <a:xfrm>
            <a:off x="10882503" y="6451092"/>
            <a:ext cx="162306" cy="41148"/>
          </a:xfrm>
          <a:prstGeom prst="line">
            <a:avLst/>
          </a:prstGeom>
          <a:noFill/>
          <a:ln w="9525">
            <a:solidFill>
              <a:srgbClr val="E2DCD0"/>
            </a:solidFill>
            <a:prstDash val="solid"/>
          </a:ln>
        </p:spPr>
        <p:txBody>
          <a:bodyPr/>
          <a:p/>
        </p:txBody>
      </p:sp>
      <p:sp>
        <p:nvSpPr>
          <p:cNvPr id="27" name="Shape 24"/>
          <p:cNvSpPr/>
          <p:nvPr/>
        </p:nvSpPr>
        <p:spPr>
          <a:xfrm>
            <a:off x="10882503" y="6451092"/>
            <a:ext cx="-4572" cy="196596"/>
          </a:xfrm>
          <a:prstGeom prst="line">
            <a:avLst/>
          </a:prstGeom>
          <a:noFill/>
          <a:ln w="9525">
            <a:solidFill>
              <a:srgbClr val="E2DCD0"/>
            </a:solidFill>
            <a:prstDash val="solid"/>
          </a:ln>
        </p:spPr>
        <p:txBody>
          <a:bodyPr/>
          <a:p/>
        </p:txBody>
      </p:sp>
      <p:sp>
        <p:nvSpPr>
          <p:cNvPr id="28" name="Shape 25"/>
          <p:cNvSpPr/>
          <p:nvPr/>
        </p:nvSpPr>
        <p:spPr>
          <a:xfrm>
            <a:off x="11044809" y="6492240"/>
            <a:ext cx="-4572" cy="196596"/>
          </a:xfrm>
          <a:prstGeom prst="line">
            <a:avLst/>
          </a:prstGeom>
          <a:noFill/>
          <a:ln w="9525">
            <a:solidFill>
              <a:srgbClr val="E2DCD0"/>
            </a:solidFill>
            <a:prstDash val="solid"/>
          </a:ln>
        </p:spPr>
        <p:txBody>
          <a:bodyPr/>
          <a:p/>
        </p:txBody>
      </p:sp>
      <p:sp>
        <p:nvSpPr>
          <p:cNvPr id="29" name="Shape 26"/>
          <p:cNvSpPr/>
          <p:nvPr/>
        </p:nvSpPr>
        <p:spPr>
          <a:xfrm>
            <a:off x="10498455" y="6652260"/>
            <a:ext cx="144018" cy="45720"/>
          </a:xfrm>
          <a:prstGeom prst="line">
            <a:avLst/>
          </a:prstGeom>
          <a:noFill/>
          <a:ln w="9525">
            <a:solidFill>
              <a:srgbClr val="E2DCD0"/>
            </a:solidFill>
            <a:prstDash val="solid"/>
          </a:ln>
        </p:spPr>
        <p:txBody>
          <a:bodyPr/>
          <a:p/>
        </p:txBody>
      </p:sp>
      <p:sp>
        <p:nvSpPr>
          <p:cNvPr id="30" name="Shape 27"/>
          <p:cNvSpPr/>
          <p:nvPr/>
        </p:nvSpPr>
        <p:spPr>
          <a:xfrm>
            <a:off x="10642473" y="6697980"/>
            <a:ext cx="235458" cy="-50292"/>
          </a:xfrm>
          <a:prstGeom prst="line">
            <a:avLst/>
          </a:prstGeom>
          <a:noFill/>
          <a:ln w="9525">
            <a:solidFill>
              <a:srgbClr val="E2DCD0"/>
            </a:solidFill>
            <a:prstDash val="solid"/>
          </a:ln>
        </p:spPr>
        <p:txBody>
          <a:bodyPr/>
          <a:p/>
        </p:txBody>
      </p:sp>
      <p:sp>
        <p:nvSpPr>
          <p:cNvPr id="31" name="Shape 28"/>
          <p:cNvSpPr/>
          <p:nvPr/>
        </p:nvSpPr>
        <p:spPr>
          <a:xfrm>
            <a:off x="10877931" y="6647688"/>
            <a:ext cx="162306" cy="41148"/>
          </a:xfrm>
          <a:prstGeom prst="line">
            <a:avLst/>
          </a:prstGeom>
          <a:noFill/>
          <a:ln w="9525">
            <a:solidFill>
              <a:srgbClr val="E2DCD0"/>
            </a:solidFill>
            <a:prstDash val="solid"/>
          </a:ln>
        </p:spPr>
        <p:txBody>
          <a:bodyPr/>
          <a:p/>
        </p:txBody>
      </p:sp>
      <p:sp>
        <p:nvSpPr>
          <p:cNvPr id="32" name="Shape 2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3" name="Shape 3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4" name="Shape 3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5" name="Shape 3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6" name="Shape 3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0" name="Text 37"/>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자기 강점을 스스로 의심해서 잡아낸 결함이다. 지표를 고친 게 아니라 구조를 고쳤다.</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① 차별성  |  독창성 30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고장을 '손실'이 아니라 '데이터'로</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737360"/>
                <a:gridCol w="2514600"/>
                <a:gridCol w="2926080"/>
                <a:gridCol w="3913632"/>
              </a:tblGrid>
              <a:tr h="365760">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비교 대상</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그들의 방식</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한계</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우리 (불사)</a:t>
                      </a:r>
                      <a:endParaRPr lang="en-US" sz="120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온도 스트리밍</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살아있는 노드가 온도 상시 전송</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초저가 대량 노드엔 상시 전송 부담(전력·대역폭)</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교차검증된 '죽음'을 확정 이진 신호로 → 화선 위치·방향·속도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Dryad Silvanet</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불 오기 전 조기 감지(내열, +85℃ 한계)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불 속에선 못 버팀 — 감지 특화, 전선 추적 아님</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타 죽으며 화선을 그림 — 감지(그들)와 추적(우리)은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stock ESP-MESH</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노드 죽으면 경로 우회(연결성만)</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죽음을 손실로만 처리, 정보로 안 씀</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죽음을 1급 이벤트로 승격 + 도착시각 추정 + 오탐 방어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r h="731520">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드론·위성</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상공·우주 광역 개요</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연기·수목 아래 지표 화선·초 단위 변화 못 봄</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1F2421"/>
                          </a:solidFill>
                          <a:latin typeface="맑은 고딕" pitchFamily="34" charset="0"/>
                          <a:ea typeface="맑은 고딕" pitchFamily="34" charset="-122"/>
                          <a:cs typeface="맑은 고딕" pitchFamily="34" charset="-120"/>
                        </a:rPr>
                        <a:t>지표 실측 레이어 + 지상 통신 백본 — 대체 아니라 상보</a:t>
                      </a:r>
                      <a:endParaRPr lang="en-US" sz="1050" dirty="0">
                        <a:latin typeface="맑은 고딕" charset="0"/>
                        <a:ea typeface="맑은 고딕" charset="0"/>
                        <a:cs typeface="맑은 고딕" charset="0"/>
                      </a:endParaRPr>
                    </a:p>
                  </a:txBody>
                  <a:tcPr marL="76200" marR="76200" marT="50800" marB="508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EEF3E6"/>
                    </a:solidFill>
                  </a:tcPr>
                </a:tc>
              </a:tr>
            </a:tbl>
          </a:graphicData>
        </a:graphic>
      </p:graphicFrame>
      <p:sp>
        <p:nvSpPr>
          <p:cNvPr id="6" name="Text 3"/>
          <p:cNvSpPr/>
          <p:nvPr/>
        </p:nvSpPr>
        <p:spPr>
          <a:xfrm>
            <a:off x="548640" y="5852160"/>
            <a:ext cx="11091672" cy="365760"/>
          </a:xfrm>
          <a:prstGeom prst="rect">
            <a:avLst/>
          </a:prstGeom>
          <a:noFill/>
          <a:ln/>
        </p:spPr>
        <p:txBody>
          <a:bodyPr wrap="square" rtlCol="0" anchor="ctr"/>
          <a:lstStyle/>
          <a:p>
            <a:pPr indent="0" marL="0">
              <a:buNone/>
            </a:pPr>
            <a:r>
              <a:rPr lang="en-US" sz="1300" b="1" dirty="0">
                <a:solidFill>
                  <a:srgbClr val="D35400"/>
                </a:solidFill>
                <a:latin typeface="맑은 고딕" pitchFamily="34" charset="0"/>
                <a:ea typeface="맑은 고딕" pitchFamily="34" charset="-122"/>
                <a:cs typeface="맑은 고딕" pitchFamily="34" charset="-120"/>
              </a:rPr>
              <a:t>★ 헤드라인 차별점  </a:t>
            </a:r>
            <a:pPr indent="0" marL="0">
              <a:buNone/>
            </a:pPr>
            <a:r>
              <a:rPr lang="en-US" sz="1300" dirty="0">
                <a:solidFill>
                  <a:srgbClr val="1F2421"/>
                </a:solidFill>
                <a:latin typeface="맑은 고딕" pitchFamily="34" charset="0"/>
                <a:ea typeface="맑은 고딕" pitchFamily="34" charset="-122"/>
                <a:cs typeface="맑은 고딕" pitchFamily="34" charset="-120"/>
              </a:rPr>
              <a:t>오탐 방어(통신두절 vs 진짜 파괴 구분) = stock 메시가 못 하는 우리만의 계층.</a:t>
            </a:r>
            <a:endParaRPr lang="en-US" sz="1300" dirty="0"/>
          </a:p>
        </p:txBody>
      </p:sp>
      <p:sp>
        <p:nvSpPr>
          <p:cNvPr id="7" name="Text 4"/>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8" name="Text 5"/>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16</a:t>
            </a:r>
            <a:endParaRPr lang="en-US" sz="900" dirty="0"/>
          </a:p>
        </p:txBody>
      </p:sp>
      <p:sp>
        <p:nvSpPr>
          <p:cNvPr id="9" name="Shape 6"/>
          <p:cNvSpPr/>
          <p:nvPr/>
        </p:nvSpPr>
        <p:spPr>
          <a:xfrm>
            <a:off x="10503027" y="6464808"/>
            <a:ext cx="144018" cy="36576"/>
          </a:xfrm>
          <a:prstGeom prst="line">
            <a:avLst/>
          </a:prstGeom>
          <a:noFill/>
          <a:ln w="9525">
            <a:solidFill>
              <a:srgbClr val="E2DCD0"/>
            </a:solidFill>
            <a:prstDash val="solid"/>
          </a:ln>
        </p:spPr>
        <p:txBody>
          <a:bodyPr/>
          <a:p/>
        </p:txBody>
      </p:sp>
      <p:sp>
        <p:nvSpPr>
          <p:cNvPr id="10" name="Shape 7"/>
          <p:cNvSpPr/>
          <p:nvPr/>
        </p:nvSpPr>
        <p:spPr>
          <a:xfrm>
            <a:off x="10503027" y="6464808"/>
            <a:ext cx="-4572" cy="187452"/>
          </a:xfrm>
          <a:prstGeom prst="line">
            <a:avLst/>
          </a:prstGeom>
          <a:noFill/>
          <a:ln w="9525">
            <a:solidFill>
              <a:srgbClr val="E2DCD0"/>
            </a:solidFill>
            <a:prstDash val="solid"/>
          </a:ln>
        </p:spPr>
        <p:txBody>
          <a:bodyPr/>
          <a:p/>
        </p:txBody>
      </p:sp>
      <p:sp>
        <p:nvSpPr>
          <p:cNvPr id="11" name="Shape 8"/>
          <p:cNvSpPr/>
          <p:nvPr/>
        </p:nvSpPr>
        <p:spPr>
          <a:xfrm>
            <a:off x="10647045" y="6501384"/>
            <a:ext cx="235458" cy="-50292"/>
          </a:xfrm>
          <a:prstGeom prst="line">
            <a:avLst/>
          </a:prstGeom>
          <a:noFill/>
          <a:ln w="9525">
            <a:solidFill>
              <a:srgbClr val="E2DCD0"/>
            </a:solidFill>
            <a:prstDash val="solid"/>
          </a:ln>
        </p:spPr>
        <p:txBody>
          <a:bodyPr/>
          <a:p/>
        </p:txBody>
      </p:sp>
      <p:sp>
        <p:nvSpPr>
          <p:cNvPr id="12" name="Shape 9"/>
          <p:cNvSpPr/>
          <p:nvPr/>
        </p:nvSpPr>
        <p:spPr>
          <a:xfrm>
            <a:off x="10647045" y="6501384"/>
            <a:ext cx="-4572" cy="196596"/>
          </a:xfrm>
          <a:prstGeom prst="line">
            <a:avLst/>
          </a:prstGeom>
          <a:noFill/>
          <a:ln w="9525">
            <a:solidFill>
              <a:srgbClr val="E2DCD0"/>
            </a:solidFill>
            <a:prstDash val="solid"/>
          </a:ln>
        </p:spPr>
        <p:txBody>
          <a:bodyPr/>
          <a:p/>
        </p:txBody>
      </p:sp>
      <p:sp>
        <p:nvSpPr>
          <p:cNvPr id="13" name="Shape 10"/>
          <p:cNvSpPr/>
          <p:nvPr/>
        </p:nvSpPr>
        <p:spPr>
          <a:xfrm>
            <a:off x="10882503" y="6451092"/>
            <a:ext cx="162306" cy="41148"/>
          </a:xfrm>
          <a:prstGeom prst="line">
            <a:avLst/>
          </a:prstGeom>
          <a:noFill/>
          <a:ln w="9525">
            <a:solidFill>
              <a:srgbClr val="E2DCD0"/>
            </a:solidFill>
            <a:prstDash val="solid"/>
          </a:ln>
        </p:spPr>
        <p:txBody>
          <a:bodyPr/>
          <a:p/>
        </p:txBody>
      </p:sp>
      <p:sp>
        <p:nvSpPr>
          <p:cNvPr id="14" name="Shape 11"/>
          <p:cNvSpPr/>
          <p:nvPr/>
        </p:nvSpPr>
        <p:spPr>
          <a:xfrm>
            <a:off x="10882503" y="6451092"/>
            <a:ext cx="-4572" cy="196596"/>
          </a:xfrm>
          <a:prstGeom prst="line">
            <a:avLst/>
          </a:prstGeom>
          <a:noFill/>
          <a:ln w="9525">
            <a:solidFill>
              <a:srgbClr val="E2DCD0"/>
            </a:solidFill>
            <a:prstDash val="solid"/>
          </a:ln>
        </p:spPr>
        <p:txBody>
          <a:bodyPr/>
          <a:p/>
        </p:txBody>
      </p:sp>
      <p:sp>
        <p:nvSpPr>
          <p:cNvPr id="15" name="Shape 12"/>
          <p:cNvSpPr/>
          <p:nvPr/>
        </p:nvSpPr>
        <p:spPr>
          <a:xfrm>
            <a:off x="11044809" y="6492240"/>
            <a:ext cx="-4572" cy="196596"/>
          </a:xfrm>
          <a:prstGeom prst="line">
            <a:avLst/>
          </a:prstGeom>
          <a:noFill/>
          <a:ln w="9525">
            <a:solidFill>
              <a:srgbClr val="E2DCD0"/>
            </a:solidFill>
            <a:prstDash val="solid"/>
          </a:ln>
        </p:spPr>
        <p:txBody>
          <a:bodyPr/>
          <a:p/>
        </p:txBody>
      </p:sp>
      <p:sp>
        <p:nvSpPr>
          <p:cNvPr id="16" name="Shape 13"/>
          <p:cNvSpPr/>
          <p:nvPr/>
        </p:nvSpPr>
        <p:spPr>
          <a:xfrm>
            <a:off x="10498455" y="6652260"/>
            <a:ext cx="144018" cy="45720"/>
          </a:xfrm>
          <a:prstGeom prst="line">
            <a:avLst/>
          </a:prstGeom>
          <a:noFill/>
          <a:ln w="9525">
            <a:solidFill>
              <a:srgbClr val="E2DCD0"/>
            </a:solidFill>
            <a:prstDash val="solid"/>
          </a:ln>
        </p:spPr>
        <p:txBody>
          <a:bodyPr/>
          <a:p/>
        </p:txBody>
      </p:sp>
      <p:sp>
        <p:nvSpPr>
          <p:cNvPr id="27" name="Shape 14"/>
          <p:cNvSpPr/>
          <p:nvPr/>
        </p:nvSpPr>
        <p:spPr>
          <a:xfrm>
            <a:off x="10642473" y="6697980"/>
            <a:ext cx="235458" cy="-50292"/>
          </a:xfrm>
          <a:prstGeom prst="line">
            <a:avLst/>
          </a:prstGeom>
          <a:noFill/>
          <a:ln w="9525">
            <a:solidFill>
              <a:srgbClr val="E2DCD0"/>
            </a:solidFill>
            <a:prstDash val="solid"/>
          </a:ln>
        </p:spPr>
        <p:txBody>
          <a:bodyPr/>
          <a:p/>
        </p:txBody>
      </p:sp>
      <p:sp>
        <p:nvSpPr>
          <p:cNvPr id="18" name="Shape 15"/>
          <p:cNvSpPr/>
          <p:nvPr/>
        </p:nvSpPr>
        <p:spPr>
          <a:xfrm>
            <a:off x="10877931" y="6647688"/>
            <a:ext cx="162306" cy="41148"/>
          </a:xfrm>
          <a:prstGeom prst="line">
            <a:avLst/>
          </a:prstGeom>
          <a:noFill/>
          <a:ln w="9525">
            <a:solidFill>
              <a:srgbClr val="E2DCD0"/>
            </a:solidFill>
            <a:prstDash val="solid"/>
          </a:ln>
        </p:spPr>
        <p:txBody>
          <a:bodyPr/>
          <a:p/>
        </p:txBody>
      </p:sp>
      <p:sp>
        <p:nvSpPr>
          <p:cNvPr id="19" name="Shape 16"/>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0" name="Shape 17"/>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1" name="Shape 18"/>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2" name="Shape 19"/>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3" name="Shape 20"/>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4" name="Shape 21"/>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5" name="Shape 22"/>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6" name="Shape 23"/>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결과물 차별성·우수성 ② 성능·강건성  |  기술성(정량)</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정상 성능과 '작동 한계선'을 함께 밝힌다</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6" name="Text 4"/>
          <p:cNvSpPr/>
          <p:nvPr/>
        </p:nvSpPr>
        <p:spPr>
          <a:xfrm>
            <a:off x="54864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&lt; 1°</a:t>
            </a:r>
            <a:endParaRPr lang="en-US" sz="2800" dirty="0"/>
          </a:p>
        </p:txBody>
      </p:sp>
      <p:sp>
        <p:nvSpPr>
          <p:cNvPr id="7" name="Text 5"/>
          <p:cNvSpPr/>
          <p:nvPr/>
        </p:nvSpPr>
        <p:spPr>
          <a:xfrm>
            <a:off x="54864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방향오차</a:t>
            </a:r>
            <a:endParaRPr lang="en-US" sz="1200" dirty="0"/>
          </a:p>
        </p:txBody>
      </p:sp>
      <p:sp>
        <p:nvSpPr>
          <p:cNvPr id="8" name="Text 6"/>
          <p:cNvSpPr/>
          <p:nvPr/>
        </p:nvSpPr>
        <p:spPr>
          <a:xfrm>
            <a:off x="54864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직선·정면 조건 (0.03~0.88°)</a:t>
            </a:r>
            <a:endParaRPr lang="en-US" sz="950" dirty="0"/>
          </a:p>
        </p:txBody>
      </p:sp>
      <p:sp>
        <p:nvSpPr>
          <p:cNvPr id="9" name="Shape 7"/>
          <p:cNvSpPr/>
          <p:nvPr/>
        </p:nvSpPr>
        <p:spPr>
          <a:xfrm>
            <a:off x="333756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0" name="Text 8"/>
          <p:cNvSpPr/>
          <p:nvPr/>
        </p:nvSpPr>
        <p:spPr>
          <a:xfrm>
            <a:off x="333756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92.3%</a:t>
            </a:r>
            <a:endParaRPr lang="en-US" sz="2800" dirty="0"/>
          </a:p>
        </p:txBody>
      </p:sp>
      <p:sp>
        <p:nvSpPr>
          <p:cNvPr id="11" name="Text 9"/>
          <p:cNvSpPr/>
          <p:nvPr/>
        </p:nvSpPr>
        <p:spPr>
          <a:xfrm>
            <a:off x="333756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전달률</a:t>
            </a:r>
            <a:endParaRPr lang="en-US" sz="1200" dirty="0"/>
          </a:p>
        </p:txBody>
      </p:sp>
      <p:sp>
        <p:nvSpPr>
          <p:cNvPr id="12" name="Text 10"/>
          <p:cNvSpPr/>
          <p:nvPr/>
        </p:nvSpPr>
        <p:spPr>
          <a:xfrm>
            <a:off x="333756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자가치유 포함</a:t>
            </a:r>
            <a:endParaRPr lang="en-US" sz="950" dirty="0"/>
          </a:p>
        </p:txBody>
      </p:sp>
      <p:sp>
        <p:nvSpPr>
          <p:cNvPr id="13" name="Shape 11"/>
          <p:cNvSpPr/>
          <p:nvPr/>
        </p:nvSpPr>
        <p:spPr>
          <a:xfrm>
            <a:off x="612648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4" name="Text 12"/>
          <p:cNvSpPr/>
          <p:nvPr/>
        </p:nvSpPr>
        <p:spPr>
          <a:xfrm>
            <a:off x="612648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0%</a:t>
            </a:r>
            <a:endParaRPr lang="en-US" sz="2800" dirty="0"/>
          </a:p>
        </p:txBody>
      </p:sp>
      <p:sp>
        <p:nvSpPr>
          <p:cNvPr id="15" name="Text 13"/>
          <p:cNvSpPr/>
          <p:nvPr/>
        </p:nvSpPr>
        <p:spPr>
          <a:xfrm>
            <a:off x="612648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오탐률</a:t>
            </a:r>
            <a:endParaRPr lang="en-US" sz="1200" dirty="0"/>
          </a:p>
        </p:txBody>
      </p:sp>
      <p:sp>
        <p:nvSpPr>
          <p:cNvPr id="16" name="Text 14"/>
          <p:cNvSpPr/>
          <p:nvPr/>
        </p:nvSpPr>
        <p:spPr>
          <a:xfrm>
            <a:off x="612648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통신두절 오판</a:t>
            </a:r>
            <a:endParaRPr lang="en-US" sz="950" dirty="0"/>
          </a:p>
        </p:txBody>
      </p:sp>
      <p:sp>
        <p:nvSpPr>
          <p:cNvPr id="17" name="Shape 15"/>
          <p:cNvSpPr/>
          <p:nvPr/>
        </p:nvSpPr>
        <p:spPr>
          <a:xfrm>
            <a:off x="8915400" y="1444752"/>
            <a:ext cx="2606040" cy="1371600"/>
          </a:xfrm>
          <a:prstGeom prst="roundRect">
            <a:avLst>
              <a:gd name="adj" fmla="val 4000"/>
            </a:avLst>
          </a:prstGeom>
          <a:solidFill>
            <a:srgbClr val="FFFFFF"/>
          </a:solidFill>
          <a:ln w="12700">
            <a:solidFill>
              <a:srgbClr val="E2DCD0"/>
            </a:solidFill>
            <a:prstDash val="solid"/>
          </a:ln>
        </p:spPr>
        <p:txBody>
          <a:bodyPr/>
          <a:p/>
        </p:txBody>
      </p:sp>
      <p:sp>
        <p:nvSpPr>
          <p:cNvPr id="18" name="Text 16"/>
          <p:cNvSpPr/>
          <p:nvPr/>
        </p:nvSpPr>
        <p:spPr>
          <a:xfrm>
            <a:off x="8915400" y="1627632"/>
            <a:ext cx="2606040" cy="548640"/>
          </a:xfrm>
          <a:prstGeom prst="rect">
            <a:avLst/>
          </a:prstGeom>
          <a:noFill/>
          <a:ln/>
        </p:spPr>
        <p:txBody>
          <a:bodyPr wrap="square" rtlCol="0" anchor="ctr"/>
          <a:lstStyle/>
          <a:p>
            <a:pPr algn="ctr" indent="0" marL="0">
              <a:buNone/>
            </a:pPr>
            <a:r>
              <a:rPr lang="en-US" sz="2800" b="1" dirty="0">
                <a:solidFill>
                  <a:srgbClr val="2C5F2D"/>
                </a:solidFill>
                <a:latin typeface="맑은 고딕" pitchFamily="34" charset="0"/>
                <a:ea typeface="맑은 고딕" pitchFamily="34" charset="-122"/>
                <a:cs typeface="맑은 고딕" pitchFamily="34" charset="-120"/>
              </a:rPr>
              <a:t>54</a:t>
            </a:r>
            <a:endParaRPr lang="en-US" sz="2800" dirty="0"/>
          </a:p>
        </p:txBody>
      </p:sp>
      <p:sp>
        <p:nvSpPr>
          <p:cNvPr id="19" name="Text 17"/>
          <p:cNvSpPr/>
          <p:nvPr/>
        </p:nvSpPr>
        <p:spPr>
          <a:xfrm>
            <a:off x="8915400" y="2194560"/>
            <a:ext cx="2606040" cy="274320"/>
          </a:xfrm>
          <a:prstGeom prst="rect">
            <a:avLst/>
          </a:prstGeom>
          <a:noFill/>
          <a:ln/>
        </p:spPr>
        <p:txBody>
          <a:bodyPr wrap="square" rtlCol="0" anchor="ctr"/>
          <a:lstStyle/>
          <a:p>
            <a:pPr algn="ctr" indent="0" marL="0">
              <a:buNone/>
            </a:pPr>
            <a:r>
              <a:rPr lang="en-US" sz="1200" b="1" dirty="0">
                <a:solidFill>
                  <a:srgbClr val="1F2421"/>
                </a:solidFill>
                <a:latin typeface="맑은 고딕" pitchFamily="34" charset="0"/>
                <a:ea typeface="맑은 고딕" pitchFamily="34" charset="-122"/>
                <a:cs typeface="맑은 고딕" pitchFamily="34" charset="-120"/>
              </a:rPr>
              <a:t>자동 테스트</a:t>
            </a:r>
            <a:endParaRPr lang="en-US" sz="1200" dirty="0"/>
          </a:p>
        </p:txBody>
      </p:sp>
      <p:sp>
        <p:nvSpPr>
          <p:cNvPr id="20" name="Text 18"/>
          <p:cNvSpPr/>
          <p:nvPr/>
        </p:nvSpPr>
        <p:spPr>
          <a:xfrm>
            <a:off x="8915400" y="2468880"/>
            <a:ext cx="2606040" cy="274320"/>
          </a:xfrm>
          <a:prstGeom prst="rect">
            <a:avLst/>
          </a:prstGeom>
          <a:noFill/>
          <a:ln/>
        </p:spPr>
        <p:txBody>
          <a:bodyPr wrap="square" rtlCol="0" anchor="ctr"/>
          <a:lstStyle/>
          <a:p>
            <a:pPr algn="ctr" indent="0" marL="0">
              <a:buNone/>
            </a:pPr>
            <a:r>
              <a:rPr lang="en-US" sz="950" dirty="0">
                <a:solidFill>
                  <a:srgbClr val="6B6E6A"/>
                </a:solidFill>
                <a:latin typeface="맑은 고딕" pitchFamily="34" charset="0"/>
                <a:ea typeface="맑은 고딕" pitchFamily="34" charset="-122"/>
                <a:cs typeface="맑은 고딕" pitchFamily="34" charset="-120"/>
              </a:rPr>
              <a:t>전건 통과 · 회귀 최대차 0</a:t>
            </a:r>
            <a:endParaRPr lang="en-US" sz="950" dirty="0"/>
          </a:p>
        </p:txBody>
      </p:sp>
      <p:sp>
        <p:nvSpPr>
          <p:cNvPr id="21" name="Text 19"/>
          <p:cNvSpPr/>
          <p:nvPr/>
        </p:nvSpPr>
        <p:spPr>
          <a:xfrm>
            <a:off x="548640" y="3035808"/>
            <a:ext cx="10972800" cy="320040"/>
          </a:xfrm>
          <a:prstGeom prst="rect">
            <a:avLst/>
          </a:prstGeom>
          <a:noFill/>
          <a:ln/>
        </p:spPr>
        <p:txBody>
          <a:bodyPr wrap="square" rtlCol="0" anchor="ctr"/>
          <a:lstStyle/>
          <a:p>
            <a:pPr indent="0" marL="0">
              <a:buNone/>
            </a:pPr>
            <a:r>
              <a:rPr lang="en-US" sz="1300" b="1" dirty="0">
                <a:solidFill>
                  <a:srgbClr val="1F2421"/>
                </a:solidFill>
                <a:latin typeface="맑은 고딕" pitchFamily="34" charset="0"/>
                <a:ea typeface="맑은 고딕" pitchFamily="34" charset="-122"/>
                <a:cs typeface="맑은 고딕" pitchFamily="34" charset="-120"/>
              </a:rPr>
              <a:t>작동 한계선 (operating envelope) — 어디까지 되고, 어디부터 안 되는가</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3346704"/>
          <a:ext cx="11091672" cy="914400"/>
        </p:xfrm>
        <a:graphic>
          <a:graphicData uri="http://schemas.openxmlformats.org/drawingml/2006/table">
            <a:tbl>
              <a:tblPr/>
              <a:tblGrid>
                <a:gridCol w="3017520"/>
                <a:gridCol w="3383280"/>
                <a:gridCol w="4690872"/>
              </a:tblGrid>
              <a:tr h="329184">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조건</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결과</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의미</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직선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0.03°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정상 운용 영역</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타원 화선 · 정면(head)</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0.88°</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데모·실전의 주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강곡률 곡선 화선</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방향오차 7.6~13.4°</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국소 평면 근사의 한계 — 센서 지연과 무관한 별개 한계</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420624">
                <a:tc>
                  <a:txBody>
                    <a:bodyPr/>
                    <a:lstStyle/>
                    <a:p>
                      <a:pPr algn="l" indent="0" marL="0">
                        <a:buNone/>
                      </a:pPr>
                      <a:r>
                        <a:rPr lang="en-US" sz="1050" b="1" dirty="0">
                          <a:solidFill>
                            <a:srgbClr val="D35400"/>
                          </a:solidFill>
                          <a:latin typeface="맑은 고딕" pitchFamily="34" charset="0"/>
                          <a:ea typeface="맑은 고딕" pitchFamily="34" charset="-122"/>
                          <a:cs typeface="맑은 고딕" pitchFamily="34" charset="-120"/>
                        </a:rPr>
                        <a:t>타원 측면 · 노드 희소</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자기 차단(값 미출력)</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정보 부족과 표본 굶주림을 분리해야 성립 — §4-E</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6576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ETA</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앵커거리와 상관 0.99~1.00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배치 밀도가 지배 — 알고리즘이 아니라 간격</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0">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데모 열원 조건</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190.5 ℃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예측 190.0 ℃ 적중(0.3%). 설정 400·풍량 10·4 cm·체류 8초</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23" name="Text 20"/>
          <p:cNvSpPr/>
          <p:nvPr/>
        </p:nvSpPr>
        <p:spPr>
          <a:xfrm>
            <a:off x="548640" y="5943600"/>
            <a:ext cx="11091672" cy="365760"/>
          </a:xfrm>
          <a:prstGeom prst="rect">
            <a:avLst/>
          </a:prstGeom>
          <a:noFill/>
          <a:ln/>
        </p:spPr>
        <p:txBody>
          <a:bodyPr wrap="square" rtlCol="0" anchor="ctr"/>
          <a:lstStyle/>
          <a:p>
            <a:pPr indent="0" marL="0">
              <a:buNone/>
            </a:pPr>
            <a:r>
              <a:rPr lang="en-US" sz="1250" b="1" dirty="0">
                <a:solidFill>
                  <a:srgbClr val="2C5F2D"/>
                </a:solidFill>
                <a:latin typeface="맑은 고딕" pitchFamily="34" charset="0"/>
                <a:ea typeface="맑은 고딕" pitchFamily="34" charset="-122"/>
                <a:cs typeface="맑은 고딕" pitchFamily="34" charset="-120"/>
              </a:rPr>
              <a:t>모든 노드에 똑같이 걸리는 센서 지연에는 원리적으로 면역</a:t>
            </a:r>
            <a:pPr indent="0" marL="0">
              <a:buNone/>
            </a:pPr>
            <a:r>
              <a:rPr lang="en-US" sz="1250" dirty="0">
                <a:solidFill>
                  <a:srgbClr val="1F2421"/>
                </a:solidFill>
                <a:latin typeface="맑은 고딕" pitchFamily="34" charset="0"/>
                <a:ea typeface="맑은 고딕" pitchFamily="34" charset="-122"/>
                <a:cs typeface="맑은 고딕" pitchFamily="34" charset="-120"/>
              </a:rPr>
              <a:t> (기울기에서 상쇄 — 수식 증명).  실측에서도 같은 성질이 재현됐다 — 센서 위치가 흔들려 도달 온도가 16.5℃ 변하는 동안 τ는 −0.061 s/℃로만 반응했다.</a:t>
            </a:r>
            <a:endParaRPr lang="en-US" sz="1250" dirty="0"/>
          </a:p>
          <a:p>
            <a:pPr indent="0" marL="0">
              <a:buNone/>
            </a:pPr>
            <a:r>
              <a:rPr lang="en-US" sz="1250" b="1" dirty="0">
                <a:solidFill>
                  <a:srgbClr val="2C5F2D"/>
                </a:solidFill>
                <a:latin typeface="맑은 고딕" pitchFamily="34" charset="0"/>
                <a:ea typeface="맑은 고딕" pitchFamily="34" charset="-122"/>
                <a:cs typeface="맑은 고딕" pitchFamily="34" charset="-120"/>
              </a:rPr>
              <a:t>※ 자기 차단은 유효한 기능이지만, 초기 보고에서 '정보 부족'으로 해석한 것 중 일부는 우리가 설정한 창 크기가 만든 표본 굶주림이었다. 원인 분해와 재발 방지는 §4-E.</a:t>
            </a:r>
            <a:pPr indent="0" marL="0">
              <a:buNone/>
            </a:pPr>
            <a:endParaRPr lang="en-US" sz="1250" dirty="0"/>
          </a:p>
        </p:txBody>
      </p:sp>
      <p:sp>
        <p:nvSpPr>
          <p:cNvPr id="24" name="Text 21"/>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5" name="Text 22"/>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17</a:t>
            </a:r>
            <a:endParaRPr lang="en-US" sz="900" dirty="0"/>
          </a:p>
        </p:txBody>
      </p:sp>
      <p:sp>
        <p:nvSpPr>
          <p:cNvPr id="26" name="Shape 23"/>
          <p:cNvSpPr/>
          <p:nvPr/>
        </p:nvSpPr>
        <p:spPr>
          <a:xfrm>
            <a:off x="10503027" y="6464808"/>
            <a:ext cx="144018" cy="36576"/>
          </a:xfrm>
          <a:prstGeom prst="line">
            <a:avLst/>
          </a:prstGeom>
          <a:noFill/>
          <a:ln w="9525">
            <a:solidFill>
              <a:srgbClr val="E2DCD0"/>
            </a:solidFill>
            <a:prstDash val="solid"/>
          </a:ln>
        </p:spPr>
        <p:txBody>
          <a:bodyPr/>
          <a:p/>
        </p:txBody>
      </p:sp>
      <p:sp>
        <p:nvSpPr>
          <p:cNvPr id="27" name="Shape 24"/>
          <p:cNvSpPr/>
          <p:nvPr/>
        </p:nvSpPr>
        <p:spPr>
          <a:xfrm>
            <a:off x="10503027" y="6464808"/>
            <a:ext cx="-4572" cy="187452"/>
          </a:xfrm>
          <a:prstGeom prst="line">
            <a:avLst/>
          </a:prstGeom>
          <a:noFill/>
          <a:ln w="9525">
            <a:solidFill>
              <a:srgbClr val="E2DCD0"/>
            </a:solidFill>
            <a:prstDash val="solid"/>
          </a:ln>
        </p:spPr>
        <p:txBody>
          <a:bodyPr/>
          <a:p/>
        </p:txBody>
      </p:sp>
      <p:sp>
        <p:nvSpPr>
          <p:cNvPr id="28" name="Shape 25"/>
          <p:cNvSpPr/>
          <p:nvPr/>
        </p:nvSpPr>
        <p:spPr>
          <a:xfrm>
            <a:off x="10647045" y="6501384"/>
            <a:ext cx="235458" cy="-50292"/>
          </a:xfrm>
          <a:prstGeom prst="line">
            <a:avLst/>
          </a:prstGeom>
          <a:noFill/>
          <a:ln w="9525">
            <a:solidFill>
              <a:srgbClr val="E2DCD0"/>
            </a:solidFill>
            <a:prstDash val="solid"/>
          </a:ln>
        </p:spPr>
        <p:txBody>
          <a:bodyPr/>
          <a:p/>
        </p:txBody>
      </p:sp>
      <p:sp>
        <p:nvSpPr>
          <p:cNvPr id="29" name="Shape 26"/>
          <p:cNvSpPr/>
          <p:nvPr/>
        </p:nvSpPr>
        <p:spPr>
          <a:xfrm>
            <a:off x="10647045" y="6501384"/>
            <a:ext cx="-4572" cy="196596"/>
          </a:xfrm>
          <a:prstGeom prst="line">
            <a:avLst/>
          </a:prstGeom>
          <a:noFill/>
          <a:ln w="9525">
            <a:solidFill>
              <a:srgbClr val="E2DCD0"/>
            </a:solidFill>
            <a:prstDash val="solid"/>
          </a:ln>
        </p:spPr>
        <p:txBody>
          <a:bodyPr/>
          <a:p/>
        </p:txBody>
      </p:sp>
      <p:sp>
        <p:nvSpPr>
          <p:cNvPr id="30" name="Shape 27"/>
          <p:cNvSpPr/>
          <p:nvPr/>
        </p:nvSpPr>
        <p:spPr>
          <a:xfrm>
            <a:off x="10882503" y="6451092"/>
            <a:ext cx="162306" cy="41148"/>
          </a:xfrm>
          <a:prstGeom prst="line">
            <a:avLst/>
          </a:prstGeom>
          <a:noFill/>
          <a:ln w="9525">
            <a:solidFill>
              <a:srgbClr val="E2DCD0"/>
            </a:solidFill>
            <a:prstDash val="solid"/>
          </a:ln>
        </p:spPr>
        <p:txBody>
          <a:bodyPr/>
          <a:p/>
        </p:txBody>
      </p:sp>
      <p:sp>
        <p:nvSpPr>
          <p:cNvPr id="31" name="Shape 28"/>
          <p:cNvSpPr/>
          <p:nvPr/>
        </p:nvSpPr>
        <p:spPr>
          <a:xfrm>
            <a:off x="10882503" y="6451092"/>
            <a:ext cx="-4572" cy="196596"/>
          </a:xfrm>
          <a:prstGeom prst="line">
            <a:avLst/>
          </a:prstGeom>
          <a:noFill/>
          <a:ln w="9525">
            <a:solidFill>
              <a:srgbClr val="E2DCD0"/>
            </a:solidFill>
            <a:prstDash val="solid"/>
          </a:ln>
        </p:spPr>
        <p:txBody>
          <a:bodyPr/>
          <a:p/>
        </p:txBody>
      </p:sp>
      <p:sp>
        <p:nvSpPr>
          <p:cNvPr id="32" name="Shape 29"/>
          <p:cNvSpPr/>
          <p:nvPr/>
        </p:nvSpPr>
        <p:spPr>
          <a:xfrm>
            <a:off x="11044809" y="6492240"/>
            <a:ext cx="-4572" cy="196596"/>
          </a:xfrm>
          <a:prstGeom prst="line">
            <a:avLst/>
          </a:prstGeom>
          <a:noFill/>
          <a:ln w="9525">
            <a:solidFill>
              <a:srgbClr val="E2DCD0"/>
            </a:solidFill>
            <a:prstDash val="solid"/>
          </a:ln>
        </p:spPr>
        <p:txBody>
          <a:bodyPr/>
          <a:p/>
        </p:txBody>
      </p:sp>
      <p:sp>
        <p:nvSpPr>
          <p:cNvPr id="33" name="Shape 30"/>
          <p:cNvSpPr/>
          <p:nvPr/>
        </p:nvSpPr>
        <p:spPr>
          <a:xfrm>
            <a:off x="10498455" y="6652260"/>
            <a:ext cx="144018" cy="45720"/>
          </a:xfrm>
          <a:prstGeom prst="line">
            <a:avLst/>
          </a:prstGeom>
          <a:noFill/>
          <a:ln w="9525">
            <a:solidFill>
              <a:srgbClr val="E2DCD0"/>
            </a:solidFill>
            <a:prstDash val="solid"/>
          </a:ln>
        </p:spPr>
        <p:txBody>
          <a:bodyPr/>
          <a:p/>
        </p:txBody>
      </p:sp>
      <p:sp>
        <p:nvSpPr>
          <p:cNvPr id="34" name="Shape 31"/>
          <p:cNvSpPr/>
          <p:nvPr/>
        </p:nvSpPr>
        <p:spPr>
          <a:xfrm>
            <a:off x="10642473" y="6697980"/>
            <a:ext cx="235458" cy="-50292"/>
          </a:xfrm>
          <a:prstGeom prst="line">
            <a:avLst/>
          </a:prstGeom>
          <a:noFill/>
          <a:ln w="9525">
            <a:solidFill>
              <a:srgbClr val="E2DCD0"/>
            </a:solidFill>
            <a:prstDash val="solid"/>
          </a:ln>
        </p:spPr>
        <p:txBody>
          <a:bodyPr/>
          <a:p/>
        </p:txBody>
      </p:sp>
      <p:sp>
        <p:nvSpPr>
          <p:cNvPr id="35" name="Shape 32"/>
          <p:cNvSpPr/>
          <p:nvPr/>
        </p:nvSpPr>
        <p:spPr>
          <a:xfrm>
            <a:off x="10877931" y="6647688"/>
            <a:ext cx="162306" cy="41148"/>
          </a:xfrm>
          <a:prstGeom prst="line">
            <a:avLst/>
          </a:prstGeom>
          <a:noFill/>
          <a:ln w="9525">
            <a:solidFill>
              <a:srgbClr val="E2DCD0"/>
            </a:solidFill>
            <a:prstDash val="solid"/>
          </a:ln>
        </p:spPr>
        <p:txBody>
          <a:bodyPr/>
          <a:p/>
        </p:txBody>
      </p:sp>
      <p:sp>
        <p:nvSpPr>
          <p:cNvPr id="36" name="Shape 33"/>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7" name="Shape 34"/>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8" name="Shape 35"/>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9" name="Shape 36"/>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40" name="Shape 37"/>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41" name="Shape 38"/>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42" name="Shape 39"/>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3" name="Shape 40"/>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44" name="Text 41"/>
          <p:cNvSpPr/>
          <p:nvPr/>
        </p:nvSpPr>
        <p:spPr>
          <a:xfrm>
            <a:off x="5486400" y="6446520"/>
            <a:ext cx="4572000" cy="274320"/>
          </a:xfrm>
          <a:prstGeom prst="rect">
            <a:avLst/>
          </a:prstGeom>
          <a:noFill/>
          <a:ln/>
        </p:spPr>
        <p:txBody>
          <a:bodyPr wrap="square" rtlCol="0" anchor="ctr"/>
          <a:lstStyle/>
          <a:p>
            <a:pPr algn="r" indent="0" marL="0">
              <a:buNone/>
            </a:pPr>
            <a:r>
              <a:rPr lang="en-US" sz="850" dirty="0">
                <a:solidFill>
                  <a:srgbClr val="B9B3A6"/>
                </a:solidFill>
                <a:latin typeface="맑은 고딕" pitchFamily="34" charset="0"/>
                <a:ea typeface="맑은 고딕" pitchFamily="34" charset="-122"/>
                <a:cs typeface="맑은 고딕" pitchFamily="34" charset="-120"/>
              </a:rPr>
              <a:t>한계선을 함께 밝히는 것이 곧 신뢰의 근거다</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① 활용  |  활용성 20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누가 쓰고, 어떻게 배포하나</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011680"/>
          </a:xfrm>
          <a:prstGeom prst="roundRect">
            <a:avLst>
              <a:gd name="adj" fmla="val 2727"/>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수요자 1 · 진화 지휘부</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0058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지표 화선의 실시간 위치·방향·속도로 '어디에 자원을 먼저 투입할지' 판단. 자원 배치 정확도↑.</a:t>
            </a:r>
            <a:endParaRPr lang="en-US" sz="1200" dirty="0"/>
          </a:p>
        </p:txBody>
      </p:sp>
      <p:sp>
        <p:nvSpPr>
          <p:cNvPr id="9" name="Shape 7"/>
          <p:cNvSpPr/>
          <p:nvPr/>
        </p:nvSpPr>
        <p:spPr>
          <a:xfrm>
            <a:off x="6153912" y="1508760"/>
            <a:ext cx="5477256" cy="2011680"/>
          </a:xfrm>
          <a:prstGeom prst="roundRect">
            <a:avLst>
              <a:gd name="adj" fmla="val 2727"/>
            </a:avLst>
          </a:prstGeom>
          <a:solidFill>
            <a:srgbClr val="FBEFE2"/>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D35400"/>
                </a:solidFill>
                <a:latin typeface="맑은 고딕" pitchFamily="34" charset="0"/>
                <a:ea typeface="맑은 고딕" pitchFamily="34" charset="-122"/>
                <a:cs typeface="맑은 고딕" pitchFamily="34" charset="-120"/>
              </a:rPr>
              <a:t>수요자 2 · 최전선 대원</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0058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'이 구역에 전선 N분 내 도달' 대피 타이밍 제공. 대원 안전과 직결(속도는 안전마진으로 보수적 경보).</a:t>
            </a:r>
            <a:endParaRPr lang="en-US" sz="1200" dirty="0"/>
          </a:p>
        </p:txBody>
      </p:sp>
      <p:sp>
        <p:nvSpPr>
          <p:cNvPr id="13" name="Shape 11"/>
          <p:cNvSpPr/>
          <p:nvPr/>
        </p:nvSpPr>
        <p:spPr>
          <a:xfrm>
            <a:off x="548640" y="3703320"/>
            <a:ext cx="5440680" cy="2148840"/>
          </a:xfrm>
          <a:prstGeom prst="roundRect">
            <a:avLst>
              <a:gd name="adj" fmla="val 2553"/>
            </a:avLst>
          </a:prstGeom>
          <a:solidFill>
            <a:srgbClr val="FFFFFF"/>
          </a:solidFill>
          <a:ln w="12700">
            <a:solidFill>
              <a:srgbClr val="E2DCD0"/>
            </a:solidFill>
            <a:prstDash val="solid"/>
          </a:ln>
        </p:spPr>
        <p:txBody>
          <a:bodyPr/>
          <a:p/>
        </p:txBody>
      </p:sp>
      <p:sp>
        <p:nvSpPr>
          <p:cNvPr id="14" name="Text 12"/>
          <p:cNvSpPr/>
          <p:nvPr/>
        </p:nvSpPr>
        <p:spPr>
          <a:xfrm>
            <a:off x="777240" y="390448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배포 · 고위험 구역 사전 배치</a:t>
            </a:r>
            <a:endParaRPr lang="en-US" sz="1450" dirty="0"/>
          </a:p>
        </p:txBody>
      </p:sp>
      <p:sp>
        <p:nvSpPr>
          <p:cNvPr id="15" name="Shape 13"/>
          <p:cNvSpPr/>
          <p:nvPr/>
        </p:nvSpPr>
        <p:spPr>
          <a:xfrm>
            <a:off x="777240" y="4343400"/>
            <a:ext cx="502920" cy="0"/>
          </a:xfrm>
          <a:prstGeom prst="line">
            <a:avLst/>
          </a:prstGeom>
          <a:noFill/>
          <a:ln w="25400">
            <a:solidFill>
              <a:srgbClr val="D35400"/>
            </a:solidFill>
            <a:prstDash val="solid"/>
          </a:ln>
        </p:spPr>
        <p:txBody>
          <a:bodyPr/>
          <a:p/>
        </p:txBody>
      </p:sp>
      <p:sp>
        <p:nvSpPr>
          <p:cNvPr id="16" name="Text 14"/>
          <p:cNvSpPr/>
          <p:nvPr/>
        </p:nvSpPr>
        <p:spPr>
          <a:xfrm>
            <a:off x="777240" y="4480560"/>
            <a:ext cx="4983480"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상습 발화지, 도시·마을 인접 산림(WUI), 주요 시설·문화재·등산로에 핀포인트. 초저가라 촘촘히 깔아도 부담 적음(사전 배치는 상용 선례로 검증).</a:t>
            </a:r>
            <a:endParaRPr lang="en-US" sz="1200" dirty="0"/>
          </a:p>
          <a:p>
            <a:pPr indent="0" marL="0">
              <a:lnSpc>
                <a:spcPct val="120000"/>
              </a:lnSpc>
              <a:buNone/>
            </a:pPr>
            <a:endParaRPr lang="en-US" sz="1200" dirty="0"/>
          </a:p>
        </p:txBody>
      </p:sp>
      <p:sp>
        <p:nvSpPr>
          <p:cNvPr id="17" name="Shape 15"/>
          <p:cNvSpPr/>
          <p:nvPr/>
        </p:nvSpPr>
        <p:spPr>
          <a:xfrm>
            <a:off x="6153912" y="3703320"/>
            <a:ext cx="5477256" cy="2148840"/>
          </a:xfrm>
          <a:prstGeom prst="roundRect">
            <a:avLst>
              <a:gd name="adj" fmla="val 2553"/>
            </a:avLst>
          </a:prstGeom>
          <a:solidFill>
            <a:srgbClr val="EEF3E6"/>
          </a:solidFill>
          <a:ln w="12700">
            <a:solidFill>
              <a:srgbClr val="E2DCD0"/>
            </a:solidFill>
            <a:prstDash val="solid"/>
          </a:ln>
        </p:spPr>
        <p:txBody>
          <a:bodyPr/>
          <a:p/>
        </p:txBody>
      </p:sp>
      <p:sp>
        <p:nvSpPr>
          <p:cNvPr id="18" name="Text 16"/>
          <p:cNvSpPr/>
          <p:nvPr/>
        </p:nvSpPr>
        <p:spPr>
          <a:xfrm>
            <a:off x="6382512" y="390448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기대효과</a:t>
            </a:r>
            <a:endParaRPr lang="en-US" sz="1450" dirty="0"/>
          </a:p>
        </p:txBody>
      </p:sp>
      <p:sp>
        <p:nvSpPr>
          <p:cNvPr id="19" name="Shape 17"/>
          <p:cNvSpPr/>
          <p:nvPr/>
        </p:nvSpPr>
        <p:spPr>
          <a:xfrm>
            <a:off x="6382512" y="4343400"/>
            <a:ext cx="502920" cy="0"/>
          </a:xfrm>
          <a:prstGeom prst="line">
            <a:avLst/>
          </a:prstGeom>
          <a:noFill/>
          <a:ln w="25400">
            <a:solidFill>
              <a:srgbClr val="D35400"/>
            </a:solidFill>
            <a:prstDash val="solid"/>
          </a:ln>
        </p:spPr>
        <p:txBody>
          <a:bodyPr/>
          <a:p/>
        </p:txBody>
      </p:sp>
      <p:sp>
        <p:nvSpPr>
          <p:cNvPr id="20" name="Text 18"/>
          <p:cNvSpPr/>
          <p:nvPr/>
        </p:nvSpPr>
        <p:spPr>
          <a:xfrm>
            <a:off x="6382512" y="4480560"/>
            <a:ext cx="5020056" cy="114300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상공 관측이 놓치는 지표 화선을 지상에서 실시간화 → 자원 배치 정확도와 대원 안전을 동시에 끌어올린다.</a:t>
            </a:r>
            <a:endParaRPr lang="en-US" sz="1200" dirty="0"/>
          </a:p>
        </p:txBody>
      </p:sp>
      <p:sp>
        <p:nvSpPr>
          <p:cNvPr id="21" name="Text 19"/>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22" name="Text 20"/>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18</a:t>
            </a:r>
            <a:endParaRPr lang="en-US" sz="900" dirty="0"/>
          </a:p>
        </p:txBody>
      </p:sp>
      <p:sp>
        <p:nvSpPr>
          <p:cNvPr id="23" name="Shape 21"/>
          <p:cNvSpPr/>
          <p:nvPr/>
        </p:nvSpPr>
        <p:spPr>
          <a:xfrm>
            <a:off x="10503027" y="6464808"/>
            <a:ext cx="144018" cy="36576"/>
          </a:xfrm>
          <a:prstGeom prst="line">
            <a:avLst/>
          </a:prstGeom>
          <a:noFill/>
          <a:ln w="9525">
            <a:solidFill>
              <a:srgbClr val="E2DCD0"/>
            </a:solidFill>
            <a:prstDash val="solid"/>
          </a:ln>
        </p:spPr>
        <p:txBody>
          <a:bodyPr/>
          <a:p/>
        </p:txBody>
      </p:sp>
      <p:sp>
        <p:nvSpPr>
          <p:cNvPr id="24" name="Shape 22"/>
          <p:cNvSpPr/>
          <p:nvPr/>
        </p:nvSpPr>
        <p:spPr>
          <a:xfrm>
            <a:off x="10503027" y="6464808"/>
            <a:ext cx="-4572" cy="187452"/>
          </a:xfrm>
          <a:prstGeom prst="line">
            <a:avLst/>
          </a:prstGeom>
          <a:noFill/>
          <a:ln w="9525">
            <a:solidFill>
              <a:srgbClr val="E2DCD0"/>
            </a:solidFill>
            <a:prstDash val="solid"/>
          </a:ln>
        </p:spPr>
        <p:txBody>
          <a:bodyPr/>
          <a:p/>
        </p:txBody>
      </p:sp>
      <p:sp>
        <p:nvSpPr>
          <p:cNvPr id="25" name="Shape 23"/>
          <p:cNvSpPr/>
          <p:nvPr/>
        </p:nvSpPr>
        <p:spPr>
          <a:xfrm>
            <a:off x="10647045" y="6501384"/>
            <a:ext cx="235458" cy="-50292"/>
          </a:xfrm>
          <a:prstGeom prst="line">
            <a:avLst/>
          </a:prstGeom>
          <a:noFill/>
          <a:ln w="9525">
            <a:solidFill>
              <a:srgbClr val="E2DCD0"/>
            </a:solidFill>
            <a:prstDash val="solid"/>
          </a:ln>
        </p:spPr>
        <p:txBody>
          <a:bodyPr/>
          <a:p/>
        </p:txBody>
      </p:sp>
      <p:sp>
        <p:nvSpPr>
          <p:cNvPr id="26" name="Shape 24"/>
          <p:cNvSpPr/>
          <p:nvPr/>
        </p:nvSpPr>
        <p:spPr>
          <a:xfrm>
            <a:off x="10647045" y="6501384"/>
            <a:ext cx="-4572" cy="196596"/>
          </a:xfrm>
          <a:prstGeom prst="line">
            <a:avLst/>
          </a:prstGeom>
          <a:noFill/>
          <a:ln w="9525">
            <a:solidFill>
              <a:srgbClr val="E2DCD0"/>
            </a:solidFill>
            <a:prstDash val="solid"/>
          </a:ln>
        </p:spPr>
        <p:txBody>
          <a:bodyPr/>
          <a:p/>
        </p:txBody>
      </p:sp>
      <p:sp>
        <p:nvSpPr>
          <p:cNvPr id="27" name="Shape 25"/>
          <p:cNvSpPr/>
          <p:nvPr/>
        </p:nvSpPr>
        <p:spPr>
          <a:xfrm>
            <a:off x="10882503" y="6451092"/>
            <a:ext cx="162306" cy="41148"/>
          </a:xfrm>
          <a:prstGeom prst="line">
            <a:avLst/>
          </a:prstGeom>
          <a:noFill/>
          <a:ln w="9525">
            <a:solidFill>
              <a:srgbClr val="E2DCD0"/>
            </a:solidFill>
            <a:prstDash val="solid"/>
          </a:ln>
        </p:spPr>
        <p:txBody>
          <a:bodyPr/>
          <a:p/>
        </p:txBody>
      </p:sp>
      <p:sp>
        <p:nvSpPr>
          <p:cNvPr id="28" name="Shape 26"/>
          <p:cNvSpPr/>
          <p:nvPr/>
        </p:nvSpPr>
        <p:spPr>
          <a:xfrm>
            <a:off x="10882503" y="6451092"/>
            <a:ext cx="-4572" cy="196596"/>
          </a:xfrm>
          <a:prstGeom prst="line">
            <a:avLst/>
          </a:prstGeom>
          <a:noFill/>
          <a:ln w="9525">
            <a:solidFill>
              <a:srgbClr val="E2DCD0"/>
            </a:solidFill>
            <a:prstDash val="solid"/>
          </a:ln>
        </p:spPr>
        <p:txBody>
          <a:bodyPr/>
          <a:p/>
        </p:txBody>
      </p:sp>
      <p:sp>
        <p:nvSpPr>
          <p:cNvPr id="29" name="Shape 27"/>
          <p:cNvSpPr/>
          <p:nvPr/>
        </p:nvSpPr>
        <p:spPr>
          <a:xfrm>
            <a:off x="11044809" y="6492240"/>
            <a:ext cx="-4572" cy="196596"/>
          </a:xfrm>
          <a:prstGeom prst="line">
            <a:avLst/>
          </a:prstGeom>
          <a:noFill/>
          <a:ln w="9525">
            <a:solidFill>
              <a:srgbClr val="E2DCD0"/>
            </a:solidFill>
            <a:prstDash val="solid"/>
          </a:ln>
        </p:spPr>
        <p:txBody>
          <a:bodyPr/>
          <a:p/>
        </p:txBody>
      </p:sp>
      <p:sp>
        <p:nvSpPr>
          <p:cNvPr id="30" name="Shape 28"/>
          <p:cNvSpPr/>
          <p:nvPr/>
        </p:nvSpPr>
        <p:spPr>
          <a:xfrm>
            <a:off x="10498455" y="6652260"/>
            <a:ext cx="144018" cy="45720"/>
          </a:xfrm>
          <a:prstGeom prst="line">
            <a:avLst/>
          </a:prstGeom>
          <a:noFill/>
          <a:ln w="9525">
            <a:solidFill>
              <a:srgbClr val="E2DCD0"/>
            </a:solidFill>
            <a:prstDash val="solid"/>
          </a:ln>
        </p:spPr>
        <p:txBody>
          <a:bodyPr/>
          <a:p/>
        </p:txBody>
      </p:sp>
      <p:sp>
        <p:nvSpPr>
          <p:cNvPr id="31" name="Shape 29"/>
          <p:cNvSpPr/>
          <p:nvPr/>
        </p:nvSpPr>
        <p:spPr>
          <a:xfrm>
            <a:off x="10642473" y="6697980"/>
            <a:ext cx="235458" cy="-50292"/>
          </a:xfrm>
          <a:prstGeom prst="line">
            <a:avLst/>
          </a:prstGeom>
          <a:noFill/>
          <a:ln w="9525">
            <a:solidFill>
              <a:srgbClr val="E2DCD0"/>
            </a:solidFill>
            <a:prstDash val="solid"/>
          </a:ln>
        </p:spPr>
        <p:txBody>
          <a:bodyPr/>
          <a:p/>
        </p:txBody>
      </p:sp>
      <p:sp>
        <p:nvSpPr>
          <p:cNvPr id="32" name="Shape 30"/>
          <p:cNvSpPr/>
          <p:nvPr/>
        </p:nvSpPr>
        <p:spPr>
          <a:xfrm>
            <a:off x="10877931" y="6647688"/>
            <a:ext cx="162306" cy="41148"/>
          </a:xfrm>
          <a:prstGeom prst="line">
            <a:avLst/>
          </a:prstGeom>
          <a:noFill/>
          <a:ln w="9525">
            <a:solidFill>
              <a:srgbClr val="E2DCD0"/>
            </a:solidFill>
            <a:prstDash val="solid"/>
          </a:ln>
        </p:spPr>
        <p:txBody>
          <a:bodyPr/>
          <a:p/>
        </p:txBody>
      </p:sp>
      <p:sp>
        <p:nvSpPr>
          <p:cNvPr id="33" name="Shape 31"/>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34" name="Shape 32"/>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35" name="Shape 33"/>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36" name="Shape 34"/>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7" name="Shape 35"/>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8" name="Shape 36"/>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9" name="Shape 37"/>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40" name="Shape 38"/>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파급력·기대효과 ② 시장성·발전  |  활용성 · 발전 가능성</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저가 소모형의 경제 논리와 확장성</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sp>
        <p:nvSpPr>
          <p:cNvPr id="5" name="Shape 3"/>
          <p:cNvSpPr/>
          <p:nvPr/>
        </p:nvSpPr>
        <p:spPr>
          <a:xfrm>
            <a:off x="548640" y="1508760"/>
            <a:ext cx="5440680" cy="2926080"/>
          </a:xfrm>
          <a:prstGeom prst="roundRect">
            <a:avLst>
              <a:gd name="adj" fmla="val 1875"/>
            </a:avLst>
          </a:prstGeom>
          <a:solidFill>
            <a:srgbClr val="FFFFFF"/>
          </a:solidFill>
          <a:ln w="12700">
            <a:solidFill>
              <a:srgbClr val="E2DCD0"/>
            </a:solidFill>
            <a:prstDash val="solid"/>
          </a:ln>
        </p:spPr>
        <p:txBody>
          <a:bodyPr/>
          <a:p/>
        </p:txBody>
      </p:sp>
      <p:sp>
        <p:nvSpPr>
          <p:cNvPr id="6" name="Text 4"/>
          <p:cNvSpPr/>
          <p:nvPr/>
        </p:nvSpPr>
        <p:spPr>
          <a:xfrm>
            <a:off x="777240" y="1709928"/>
            <a:ext cx="4983480" cy="365760"/>
          </a:xfrm>
          <a:prstGeom prst="rect">
            <a:avLst/>
          </a:prstGeom>
          <a:noFill/>
          <a:ln/>
        </p:spPr>
        <p:txBody>
          <a:bodyPr wrap="square" rtlCol="0" anchor="ctr"/>
          <a:lstStyle/>
          <a:p>
            <a:pPr indent="0" marL="0">
              <a:buNone/>
            </a:pPr>
            <a:r>
              <a:rPr lang="en-US" sz="1450" b="1" dirty="0">
                <a:solidFill>
                  <a:srgbClr val="1F2421"/>
                </a:solidFill>
                <a:latin typeface="맑은 고딕" pitchFamily="34" charset="0"/>
                <a:ea typeface="맑은 고딕" pitchFamily="34" charset="-122"/>
                <a:cs typeface="맑은 고딕" pitchFamily="34" charset="-120"/>
              </a:rPr>
              <a:t>비용 논리</a:t>
            </a:r>
            <a:endParaRPr lang="en-US" sz="1450" dirty="0"/>
          </a:p>
        </p:txBody>
      </p:sp>
      <p:sp>
        <p:nvSpPr>
          <p:cNvPr id="7" name="Shape 5"/>
          <p:cNvSpPr/>
          <p:nvPr/>
        </p:nvSpPr>
        <p:spPr>
          <a:xfrm>
            <a:off x="777240" y="2148840"/>
            <a:ext cx="502920" cy="0"/>
          </a:xfrm>
          <a:prstGeom prst="line">
            <a:avLst/>
          </a:prstGeom>
          <a:noFill/>
          <a:ln w="25400">
            <a:solidFill>
              <a:srgbClr val="D35400"/>
            </a:solidFill>
            <a:prstDash val="solid"/>
          </a:ln>
        </p:spPr>
        <p:txBody>
          <a:bodyPr/>
          <a:p/>
        </p:txBody>
      </p:sp>
      <p:sp>
        <p:nvSpPr>
          <p:cNvPr id="8" name="Text 6"/>
          <p:cNvSpPr/>
          <p:nvPr/>
        </p:nvSpPr>
        <p:spPr>
          <a:xfrm>
            <a:off x="777240" y="2286000"/>
            <a:ext cx="4983480" cy="19202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노드 개당 수천 원 → 불 속에 들어가는 역할엔 내구성을 '살' 수 없으니 저가 소모형이 유일하게 합리적.</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16노드 실물 ≈ 45만 원.</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예방 투자 vs 산불 1회 피해(인명·산림·재산) = 후자가 압도적.</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불날 때마다 갈아끼우는 모델이 오히려 경제적.</a:t>
            </a:r>
            <a:endParaRPr lang="en-US" sz="1200" dirty="0"/>
          </a:p>
        </p:txBody>
      </p:sp>
      <p:sp>
        <p:nvSpPr>
          <p:cNvPr id="9" name="Shape 7"/>
          <p:cNvSpPr/>
          <p:nvPr/>
        </p:nvSpPr>
        <p:spPr>
          <a:xfrm>
            <a:off x="6153912" y="1508760"/>
            <a:ext cx="5477256" cy="2926080"/>
          </a:xfrm>
          <a:prstGeom prst="roundRect">
            <a:avLst>
              <a:gd name="adj" fmla="val 1875"/>
            </a:avLst>
          </a:prstGeom>
          <a:solidFill>
            <a:srgbClr val="EEF3E6"/>
          </a:solidFill>
          <a:ln w="12700">
            <a:solidFill>
              <a:srgbClr val="E2DCD0"/>
            </a:solidFill>
            <a:prstDash val="solid"/>
          </a:ln>
        </p:spPr>
        <p:txBody>
          <a:bodyPr/>
          <a:p/>
        </p:txBody>
      </p:sp>
      <p:sp>
        <p:nvSpPr>
          <p:cNvPr id="10" name="Text 8"/>
          <p:cNvSpPr/>
          <p:nvPr/>
        </p:nvSpPr>
        <p:spPr>
          <a:xfrm>
            <a:off x="6382512" y="1709928"/>
            <a:ext cx="5020056"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발전 가능성</a:t>
            </a:r>
            <a:endParaRPr lang="en-US" sz="1450" dirty="0"/>
          </a:p>
        </p:txBody>
      </p:sp>
      <p:sp>
        <p:nvSpPr>
          <p:cNvPr id="11" name="Shape 9"/>
          <p:cNvSpPr/>
          <p:nvPr/>
        </p:nvSpPr>
        <p:spPr>
          <a:xfrm>
            <a:off x="6382512" y="2148840"/>
            <a:ext cx="502920" cy="0"/>
          </a:xfrm>
          <a:prstGeom prst="line">
            <a:avLst/>
          </a:prstGeom>
          <a:noFill/>
          <a:ln w="25400">
            <a:solidFill>
              <a:srgbClr val="D35400"/>
            </a:solidFill>
            <a:prstDash val="solid"/>
          </a:ln>
        </p:spPr>
        <p:txBody>
          <a:bodyPr/>
          <a:p/>
        </p:txBody>
      </p:sp>
      <p:sp>
        <p:nvSpPr>
          <p:cNvPr id="12" name="Text 10"/>
          <p:cNvSpPr/>
          <p:nvPr/>
        </p:nvSpPr>
        <p:spPr>
          <a:xfrm>
            <a:off x="6382512" y="2286000"/>
            <a:ext cx="5020056" cy="192024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같은 '고장-패턴-데이터화 + 자가치유' 구조를 실내 화재·가스 누출·구조물 붕괴·홍수로 확장 가능.</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온도 상승 궤적·곡선-허용 시공간 정합·다중소스 추정(#2e)이 다음 연구 축.</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드론·위성과 대체가 아니라 상보 레이어로 통합.</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전력: 상시 메시 구조상 노드당 90~130 mA [추정 — 데이터시트 기준].</a:t>
            </a:r>
            <a:endParaRPr lang="en-US" sz="1200" dirty="0"/>
          </a:p>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   저전력 모드(평시 deep sleep · 화재 시 메시 기동)는 향후 과제.</a:t>
            </a:r>
            <a:endParaRPr lang="en-US" sz="1200" dirty="0"/>
          </a:p>
        </p:txBody>
      </p:sp>
      <p:sp>
        <p:nvSpPr>
          <p:cNvPr id="13" name="Text 11"/>
          <p:cNvSpPr/>
          <p:nvPr/>
        </p:nvSpPr>
        <p:spPr>
          <a:xfrm>
            <a:off x="548640" y="4663440"/>
            <a:ext cx="11064240" cy="365760"/>
          </a:xfrm>
          <a:prstGeom prst="rect">
            <a:avLst/>
          </a:prstGeom>
          <a:noFill/>
          <a:ln/>
        </p:spPr>
        <p:txBody>
          <a:bodyPr wrap="square" rtlCol="0" anchor="ctr"/>
          <a:lstStyle/>
          <a:p>
            <a:pPr indent="0" marL="0">
              <a:buNone/>
            </a:pPr>
            <a:r>
              <a:rPr lang="en-US" sz="1300" b="1" i="1" dirty="0">
                <a:solidFill>
                  <a:srgbClr val="2C5F2D"/>
                </a:solidFill>
                <a:latin typeface="맑은 고딕" pitchFamily="34" charset="0"/>
                <a:ea typeface="맑은 고딕" pitchFamily="34" charset="-122"/>
                <a:cs typeface="맑은 고딕" pitchFamily="34" charset="-120"/>
              </a:rPr>
              <a:t>→ 독창성은 특정 응용이 아니라 '고장을 데이터로 승격하는 아키텍처'에 있어, 재난 전반으로 이식된다.</a:t>
            </a:r>
            <a:endParaRPr lang="en-US" sz="1300" dirty="0"/>
          </a:p>
        </p:txBody>
      </p:sp>
      <p:sp>
        <p:nvSpPr>
          <p:cNvPr id="14" name="Text 12"/>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5" name="Text 13"/>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19</a:t>
            </a:r>
            <a:endParaRPr lang="en-US" sz="900" dirty="0"/>
          </a:p>
        </p:txBody>
      </p:sp>
      <p:sp>
        <p:nvSpPr>
          <p:cNvPr id="16" name="Shape 14"/>
          <p:cNvSpPr/>
          <p:nvPr/>
        </p:nvSpPr>
        <p:spPr>
          <a:xfrm>
            <a:off x="10503027" y="6464808"/>
            <a:ext cx="144018" cy="36576"/>
          </a:xfrm>
          <a:prstGeom prst="line">
            <a:avLst/>
          </a:prstGeom>
          <a:noFill/>
          <a:ln w="9525">
            <a:solidFill>
              <a:srgbClr val="E2DCD0"/>
            </a:solidFill>
            <a:prstDash val="solid"/>
          </a:ln>
        </p:spPr>
        <p:txBody>
          <a:bodyPr/>
          <a:p/>
        </p:txBody>
      </p:sp>
      <p:sp>
        <p:nvSpPr>
          <p:cNvPr id="17" name="Shape 15"/>
          <p:cNvSpPr/>
          <p:nvPr/>
        </p:nvSpPr>
        <p:spPr>
          <a:xfrm>
            <a:off x="10503027" y="6464808"/>
            <a:ext cx="-4572" cy="187452"/>
          </a:xfrm>
          <a:prstGeom prst="line">
            <a:avLst/>
          </a:prstGeom>
          <a:noFill/>
          <a:ln w="9525">
            <a:solidFill>
              <a:srgbClr val="E2DCD0"/>
            </a:solidFill>
            <a:prstDash val="solid"/>
          </a:ln>
        </p:spPr>
        <p:txBody>
          <a:bodyPr/>
          <a:p/>
        </p:txBody>
      </p:sp>
      <p:sp>
        <p:nvSpPr>
          <p:cNvPr id="18" name="Shape 16"/>
          <p:cNvSpPr/>
          <p:nvPr/>
        </p:nvSpPr>
        <p:spPr>
          <a:xfrm>
            <a:off x="10647045" y="6501384"/>
            <a:ext cx="235458" cy="-50292"/>
          </a:xfrm>
          <a:prstGeom prst="line">
            <a:avLst/>
          </a:prstGeom>
          <a:noFill/>
          <a:ln w="9525">
            <a:solidFill>
              <a:srgbClr val="E2DCD0"/>
            </a:solidFill>
            <a:prstDash val="solid"/>
          </a:ln>
        </p:spPr>
        <p:txBody>
          <a:bodyPr/>
          <a:p/>
        </p:txBody>
      </p:sp>
      <p:sp>
        <p:nvSpPr>
          <p:cNvPr id="19" name="Shape 17"/>
          <p:cNvSpPr/>
          <p:nvPr/>
        </p:nvSpPr>
        <p:spPr>
          <a:xfrm>
            <a:off x="10647045" y="6501384"/>
            <a:ext cx="-4572" cy="196596"/>
          </a:xfrm>
          <a:prstGeom prst="line">
            <a:avLst/>
          </a:prstGeom>
          <a:noFill/>
          <a:ln w="9525">
            <a:solidFill>
              <a:srgbClr val="E2DCD0"/>
            </a:solidFill>
            <a:prstDash val="solid"/>
          </a:ln>
        </p:spPr>
        <p:txBody>
          <a:bodyPr/>
          <a:p/>
        </p:txBody>
      </p:sp>
      <p:sp>
        <p:nvSpPr>
          <p:cNvPr id="20" name="Shape 18"/>
          <p:cNvSpPr/>
          <p:nvPr/>
        </p:nvSpPr>
        <p:spPr>
          <a:xfrm>
            <a:off x="10882503" y="6451092"/>
            <a:ext cx="162306" cy="41148"/>
          </a:xfrm>
          <a:prstGeom prst="line">
            <a:avLst/>
          </a:prstGeom>
          <a:noFill/>
          <a:ln w="9525">
            <a:solidFill>
              <a:srgbClr val="E2DCD0"/>
            </a:solidFill>
            <a:prstDash val="solid"/>
          </a:ln>
        </p:spPr>
        <p:txBody>
          <a:bodyPr/>
          <a:p/>
        </p:txBody>
      </p:sp>
      <p:sp>
        <p:nvSpPr>
          <p:cNvPr id="21" name="Shape 19"/>
          <p:cNvSpPr/>
          <p:nvPr/>
        </p:nvSpPr>
        <p:spPr>
          <a:xfrm>
            <a:off x="10882503" y="6451092"/>
            <a:ext cx="-4572" cy="196596"/>
          </a:xfrm>
          <a:prstGeom prst="line">
            <a:avLst/>
          </a:prstGeom>
          <a:noFill/>
          <a:ln w="9525">
            <a:solidFill>
              <a:srgbClr val="E2DCD0"/>
            </a:solidFill>
            <a:prstDash val="solid"/>
          </a:ln>
        </p:spPr>
        <p:txBody>
          <a:bodyPr/>
          <a:p/>
        </p:txBody>
      </p:sp>
      <p:sp>
        <p:nvSpPr>
          <p:cNvPr id="22" name="Shape 20"/>
          <p:cNvSpPr/>
          <p:nvPr/>
        </p:nvSpPr>
        <p:spPr>
          <a:xfrm>
            <a:off x="11044809" y="6492240"/>
            <a:ext cx="-4572" cy="196596"/>
          </a:xfrm>
          <a:prstGeom prst="line">
            <a:avLst/>
          </a:prstGeom>
          <a:noFill/>
          <a:ln w="9525">
            <a:solidFill>
              <a:srgbClr val="E2DCD0"/>
            </a:solidFill>
            <a:prstDash val="solid"/>
          </a:ln>
        </p:spPr>
        <p:txBody>
          <a:bodyPr/>
          <a:p/>
        </p:txBody>
      </p:sp>
      <p:sp>
        <p:nvSpPr>
          <p:cNvPr id="23" name="Shape 21"/>
          <p:cNvSpPr/>
          <p:nvPr/>
        </p:nvSpPr>
        <p:spPr>
          <a:xfrm>
            <a:off x="10498455" y="6652260"/>
            <a:ext cx="144018" cy="45720"/>
          </a:xfrm>
          <a:prstGeom prst="line">
            <a:avLst/>
          </a:prstGeom>
          <a:noFill/>
          <a:ln w="9525">
            <a:solidFill>
              <a:srgbClr val="E2DCD0"/>
            </a:solidFill>
            <a:prstDash val="solid"/>
          </a:ln>
        </p:spPr>
        <p:txBody>
          <a:bodyPr/>
          <a:p/>
        </p:txBody>
      </p:sp>
      <p:sp>
        <p:nvSpPr>
          <p:cNvPr id="24" name="Shape 22"/>
          <p:cNvSpPr/>
          <p:nvPr/>
        </p:nvSpPr>
        <p:spPr>
          <a:xfrm>
            <a:off x="10642473" y="6697980"/>
            <a:ext cx="235458" cy="-50292"/>
          </a:xfrm>
          <a:prstGeom prst="line">
            <a:avLst/>
          </a:prstGeom>
          <a:noFill/>
          <a:ln w="9525">
            <a:solidFill>
              <a:srgbClr val="E2DCD0"/>
            </a:solidFill>
            <a:prstDash val="solid"/>
          </a:ln>
        </p:spPr>
        <p:txBody>
          <a:bodyPr/>
          <a:p/>
        </p:txBody>
      </p:sp>
      <p:sp>
        <p:nvSpPr>
          <p:cNvPr id="25" name="Shape 23"/>
          <p:cNvSpPr/>
          <p:nvPr/>
        </p:nvSpPr>
        <p:spPr>
          <a:xfrm>
            <a:off x="10877931" y="6647688"/>
            <a:ext cx="162306" cy="41148"/>
          </a:xfrm>
          <a:prstGeom prst="line">
            <a:avLst/>
          </a:prstGeom>
          <a:noFill/>
          <a:ln w="9525">
            <a:solidFill>
              <a:srgbClr val="E2DCD0"/>
            </a:solidFill>
            <a:prstDash val="solid"/>
          </a:ln>
        </p:spPr>
        <p:txBody>
          <a:bodyPr/>
          <a:p/>
        </p:txBody>
      </p:sp>
      <p:sp>
        <p:nvSpPr>
          <p:cNvPr id="26" name="Shape 24"/>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7" name="Shape 25"/>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8" name="Shape 26"/>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9" name="Shape 27"/>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30" name="Shape 28"/>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31" name="Shape 29"/>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32" name="Shape 30"/>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33" name="Shape 31"/>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48640" y="365760"/>
            <a:ext cx="11064240" cy="274320"/>
          </a:xfrm>
          <a:prstGeom prst="rect">
            <a:avLst/>
          </a:prstGeom>
          <a:noFill/>
          <a:ln/>
        </p:spPr>
        <p:txBody>
          <a:bodyPr wrap="square" rtlCol="0" anchor="ctr"/>
          <a:lstStyle/>
          <a:p>
            <a:pPr indent="0" marL="0">
              <a:buNone/>
            </a:pPr>
            <a:r>
              <a:rPr lang="en-US" sz="1100" b="1" spc="200" kern="0" dirty="0">
                <a:solidFill>
                  <a:srgbClr val="D35400"/>
                </a:solidFill>
                <a:latin typeface="맑은 고딕" pitchFamily="34" charset="0"/>
                <a:ea typeface="맑은 고딕" pitchFamily="34" charset="-122"/>
                <a:cs typeface="맑은 고딕" pitchFamily="34" charset="-120"/>
              </a:rPr>
              <a:t>개발 일정·업무 분장  |  팀 구성·역량 10</a:t>
            </a:r>
            <a:endParaRPr lang="en-US" sz="1100" dirty="0"/>
          </a:p>
        </p:txBody>
      </p:sp>
      <p:sp>
        <p:nvSpPr>
          <p:cNvPr id="3" name="Text 1"/>
          <p:cNvSpPr/>
          <p:nvPr/>
        </p:nvSpPr>
        <p:spPr>
          <a:xfrm>
            <a:off x="530352" y="640080"/>
            <a:ext cx="11109960" cy="566928"/>
          </a:xfrm>
          <a:prstGeom prst="rect">
            <a:avLst/>
          </a:prstGeom>
          <a:noFill/>
          <a:ln/>
        </p:spPr>
        <p:txBody>
          <a:bodyPr wrap="square" rtlCol="0" anchor="ctr"/>
          <a:lstStyle/>
          <a:p>
            <a:pPr indent="0" marL="0">
              <a:buNone/>
            </a:pPr>
            <a:r>
              <a:rPr lang="en-US" sz="2500" b="1" dirty="0">
                <a:solidFill>
                  <a:srgbClr val="1F2421"/>
                </a:solidFill>
                <a:latin typeface="맑은 고딕" pitchFamily="34" charset="0"/>
                <a:ea typeface="맑은 고딕" pitchFamily="34" charset="-122"/>
                <a:cs typeface="맑은 고딕" pitchFamily="34" charset="-120"/>
              </a:rPr>
              <a:t>1인 개발자로 전 영역을 단계적으로 수행</a:t>
            </a:r>
            <a:endParaRPr lang="en-US" sz="2500" dirty="0"/>
          </a:p>
        </p:txBody>
      </p:sp>
      <p:sp>
        <p:nvSpPr>
          <p:cNvPr id="4" name="Shape 2"/>
          <p:cNvSpPr/>
          <p:nvPr/>
        </p:nvSpPr>
        <p:spPr>
          <a:xfrm>
            <a:off x="548640" y="1298448"/>
            <a:ext cx="11091672" cy="0"/>
          </a:xfrm>
          <a:prstGeom prst="line">
            <a:avLst/>
          </a:prstGeom>
          <a:noFill/>
          <a:ln w="12700">
            <a:solidFill>
              <a:srgbClr val="E2DCD0"/>
            </a:solidFill>
            <a:prstDash val="solid"/>
          </a:ln>
        </p:spPr>
        <p:txBody>
          <a:bodyPr/>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2286000"/>
                <a:gridCol w="1554480"/>
                <a:gridCol w="5422392"/>
                <a:gridCol w="1828800"/>
              </a:tblGrid>
              <a:tr h="310896">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단계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기간</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내용</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상태</a:t>
                      </a:r>
                      <a:endParaRPr lang="en-US" sz="110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solidFill>
                      <a:srgbClr val="2C5F2D"/>
                    </a:solidFill>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① 시뮬·알고리즘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7월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시뮬레이터 · 도착시각 추정 · 스트레스 시험</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② 알고리즘 정밀화</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8월 상순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집계 결함 교정 · 자기 차단 도입 · 명세 대조</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③ 실측·실물 포팅</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8월 중순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센서 열관성 실측 · 펌웨어 포팅 · 메시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b="1" dirty="0">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④ 자가치유 실증</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8/29~8/30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4노드 메시 · 중계 이탈/복귀 실측</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b="1">
                          <a:solidFill>
                            <a:srgbClr val="2C5F2D"/>
                          </a:solidFill>
                          <a:latin typeface="맑은 고딕" pitchFamily="34" charset="0"/>
                          <a:ea typeface="맑은 고딕" pitchFamily="34" charset="-122"/>
                          <a:cs typeface="맑은 고딕" pitchFamily="34" charset="-120"/>
                        </a:rPr>
                        <a:t>완료</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⑤ 조립·교정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8/30</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16노드 조립 · 감지부 좌표 · 열원 교정</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b="1">
                          <a:solidFill>
                            <a:srgbClr val="D35400"/>
                          </a:solidFill>
                          <a:latin typeface="맑은 고딕" pitchFamily="34" charset="0"/>
                          <a:ea typeface="맑은 고딕" pitchFamily="34" charset="-122"/>
                          <a:cs typeface="맑은 고딕" pitchFamily="34" charset="-120"/>
                        </a:rPr>
                        <a:t>진행 중</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⑥ 리허설·촬영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8/31~9/1</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전 구간 리허설 · 시연 촬영</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r h="347472">
                <a:tc>
                  <a:txBody>
                    <a:bodyPr/>
                    <a:lstStyle/>
                    <a:p>
                      <a:pPr algn="l" indent="0" marL="0">
                        <a:buNone/>
                      </a:pPr>
                      <a:r>
                        <a:rPr lang="en-US" sz="1050" b="1" dirty="0">
                          <a:solidFill>
                            <a:srgbClr val="3A3E37"/>
                          </a:solidFill>
                          <a:latin typeface="맑은 고딕" pitchFamily="34" charset="0"/>
                          <a:ea typeface="맑은 고딕" pitchFamily="34" charset="-122"/>
                          <a:cs typeface="맑은 고딕" pitchFamily="34" charset="-120"/>
                        </a:rPr>
                        <a:t>⑦ 문서·제출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9/2~9/3</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a:solidFill>
                            <a:srgbClr val="3A3E37"/>
                          </a:solidFill>
                          <a:latin typeface="맑은 고딕" pitchFamily="34" charset="0"/>
                          <a:ea typeface="맑은 고딕" pitchFamily="34" charset="-122"/>
                          <a:cs typeface="맑은 고딕" pitchFamily="34" charset="-120"/>
                        </a:rPr>
                        <a:t>영상 편집 · 보고서 완성 · GitHub 공개</a:t>
                      </a:r>
                      <a:endParaRPr lang="en-US" sz="1050" dirty="0">
                        <a:latin typeface="맑은 고딕" charset="0"/>
                        <a:ea typeface="맑은 고딕" charset="0"/>
                        <a:cs typeface="맑은 고딕" charset="0"/>
                      </a:endParaRPr>
                    </a:p>
                  </a:txBody>
                  <a:tcPr marL="76200"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c>
                  <a:txBody>
                    <a:bodyPr/>
                    <a:lstStyle/>
                    <a:p>
                      <a:pPr algn="l" indent="0" marL="0">
                        <a:buNone/>
                      </a:pPr>
                      <a:r>
                        <a:rPr lang="en-US" sz="1050" dirty="0" b="0">
                          <a:solidFill>
                            <a:srgbClr val="6B6E6A"/>
                          </a:solidFill>
                          <a:latin typeface="맑은 고딕" pitchFamily="34" charset="0"/>
                          <a:ea typeface="맑은 고딕" pitchFamily="34" charset="-122"/>
                          <a:cs typeface="맑은 고딕" pitchFamily="34" charset="-120"/>
                        </a:rPr>
                        <a:t>예정</a:t>
                      </a:r>
                      <a:endParaRPr lang="en-US" sz="1050" dirty="0">
                        <a:latin typeface="맑은 고딕" charset="0"/>
                        <a:ea typeface="맑은 고딕" charset="0"/>
                        <a:cs typeface="맑은 고딕" charset="0"/>
                      </a:endParaRPr>
                    </a:p>
                  </a:txBody>
                  <a:tcPr marL="292608" marR="76200" marT="38100" marB="38100" anchor="ctr">
                    <a:lnL w="12700" cap="flat" cmpd="sng" algn="ctr">
                      <a:solidFill>
                        <a:srgbClr val="E2DCD0"/>
                      </a:solidFill>
                      <a:prstDash val="solid"/>
                      <a:round/>
                      <a:headEnd type="none" w="med" len="med"/>
                      <a:tailEnd type="none" w="med" len="med"/>
                    </a:lnL>
                    <a:lnR w="12700" cap="flat" cmpd="sng" algn="ctr">
                      <a:solidFill>
                        <a:srgbClr val="E2DCD0"/>
                      </a:solidFill>
                      <a:prstDash val="solid"/>
                      <a:round/>
                      <a:headEnd type="none" w="med" len="med"/>
                      <a:tailEnd type="none" w="med" len="med"/>
                    </a:lnR>
                    <a:lnT w="12700" cap="flat" cmpd="sng" algn="ctr">
                      <a:solidFill>
                        <a:srgbClr val="E2DCD0"/>
                      </a:solidFill>
                      <a:prstDash val="solid"/>
                      <a:round/>
                      <a:headEnd type="none" w="med" len="med"/>
                      <a:tailEnd type="none" w="med" len="med"/>
                    </a:lnT>
                    <a:lnB w="12700" cap="flat" cmpd="sng" algn="ctr">
                      <a:solidFill>
                        <a:srgbClr val="E2DCD0"/>
                      </a:solidFill>
                      <a:prstDash val="solid"/>
                      <a:round/>
                      <a:headEnd type="none" w="med" len="med"/>
                      <a:tailEnd type="none" w="med" len="med"/>
                    </a:lnB>
                  </a:tcPr>
                </a:tc>
              </a:tr>
            </a:tbl>
          </a:graphicData>
        </a:graphic>
      </p:graphicFrame>
      <p:sp>
        <p:nvSpPr>
          <p:cNvPr id="6" name="Shape 3"/>
          <p:cNvSpPr/>
          <p:nvPr/>
        </p:nvSpPr>
        <p:spPr>
          <a:xfrm>
            <a:off x="548640" y="4389120"/>
            <a:ext cx="11091672" cy="1600200"/>
          </a:xfrm>
          <a:prstGeom prst="roundRect">
            <a:avLst>
              <a:gd name="adj" fmla="val 3429"/>
            </a:avLst>
          </a:prstGeom>
          <a:solidFill>
            <a:srgbClr val="EEF3E6"/>
          </a:solidFill>
          <a:ln w="12700">
            <a:solidFill>
              <a:srgbClr val="E2DCD0"/>
            </a:solidFill>
            <a:prstDash val="solid"/>
          </a:ln>
        </p:spPr>
        <p:txBody>
          <a:bodyPr/>
          <a:p/>
        </p:txBody>
      </p:sp>
      <p:sp>
        <p:nvSpPr>
          <p:cNvPr id="7" name="Text 4"/>
          <p:cNvSpPr/>
          <p:nvPr/>
        </p:nvSpPr>
        <p:spPr>
          <a:xfrm>
            <a:off x="777240" y="4590288"/>
            <a:ext cx="10634472" cy="365760"/>
          </a:xfrm>
          <a:prstGeom prst="rect">
            <a:avLst/>
          </a:prstGeom>
          <a:noFill/>
          <a:ln/>
        </p:spPr>
        <p:txBody>
          <a:bodyPr wrap="square" rtlCol="0" anchor="ctr"/>
          <a:lstStyle/>
          <a:p>
            <a:pPr indent="0" marL="0">
              <a:buNone/>
            </a:pPr>
            <a:r>
              <a:rPr lang="en-US" sz="1450" b="1" dirty="0">
                <a:solidFill>
                  <a:srgbClr val="2C5F2D"/>
                </a:solidFill>
                <a:latin typeface="맑은 고딕" pitchFamily="34" charset="0"/>
                <a:ea typeface="맑은 고딕" pitchFamily="34" charset="-122"/>
                <a:cs typeface="맑은 고딕" pitchFamily="34" charset="-120"/>
              </a:rPr>
              <a:t>1인 업무 분장 (영역별)</a:t>
            </a:r>
            <a:endParaRPr lang="en-US" sz="1450" dirty="0"/>
          </a:p>
        </p:txBody>
      </p:sp>
      <p:sp>
        <p:nvSpPr>
          <p:cNvPr id="8" name="Shape 5"/>
          <p:cNvSpPr/>
          <p:nvPr/>
        </p:nvSpPr>
        <p:spPr>
          <a:xfrm>
            <a:off x="777240" y="5029200"/>
            <a:ext cx="502920" cy="0"/>
          </a:xfrm>
          <a:prstGeom prst="line">
            <a:avLst/>
          </a:prstGeom>
          <a:noFill/>
          <a:ln w="25400">
            <a:solidFill>
              <a:srgbClr val="D35400"/>
            </a:solidFill>
            <a:prstDash val="solid"/>
          </a:ln>
        </p:spPr>
        <p:txBody>
          <a:bodyPr/>
          <a:p/>
        </p:txBody>
      </p:sp>
      <p:sp>
        <p:nvSpPr>
          <p:cNvPr id="9" name="Text 6"/>
          <p:cNvSpPr/>
          <p:nvPr/>
        </p:nvSpPr>
        <p:spPr>
          <a:xfrm>
            <a:off x="777240" y="5166360"/>
            <a:ext cx="10634472" cy="594360"/>
          </a:xfrm>
          <a:prstGeom prst="rect">
            <a:avLst/>
          </a:prstGeom>
          <a:noFill/>
          <a:ln/>
        </p:spPr>
        <p:txBody>
          <a:bodyPr wrap="square" rtlCol="0" anchor="t"/>
          <a:lstStyle/>
          <a:p>
            <a:pPr indent="0" marL="0">
              <a:lnSpc>
                <a:spcPct val="120000"/>
              </a:lnSpc>
              <a:buNone/>
            </a:pPr>
            <a:r>
              <a:rPr lang="en-US" sz="1200" dirty="0">
                <a:solidFill>
                  <a:srgbClr val="44483F"/>
                </a:solidFill>
                <a:latin typeface="맑은 고딕" pitchFamily="34" charset="0"/>
                <a:ea typeface="맑은 고딕" pitchFamily="34" charset="-122"/>
                <a:cs typeface="맑은 고딕" pitchFamily="34" charset="-120"/>
              </a:rPr>
              <a:t>펌웨어(ESP32·painlessMesh) · 알고리즘/게이트웨이(Python 추정기) · 하드웨어(16노드 조립·데모·계측) · 문서/발표(보고서·영상)를 단독으로 단계적 수행. 시뮬 선개발로 리스크를 앞당겨 해소하고, 추정기 동결·사전등록 규율로 범위를 통제 — 1인 개발의 범위 관리·완결 역량을 보인다.</a:t>
            </a:r>
            <a:endParaRPr lang="en-US" sz="1200" dirty="0"/>
          </a:p>
        </p:txBody>
      </p:sp>
      <p:sp>
        <p:nvSpPr>
          <p:cNvPr id="10" name="Text 7"/>
          <p:cNvSpPr/>
          <p:nvPr/>
        </p:nvSpPr>
        <p:spPr>
          <a:xfrm>
            <a:off x="548640" y="6446520"/>
            <a:ext cx="4572000" cy="274320"/>
          </a:xfrm>
          <a:prstGeom prst="rect">
            <a:avLst/>
          </a:prstGeom>
          <a:noFill/>
          <a:ln/>
        </p:spPr>
        <p:txBody>
          <a:bodyPr wrap="square" rtlCol="0" anchor="ctr"/>
          <a:lstStyle/>
          <a:p>
            <a:pPr indent="0" marL="0">
              <a:buNone/>
            </a:pPr>
            <a:r>
              <a:rPr lang="en-US" sz="900" dirty="0">
                <a:solidFill>
                  <a:srgbClr val="6B6E6A"/>
                </a:solidFill>
                <a:latin typeface="맑은 고딕" pitchFamily="34" charset="0"/>
                <a:ea typeface="맑은 고딕" pitchFamily="34" charset="-122"/>
                <a:cs typeface="맑은 고딕" pitchFamily="34" charset="-120"/>
              </a:rPr>
              <a:t>불사 · 화중생련</a:t>
            </a:r>
            <a:endParaRPr lang="en-US" sz="900" dirty="0"/>
          </a:p>
        </p:txBody>
      </p:sp>
      <p:sp>
        <p:nvSpPr>
          <p:cNvPr id="11" name="Text 8"/>
          <p:cNvSpPr/>
          <p:nvPr/>
        </p:nvSpPr>
        <p:spPr>
          <a:xfrm>
            <a:off x="11338560" y="6446520"/>
            <a:ext cx="320040" cy="274320"/>
          </a:xfrm>
          <a:prstGeom prst="rect">
            <a:avLst/>
          </a:prstGeom>
          <a:noFill/>
          <a:ln/>
        </p:spPr>
        <p:txBody>
          <a:bodyPr wrap="square" rtlCol="0" anchor="ctr"/>
          <a:lstStyle/>
          <a:p>
            <a:pPr algn="r" indent="0" marL="0">
              <a:buNone/>
            </a:pPr>
            <a:r>
              <a:rPr lang="en-US" sz="900" dirty="0">
                <a:solidFill>
                  <a:srgbClr val="6B6E6A"/>
                </a:solidFill>
                <a:latin typeface="맑은 고딕" pitchFamily="34" charset="0"/>
                <a:ea typeface="맑은 고딕" pitchFamily="34" charset="-122"/>
                <a:cs typeface="맑은 고딕" pitchFamily="34" charset="-120"/>
              </a:rPr>
              <a:t>20</a:t>
            </a:r>
            <a:endParaRPr lang="en-US" sz="900" dirty="0"/>
          </a:p>
        </p:txBody>
      </p:sp>
      <p:sp>
        <p:nvSpPr>
          <p:cNvPr id="12" name="Shape 9"/>
          <p:cNvSpPr/>
          <p:nvPr/>
        </p:nvSpPr>
        <p:spPr>
          <a:xfrm>
            <a:off x="10503027" y="6464808"/>
            <a:ext cx="144018" cy="36576"/>
          </a:xfrm>
          <a:prstGeom prst="line">
            <a:avLst/>
          </a:prstGeom>
          <a:noFill/>
          <a:ln w="9525">
            <a:solidFill>
              <a:srgbClr val="E2DCD0"/>
            </a:solidFill>
            <a:prstDash val="solid"/>
          </a:ln>
        </p:spPr>
        <p:txBody>
          <a:bodyPr/>
          <a:p/>
        </p:txBody>
      </p:sp>
      <p:sp>
        <p:nvSpPr>
          <p:cNvPr id="13" name="Shape 10"/>
          <p:cNvSpPr/>
          <p:nvPr/>
        </p:nvSpPr>
        <p:spPr>
          <a:xfrm>
            <a:off x="10503027" y="6464808"/>
            <a:ext cx="-4572" cy="187452"/>
          </a:xfrm>
          <a:prstGeom prst="line">
            <a:avLst/>
          </a:prstGeom>
          <a:noFill/>
          <a:ln w="9525">
            <a:solidFill>
              <a:srgbClr val="E2DCD0"/>
            </a:solidFill>
            <a:prstDash val="solid"/>
          </a:ln>
        </p:spPr>
        <p:txBody>
          <a:bodyPr/>
          <a:p/>
        </p:txBody>
      </p:sp>
      <p:sp>
        <p:nvSpPr>
          <p:cNvPr id="14" name="Shape 11"/>
          <p:cNvSpPr/>
          <p:nvPr/>
        </p:nvSpPr>
        <p:spPr>
          <a:xfrm>
            <a:off x="10647045" y="6501384"/>
            <a:ext cx="235458" cy="-50292"/>
          </a:xfrm>
          <a:prstGeom prst="line">
            <a:avLst/>
          </a:prstGeom>
          <a:noFill/>
          <a:ln w="9525">
            <a:solidFill>
              <a:srgbClr val="E2DCD0"/>
            </a:solidFill>
            <a:prstDash val="solid"/>
          </a:ln>
        </p:spPr>
        <p:txBody>
          <a:bodyPr/>
          <a:p/>
        </p:txBody>
      </p:sp>
      <p:sp>
        <p:nvSpPr>
          <p:cNvPr id="15" name="Shape 12"/>
          <p:cNvSpPr/>
          <p:nvPr/>
        </p:nvSpPr>
        <p:spPr>
          <a:xfrm>
            <a:off x="10647045" y="6501384"/>
            <a:ext cx="-4572" cy="196596"/>
          </a:xfrm>
          <a:prstGeom prst="line">
            <a:avLst/>
          </a:prstGeom>
          <a:noFill/>
          <a:ln w="9525">
            <a:solidFill>
              <a:srgbClr val="E2DCD0"/>
            </a:solidFill>
            <a:prstDash val="solid"/>
          </a:ln>
        </p:spPr>
        <p:txBody>
          <a:bodyPr/>
          <a:p/>
        </p:txBody>
      </p:sp>
      <p:sp>
        <p:nvSpPr>
          <p:cNvPr id="16" name="Shape 13"/>
          <p:cNvSpPr/>
          <p:nvPr/>
        </p:nvSpPr>
        <p:spPr>
          <a:xfrm>
            <a:off x="10882503" y="6451092"/>
            <a:ext cx="162306" cy="41148"/>
          </a:xfrm>
          <a:prstGeom prst="line">
            <a:avLst/>
          </a:prstGeom>
          <a:noFill/>
          <a:ln w="9525">
            <a:solidFill>
              <a:srgbClr val="E2DCD0"/>
            </a:solidFill>
            <a:prstDash val="solid"/>
          </a:ln>
        </p:spPr>
        <p:txBody>
          <a:bodyPr/>
          <a:p/>
        </p:txBody>
      </p:sp>
      <p:sp>
        <p:nvSpPr>
          <p:cNvPr id="17" name="Shape 14"/>
          <p:cNvSpPr/>
          <p:nvPr/>
        </p:nvSpPr>
        <p:spPr>
          <a:xfrm>
            <a:off x="10882503" y="6451092"/>
            <a:ext cx="-4572" cy="196596"/>
          </a:xfrm>
          <a:prstGeom prst="line">
            <a:avLst/>
          </a:prstGeom>
          <a:noFill/>
          <a:ln w="9525">
            <a:solidFill>
              <a:srgbClr val="E2DCD0"/>
            </a:solidFill>
            <a:prstDash val="solid"/>
          </a:ln>
        </p:spPr>
        <p:txBody>
          <a:bodyPr/>
          <a:p/>
        </p:txBody>
      </p:sp>
      <p:sp>
        <p:nvSpPr>
          <p:cNvPr id="18" name="Shape 15"/>
          <p:cNvSpPr/>
          <p:nvPr/>
        </p:nvSpPr>
        <p:spPr>
          <a:xfrm>
            <a:off x="11044809" y="6492240"/>
            <a:ext cx="-4572" cy="196596"/>
          </a:xfrm>
          <a:prstGeom prst="line">
            <a:avLst/>
          </a:prstGeom>
          <a:noFill/>
          <a:ln w="9525">
            <a:solidFill>
              <a:srgbClr val="E2DCD0"/>
            </a:solidFill>
            <a:prstDash val="solid"/>
          </a:ln>
        </p:spPr>
        <p:txBody>
          <a:bodyPr/>
          <a:p/>
        </p:txBody>
      </p:sp>
      <p:sp>
        <p:nvSpPr>
          <p:cNvPr id="19" name="Shape 16"/>
          <p:cNvSpPr/>
          <p:nvPr/>
        </p:nvSpPr>
        <p:spPr>
          <a:xfrm>
            <a:off x="10498455" y="6652260"/>
            <a:ext cx="144018" cy="45720"/>
          </a:xfrm>
          <a:prstGeom prst="line">
            <a:avLst/>
          </a:prstGeom>
          <a:noFill/>
          <a:ln w="9525">
            <a:solidFill>
              <a:srgbClr val="E2DCD0"/>
            </a:solidFill>
            <a:prstDash val="solid"/>
          </a:ln>
        </p:spPr>
        <p:txBody>
          <a:bodyPr/>
          <a:p/>
        </p:txBody>
      </p:sp>
      <p:sp>
        <p:nvSpPr>
          <p:cNvPr id="20" name="Shape 17"/>
          <p:cNvSpPr/>
          <p:nvPr/>
        </p:nvSpPr>
        <p:spPr>
          <a:xfrm>
            <a:off x="10642473" y="6697980"/>
            <a:ext cx="235458" cy="-50292"/>
          </a:xfrm>
          <a:prstGeom prst="line">
            <a:avLst/>
          </a:prstGeom>
          <a:noFill/>
          <a:ln w="9525">
            <a:solidFill>
              <a:srgbClr val="E2DCD0"/>
            </a:solidFill>
            <a:prstDash val="solid"/>
          </a:ln>
        </p:spPr>
        <p:txBody>
          <a:bodyPr/>
          <a:p/>
        </p:txBody>
      </p:sp>
      <p:sp>
        <p:nvSpPr>
          <p:cNvPr id="30" name="Shape 18"/>
          <p:cNvSpPr/>
          <p:nvPr/>
        </p:nvSpPr>
        <p:spPr>
          <a:xfrm>
            <a:off x="10877931" y="6647688"/>
            <a:ext cx="162306" cy="41148"/>
          </a:xfrm>
          <a:prstGeom prst="line">
            <a:avLst/>
          </a:prstGeom>
          <a:noFill/>
          <a:ln w="9525">
            <a:solidFill>
              <a:srgbClr val="E2DCD0"/>
            </a:solidFill>
            <a:prstDash val="solid"/>
          </a:ln>
        </p:spPr>
        <p:txBody>
          <a:bodyPr/>
          <a:p/>
        </p:txBody>
      </p:sp>
      <p:sp>
        <p:nvSpPr>
          <p:cNvPr id="22" name="Shape 19"/>
          <p:cNvSpPr/>
          <p:nvPr/>
        </p:nvSpPr>
        <p:spPr>
          <a:xfrm>
            <a:off x="10425303" y="6387084"/>
            <a:ext cx="155448" cy="155448"/>
          </a:xfrm>
          <a:prstGeom prst="ellipse">
            <a:avLst/>
          </a:prstGeom>
          <a:solidFill>
            <a:srgbClr val="D35400"/>
          </a:solidFill>
          <a:ln w="15875">
            <a:solidFill>
              <a:srgbClr val="FBF9F4"/>
            </a:solidFill>
            <a:prstDash val="solid"/>
          </a:ln>
        </p:spPr>
        <p:txBody>
          <a:bodyPr/>
          <a:p/>
        </p:txBody>
      </p:sp>
      <p:sp>
        <p:nvSpPr>
          <p:cNvPr id="23" name="Shape 20"/>
          <p:cNvSpPr/>
          <p:nvPr/>
        </p:nvSpPr>
        <p:spPr>
          <a:xfrm>
            <a:off x="10569321" y="6423660"/>
            <a:ext cx="155448" cy="155448"/>
          </a:xfrm>
          <a:prstGeom prst="ellipse">
            <a:avLst/>
          </a:prstGeom>
          <a:solidFill>
            <a:srgbClr val="E8A15C"/>
          </a:solidFill>
          <a:ln w="15875">
            <a:solidFill>
              <a:srgbClr val="FBF9F4"/>
            </a:solidFill>
            <a:prstDash val="solid"/>
          </a:ln>
        </p:spPr>
        <p:txBody>
          <a:bodyPr/>
          <a:p/>
        </p:txBody>
      </p:sp>
      <p:sp>
        <p:nvSpPr>
          <p:cNvPr id="24" name="Shape 21"/>
          <p:cNvSpPr/>
          <p:nvPr/>
        </p:nvSpPr>
        <p:spPr>
          <a:xfrm>
            <a:off x="10804779" y="6373368"/>
            <a:ext cx="155448" cy="155448"/>
          </a:xfrm>
          <a:prstGeom prst="ellipse">
            <a:avLst/>
          </a:prstGeom>
          <a:solidFill>
            <a:srgbClr val="97BC62"/>
          </a:solidFill>
          <a:ln w="15875">
            <a:solidFill>
              <a:srgbClr val="FBF9F4"/>
            </a:solidFill>
            <a:prstDash val="solid"/>
          </a:ln>
        </p:spPr>
        <p:txBody>
          <a:bodyPr/>
          <a:p/>
        </p:txBody>
      </p:sp>
      <p:sp>
        <p:nvSpPr>
          <p:cNvPr id="25" name="Shape 22"/>
          <p:cNvSpPr/>
          <p:nvPr/>
        </p:nvSpPr>
        <p:spPr>
          <a:xfrm>
            <a:off x="10967085" y="6414516"/>
            <a:ext cx="155448" cy="155448"/>
          </a:xfrm>
          <a:prstGeom prst="ellipse">
            <a:avLst/>
          </a:prstGeom>
          <a:solidFill>
            <a:srgbClr val="2C5F2D"/>
          </a:solidFill>
          <a:ln w="15875">
            <a:solidFill>
              <a:srgbClr val="FBF9F4"/>
            </a:solidFill>
            <a:prstDash val="solid"/>
          </a:ln>
        </p:spPr>
        <p:txBody>
          <a:bodyPr/>
          <a:p/>
        </p:txBody>
      </p:sp>
      <p:sp>
        <p:nvSpPr>
          <p:cNvPr id="26" name="Shape 23"/>
          <p:cNvSpPr/>
          <p:nvPr/>
        </p:nvSpPr>
        <p:spPr>
          <a:xfrm>
            <a:off x="10420731" y="6574536"/>
            <a:ext cx="155448" cy="155448"/>
          </a:xfrm>
          <a:prstGeom prst="ellipse">
            <a:avLst/>
          </a:prstGeom>
          <a:solidFill>
            <a:srgbClr val="D35400"/>
          </a:solidFill>
          <a:ln w="15875">
            <a:solidFill>
              <a:srgbClr val="FBF9F4"/>
            </a:solidFill>
            <a:prstDash val="solid"/>
          </a:ln>
        </p:spPr>
        <p:txBody>
          <a:bodyPr/>
          <a:p/>
        </p:txBody>
      </p:sp>
      <p:sp>
        <p:nvSpPr>
          <p:cNvPr id="27" name="Shape 24"/>
          <p:cNvSpPr/>
          <p:nvPr/>
        </p:nvSpPr>
        <p:spPr>
          <a:xfrm>
            <a:off x="10564749" y="6620256"/>
            <a:ext cx="155448" cy="155448"/>
          </a:xfrm>
          <a:prstGeom prst="ellipse">
            <a:avLst/>
          </a:prstGeom>
          <a:solidFill>
            <a:srgbClr val="E8A15C"/>
          </a:solidFill>
          <a:ln w="15875">
            <a:solidFill>
              <a:srgbClr val="FBF9F4"/>
            </a:solidFill>
            <a:prstDash val="solid"/>
          </a:ln>
        </p:spPr>
        <p:txBody>
          <a:bodyPr/>
          <a:p/>
        </p:txBody>
      </p:sp>
      <p:sp>
        <p:nvSpPr>
          <p:cNvPr id="28" name="Shape 25"/>
          <p:cNvSpPr/>
          <p:nvPr/>
        </p:nvSpPr>
        <p:spPr>
          <a:xfrm>
            <a:off x="10800207" y="6569964"/>
            <a:ext cx="155448" cy="155448"/>
          </a:xfrm>
          <a:prstGeom prst="ellipse">
            <a:avLst/>
          </a:prstGeom>
          <a:solidFill>
            <a:srgbClr val="97BC62"/>
          </a:solidFill>
          <a:ln w="15875">
            <a:solidFill>
              <a:srgbClr val="FBF9F4"/>
            </a:solidFill>
            <a:prstDash val="solid"/>
          </a:ln>
        </p:spPr>
        <p:txBody>
          <a:bodyPr/>
          <a:p/>
        </p:txBody>
      </p:sp>
      <p:sp>
        <p:nvSpPr>
          <p:cNvPr id="29" name="Shape 26"/>
          <p:cNvSpPr/>
          <p:nvPr/>
        </p:nvSpPr>
        <p:spPr>
          <a:xfrm>
            <a:off x="10962513" y="6611112"/>
            <a:ext cx="155448" cy="155448"/>
          </a:xfrm>
          <a:prstGeom prst="ellipse">
            <a:avLst/>
          </a:prstGeom>
          <a:solidFill>
            <a:srgbClr val="2C5F2D"/>
          </a:solidFill>
          <a:ln w="15875">
            <a:solidFill>
              <a:srgbClr val="FBF9F4"/>
            </a:solidFill>
            <a:prstDash val="solid"/>
          </a:ln>
        </p:spPr>
        <p:txBody>
          <a:bodyPr/>
          <a:p/>
        </p:txBody>
      </p:sp>
      <p:sp>
        <p:nvSpPr>
          <p:cNvPr id="31" name="StatusDot0"/>
          <p:cNvSpPr/>
          <p:nvPr/>
        </p:nvSpPr>
        <p:spPr>
          <a:xfrm>
            <a:off x="9902952" y="1888236"/>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tatusDot1"/>
          <p:cNvSpPr/>
          <p:nvPr/>
        </p:nvSpPr>
        <p:spPr>
          <a:xfrm>
            <a:off x="9902952" y="2235708"/>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tusDot2"/>
          <p:cNvSpPr/>
          <p:nvPr/>
        </p:nvSpPr>
        <p:spPr>
          <a:xfrm>
            <a:off x="9902952" y="2583180"/>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tusDot3"/>
          <p:cNvSpPr/>
          <p:nvPr/>
        </p:nvSpPr>
        <p:spPr>
          <a:xfrm>
            <a:off x="9902952" y="2930652"/>
            <a:ext cx="118872" cy="11887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tatusDot4"/>
          <p:cNvSpPr/>
          <p:nvPr/>
        </p:nvSpPr>
        <p:spPr>
          <a:xfrm>
            <a:off x="9902952" y="3278124"/>
            <a:ext cx="118872" cy="118872"/>
          </a:xfrm>
          <a:prstGeom prst="ellipse">
            <a:avLst/>
          </a:prstGeom>
          <a:solidFill>
            <a:srgbClr val="D3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tusDot5"/>
          <p:cNvSpPr/>
          <p:nvPr/>
        </p:nvSpPr>
        <p:spPr>
          <a:xfrm>
            <a:off x="9902952" y="3625596"/>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usDot6"/>
          <p:cNvSpPr/>
          <p:nvPr/>
        </p:nvSpPr>
        <p:spPr>
          <a:xfrm>
            <a:off x="9902952" y="3973068"/>
            <a:ext cx="118872" cy="118872"/>
          </a:xfrm>
          <a:prstGeom prst="ellipse">
            <a:avLst/>
          </a:prstGeom>
          <a:solidFill>
            <a:srgbClr val="6B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2026-08-16T22:42:36Z</dcterms:created>
  <dcterms:modified xsi:type="dcterms:W3CDTF">2026-08-16T22:42:36Z</dcterms:modified>
</cp:coreProperties>
</file>