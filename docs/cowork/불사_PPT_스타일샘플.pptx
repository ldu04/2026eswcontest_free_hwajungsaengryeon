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999439"/>
            <a:ext cx="510235" cy="-85039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31275" y="914400"/>
            <a:ext cx="453542" cy="198425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4818" y="1112825"/>
            <a:ext cx="453542" cy="-141732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0" y="999439"/>
            <a:ext cx="226771" cy="481889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31275" y="914400"/>
            <a:ext cx="226771" cy="481889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84818" y="1112825"/>
            <a:ext cx="226771" cy="453542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47811" y="1481328"/>
            <a:ext cx="510235" cy="-85039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8046" y="1396289"/>
            <a:ext cx="453542" cy="170078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47811" y="1481328"/>
            <a:ext cx="-170078" cy="453542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8046" y="1396289"/>
            <a:ext cx="-170078" cy="510235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11589" y="1566367"/>
            <a:ext cx="-113386" cy="481889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98203" y="2048256"/>
            <a:ext cx="396850" cy="-170078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38360" y="971093"/>
            <a:ext cx="56693" cy="907085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9859" y="968258"/>
            <a:ext cx="62362" cy="6236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Shape 14"/>
          <p:cNvSpPr/>
          <p:nvPr/>
        </p:nvSpPr>
        <p:spPr>
          <a:xfrm>
            <a:off x="8800094" y="883219"/>
            <a:ext cx="62362" cy="6236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Shape 15"/>
          <p:cNvSpPr/>
          <p:nvPr/>
        </p:nvSpPr>
        <p:spPr>
          <a:xfrm>
            <a:off x="9253637" y="1081644"/>
            <a:ext cx="62362" cy="6236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Shape 16"/>
          <p:cNvSpPr/>
          <p:nvPr/>
        </p:nvSpPr>
        <p:spPr>
          <a:xfrm>
            <a:off x="9707179" y="939912"/>
            <a:ext cx="62362" cy="6236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9" name="Shape 17"/>
          <p:cNvSpPr/>
          <p:nvPr/>
        </p:nvSpPr>
        <p:spPr>
          <a:xfrm>
            <a:off x="8516630" y="1450147"/>
            <a:ext cx="62362" cy="62362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20" name="Shape 18"/>
          <p:cNvSpPr/>
          <p:nvPr/>
        </p:nvSpPr>
        <p:spPr>
          <a:xfrm>
            <a:off x="9026865" y="1365108"/>
            <a:ext cx="62362" cy="62362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21" name="Shape 19"/>
          <p:cNvSpPr/>
          <p:nvPr/>
        </p:nvSpPr>
        <p:spPr>
          <a:xfrm>
            <a:off x="9480408" y="1535186"/>
            <a:ext cx="62362" cy="62362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22" name="Shape 20"/>
          <p:cNvSpPr/>
          <p:nvPr/>
        </p:nvSpPr>
        <p:spPr>
          <a:xfrm>
            <a:off x="8346552" y="1903689"/>
            <a:ext cx="62362" cy="6236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3" name="Shape 21"/>
          <p:cNvSpPr/>
          <p:nvPr/>
        </p:nvSpPr>
        <p:spPr>
          <a:xfrm>
            <a:off x="8856787" y="1875343"/>
            <a:ext cx="62362" cy="6236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4" name="Shape 22"/>
          <p:cNvSpPr/>
          <p:nvPr/>
        </p:nvSpPr>
        <p:spPr>
          <a:xfrm>
            <a:off x="9367022" y="2017075"/>
            <a:ext cx="62362" cy="6236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5" name="Shape 23"/>
          <p:cNvSpPr/>
          <p:nvPr/>
        </p:nvSpPr>
        <p:spPr>
          <a:xfrm>
            <a:off x="9763872" y="1846997"/>
            <a:ext cx="62362" cy="6236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1554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제24회 임베디드SW경진대회  ·  자유공모 부문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19659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</a:t>
            </a:r>
            <a:pPr algn="l" indent="0" marL="0">
              <a:buNone/>
            </a:pPr>
            <a:r>
              <a:rPr lang="en-US" sz="72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不死</a:t>
            </a:r>
            <a:endParaRPr lang="en-US" sz="7200" dirty="0"/>
          </a:p>
        </p:txBody>
      </p:sp>
      <p:sp>
        <p:nvSpPr>
          <p:cNvPr id="28" name="Text 26"/>
          <p:cNvSpPr/>
          <p:nvPr/>
        </p:nvSpPr>
        <p:spPr>
          <a:xfrm>
            <a:off x="77724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화중생련  </a:t>
            </a:r>
            <a:pPr algn="l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火中生蓮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77240" y="3977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D6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고장(노드 파괴)을 데이터로 바꾸는 자가치유 산불 감시 메시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77240" y="5806440"/>
            <a:ext cx="10607040" cy="0"/>
          </a:xfrm>
          <a:prstGeom prst="line">
            <a:avLst/>
          </a:prstGeom>
          <a:noFill/>
          <a:ln w="12700">
            <a:solidFill>
              <a:srgbClr val="3A4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943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이동욱</a:t>
            </a:r>
            <a:pPr algn="l" indent="0" marL="0">
              <a:buNone/>
            </a:pPr>
            <a:r>
              <a:rPr lang="en-US" sz="1300" dirty="0">
                <a:solidFill>
                  <a:srgbClr val="AEB5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전자공학전공 · 숭실대학교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0" y="59436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2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· 시연영상 링크는 제출본에 삽입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동기·배경  |  독창성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09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재난에선 노드 파괴가 '필연'이다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0" y="6331306"/>
            <a:ext cx="131674" cy="-2194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24514" y="6309360"/>
            <a:ext cx="117043" cy="5120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41557" y="6360566"/>
            <a:ext cx="117043" cy="-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92840" y="6331306"/>
            <a:ext cx="58522" cy="12435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24514" y="6309360"/>
            <a:ext cx="58522" cy="12435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41557" y="6360566"/>
            <a:ext cx="58522" cy="117043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51362" y="6455664"/>
            <a:ext cx="131674" cy="-2194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83035" y="6433718"/>
            <a:ext cx="117043" cy="43891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51362" y="6455664"/>
            <a:ext cx="-43891" cy="117043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3035" y="6433718"/>
            <a:ext cx="-43891" cy="13167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600078" y="6477610"/>
            <a:ext cx="-29261" cy="12435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70818" y="6601968"/>
            <a:ext cx="102413" cy="-43891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658600" y="6323990"/>
            <a:ext cx="14630" cy="23408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284793" y="6323259"/>
            <a:ext cx="16093" cy="16093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16467" y="6301313"/>
            <a:ext cx="16093" cy="16093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Shape 18"/>
          <p:cNvSpPr/>
          <p:nvPr/>
        </p:nvSpPr>
        <p:spPr>
          <a:xfrm>
            <a:off x="11533510" y="6352520"/>
            <a:ext cx="16093" cy="16093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50553" y="6315944"/>
            <a:ext cx="16093" cy="16093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Shape 20"/>
          <p:cNvSpPr/>
          <p:nvPr/>
        </p:nvSpPr>
        <p:spPr>
          <a:xfrm>
            <a:off x="11343315" y="6447617"/>
            <a:ext cx="16093" cy="16093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74988" y="6425672"/>
            <a:ext cx="16093" cy="16093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592032" y="6469563"/>
            <a:ext cx="16093" cy="16093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299424" y="6564660"/>
            <a:ext cx="16093" cy="16093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Shape 24"/>
          <p:cNvSpPr/>
          <p:nvPr/>
        </p:nvSpPr>
        <p:spPr>
          <a:xfrm>
            <a:off x="11431097" y="6557345"/>
            <a:ext cx="16093" cy="16093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Shape 25"/>
          <p:cNvSpPr/>
          <p:nvPr/>
        </p:nvSpPr>
        <p:spPr>
          <a:xfrm>
            <a:off x="11562771" y="6593921"/>
            <a:ext cx="16093" cy="16093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8" name="Shape 26"/>
          <p:cNvSpPr/>
          <p:nvPr/>
        </p:nvSpPr>
        <p:spPr>
          <a:xfrm>
            <a:off x="11665184" y="6550030"/>
            <a:ext cx="16093" cy="16093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산불·지진·붕괴 현장에서 센서 노드는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반드시 죽는다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기존 시스템은 이 죽음을 단순 '손실'로 처리한다.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시공간 패턴 자체를 데이터로 승격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해, 사라진 노드들이 오히려 불의 방향·속도를 그리게 한다.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" y="2788920"/>
            <a:ext cx="352044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3044952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04672" y="3502152"/>
            <a:ext cx="54864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3657600"/>
            <a:ext cx="300837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위성·드론은 연기·수목 아래 지표 화선을 못 본다. 진화 지휘·대원 안전이 직결된 실시간 공백.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325112" y="2788920"/>
            <a:ext cx="352044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044952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기존의 공백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581144" y="3502152"/>
            <a:ext cx="54864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657600"/>
            <a:ext cx="300837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stock 메시는 죽은 노드를 우회만 할 뿐, 그 죽음에 담긴 정보를 버린다.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101584" y="2788920"/>
            <a:ext cx="352044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57616" y="3044952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목표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357616" y="3502152"/>
            <a:ext cx="54864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57616" y="3657600"/>
            <a:ext cx="300837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패턴을 데이터로 + 자가치유로, 그 공백을 지상에서 실시간으로 채운다.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응용(산불)이 아니라 아키텍처(고장→데이터+자가치유)에 독창성이 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기존·유사제품과의 차별성  |  독창성 30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09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고장을 '손실'이 아니라 '데이터'로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0" y="6331306"/>
            <a:ext cx="131674" cy="-2194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24514" y="6309360"/>
            <a:ext cx="117043" cy="5120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41557" y="6360566"/>
            <a:ext cx="117043" cy="-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92840" y="6331306"/>
            <a:ext cx="58522" cy="12435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24514" y="6309360"/>
            <a:ext cx="58522" cy="12435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41557" y="6360566"/>
            <a:ext cx="58522" cy="117043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51362" y="6455664"/>
            <a:ext cx="131674" cy="-2194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83035" y="6433718"/>
            <a:ext cx="117043" cy="43891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51362" y="6455664"/>
            <a:ext cx="-43891" cy="117043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3035" y="6433718"/>
            <a:ext cx="-43891" cy="13167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600078" y="6477610"/>
            <a:ext cx="-29261" cy="12435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70818" y="6601968"/>
            <a:ext cx="102413" cy="-43891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658600" y="6323990"/>
            <a:ext cx="14630" cy="23408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284793" y="6323259"/>
            <a:ext cx="16093" cy="16093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16467" y="6301313"/>
            <a:ext cx="16093" cy="16093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Shape 18"/>
          <p:cNvSpPr/>
          <p:nvPr/>
        </p:nvSpPr>
        <p:spPr>
          <a:xfrm>
            <a:off x="11533510" y="6352520"/>
            <a:ext cx="16093" cy="16093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50553" y="6315944"/>
            <a:ext cx="16093" cy="16093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Shape 20"/>
          <p:cNvSpPr/>
          <p:nvPr/>
        </p:nvSpPr>
        <p:spPr>
          <a:xfrm>
            <a:off x="11343315" y="6447617"/>
            <a:ext cx="16093" cy="16093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74988" y="6425672"/>
            <a:ext cx="16093" cy="16093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592032" y="6469563"/>
            <a:ext cx="16093" cy="16093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299424" y="6564660"/>
            <a:ext cx="16093" cy="16093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Shape 24"/>
          <p:cNvSpPr/>
          <p:nvPr/>
        </p:nvSpPr>
        <p:spPr>
          <a:xfrm>
            <a:off x="11431097" y="6557345"/>
            <a:ext cx="16093" cy="16093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Shape 25"/>
          <p:cNvSpPr/>
          <p:nvPr/>
        </p:nvSpPr>
        <p:spPr>
          <a:xfrm>
            <a:off x="11562771" y="6593921"/>
            <a:ext cx="16093" cy="16093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8" name="Shape 26"/>
          <p:cNvSpPr/>
          <p:nvPr/>
        </p:nvSpPr>
        <p:spPr>
          <a:xfrm>
            <a:off x="11665184" y="6550030"/>
            <a:ext cx="16093" cy="16093"/>
          </a:xfrm>
          <a:prstGeom prst="ellipse">
            <a:avLst/>
          </a:prstGeom>
          <a:solidFill>
            <a:srgbClr val="2C5F2D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514600"/>
                <a:gridCol w="2926080"/>
                <a:gridCol w="391363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대상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그들의 방식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 (불사)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 스트리밍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살아있는 노드가 온도 상시 전송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초저가 대량 노드엔 상시 전송 부담(전력·대역폭)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교차검증된 '죽음'을 확정 이진 신호로 → 화선 위치·방향·속도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Dryad Silvanet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오기 전 조기 감지(내열, +85℃ 한계)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속에선 못 버팀 — 감지 특화, 전선 추적 아님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 죽으며 화선을 그림 — 감지(그들)와 추적(우리)은 상보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stock ESP-MESH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죽으면 경로 우회(연결성만)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손실로만 처리, 정보로 안 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1급 이벤트로 승격 + 도착시각 추정 + 오탐 방어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드론·위성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상공·우주 광역 개요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연기·수목 아래 지표 화선·초 단위 변화 못 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실측 레이어 + 지상 통신 백본 — 대체 아니라 상보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헤드라인 차별점  </a:t>
            </a:r>
            <a:pPr algn="l"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방어(통신두절 vs 진짜 파괴 구분) = stock 메시가 못 하는 우리만의 계층.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핵심 알고리즘  |  기술성·완성도 30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09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노드의 (좌표·시각) → 불의 방향·속도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0" y="6331306"/>
            <a:ext cx="131674" cy="-2194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24514" y="6309360"/>
            <a:ext cx="117043" cy="5120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41557" y="6360566"/>
            <a:ext cx="117043" cy="-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92840" y="6331306"/>
            <a:ext cx="58522" cy="12435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24514" y="6309360"/>
            <a:ext cx="58522" cy="12435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41557" y="6360566"/>
            <a:ext cx="58522" cy="117043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51362" y="6455664"/>
            <a:ext cx="131674" cy="-2194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83035" y="6433718"/>
            <a:ext cx="117043" cy="43891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51362" y="6455664"/>
            <a:ext cx="-43891" cy="117043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3035" y="6433718"/>
            <a:ext cx="-43891" cy="13167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600078" y="6477610"/>
            <a:ext cx="-29261" cy="12435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70818" y="6601968"/>
            <a:ext cx="102413" cy="-43891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658600" y="6323990"/>
            <a:ext cx="14630" cy="23408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284793" y="6323259"/>
            <a:ext cx="16093" cy="16093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16467" y="6301313"/>
            <a:ext cx="16093" cy="16093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Shape 18"/>
          <p:cNvSpPr/>
          <p:nvPr/>
        </p:nvSpPr>
        <p:spPr>
          <a:xfrm>
            <a:off x="11533510" y="6352520"/>
            <a:ext cx="16093" cy="16093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50553" y="6315944"/>
            <a:ext cx="16093" cy="16093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Shape 20"/>
          <p:cNvSpPr/>
          <p:nvPr/>
        </p:nvSpPr>
        <p:spPr>
          <a:xfrm>
            <a:off x="11343315" y="6447617"/>
            <a:ext cx="16093" cy="16093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74988" y="6425672"/>
            <a:ext cx="16093" cy="16093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592032" y="6469563"/>
            <a:ext cx="16093" cy="16093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299424" y="6564660"/>
            <a:ext cx="16093" cy="16093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Shape 24"/>
          <p:cNvSpPr/>
          <p:nvPr/>
        </p:nvSpPr>
        <p:spPr>
          <a:xfrm>
            <a:off x="11431097" y="6557345"/>
            <a:ext cx="16093" cy="16093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Shape 25"/>
          <p:cNvSpPr/>
          <p:nvPr/>
        </p:nvSpPr>
        <p:spPr>
          <a:xfrm>
            <a:off x="11562771" y="6593921"/>
            <a:ext cx="16093" cy="16093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8" name="Shape 26"/>
          <p:cNvSpPr/>
          <p:nvPr/>
        </p:nvSpPr>
        <p:spPr>
          <a:xfrm>
            <a:off x="11665184" y="6550030"/>
            <a:ext cx="16093" cy="16093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16916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70432" y="165506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시각 수집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70432" y="201168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054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노드가 임계온도에 타 죽은 시각 = 불이 그 지점에 도착한 시각.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289864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170432" y="286207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최소제곱 평면 적합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70432" y="3218688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054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흩어진 (x, y, 죽은시각) 점들에 가장 잘 맞는 면을 긋는다 (딥러닝 아님).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66928" y="410565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170432" y="4069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기울기 → 방향·속도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170432" y="4425696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054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평면의 기울기 방향 = 진행 방향, 1 / 기울기 크기 = 진행 속도.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903720" y="1783080"/>
            <a:ext cx="46177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0" y="194767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도착시각 지도 (개념)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589520" y="2743200"/>
            <a:ext cx="237744" cy="237744"/>
          </a:xfrm>
          <a:prstGeom prst="ellipse">
            <a:avLst/>
          </a:prstGeom>
          <a:solidFill>
            <a:srgbClr val="D35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49640" y="2743200"/>
            <a:ext cx="237744" cy="237744"/>
          </a:xfrm>
          <a:prstGeom prst="ellipse">
            <a:avLst/>
          </a:prstGeom>
          <a:solidFill>
            <a:srgbClr val="D35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509760" y="2743200"/>
            <a:ext cx="237744" cy="237744"/>
          </a:xfrm>
          <a:prstGeom prst="ellipse">
            <a:avLst/>
          </a:prstGeom>
          <a:solidFill>
            <a:srgbClr val="E8A1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469880" y="2743200"/>
            <a:ext cx="237744" cy="23774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89520" y="3474720"/>
            <a:ext cx="237744" cy="237744"/>
          </a:xfrm>
          <a:prstGeom prst="ellipse">
            <a:avLst/>
          </a:prstGeom>
          <a:solidFill>
            <a:srgbClr val="D35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49640" y="3474720"/>
            <a:ext cx="237744" cy="237744"/>
          </a:xfrm>
          <a:prstGeom prst="ellipse">
            <a:avLst/>
          </a:prstGeom>
          <a:solidFill>
            <a:srgbClr val="D35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509760" y="3474720"/>
            <a:ext cx="237744" cy="237744"/>
          </a:xfrm>
          <a:prstGeom prst="ellipse">
            <a:avLst/>
          </a:prstGeom>
          <a:solidFill>
            <a:srgbClr val="E8A1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469880" y="3474720"/>
            <a:ext cx="237744" cy="23774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89520" y="4206240"/>
            <a:ext cx="237744" cy="237744"/>
          </a:xfrm>
          <a:prstGeom prst="ellipse">
            <a:avLst/>
          </a:prstGeom>
          <a:solidFill>
            <a:srgbClr val="D35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549640" y="4206240"/>
            <a:ext cx="237744" cy="237744"/>
          </a:xfrm>
          <a:prstGeom prst="ellipse">
            <a:avLst/>
          </a:prstGeom>
          <a:solidFill>
            <a:srgbClr val="D35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509760" y="4206240"/>
            <a:ext cx="237744" cy="237744"/>
          </a:xfrm>
          <a:prstGeom prst="ellipse">
            <a:avLst/>
          </a:prstGeom>
          <a:solidFill>
            <a:srgbClr val="E8A1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469880" y="4206240"/>
            <a:ext cx="237744" cy="23774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589520" y="4572000"/>
            <a:ext cx="3017520" cy="0"/>
          </a:xfrm>
          <a:prstGeom prst="line">
            <a:avLst/>
          </a:prstGeom>
          <a:noFill/>
          <a:ln w="31750">
            <a:solidFill>
              <a:srgbClr val="1F2421"/>
            </a:solidFill>
            <a:prstDash val="solid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7589520" y="46360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 진행 방향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406640" y="23500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죽음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9966960" y="23500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 죽음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66928" y="5806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054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가벼운 최소제곱 — 저사양 게이트웨이에서 즉시 계산.  </a:t>
            </a:r>
            <a:pPr algn="l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 견고(2.1°), 속도는 보수적(안전마진).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2026-07-28T13:17:35Z</dcterms:created>
  <dcterms:modified xsi:type="dcterms:W3CDTF">2026-07-28T13:17:35Z</dcterms:modified>
</cp:coreProperties>
</file>