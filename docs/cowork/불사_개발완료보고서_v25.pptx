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76" r:id="rId27"/>
    <p:sldId id="270" r:id="rId16"/>
    <p:sldId id="271" r:id="rId17"/>
    <p:sldId id="277" r:id="rId18"/>
    <p:sldId id="278" r:id="rId15"/>
    <p:sldId id="279" r:id="rId14"/>
    <p:sldId id="280" r:id="rId13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7.xml"/><Relationship Id="rId14" Type="http://schemas.openxmlformats.org/officeDocument/2006/relationships/slide" Target="slides/slide16.xml"/><Relationship Id="rId15" Type="http://schemas.openxmlformats.org/officeDocument/2006/relationships/slide" Target="slides/slide15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7665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11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· 시연영상 링크는 제출본에 삽입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화선의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위치·방향·속도. 위성은 광역 개요만, 드론은 상공·간헐적이라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지상 관측 레이어가 없나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위성은 재방문 주기가 있어 초 단위 변화를 못 본다.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드론은 체공 시간이 제한되고 야간·짙은 연기에서 관측이 어렵다.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지상 고정 센서는 불에 타면 끝이라, 화선이 지나가는 구간에는 배치하지 않는다.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정작 화선이 지나가는 그 자리에 관측이 비어 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8328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62681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62681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2681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92369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76722" y="1737360"/>
            <a:ext cx="3045134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76722" y="1952244"/>
            <a:ext cx="3045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76722" y="2281428"/>
            <a:ext cx="3045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90469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9332" y="3310128"/>
            <a:ext cx="5029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70772" y="3749040"/>
            <a:ext cx="4846205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4738" y="3886200"/>
            <a:ext cx="515827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9069" y="3108960"/>
            <a:ext cx="548124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9761" y="3310128"/>
            <a:ext cx="501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81201" y="3749040"/>
            <a:ext cx="483697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9761" y="3886200"/>
            <a:ext cx="50198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1073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57600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7" name="Shape 3"/>
          <p:cNvSpPr/>
          <p:nvPr/>
        </p:nvSpPr>
        <p:spPr>
          <a:xfrm>
            <a:off x="548640" y="1508760"/>
            <a:ext cx="11091672" cy="95097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682496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0016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531352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5343753"/>
            <a:ext cx="11091672" cy="820216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415075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655564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7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7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3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59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5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Rounded Rectangle 45"/>
          <p:cNvSpPr/>
          <p:nvPr/>
        </p:nvSpPr>
        <p:spPr>
          <a:xfrm>
            <a:off x="8558784" y="5416905"/>
            <a:ext cx="2852928" cy="402336"/>
          </a:xfrm>
          <a:prstGeom prst="roundRect">
            <a:avLst>
              <a:gd name="adj" fmla="val 28000"/>
            </a:avLst>
          </a:prstGeom>
          <a:solidFill>
            <a:srgbClr val="FBEFE2"/>
          </a:solidFill>
          <a:ln w="9525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950" b="1">
                <a:solidFill>
                  <a:srgbClr val="44483F"/>
                </a:solidFill>
                <a:latin typeface="맑은 고딕"/>
              </a:rPr>
              <a:t>학습 없이 · 라즈베리파이에서 즉시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/>
          <p:cNvSpPr/>
          <p:nvPr/>
        </p:nvSpPr>
        <p:spPr>
          <a:xfrm>
            <a:off x="8028431" y="2386584"/>
            <a:ext cx="3785615" cy="1874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가르는 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969264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882896"/>
            <a:ext cx="10607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증거이고, 없어도 기각 근거가 아니다 — 전소로 신호조차 못 보낸 노드가 바로 진짜 화재이기 때문이다.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5838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900" dirty="0" b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판별은 말단이 아니라 이웃 정보가 모두 모이는 게이트웨이에서 한다.   ·   [시뮬] 오탐률 0% · 비화재 COOL 누수 86.4% → 0%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Rounded Rectangle 41"/>
          <p:cNvSpPr/>
          <p:nvPr/>
        </p:nvSpPr>
        <p:spPr>
          <a:xfrm>
            <a:off x="1097280" y="1874519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0">
                <a:solidFill>
                  <a:srgbClr val="1F2421"/>
                </a:solidFill>
                <a:latin typeface="맑은 고딕"/>
              </a:rPr>
              <a:t>노드가 조용해졌다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624328" y="2313432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2551176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1F2421"/>
                </a:solidFill>
                <a:latin typeface="맑은 고딕"/>
              </a:rPr>
              <a:t>임종신호가 왔는가?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498848" y="2679192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4688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10912" y="2551176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   [본편 15건]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32278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이웃 3대가 끊김을 확인했고</a:t>
            </a:r>
          </a:p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온도가 올랐는가?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498848" y="3429000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3300984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24328" y="2990088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2990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624328" y="3831336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383133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4069080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6B6E6A"/>
                </a:solidFill>
                <a:latin typeface="맑은 고딕"/>
              </a:rPr>
              <a:t>증거 부족 — 추정에서 제외   [본편 1건]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255117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임종신호 = 죽기 직전 노드가 스스로 쏘는 마지막 패킷. 본인이 낸 증거라 가장 강하다.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3227832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이웃 확인 = 한 대가 침묵해도 즉시 죽음으로 보지 않는다. 독립된 3대가 확인해야 후보가 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387705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온도 = 화선에 의한 죽음이면 온도 상승이 선행한다.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029968"/>
            <a:ext cx="5440680" cy="30175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53912" y="2029968"/>
            <a:ext cx="5477256" cy="301752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706624"/>
            <a:ext cx="502005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755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자가치유가 관측을 잇고, 임종신호가 죽은 시각을 확정한다 — 죽는 노드가 살아있는 정보가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게이트웨이까지 가는 길을 하나씩 갖고 있다.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있는 노드가 죽으면, 그 길을 쓰던 노드들이 한꺼번에 길을 잃는다.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706624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게이트웨이까지 11대가 지나가던 중계 노드 한 대의 전원을 뽑자, 보이던 노드 수가 15 → 3 으로 무너졌다.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15.9초 뒤 14 로 회복됐다. 9대가 다른 길을 찾아 붙었고, 게이트웨이 바로 아래 노드까지 바뀌었다.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재부팅·브라운아웃·파싱 실패 0건. 다시 켜서 복구된 것이 아니다.</a:t>
            </a:r>
            <a:endParaRPr lang="en-US" sz="1200" dirty="0"/>
          </a:p>
        </p:txBody>
      </p:sp>
      <p:cxnSp>
        <p:nvCxnSpPr>
          <p:cNvPr id="55" name="Connector 54"/>
          <p:cNvCxnSpPr/>
          <p:nvPr/>
        </p:nvCxnSpPr>
        <p:spPr>
          <a:xfrm>
            <a:off x="1988819" y="42336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458467" y="4462272"/>
            <a:ext cx="530352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723643" y="4462272"/>
            <a:ext cx="265176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8819" y="44622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88819" y="4462272"/>
            <a:ext cx="265177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88819" y="4462272"/>
            <a:ext cx="530353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924812" y="4398264"/>
            <a:ext cx="128016" cy="128016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915667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15033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80209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9453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1056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47573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제거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35400"/>
                </a:solidFill>
                <a:latin typeface="맑은 고딕"/>
              </a:rPr>
              <a:t>그 아래 11대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3899916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165092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30268" y="4233672"/>
            <a:ext cx="0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430268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430268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70832" y="440283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57116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5648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12165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386834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652010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171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0128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재구성 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10128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C5F2D"/>
                </a:solidFill>
                <a:latin typeface="맑은 고딕"/>
              </a:rPr>
              <a:t>다른 길로 다시 붙음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추정기가 두 번 틀렸고, 두 번 다 원인은 알고리즘이 아니었다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 모르는데 아무 값이나 내면 대원이 화선 쪽으로 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 두 가지를 고쳤다 — 틀린 답을 내던 것과, 답을 못 내던 것.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5440680" cy="2608783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틀린 답 — 82° → 0.03°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578608"/>
            <a:ext cx="495604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706624"/>
            <a:ext cx="51389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타원 화선 측면에서 방향 오차가 82~86° 였다. 90°가 무작위 추측의 한계다.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곡률·채점·표본을 차례로 의심해 전부 측정으로 기각한 뒤 집계에 닿았다.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노드가 가중치의 86.4%를 독식했고 그 노드의 오차가 85.21°, 나머지 노드의 오차 중앙값은 1.35°였다.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가중치를 거꾸로 주고 있었다 — 불확실한 노드일수록 크게. 오차 전파식에서 다시 유도해 w = 1/|∇T| 를 w = |∇T|² 로 바로잡았다.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파라미터를 유리하게 조정한 것이 아니다. 식에서 나온 값이다.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2029968"/>
            <a:ext cx="5477256" cy="2608783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못 내던 답 — 정보가 부족한가, 설정이 좁은가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706624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실물로 옮기자 16노드가 전부 값을 내지 못했다. 기능이 작동한 것인지, 설정값이 틀린 것인지 갈라야 했다.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 노드가 자기 하나만 보고 계산한다.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넓히니 산출 성공이 2 → 12 → 15 → 16 으로 올랐다. 설정 상수가 좁았던 것이다.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값을 새로 고르는 대신 구조를 바꿨다 — 창 = 이웃 반경 ÷ 화선속도. 본편 런에서 이 식이 622.3초를 내놓았고, 증거가 확보된 15건의 죽음에서 방향 오차 2.85도를 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66767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원인은 알고리즘이 아니라 설정값이었고, 두 번 다 식에서 다시 유도해 고쳤다.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센서 열관성 τ — 검증 범위 밖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0016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시뮬은 τ 를 0~10초로만 가정하고 검증했다. 실물에서 공기 흐름 조건을 바꿔 가며 재보니 11~92초였다. 검증한 범위 밖에 실제가 있었고, 추정기가 거기서도 맞는지는 아무도 확인한 적이 없었다.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고치는 대신 수식으로 따졌다. 방향은 죽은 시각의 절대값이 아니라 노드 사이의 시간 차이에서 나온다. 모든 노드가 같은 지연을 겪으면 차이는 그대로고, 지연은 평면의 절편에만 흡수된다.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en-US" sz="120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추정기는 τ 에 면역이다</a:t>
            </a: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다만 그것은 증명한 뒤에야 안 사실이다. 데모 조건의 τ(400℃ · 4 cm)는 측정하지 않았다.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531352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실측으로,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②  실증 ① 실험 조건과 가정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먼저 밝힌다 — 무엇을 재현했고 무엇을 재현하지 않았나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1481328"/>
          <a:ext cx="5257800" cy="3310128"/>
        </p:xfrm>
        <a:graphic>
          <a:graphicData uri="http://schemas.openxmlformats.org/drawingml/2006/table">
            <a:tbl>
              <a:tblPr/>
              <a:tblGrid>
                <a:gridCol w="1051560"/>
                <a:gridCol w="4206240"/>
              </a:tblGrid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열풍기 400℃ · 풍량 10 · 노즐~노드 4 cm → 노드 위치 공기온도 190.5℃ (실측)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노드당 체류 21초 · 참값 방향 55.4800° · 참값 속도 0.5785 mm/s  [설정]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 임계 80.0℃ · 경고 60.0℃ — 개발 초기에 동결, 결과를 보고 바꾸지 않았다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하트비트 10초 · 침묵 문턱 30초 · 임종신호 3회 반복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23분 20초 · 1회차를 그대로 본편 촬영 · 재촬영 없음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무결성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16/16 실측 · 합성 0건 · 시각 역행 0건 · 큐 편차 최대 0.10초(34/34)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5340096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이 실험이 재현한 것과 재현하지 않은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32704"/>
            <a:ext cx="10634472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재현한 것 — 불이 지나가면서 노드가 차례로 파괴되는 과정, 그리고 그 시각과 좌표만으로 하는 추정.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재현하지 않은 것 — 복사·연료 소진·바람·지형. 열풍기의 이동을 화선의 대리물로 삼았다. 0.20 m 격자를 야외 배치의 축소 모형으로 두었고, 그 축척이 성립하는 근거는 16쪽에 있다.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추정기가 볼 수 없는 것 — 참값 대본. 추정기는 대본을 모른 채 죽은 시각만 받는다. 좌표는 전부 실측이다.</a:t>
            </a:r>
          </a:p>
        </p:txBody>
      </p:sp>
      <p:pic>
        <p:nvPicPr>
          <p:cNvPr id="30" name="Picture 29" descr="s14_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42" y="1481328"/>
            <a:ext cx="3354859" cy="33101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4864608"/>
            <a:ext cx="5769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6B6E6A"/>
                </a:solidFill>
                <a:latin typeface="맑은 고딕"/>
              </a:rPr>
              <a:t>4×4 격자 · 0.20 m 간격 · 노드 16 + 브리지 1 + 라즈베리파이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③  실증 ② 죽음만으로 화선을 그렸다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감지 장치 없이, 죽은 시각만으로 참값에 2.85°까지 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7904"/>
            <a:ext cx="4412126" cy="259689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640" y="4160519"/>
            <a:ext cx="5897880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00" b="0">
                <a:solidFill>
                  <a:srgbClr val="6B6E6A"/>
                </a:solidFill>
                <a:latin typeface="맑은 고딕"/>
              </a:rPr>
              <a:t>[데모 조건] 4×4 · 0.20 m 격자 · 실내 · 열풍기 대리 화선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1517904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6830568" y="1664208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2.85°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1691639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방향 오차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1938528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참값 55.4800° → 추정 58.3293°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2258568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TextBox 32"/>
          <p:cNvSpPr txBox="1"/>
          <p:nvPr/>
        </p:nvSpPr>
        <p:spPr>
          <a:xfrm>
            <a:off x="6830568" y="2404870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+1.67%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432303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속도 오차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679191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참값 0.5785 mm/s → 추정 0.5882 mm/s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2999232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TextBox 35"/>
          <p:cNvSpPr txBox="1"/>
          <p:nvPr/>
        </p:nvSpPr>
        <p:spPr>
          <a:xfrm>
            <a:off x="6830568" y="3145534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1,061 / 1,955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172968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추정 프레임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3419856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사망 3건이 모이는 t=894초부터 추정이 시작된다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3739896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9" name="TextBox 38"/>
          <p:cNvSpPr txBox="1"/>
          <p:nvPr/>
        </p:nvSpPr>
        <p:spPr>
          <a:xfrm>
            <a:off x="6830568" y="3886200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평균 5분 51초 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913632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대피 경보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4160520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불이 닿기 얼마 전에 알렸나 — 13/16 노드 수신 · 최소 1분 27초 · 최대 8분 43초 전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4526279"/>
            <a:ext cx="11091672" cy="17373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2" name="TextBox 41"/>
          <p:cNvSpPr txBox="1"/>
          <p:nvPr/>
        </p:nvSpPr>
        <p:spPr>
          <a:xfrm>
            <a:off x="777240" y="4654295"/>
            <a:ext cx="10634472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센서가 타 죽는 것을 손실로 처리하지 않고 관측으로 썼다. 이 결과에 쓰인 화재 감지 장치는 없다.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946903"/>
            <a:ext cx="10634472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이 시간은 언제부터 주어지나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184647"/>
            <a:ext cx="10634472" cy="62179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발화를 감지한 시간이 아니다. 불이 이미 격자 안에 들어온 뒤의 시간이다.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최소 3대가 타 죽어야 추정이 시작된다. 경보를 못 받은 3대는 그 3대다 — 그들의 죽음이 추정을 만든 재료다.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그 뒤로는 화선 앞쪽에 남은 노드가 「불이 몇 분 뒤 도달」을 받는다.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화선이 대체로 한 방향으로 번진다는 전제 위에서 성립한다. 비화(飛火)로 불씨가 건너뛰면 이 예보는 맞지 않는다.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843016"/>
            <a:ext cx="10634472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1F2421"/>
                </a:solidFill>
                <a:latin typeface="맑은 고딕"/>
              </a:rPr>
              <a:t>리드타임 = 노드 간격 ÷ 화선속도. 관측을 기다리는 값이 아니라 설치 밀도로 정하는 값이다.</a:t>
            </a:r>
          </a:p>
          <a:p>
            <a:pPr algn="l"/>
            <a:r>
              <a:rPr sz="900" b="0">
                <a:solidFill>
                  <a:srgbClr val="1F2421"/>
                </a:solidFill>
                <a:latin typeface="맑은 고딕"/>
              </a:rPr>
              <a:t>17.2 m 간격 기준 — 화선속도 0.05 m/s 에서 5분 44초, 0.10 m/s 에서 2분 52초, 0.01 m/s 에서 28분 40초.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④  실증 ③ 증거가 없으면 단정하지 않는다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노드는 확실히 탔지만, 증거가 없어 쓰지 않았다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6100419" cy="7680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45919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1  실제로 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93391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대본대로 가열됐고 LED 빨강이 육안으로 확인됐다. 이웃 3표로 사망은 확정됐다.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100419" cy="7680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777240" y="2733141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2  그런데 증거가 유실됐다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080613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임종신호 3발이 전부 무선 구간에서 사라졌다. 자기 온도 보고는 25.5℃에서 끊겼다.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3694176"/>
            <a:ext cx="6100419" cy="932688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777240" y="3820363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3  그래서 쓰지 않았다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167835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자기 온도 증거가 없으므로 추정 표본에서 보류했다(branch3_sample_poor).</a:t>
            </a:r>
          </a:p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방향 추정은 남은 15점으로 수행됐다.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23379" y="1883664"/>
          <a:ext cx="4716932" cy="2743200"/>
        </p:xfrm>
        <a:graphic>
          <a:graphicData uri="http://schemas.openxmlformats.org/drawingml/2006/table">
            <a:tbl>
              <a:tblPr/>
              <a:tblGrid>
                <a:gridCol w="1417320"/>
                <a:gridCol w="3299612"/>
              </a:tblGrid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분기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branch1_last_gasp 15 · branch3_sample_poor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사망시각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last_gasp_node_stamp 15 · last_heartbeat_node_stamp 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합성 데이터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 역행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16/16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큐 실행 편차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0.10초 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4828032"/>
            <a:ext cx="11091672" cy="8961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TextBox 33"/>
          <p:cNvSpPr txBox="1"/>
          <p:nvPr/>
        </p:nvSpPr>
        <p:spPr>
          <a:xfrm>
            <a:off x="777240" y="4956048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이것은 미탐지 1건이다. 오탐은 0건이다.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66944"/>
            <a:ext cx="10634472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두 방향의 실패 중 어느 쪽을 택할지는 설계 선택이며, 우리는 「증거가 없으면 받지 않는다」를 택했다.</a:t>
            </a:r>
          </a:p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현장에서 없는 화선을 있다고 말하는 쪽이 더 위험하기 때문이다.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3379" y="1517904"/>
            <a:ext cx="47169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1F2421"/>
                </a:solidFill>
                <a:latin typeface="맑은 고딕"/>
              </a:rPr>
              <a:t>런 무결성 점검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⑤  규모가 달라도 성립하는 이유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거리와 속도가 함께 커지면 시간 상수는 그대로다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5321808" cy="39319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64208"/>
            <a:ext cx="4864608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50" b="1">
                <a:solidFill>
                  <a:srgbClr val="2C5F2D"/>
                </a:solidFill>
                <a:latin typeface="맑은 고딕"/>
              </a:rPr>
              <a:t>질문 1 · 배치가 수십 배 넓어지면?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38528"/>
            <a:ext cx="4864608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00" b="1">
                <a:solidFill>
                  <a:srgbClr val="1F2421"/>
                </a:solidFill>
                <a:latin typeface="맑은 고딕"/>
              </a:rPr>
              <a:t>dt_window     = 이웃 반경 ÷ 화선속도</a:t>
            </a:r>
          </a:p>
          <a:p>
            <a:r>
              <a:rPr sz="1200" b="1">
                <a:solidFill>
                  <a:srgbClr val="1F2421"/>
                </a:solidFill>
                <a:latin typeface="맑은 고딕"/>
              </a:rPr>
              <a:t>alert_horizon = 노드 간격 ÷ 화선속도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560320"/>
          <a:ext cx="4864608" cy="1426464"/>
        </p:xfrm>
        <a:graphic>
          <a:graphicData uri="http://schemas.openxmlformats.org/drawingml/2006/table">
            <a:tbl>
              <a:tblPr/>
              <a:tblGrid>
                <a:gridCol w="1600200"/>
                <a:gridCol w="1691640"/>
                <a:gridCol w="1572768"/>
              </a:tblGrid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/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실험 (실내)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야외 가정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이웃 반경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0.36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m</a:t>
                      </a:r>
                      <a:br/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화선속도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0.5785 mm/s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0.05 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간격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17.2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dt_window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622.3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620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alert_horizon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345.7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344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77240" y="4393455"/>
            <a:ext cx="4864608" cy="40233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>
                <a:solidFill>
                  <a:srgbClr val="1F2421"/>
                </a:solidFill>
                <a:latin typeface="맑은 고딕"/>
              </a:rPr>
              <a:t>길이와 속도가 같은 비율로 바뀌면 두 시간 상수는 변하지 않는다.</a:t>
            </a:r>
          </a:p>
          <a:p>
            <a:r>
              <a:rPr sz="1000" b="1">
                <a:solidFill>
                  <a:srgbClr val="1F2421"/>
                </a:solidFill>
                <a:latin typeface="맑은 고딕"/>
              </a:rPr>
              <a:t>이 실험은 야외 배치의 시간 축척 모형이다.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32367"/>
            <a:ext cx="4864608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50" b="0">
                <a:solidFill>
                  <a:srgbClr val="6B6E6A"/>
                </a:solidFill>
                <a:latin typeface="맑은 고딕"/>
              </a:rPr>
              <a:t>※ 이웃 반경은 통신 도달거리가 아니라 추정기가 「이웃」으로 묶는 공간 반경이다.</a:t>
            </a:r>
          </a:p>
          <a:p>
            <a:r>
              <a:rPr sz="850" b="0">
                <a:solidFill>
                  <a:srgbClr val="6B6E6A"/>
                </a:solidFill>
                <a:latin typeface="맑은 고딕"/>
              </a:rPr>
              <a:t>   통신 자체는 painlessMesh 가 처리하며 이 값과 무관하다.</a:t>
            </a:r>
          </a:p>
        </p:txBody>
      </p:sp>
      <p:sp>
        <p:nvSpPr>
          <p:cNvPr id="5" name="Shape 3"/>
          <p:cNvSpPr/>
          <p:nvPr/>
        </p:nvSpPr>
        <p:spPr>
          <a:xfrm>
            <a:off x="6318504" y="1517904"/>
            <a:ext cx="5321808" cy="39319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6547104" y="1664208"/>
            <a:ext cx="4864608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50" b="1">
                <a:solidFill>
                  <a:srgbClr val="2C5F2D"/>
                </a:solidFill>
                <a:latin typeface="맑은 고딕"/>
              </a:rPr>
              <a:t>질문 2 · 노드가 많아져 경로가 길어지면?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975104"/>
            <a:ext cx="4864608" cy="25670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47104" y="4670195"/>
            <a:ext cx="4864608" cy="7132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50" b="0">
                <a:solidFill>
                  <a:srgbClr val="6B6E6A"/>
                </a:solidFill>
                <a:latin typeface="맑은 고딕"/>
              </a:rPr>
              <a:t>· 하위 11대를 거느린 중계 노드가 이탈하자 브리지가 보던 노드가 15 → 3 으로 떨어졌다</a:t>
            </a:r>
          </a:p>
          <a:p>
            <a:r>
              <a:rPr sz="950" b="0">
                <a:solidFill>
                  <a:srgbClr val="6B6E6A"/>
                </a:solidFill>
                <a:latin typeface="맑은 고딕"/>
              </a:rPr>
              <a:t>· 재부팅 없이 15.9초 만에 14노드로 재구성됐다</a:t>
            </a:r>
          </a:p>
          <a:p>
            <a:r>
              <a:rPr sz="950" b="0">
                <a:solidFill>
                  <a:srgbClr val="6B6E6A"/>
                </a:solidFill>
                <a:latin typeface="맑은 고딕"/>
              </a:rPr>
              <a:t>· 9개 노드가 다른 부모로 옮겨 붙었다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5596128"/>
            <a:ext cx="11091672" cy="777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TextBox 34"/>
          <p:cNvSpPr txBox="1"/>
          <p:nvPr/>
        </p:nvSpPr>
        <p:spPr>
          <a:xfrm>
            <a:off x="777240" y="5742432"/>
            <a:ext cx="10634472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50" b="0">
                <a:solidFill>
                  <a:srgbClr val="1F2421"/>
                </a:solidFill>
                <a:latin typeface="맑은 고딕"/>
              </a:rPr>
              <a:t>이 축척 주장은 두 값에 의존한다. 야외 이웃 반경 31 m 는 데이터시트 기반 계산값이며 숲에서 측정하지 않았다.</a:t>
            </a:r>
          </a:p>
          <a:p>
            <a:r>
              <a:rPr sz="850" b="0">
                <a:solidFill>
                  <a:srgbClr val="1F2421"/>
                </a:solidFill>
                <a:latin typeface="맑은 고딕"/>
              </a:rPr>
              <a:t>지표화 속도 0.05 m/s 는 0.01~0.1 m/s 범위 중 택한 가정값이며 문헌 확인을 하지 못했다.</a:t>
            </a:r>
          </a:p>
          <a:p>
            <a:r>
              <a:rPr sz="850" b="0">
                <a:solidFill>
                  <a:srgbClr val="1F2421"/>
                </a:solidFill>
                <a:latin typeface="맑은 고딕"/>
              </a:rPr>
              <a:t>두 값이 달라지면 두 시간 상수가 함께 움직이므로, 비가 유지되는 한 결론은 같다.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34340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73952" y="434340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5029200"/>
            <a:ext cx="1045159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